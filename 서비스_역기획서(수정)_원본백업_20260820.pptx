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54" autoAdjust="0"/>
  </p:normalViewPr>
  <p:slideViewPr>
    <p:cSldViewPr snapToGrid="0">
      <p:cViewPr>
        <p:scale>
          <a:sx n="75" d="100"/>
          <a:sy n="75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빈 박" userId="ce32221d53103a11" providerId="LiveId" clId="{02494E6E-0340-47F7-B897-6DA0D2D16AC8}"/>
    <pc:docChg chg="undo custSel modSld">
      <pc:chgData name="수빈 박" userId="ce32221d53103a11" providerId="LiveId" clId="{02494E6E-0340-47F7-B897-6DA0D2D16AC8}" dt="2026-08-20T08:41:01.663" v="64" actId="1035"/>
      <pc:docMkLst>
        <pc:docMk/>
      </pc:docMkLst>
      <pc:sldChg chg="modSp mod">
        <pc:chgData name="수빈 박" userId="ce32221d53103a11" providerId="LiveId" clId="{02494E6E-0340-47F7-B897-6DA0D2D16AC8}" dt="2026-08-20T08:34:48.295" v="15" actId="1036"/>
        <pc:sldMkLst>
          <pc:docMk/>
          <pc:sldMk cId="224337355" sldId="258"/>
        </pc:sldMkLst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8" creationId="{3A2372AE-E98A-4964-9688-4DA7526E0B83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1" creationId="{A025E531-00B4-4376-A2CF-AFF5FE32CD64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4" creationId="{FCF11419-E3A6-4B4A-B516-24C75B89F600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7" creationId="{C146F86A-DCF2-4BB8-9E04-193F6426C6DC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0" creationId="{9330B098-B7C1-4B8B-8CCE-CC02E11D631A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3" creationId="{325A13A4-10B2-476E-BB1D-C05F91DF4D55}"/>
          </ac:spMkLst>
        </pc:spChg>
        <pc:spChg chg="mod">
          <ac:chgData name="수빈 박" userId="ce32221d53103a11" providerId="LiveId" clId="{02494E6E-0340-47F7-B897-6DA0D2D16AC8}" dt="2026-08-20T08:34:48.295" v="15" actId="1036"/>
          <ac:spMkLst>
            <pc:docMk/>
            <pc:sldMk cId="224337355" sldId="258"/>
            <ac:spMk id="25" creationId="{C6EC3C2C-B938-4D24-868A-DDFBB140E100}"/>
          </ac:spMkLst>
        </pc:spChg>
        <pc:spChg chg="mod">
          <ac:chgData name="수빈 박" userId="ce32221d53103a11" providerId="LiveId" clId="{02494E6E-0340-47F7-B897-6DA0D2D16AC8}" dt="2026-08-20T08:34:40.918" v="14" actId="1036"/>
          <ac:spMkLst>
            <pc:docMk/>
            <pc:sldMk cId="224337355" sldId="258"/>
            <ac:spMk id="27" creationId="{DF51171B-86FD-425D-90EF-36A47DD3288E}"/>
          </ac:spMkLst>
        </pc:spChg>
        <pc:spChg chg="mod">
          <ac:chgData name="수빈 박" userId="ce32221d53103a11" providerId="LiveId" clId="{02494E6E-0340-47F7-B897-6DA0D2D16AC8}" dt="2026-08-20T08:34:20.402" v="10" actId="1036"/>
          <ac:spMkLst>
            <pc:docMk/>
            <pc:sldMk cId="224337355" sldId="258"/>
            <ac:spMk id="30" creationId="{C738C398-1948-43C7-AF09-674AF20048B4}"/>
          </ac:spMkLst>
        </pc:spChg>
        <pc:spChg chg="mod">
          <ac:chgData name="수빈 박" userId="ce32221d53103a11" providerId="LiveId" clId="{02494E6E-0340-47F7-B897-6DA0D2D16AC8}" dt="2026-08-20T08:34:36.168" v="13" actId="1036"/>
          <ac:spMkLst>
            <pc:docMk/>
            <pc:sldMk cId="224337355" sldId="258"/>
            <ac:spMk id="33" creationId="{2624091C-61F9-48A3-A5AC-D301280DD614}"/>
          </ac:spMkLst>
        </pc:spChg>
      </pc:sldChg>
      <pc:sldChg chg="modSp mod">
        <pc:chgData name="수빈 박" userId="ce32221d53103a11" providerId="LiveId" clId="{02494E6E-0340-47F7-B897-6DA0D2D16AC8}" dt="2026-08-20T08:35:12.357" v="19" actId="1035"/>
        <pc:sldMkLst>
          <pc:docMk/>
          <pc:sldMk cId="1495419320" sldId="260"/>
        </pc:sldMkLst>
        <pc:spChg chg="mod">
          <ac:chgData name="수빈 박" userId="ce32221d53103a11" providerId="LiveId" clId="{02494E6E-0340-47F7-B897-6DA0D2D16AC8}" dt="2026-08-20T08:35:12.357" v="19" actId="1035"/>
          <ac:spMkLst>
            <pc:docMk/>
            <pc:sldMk cId="1495419320" sldId="260"/>
            <ac:spMk id="38" creationId="{0A92E8F6-8312-4E4A-AA0C-4A6402BC2494}"/>
          </ac:spMkLst>
        </pc:spChg>
        <pc:spChg chg="mod">
          <ac:chgData name="수빈 박" userId="ce32221d53103a11" providerId="LiveId" clId="{02494E6E-0340-47F7-B897-6DA0D2D16AC8}" dt="2026-08-20T08:35:12.357" v="19" actId="1035"/>
          <ac:spMkLst>
            <pc:docMk/>
            <pc:sldMk cId="1495419320" sldId="260"/>
            <ac:spMk id="39" creationId="{604BD844-2C37-49F0-9A59-1ABF27B52676}"/>
          </ac:spMkLst>
        </pc:spChg>
      </pc:sldChg>
      <pc:sldChg chg="modSp mod">
        <pc:chgData name="수빈 박" userId="ce32221d53103a11" providerId="LiveId" clId="{02494E6E-0340-47F7-B897-6DA0D2D16AC8}" dt="2026-08-20T08:35:40.746" v="27" actId="1035"/>
        <pc:sldMkLst>
          <pc:docMk/>
          <pc:sldMk cId="1343870297" sldId="262"/>
        </pc:sldMkLst>
        <pc:spChg chg="mod">
          <ac:chgData name="수빈 박" userId="ce32221d53103a11" providerId="LiveId" clId="{02494E6E-0340-47F7-B897-6DA0D2D16AC8}" dt="2026-08-20T08:35:29.275" v="23" actId="1035"/>
          <ac:spMkLst>
            <pc:docMk/>
            <pc:sldMk cId="1343870297" sldId="262"/>
            <ac:spMk id="29" creationId="{D3CCCAEB-D118-4734-A444-B49ECD86085B}"/>
          </ac:spMkLst>
        </pc:spChg>
        <pc:spChg chg="mod">
          <ac:chgData name="수빈 박" userId="ce32221d53103a11" providerId="LiveId" clId="{02494E6E-0340-47F7-B897-6DA0D2D16AC8}" dt="2026-08-20T08:35:35.676" v="26" actId="1035"/>
          <ac:spMkLst>
            <pc:docMk/>
            <pc:sldMk cId="1343870297" sldId="262"/>
            <ac:spMk id="30" creationId="{3768235F-F969-4B42-BB35-2B0DAE6440E7}"/>
          </ac:spMkLst>
        </pc:spChg>
        <pc:spChg chg="mod">
          <ac:chgData name="수빈 박" userId="ce32221d53103a11" providerId="LiveId" clId="{02494E6E-0340-47F7-B897-6DA0D2D16AC8}" dt="2026-08-20T08:35:40.746" v="27" actId="1035"/>
          <ac:spMkLst>
            <pc:docMk/>
            <pc:sldMk cId="1343870297" sldId="262"/>
            <ac:spMk id="31" creationId="{03B6B004-4B2B-43DA-A6E7-2BA2FE5EB603}"/>
          </ac:spMkLst>
        </pc:spChg>
      </pc:sldChg>
      <pc:sldChg chg="modSp mod">
        <pc:chgData name="수빈 박" userId="ce32221d53103a11" providerId="LiveId" clId="{02494E6E-0340-47F7-B897-6DA0D2D16AC8}" dt="2026-08-20T08:37:06.641" v="44" actId="1035"/>
        <pc:sldMkLst>
          <pc:docMk/>
          <pc:sldMk cId="1081108234" sldId="268"/>
        </pc:sldMkLst>
        <pc:spChg chg="mod">
          <ac:chgData name="수빈 박" userId="ce32221d53103a11" providerId="LiveId" clId="{02494E6E-0340-47F7-B897-6DA0D2D16AC8}" dt="2026-08-20T08:37:01.374" v="40" actId="1035"/>
          <ac:spMkLst>
            <pc:docMk/>
            <pc:sldMk cId="1081108234" sldId="268"/>
            <ac:spMk id="16" creationId="{D1BA81A6-D5D2-4035-AC06-C7FE252D643D}"/>
          </ac:spMkLst>
        </pc:spChg>
        <pc:spChg chg="mod">
          <ac:chgData name="수빈 박" userId="ce32221d53103a11" providerId="LiveId" clId="{02494E6E-0340-47F7-B897-6DA0D2D16AC8}" dt="2026-08-20T08:36:58.344" v="38" actId="1035"/>
          <ac:spMkLst>
            <pc:docMk/>
            <pc:sldMk cId="1081108234" sldId="268"/>
            <ac:spMk id="18" creationId="{77207C8E-BF8D-42DC-8BC6-759FCCD6E045}"/>
          </ac:spMkLst>
        </pc:spChg>
        <pc:spChg chg="mod">
          <ac:chgData name="수빈 박" userId="ce32221d53103a11" providerId="LiveId" clId="{02494E6E-0340-47F7-B897-6DA0D2D16AC8}" dt="2026-08-20T08:37:06.641" v="44" actId="1035"/>
          <ac:spMkLst>
            <pc:docMk/>
            <pc:sldMk cId="1081108234" sldId="268"/>
            <ac:spMk id="19" creationId="{42049BD9-7B58-46C2-BA89-21A96590E0F3}"/>
          </ac:spMkLst>
        </pc:spChg>
        <pc:spChg chg="mod">
          <ac:chgData name="수빈 박" userId="ce32221d53103a11" providerId="LiveId" clId="{02494E6E-0340-47F7-B897-6DA0D2D16AC8}" dt="2026-08-20T08:36:34.625" v="28" actId="1036"/>
          <ac:spMkLst>
            <pc:docMk/>
            <pc:sldMk cId="1081108234" sldId="268"/>
            <ac:spMk id="23" creationId="{7E9E73DC-FC0A-43C5-8FA8-0FA2A0596B99}"/>
          </ac:spMkLst>
        </pc:spChg>
      </pc:sldChg>
      <pc:sldChg chg="modSp mod">
        <pc:chgData name="수빈 박" userId="ce32221d53103a11" providerId="LiveId" clId="{02494E6E-0340-47F7-B897-6DA0D2D16AC8}" dt="2026-08-20T08:37:22.259" v="45" actId="1036"/>
        <pc:sldMkLst>
          <pc:docMk/>
          <pc:sldMk cId="1709083599" sldId="270"/>
        </pc:sldMkLst>
        <pc:spChg chg="mod">
          <ac:chgData name="수빈 박" userId="ce32221d53103a11" providerId="LiveId" clId="{02494E6E-0340-47F7-B897-6DA0D2D16AC8}" dt="2026-08-20T08:37:22.259" v="45" actId="1036"/>
          <ac:spMkLst>
            <pc:docMk/>
            <pc:sldMk cId="1709083599" sldId="270"/>
            <ac:spMk id="44" creationId="{4F47EFA9-1743-45A0-86C2-FCBB1D5CA033}"/>
          </ac:spMkLst>
        </pc:spChg>
      </pc:sldChg>
      <pc:sldChg chg="modSp mod">
        <pc:chgData name="수빈 박" userId="ce32221d53103a11" providerId="LiveId" clId="{02494E6E-0340-47F7-B897-6DA0D2D16AC8}" dt="2026-08-20T08:38:09.262" v="53" actId="1036"/>
        <pc:sldMkLst>
          <pc:docMk/>
          <pc:sldMk cId="649107641" sldId="272"/>
        </pc:sldMkLst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0" creationId="{7238A72C-9D80-4501-B0D5-528AA2A6C0D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1" creationId="{E91216E0-8748-4017-8392-5ED4240BB015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2" creationId="{C78D979D-F7C4-48A1-AC7F-0959076083F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3" creationId="{DAC276E5-6F5F-416A-A228-07FE54DA411D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4" creationId="{CBFCAB63-F745-43FE-8905-C2925F139094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5" creationId="{91B4D608-5523-44A7-8E24-C4CBCBBA7CF2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6" creationId="{F5B051B7-448F-490A-BD1F-02E458E85A97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7" creationId="{09CBBE08-89B1-48FF-ADCF-39D022C401E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19" creationId="{B5034B31-ECDF-4E02-82B5-AA60FEEE8A6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0" creationId="{AF2B5541-04C2-4BA0-AF40-B95391240CC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1" creationId="{0B68262A-953E-4A40-98C7-B5E18E37BDE7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2" creationId="{BA2BDBC9-5729-471E-B202-75D1D60B566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3" creationId="{B70BE8F1-A706-42EC-930D-BB56CE651484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4" creationId="{3F3ED5CE-4210-4E40-B5C2-20B6FA8E40CC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5" creationId="{47D84580-4334-4766-A631-1676366036F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6" creationId="{A79D43E8-289A-4F85-946E-6627547C95F4}"/>
          </ac:spMkLst>
        </pc:spChg>
      </pc:sldChg>
      <pc:sldChg chg="modSp mod">
        <pc:chgData name="수빈 박" userId="ce32221d53103a11" providerId="LiveId" clId="{02494E6E-0340-47F7-B897-6DA0D2D16AC8}" dt="2026-08-20T08:40:05.963" v="60" actId="1036"/>
        <pc:sldMkLst>
          <pc:docMk/>
          <pc:sldMk cId="1384968217" sldId="278"/>
        </pc:sldMkLst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8" creationId="{709AAAEC-61DA-4E2A-865A-B5C68234F31F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9" creationId="{A58D63BD-C430-4E16-8AEF-D60D4FEBDAF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1" creationId="{BC88FF80-7FC5-4506-ACA5-6FF8536B7B9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2" creationId="{87016F0F-D393-42B5-98E6-B443A2EA510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4" creationId="{1DA0E42E-515D-4AAB-BFFD-BA0F42655690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5" creationId="{D2BB4B14-4A97-4B22-9480-3F0B454C17D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7" creationId="{1342A7FA-F153-4A62-ACC8-4339D4FE232B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8" creationId="{EB657D60-6650-4C7A-A75F-D15564F9100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0" creationId="{C07D9CBA-B18E-43CF-BF21-38CB8DEFA886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1" creationId="{8DB0F047-6DD5-46AC-AD78-BFAEF1590CC8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3" creationId="{DEF26A3B-A798-4B03-A041-6A78EA44B5A1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4" creationId="{89C80383-264C-4135-955E-CCA4E0FE08C2}"/>
          </ac:spMkLst>
        </pc:spChg>
        <pc:spChg chg="mod">
          <ac:chgData name="수빈 박" userId="ce32221d53103a11" providerId="LiveId" clId="{02494E6E-0340-47F7-B897-6DA0D2D16AC8}" dt="2026-08-20T08:39:32.142" v="58" actId="1036"/>
          <ac:spMkLst>
            <pc:docMk/>
            <pc:sldMk cId="1384968217" sldId="278"/>
            <ac:spMk id="31" creationId="{13981B6C-6AB1-495D-9857-1ACEAB78126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2" creationId="{00AA80DC-2951-4C4C-950F-2DF06CFB5E3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3" creationId="{374CAF5C-B78D-4801-A0D4-84A16EF708C4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5" creationId="{C1D0B3BD-1903-40F2-BDAC-E0B56AA8AD2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6" creationId="{3E09C0FA-9763-4A8A-93D5-3F507E993AEF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7" creationId="{6EC14EC8-BB5E-4A16-B182-AC8A5A59CD4B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9" creationId="{2BA088EC-0DBE-4919-A070-D2109B71D2AC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0" creationId="{2D76F29B-BC6A-4664-A6FB-A3DF4DD0E21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1" creationId="{82F5FFB8-62B7-4D44-9B65-9636FA41CE77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43" creationId="{7619066E-44EF-4D6E-9E95-E2802D72942B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4" creationId="{85802C9E-0667-44A2-813E-244A3E88AE32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5" creationId="{3DB9CFE8-A69A-4285-990B-1328F49DA020}"/>
          </ac:spMkLst>
        </pc:spChg>
      </pc:sldChg>
      <pc:sldChg chg="modSp mod">
        <pc:chgData name="수빈 박" userId="ce32221d53103a11" providerId="LiveId" clId="{02494E6E-0340-47F7-B897-6DA0D2D16AC8}" dt="2026-08-20T08:41:01.663" v="64" actId="1035"/>
        <pc:sldMkLst>
          <pc:docMk/>
          <pc:sldMk cId="1502171489" sldId="281"/>
        </pc:sldMkLst>
        <pc:spChg chg="mod">
          <ac:chgData name="수빈 박" userId="ce32221d53103a11" providerId="LiveId" clId="{02494E6E-0340-47F7-B897-6DA0D2D16AC8}" dt="2026-08-20T08:41:01.663" v="64" actId="1035"/>
          <ac:spMkLst>
            <pc:docMk/>
            <pc:sldMk cId="1502171489" sldId="281"/>
            <ac:spMk id="41" creationId="{5E4ADE47-B193-413F-ADB0-D994C66143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: </a:t>
            </a:r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검색이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저장한</a:t>
            </a:r>
            <a:r>
              <a:rPr dirty="0"/>
              <a:t> </a:t>
            </a:r>
            <a:r>
              <a:rPr dirty="0" err="1"/>
              <a:t>관심매물이고</a:t>
            </a:r>
            <a:r>
              <a:rPr dirty="0"/>
              <a:t>,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1개가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둘이</a:t>
            </a:r>
            <a:r>
              <a:rPr dirty="0"/>
              <a:t> </a:t>
            </a:r>
            <a:r>
              <a:rPr dirty="0" err="1"/>
              <a:t>정한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2개다.</a:t>
            </a:r>
          </a:p>
          <a:p>
            <a:r>
              <a:rPr dirty="0" err="1"/>
              <a:t>과장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: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최적의</a:t>
            </a:r>
            <a:r>
              <a:rPr dirty="0"/>
              <a:t> </a:t>
            </a:r>
            <a:r>
              <a:rPr dirty="0" err="1"/>
              <a:t>집을</a:t>
            </a:r>
            <a:r>
              <a:rPr dirty="0"/>
              <a:t> </a:t>
            </a:r>
            <a:r>
              <a:rPr dirty="0" err="1"/>
              <a:t>고른다거나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단축한다고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Handoff ZIP: docs/11-decision-status.md</a:t>
            </a:r>
          </a:p>
          <a:p>
            <a:r>
              <a:rPr dirty="0"/>
              <a:t>Local artifact: value-proposition_20260820.md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뒤의 28장이 이 다섯 문장의 근거와 한계를 차례로 해명한다.</a:t>
            </a:r>
          </a:p>
          <a:p>
            <a:r>
              <a:t>과장 금지: 시장성과 제품 효과가 이미 검증됐다고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주거 형태 무관은 제품 정의, 전·월세 2인은 초기 시장 범위다.</a:t>
            </a:r>
          </a:p>
          <a:p>
            <a:r>
              <a:t>과장 금지: 전체 부동산 거래 시장을 TAM으로 보거나 계약·대출까지 통합한다고 확장하지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경쟁자는 부동산 앱만이 아니라 이미 쓰는 카톡 공유 + 지도 확인 + 메모 비교다.</a:t>
            </a:r>
          </a:p>
          <a:p>
            <a:r>
              <a:t>과장 금지: 카톡보다 빠르다거나 반응 속도를 실측 결과처럼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docs/04-benchmarks.md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SAM은 전체 공동 주거 시장이 아니라 공개 통계로 계산 가능한 하한이며 SOM은 시나리오다.</a:t>
            </a:r>
          </a:p>
          <a:p>
            <a:r>
              <a:t>과장 금지: 54.6만 쌍이 실제 고객이거나 최소 20만 명을 확보할 수 있다고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docs/03-evidence-log.md F13~F17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기회는 네이버의 강점인 저장과 문의 사이에서 공동 비교·결정이 빠지는 구간이다.</a:t>
            </a:r>
          </a:p>
          <a:p>
            <a:r>
              <a:t>과장 금지: 관심매물 방치 비중이나 외부 도구 사용률을 확정 사실로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docs/07-cjm-opportunity-score.md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데이터가 충분해도 B가 들어오지 않으면 공동 의사결정 기능은 성립하지 않는다.</a:t>
            </a:r>
          </a:p>
          <a:p>
            <a:r>
              <a:t>과장 금지: 네이버이기 때문에 초대 수락률이 높을 것이라고 가정하지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예비부부·신혼부부는 제품 전체 정의가 아니라 가설을 선명하게 볼 첫 검증 집단이다.</a:t>
            </a:r>
          </a:p>
          <a:p>
            <a:r>
              <a:t>과장 금지: 주 고객이 신혼부부로 확정됐거나 룸메이트가 확장 시장이라고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 I12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비대칭은 진입 경로와 기기에만 있고 결정 권한에는 없어야 한다.</a:t>
            </a:r>
          </a:p>
          <a:p>
            <a:r>
              <a:t>과장 금지: 자료에 없는 나이·직업·소득을 인터뷰 페르소나처럼 만들지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핵심 Job은 매물을 더 모으는 것이 아니라 각 후보의 대가를 이해하고 방문 후보를 정하는 것이다.</a:t>
            </a:r>
          </a:p>
          <a:p>
            <a:r>
              <a:t>과장 금지: 모든 커플이 동일 여정을 겪거나 이 기능이 관계 갈등을 줄인다고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Local artifact: value-proposition_20260820.md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정성적으로 상대 우선순위는 세울 수 있지만 Opportunity Score 숫자는 지어내지 않는다.</a:t>
            </a:r>
          </a:p>
          <a:p>
            <a:r>
              <a:t>과장 금지: 의견 교환이 가장 불만족한 단계로 검증됐거나 OS가 특정 점수라고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Handoff ZIP: docs/01-team-brief.md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이 페이지는 문제를 약하게 만드는 것이 아니라 정확히 무엇을 검증해야 하는지 좁힌다.</a:t>
            </a:r>
          </a:p>
          <a:p>
            <a:r>
              <a:t>과장 금지: 77%를 결정 지연 비율로 바꾸거나 국내 전·월세에 그대로 일반화하지 않는다.</a:t>
            </a:r>
          </a:p>
          <a:p>
            <a:r>
              <a:t>[Sources]</a:t>
            </a:r>
          </a:p>
          <a:p>
            <a:r>
              <a:t>Handoff ZIP: docs/03-evidence-log.md F1</a:t>
            </a:r>
          </a:p>
          <a:p>
            <a:r>
              <a:t>Handoff ZIP: docs/03-evidence-log.md F26</a:t>
            </a:r>
          </a:p>
          <a:p>
            <a:r>
              <a:t>Handoff ZIP: docs/02-hypotheses.md H2-b-2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공유 폴더만 만들면 정보의 문제만 해결한다. 차별점은 사람 간 조건 차이를 합산 없이 드러내는 것이다.</a:t>
            </a:r>
          </a:p>
          <a:p>
            <a:r>
              <a:t>과장 금지: 조건 차이가 결정 지연의 원인으로 입증됐다고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Local artifact: prd_v0.1_20260820_with_AC.md §6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TwoKeys는 가장 가까운 선행 사례지만 선행 서비스의 존재가 우리 수요 증거는 아니다.</a:t>
            </a:r>
          </a:p>
          <a:p>
            <a:r>
              <a:t>과장 금지: TwoKeys 성공·세계 최초·국내 앱 전부 1인용이라고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docs/03-evidence-log.md F2</a:t>
            </a:r>
          </a:p>
          <a:p>
            <a:r>
              <a:t>Handoff ZIP: docs/03-evidence-log.md F27~F28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사례 나열이 아니라 초대·입력·비교·수렴의 작동 메커니즘을 분해한다.</a:t>
            </a:r>
          </a:p>
          <a:p>
            <a:r>
              <a:t>과장 금지: 결혼준비 앱에서 초대가 검증됐으니 우리도 작동한다고 결론 내리지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docs/02-hypotheses.md</a:t>
            </a:r>
          </a:p>
          <a:p>
            <a:r>
              <a:t>Handoff ZIP: docs/03-evidence-log.md F3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IPDAS는 제품 효과의 직접 근거가 아니라 균형 제시 설계의 참조 근거다.</a:t>
            </a:r>
          </a:p>
          <a:p>
            <a:r>
              <a:t>과장 금지: 의료에서의 균형 인식 수치를 주거 제품 효과로 그대로 전이하지 않는다.</a:t>
            </a:r>
          </a:p>
          <a:p>
            <a:r>
              <a:t>[Sources]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유지할 것은 낮은 참여 마찰과 균형 비교이며, 단일 최적해 구조는 두 사람의 선택으로 변형한다.</a:t>
            </a:r>
          </a:p>
          <a:p>
            <a:r>
              <a:t>과장 금지: 선행 사례가 있으므로 구현·사용성 리스크가 없다고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docs/05-tradeoff-patterns.md</a:t>
            </a:r>
          </a:p>
          <a:p>
            <a:r>
              <a:t>Handoff ZIP: decisions/0001-no-total-score.md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총점을 안 쓰는 것은 계산 능력이 부족해서가 아니라 제품의 질문이 최고가 아니라 납득이기 때문이다.</a:t>
            </a:r>
          </a:p>
          <a:p>
            <a:r>
              <a:t>과장 금지: 총점 방식이 항상 잘못됐거나 분할이 더 공정하다고 검증됐다고 말하지 않는다.</a:t>
            </a:r>
          </a:p>
          <a:p>
            <a:r>
              <a:t>[Sources]</a:t>
            </a:r>
          </a:p>
          <a:p>
            <a:r>
              <a:t>Handoff ZIP: decisions/0001-no-total-score.md</a:t>
            </a:r>
          </a:p>
          <a:p>
            <a:r>
              <a:t>Handoff ZIP: decisions/0004-agreement-by-split.md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동사는 추천한다가 아니라 확인하고 함께 결정하도록 돕는다다.</a:t>
            </a:r>
          </a:p>
          <a:p>
            <a:r>
              <a:t>과장 금지: 확정 VP에 더 빠르게·갈등 없이·최적이라는 미검증 효과를 추가하지 않는다.</a:t>
            </a:r>
          </a:p>
          <a:p>
            <a:r>
              <a:t>[Sources]</a:t>
            </a:r>
          </a:p>
          <a:p>
            <a:r>
              <a:t>Local artifact: value-proposition_20260820.md</a:t>
            </a:r>
          </a:p>
          <a:p>
            <a:r>
              <a:t>Local artifact: prd_v0.1_20260820_with_AC.md §7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조건 완화는 후보를 새로 추천하지 않고 현재 후보의 판정 변화를 미리 보는 기능이다.</a:t>
            </a:r>
          </a:p>
          <a:p>
            <a:r>
              <a:t>과장 금지: 두 라운드면 반드시 합의되거나 출근지가 모든 사용자에게 필수라고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docs/08-screen-design.md</a:t>
            </a:r>
          </a:p>
          <a:p>
            <a:r>
              <a:t>Handoff ZIP: decisions/0003-conditions-belong-to-people.md</a:t>
            </a:r>
          </a:p>
          <a:p>
            <a:r>
              <a:t>Handoff ZIP: decisions/0004-agreement-by-split.md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A와 B의 입력 순서는 같고, B는 입력 전에 후보와 초대 맥락을 먼저 본다.</a:t>
            </a:r>
          </a:p>
          <a:p>
            <a:r>
              <a:t>과장 금지: B가 비로그인으로 모든 기능을 쓸 수 있다고 확정하지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docs/10-data-integration.md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화면의 Hero는 누가 무엇을 얼마나 감수하는지 읽히는 문장이다.</a:t>
            </a:r>
          </a:p>
          <a:p>
            <a:r>
              <a:t>과장 금지: A-13b-2를 완성 화면처럼 제시하거나 사진을 핵심 판정 근거로 강조하지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docs/05-tradeoff-patterns.md</a:t>
            </a:r>
          </a:p>
          <a:p>
            <a:r>
              <a:t>Local artifact: prd_v0.1_20260820_with_AC.md §17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출근 안 함은 입력 누락·계산 실패가 아니라 정상 경로이며 비교표에서 통근 행을 뺀다.</a:t>
            </a:r>
          </a:p>
          <a:p>
            <a:r>
              <a:t>과장 금지: 확인 필요와 방문 후 체크리스트를 같은 상태로 설명하지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docs/09-edge-cases.md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별도 앱에서 링크를 파싱하거나 매물 DB를 만드는 안이 아니라 네이버 내부 기능이라는 전제다.</a:t>
            </a:r>
          </a:p>
          <a:p>
            <a:r>
              <a:t>과장 금지: 내부 API가 모두 있고 비용 계산이 실제 상환액을 정확히 예측한다고 말하지 않는다.</a:t>
            </a:r>
          </a:p>
          <a:p>
            <a:r>
              <a:t>[Sources]</a:t>
            </a:r>
          </a:p>
          <a:p>
            <a:r>
              <a:t>Handoff ZIP: docs/10-data-integration.md</a:t>
            </a:r>
          </a:p>
          <a:p>
            <a:r>
              <a:t>Handoff ZIP: docs/06-cost-model.md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단계 1은 핵심 가치와 급소 가설을 검증하고 단계 2는 방문 이후 기록까지 여정을 완성한다.</a:t>
            </a:r>
          </a:p>
          <a:p>
            <a:r>
              <a:t>과장 금지: 계약·대출까지 해결하거나 AI가 정답을 고른다고 범위를 확장하지 않는다.</a:t>
            </a:r>
          </a:p>
          <a:p>
            <a:r>
              <a:t>[Sources]</a:t>
            </a:r>
          </a:p>
          <a:p>
            <a:r>
              <a:t>Local artifact: prd_v0.1_20260820_with_AC.md §8</a:t>
            </a:r>
          </a:p>
          <a:p>
            <a:r>
              <a:t>Local artifact: prd_v0.1_20260820_with_AC.md §21~§22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FR은 화면 목록이 아니라 사용자 선택권을 보존하는 하나의 시나리오로 읽혀야 한다.</a:t>
            </a:r>
          </a:p>
          <a:p>
            <a:r>
              <a:t>과장 금지: AI가 공정한 타협안을 제안하거나 상대 조건을 자동 적용한다고 말하지 않는다.</a:t>
            </a:r>
          </a:p>
          <a:p>
            <a:r>
              <a:t>[Sources]</a:t>
            </a:r>
          </a:p>
          <a:p>
            <a:r>
              <a:t>Local artifact: prd_v0.1_20260820_with_AC.md §16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AC는 기능·정합성 최소 완료 조건이며 특히 입력 분기·총점 금지·분할·오류 구분을 추적한다.</a:t>
            </a:r>
          </a:p>
          <a:p>
            <a:r>
              <a:t>과장 금지: AC가 사용자 만족·갈등 감소·사업 성과를 보장한다고 말하지 않는다.</a:t>
            </a:r>
          </a:p>
          <a:p>
            <a:r>
              <a:t>[Sources]</a:t>
            </a:r>
          </a:p>
          <a:p>
            <a:r>
              <a:t>Local artifact: prd_v0.1_20260820_with_AC.md</a:t>
            </a:r>
          </a:p>
          <a:p>
            <a:r>
              <a:t>Local artifact: prd_v0.1_20260820_with_AC.md Acceptance Criteria Summary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H1과 H2-b-2가 무너지면 기능 개선보다 2인 전제나 Problem Statement를 재검토한다.</a:t>
            </a:r>
          </a:p>
          <a:p>
            <a:r>
              <a:t>과장 금지: 근거 없는 전환율 목표를 만들거나 North Star를 결정시간 단축률로 바꾸지 않는다.</a:t>
            </a:r>
          </a:p>
          <a:p>
            <a:r>
              <a:t>[Sources]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Local artifact: prd_v0.1_20260820_with_AC.md §23~§24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가장 먼저 줄여야 할 위험은 화면 완성도가 아니라 B 참여와 문제 인과다.</a:t>
            </a:r>
          </a:p>
          <a:p>
            <a:r>
              <a:t>과장 금지: 위험이 설계로 모두 해결됐거나 내부 API가 가능하다고 가정하지 않는다.</a:t>
            </a:r>
          </a:p>
          <a:p>
            <a:r>
              <a:t>[Sources]</a:t>
            </a:r>
          </a:p>
          <a:p>
            <a:r>
              <a:t>Local artifact: prd_v0.1_20260820_with_AC.md §25~§26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성과는 제품 성공 선언이 아니라 어디까지 만들 가치가 있는지 판정할 다음 실험이 명확해진 것이다.</a:t>
            </a:r>
          </a:p>
          <a:p>
            <a:r>
              <a:t>과장 금지: 시장 검증 완료·MVP 개발 확정·H2-b-2 정성 확인 완료라고 말하지 않는다.</a:t>
            </a:r>
          </a:p>
          <a:p>
            <a:r>
              <a:t>[Sources]</a:t>
            </a:r>
          </a:p>
          <a:p>
            <a:r>
              <a:t>Handoff ZIP: _00_READ_FIRST.md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83F6A77D-296A-4A64-82BA-F6CCBAB5F5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739E4D9-51E7-4CFB-A575-1D0F957C8A0B}"/>
              </a:ext>
            </a:extLst>
          </p:cNvPr>
          <p:cNvSpPr>
            <a:spLocks noGrp="1"/>
          </p:cNvSpPr>
          <p:nvPr/>
        </p:nvSpPr>
        <p:spPr>
          <a:xfrm>
            <a:off x="704850" y="495300"/>
            <a:ext cx="20764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SERVICE REVERSE PLANNING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541FE7-2FAF-4FC2-AE33-32115BB3F6FF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68103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이후,</a:t>
            </a:r>
          </a:p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둘이 납득하는 결정까지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6319C-0F9F-4D1B-91C2-1F2293723A4C}"/>
              </a:ext>
            </a:extLst>
          </p:cNvPr>
          <p:cNvSpPr>
            <a:spLocks noGrp="1"/>
          </p:cNvSpPr>
          <p:nvPr/>
        </p:nvSpPr>
        <p:spPr>
          <a:xfrm>
            <a:off x="733425" y="29146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3AA8F5-44C3-4F1C-ABCE-5042EC7262FD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부동산 공동 주거 의사결정 기능 역기획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B5C81A5-C6D4-4E6C-AE7F-EDDF4A578AF9}"/>
              </a:ext>
            </a:extLst>
          </p:cNvPr>
          <p:cNvSpPr>
            <a:spLocks noGrp="1"/>
          </p:cNvSpPr>
          <p:nvPr/>
        </p:nvSpPr>
        <p:spPr>
          <a:xfrm>
            <a:off x="7667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809EFB6-55A2-4CC3-8EC0-6131EA3C9B9A}"/>
              </a:ext>
            </a:extLst>
          </p:cNvPr>
          <p:cNvSpPr>
            <a:spLocks noGrp="1"/>
          </p:cNvSpPr>
          <p:nvPr/>
        </p:nvSpPr>
        <p:spPr>
          <a:xfrm>
            <a:off x="7743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206791F5-501B-4CDF-B989-7A52F82BEACF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25C5E4A2-6572-4815-A146-846993F87A5A}"/>
              </a:ext>
            </a:extLst>
          </p:cNvPr>
          <p:cNvSpPr>
            <a:spLocks noGrp="1"/>
          </p:cNvSpPr>
          <p:nvPr/>
        </p:nvSpPr>
        <p:spPr>
          <a:xfrm>
            <a:off x="7753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D388B03-60D9-43CA-A8CA-9C5EA0BC4B49}"/>
              </a:ext>
            </a:extLst>
          </p:cNvPr>
          <p:cNvSpPr>
            <a:spLocks noGrp="1"/>
          </p:cNvSpPr>
          <p:nvPr/>
        </p:nvSpPr>
        <p:spPr>
          <a:xfrm>
            <a:off x="83343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C175D35-6DEE-4B94-8C9A-9583FB1B2863}"/>
              </a:ext>
            </a:extLst>
          </p:cNvPr>
          <p:cNvSpPr>
            <a:spLocks noGrp="1"/>
          </p:cNvSpPr>
          <p:nvPr/>
        </p:nvSpPr>
        <p:spPr>
          <a:xfrm>
            <a:off x="84105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1726EB4-B6FF-471C-98E0-B38BAA35AC0E}"/>
              </a:ext>
            </a:extLst>
          </p:cNvPr>
          <p:cNvSpPr>
            <a:spLocks noGrp="1"/>
          </p:cNvSpPr>
          <p:nvPr/>
        </p:nvSpPr>
        <p:spPr>
          <a:xfrm>
            <a:off x="84201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159F331D-634B-435F-8E22-510B47CD8FAA}"/>
              </a:ext>
            </a:extLst>
          </p:cNvPr>
          <p:cNvSpPr>
            <a:spLocks noGrp="1"/>
          </p:cNvSpPr>
          <p:nvPr/>
        </p:nvSpPr>
        <p:spPr>
          <a:xfrm>
            <a:off x="84201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A377A34-BD35-4966-B03E-34F6906119FA}"/>
              </a:ext>
            </a:extLst>
          </p:cNvPr>
          <p:cNvSpPr>
            <a:spLocks noGrp="1"/>
          </p:cNvSpPr>
          <p:nvPr/>
        </p:nvSpPr>
        <p:spPr>
          <a:xfrm>
            <a:off x="90011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3485D58-E804-47C3-AC5C-32F3FC8AD263}"/>
              </a:ext>
            </a:extLst>
          </p:cNvPr>
          <p:cNvSpPr>
            <a:spLocks noGrp="1"/>
          </p:cNvSpPr>
          <p:nvPr/>
        </p:nvSpPr>
        <p:spPr>
          <a:xfrm>
            <a:off x="90773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014BED4A-5A1E-4319-AEE6-9C46C4F5D2F2}"/>
              </a:ext>
            </a:extLst>
          </p:cNvPr>
          <p:cNvSpPr>
            <a:spLocks noGrp="1"/>
          </p:cNvSpPr>
          <p:nvPr/>
        </p:nvSpPr>
        <p:spPr>
          <a:xfrm>
            <a:off x="90868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DBB2B551-D794-4AFA-8F40-5C01ACFF9E95}"/>
              </a:ext>
            </a:extLst>
          </p:cNvPr>
          <p:cNvSpPr>
            <a:spLocks noGrp="1"/>
          </p:cNvSpPr>
          <p:nvPr/>
        </p:nvSpPr>
        <p:spPr>
          <a:xfrm>
            <a:off x="90868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B6D71C7-F2DF-41F4-AE3F-6433B25E8E4A}"/>
              </a:ext>
            </a:extLst>
          </p:cNvPr>
          <p:cNvSpPr>
            <a:spLocks noGrp="1"/>
          </p:cNvSpPr>
          <p:nvPr/>
        </p:nvSpPr>
        <p:spPr>
          <a:xfrm>
            <a:off x="96678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50B5DA6-EA89-4999-8F38-28090CD81C6B}"/>
              </a:ext>
            </a:extLst>
          </p:cNvPr>
          <p:cNvSpPr>
            <a:spLocks noGrp="1"/>
          </p:cNvSpPr>
          <p:nvPr/>
        </p:nvSpPr>
        <p:spPr>
          <a:xfrm>
            <a:off x="97440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F867A908-BDD2-43CD-8FDC-56EB100BBE69}"/>
              </a:ext>
            </a:extLst>
          </p:cNvPr>
          <p:cNvSpPr>
            <a:spLocks noGrp="1"/>
          </p:cNvSpPr>
          <p:nvPr/>
        </p:nvSpPr>
        <p:spPr>
          <a:xfrm>
            <a:off x="97536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2FC604CD-3D02-406F-8CFF-397EF56C9CEF}"/>
              </a:ext>
            </a:extLst>
          </p:cNvPr>
          <p:cNvSpPr>
            <a:spLocks noGrp="1"/>
          </p:cNvSpPr>
          <p:nvPr/>
        </p:nvSpPr>
        <p:spPr>
          <a:xfrm>
            <a:off x="97536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F0623F2-3493-4590-8F34-12A81869D2E7}"/>
              </a:ext>
            </a:extLst>
          </p:cNvPr>
          <p:cNvSpPr>
            <a:spLocks noGrp="1"/>
          </p:cNvSpPr>
          <p:nvPr/>
        </p:nvSpPr>
        <p:spPr>
          <a:xfrm>
            <a:off x="10334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0488852-4AEB-45A8-AA4D-FE8DE92ACAC8}"/>
              </a:ext>
            </a:extLst>
          </p:cNvPr>
          <p:cNvSpPr>
            <a:spLocks noGrp="1"/>
          </p:cNvSpPr>
          <p:nvPr/>
        </p:nvSpPr>
        <p:spPr>
          <a:xfrm>
            <a:off x="10410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9F7E2790-628A-4A8C-A791-1AF5FF44450A}"/>
              </a:ext>
            </a:extLst>
          </p:cNvPr>
          <p:cNvSpPr>
            <a:spLocks noGrp="1"/>
          </p:cNvSpPr>
          <p:nvPr/>
        </p:nvSpPr>
        <p:spPr>
          <a:xfrm>
            <a:off x="10420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D3B6100B-DB99-4857-BA86-2165BBBAB171}"/>
              </a:ext>
            </a:extLst>
          </p:cNvPr>
          <p:cNvSpPr>
            <a:spLocks noGrp="1"/>
          </p:cNvSpPr>
          <p:nvPr/>
        </p:nvSpPr>
        <p:spPr>
          <a:xfrm>
            <a:off x="10420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A7FD7666-DB52-464F-82D1-75609D24A3D4}"/>
              </a:ext>
            </a:extLst>
          </p:cNvPr>
          <p:cNvSpPr>
            <a:spLocks noGrp="1"/>
          </p:cNvSpPr>
          <p:nvPr/>
        </p:nvSpPr>
        <p:spPr>
          <a:xfrm>
            <a:off x="8763000" y="234315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6DF76A8-A6B2-4A58-8A5A-42A12C31D593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2476500" cy="16764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8882AFD-17A0-4F6B-BB96-EB6BAA7B566F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1000125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98262"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차이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13924A0-9BC6-408C-B068-9683BB6B995E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C51C4AD-8E4C-46E2-A289-22F5D45EE88F}"/>
              </a:ext>
            </a:extLst>
          </p:cNvPr>
          <p:cNvSpPr>
            <a:spLocks noGrp="1"/>
          </p:cNvSpPr>
          <p:nvPr/>
        </p:nvSpPr>
        <p:spPr>
          <a:xfrm>
            <a:off x="8743950" y="32956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603C41-8ECC-4636-8FFD-B32678250269}"/>
              </a:ext>
            </a:extLst>
          </p:cNvPr>
          <p:cNvSpPr>
            <a:spLocks noGrp="1"/>
          </p:cNvSpPr>
          <p:nvPr/>
        </p:nvSpPr>
        <p:spPr>
          <a:xfrm>
            <a:off x="8334375" y="36957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88D3FA9-29F8-4D0D-8BAB-83A2B8A7DEB8}"/>
              </a:ext>
            </a:extLst>
          </p:cNvPr>
          <p:cNvSpPr>
            <a:spLocks noGrp="1"/>
          </p:cNvSpPr>
          <p:nvPr/>
        </p:nvSpPr>
        <p:spPr>
          <a:xfrm>
            <a:off x="8743950" y="36957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5C5139DB-BE76-45E1-8D71-2881D161FF2D}"/>
              </a:ext>
            </a:extLst>
          </p:cNvPr>
          <p:cNvSpPr>
            <a:spLocks noGrp="1"/>
          </p:cNvSpPr>
          <p:nvPr/>
        </p:nvSpPr>
        <p:spPr>
          <a:xfrm>
            <a:off x="8324850" y="4076700"/>
            <a:ext cx="2000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803D5D-4460-4A7E-8F74-98A75B8974BB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없이 대가를 설명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D401108-3D08-4F17-A8D2-5BDB6FF6617C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FB23C1E-D159-4050-8CAB-87E6FE7DA13C}"/>
              </a:ext>
            </a:extLst>
          </p:cNvPr>
          <p:cNvSpPr>
            <a:spLocks noGrp="1"/>
          </p:cNvSpPr>
          <p:nvPr/>
        </p:nvSpPr>
        <p:spPr>
          <a:xfrm>
            <a:off x="823912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 후보 1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250F9AF-A051-4452-9074-0C361888A13E}"/>
              </a:ext>
            </a:extLst>
          </p:cNvPr>
          <p:cNvSpPr>
            <a:spLocks noGrp="1"/>
          </p:cNvSpPr>
          <p:nvPr/>
        </p:nvSpPr>
        <p:spPr>
          <a:xfrm>
            <a:off x="947737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후보 2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66962A7-2A93-4791-86BB-E8C4BDB43CEF}"/>
              </a:ext>
            </a:extLst>
          </p:cNvPr>
          <p:cNvSpPr>
            <a:spLocks noGrp="1"/>
          </p:cNvSpPr>
          <p:nvPr/>
        </p:nvSpPr>
        <p:spPr>
          <a:xfrm>
            <a:off x="742950" y="61912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Handoff 2026-08-20 · Commit 10b6455…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3429A3B-25DE-4CCB-8039-FE21BA4BA016}"/>
              </a:ext>
            </a:extLst>
          </p:cNvPr>
          <p:cNvSpPr>
            <a:spLocks noGrp="1"/>
          </p:cNvSpPr>
          <p:nvPr/>
        </p:nvSpPr>
        <p:spPr>
          <a:xfrm>
            <a:off x="109537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500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493CD62-5F46-4ECB-8E95-CECD1805C2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EXECUTIVE SUMMARY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AD42D8-9B01-4E21-87B0-D1CA2A9DCCB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검색을 확장하지 않고, 저장 이후의 공동 결정을 보완한다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B1EC0ED-D528-4477-84E4-ECE99BF04A4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50D03D-E149-4716-902B-8010560340E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· docs/02-hypotheses.md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950A92-9BC2-45E1-8C65-BB10EB8D331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3268CC6-8D4B-4785-ADAB-A1B6E03DD1B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803BAD-E41D-4A12-9B36-D40D592F5ECE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3EDD1E-B28E-4A42-9B6E-32FC43300B8F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</a:t>
            </a:r>
            <a:endParaRPr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DABB1F-CFD0-48B1-AA7F-D0A30B409451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 경쟁·대체재 압력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14B3E253-76B8-4878-8900-B25A41FF7558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7A1420-5537-4405-9832-753859A38C41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위에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붙는다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238D50DC-F7D4-413E-88B4-1B79A0BB026C}"/>
              </a:ext>
            </a:extLst>
          </p:cNvPr>
          <p:cNvSpPr>
            <a:spLocks noGrp="1"/>
          </p:cNvSpPr>
          <p:nvPr/>
        </p:nvSpPr>
        <p:spPr>
          <a:xfrm>
            <a:off x="26384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75421B6-CBF4-443F-B123-8FFEC1D8670D}"/>
              </a:ext>
            </a:extLst>
          </p:cNvPr>
          <p:cNvSpPr>
            <a:spLocks noGrp="1"/>
          </p:cNvSpPr>
          <p:nvPr/>
        </p:nvSpPr>
        <p:spPr>
          <a:xfrm>
            <a:off x="28765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1E60E5-2575-46FC-BDCE-B3E948DBE6FF}"/>
              </a:ext>
            </a:extLst>
          </p:cNvPr>
          <p:cNvSpPr>
            <a:spLocks noGrp="1"/>
          </p:cNvSpPr>
          <p:nvPr/>
        </p:nvSpPr>
        <p:spPr>
          <a:xfrm>
            <a:off x="30480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311851-786A-4FB7-AEF0-580DD1BCF6B1}"/>
              </a:ext>
            </a:extLst>
          </p:cNvPr>
          <p:cNvSpPr>
            <a:spLocks noGrp="1"/>
          </p:cNvSpPr>
          <p:nvPr/>
        </p:nvSpPr>
        <p:spPr>
          <a:xfrm>
            <a:off x="30480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고객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7583F-D1EB-4AB3-A79D-CA4200EAD7B0}"/>
              </a:ext>
            </a:extLst>
          </p:cNvPr>
          <p:cNvSpPr>
            <a:spLocks noGrp="1"/>
          </p:cNvSpPr>
          <p:nvPr/>
        </p:nvSpPr>
        <p:spPr>
          <a:xfrm>
            <a:off x="30480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고르는 2인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F7236D7C-35D5-4192-9955-3C0183963BDF}"/>
              </a:ext>
            </a:extLst>
          </p:cNvPr>
          <p:cNvSpPr>
            <a:spLocks noGrp="1"/>
          </p:cNvSpPr>
          <p:nvPr/>
        </p:nvSpPr>
        <p:spPr>
          <a:xfrm>
            <a:off x="30480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A8CF824-72A0-418D-A063-40DEA214CAEF}"/>
              </a:ext>
            </a:extLst>
          </p:cNvPr>
          <p:cNvSpPr>
            <a:spLocks noGrp="1"/>
          </p:cNvSpPr>
          <p:nvPr/>
        </p:nvSpPr>
        <p:spPr>
          <a:xfrm>
            <a:off x="30480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조건과 우선순위가 다르다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8642B453-BED8-4FE6-8FEB-5D105FDDDD5D}"/>
              </a:ext>
            </a:extLst>
          </p:cNvPr>
          <p:cNvSpPr>
            <a:spLocks noGrp="1"/>
          </p:cNvSpPr>
          <p:nvPr/>
        </p:nvSpPr>
        <p:spPr>
          <a:xfrm>
            <a:off x="48291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E2E45B1-C07C-435F-8B5F-3956C1965F3E}"/>
              </a:ext>
            </a:extLst>
          </p:cNvPr>
          <p:cNvSpPr>
            <a:spLocks noGrp="1"/>
          </p:cNvSpPr>
          <p:nvPr/>
        </p:nvSpPr>
        <p:spPr>
          <a:xfrm>
            <a:off x="50673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458FA34-EAC4-4FD9-8177-73458D08003A}"/>
              </a:ext>
            </a:extLst>
          </p:cNvPr>
          <p:cNvSpPr>
            <a:spLocks noGrp="1"/>
          </p:cNvSpPr>
          <p:nvPr/>
        </p:nvSpPr>
        <p:spPr>
          <a:xfrm>
            <a:off x="52387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7060D50-D49A-45A8-A80D-757CE17E77BC}"/>
              </a:ext>
            </a:extLst>
          </p:cNvPr>
          <p:cNvSpPr>
            <a:spLocks noGrp="1"/>
          </p:cNvSpPr>
          <p:nvPr/>
        </p:nvSpPr>
        <p:spPr>
          <a:xfrm>
            <a:off x="52387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08AFDA-4FCA-40D3-837D-31712CDB51AF}"/>
              </a:ext>
            </a:extLst>
          </p:cNvPr>
          <p:cNvSpPr>
            <a:spLocks noGrp="1"/>
          </p:cNvSpPr>
          <p:nvPr/>
        </p:nvSpPr>
        <p:spPr>
          <a:xfrm>
            <a:off x="52387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충돌은 확인 · 지연 인과는 미검증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888BDFDA-5CD4-4259-B202-BDA33CBCC6E9}"/>
              </a:ext>
            </a:extLst>
          </p:cNvPr>
          <p:cNvSpPr>
            <a:spLocks noGrp="1"/>
          </p:cNvSpPr>
          <p:nvPr/>
        </p:nvSpPr>
        <p:spPr>
          <a:xfrm>
            <a:off x="52387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6C80DE-E0ED-4A5A-9B72-F9283E44BFC5}"/>
              </a:ext>
            </a:extLst>
          </p:cNvPr>
          <p:cNvSpPr>
            <a:spLocks noGrp="1"/>
          </p:cNvSpPr>
          <p:nvPr/>
        </p:nvSpPr>
        <p:spPr>
          <a:xfrm>
            <a:off x="52387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H2-b-2가 급소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96F485E6-A1AB-4D5E-AB68-2C562CB9AE7B}"/>
              </a:ext>
            </a:extLst>
          </p:cNvPr>
          <p:cNvSpPr>
            <a:spLocks noGrp="1"/>
          </p:cNvSpPr>
          <p:nvPr/>
        </p:nvSpPr>
        <p:spPr>
          <a:xfrm>
            <a:off x="70199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C857B7C-DDA4-4E49-8EAD-ABCD3D83AB86}"/>
              </a:ext>
            </a:extLst>
          </p:cNvPr>
          <p:cNvSpPr>
            <a:spLocks noGrp="1"/>
          </p:cNvSpPr>
          <p:nvPr/>
        </p:nvSpPr>
        <p:spPr>
          <a:xfrm>
            <a:off x="72580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DE79971-5D67-49A5-B6CB-38D56AEF1E92}"/>
              </a:ext>
            </a:extLst>
          </p:cNvPr>
          <p:cNvSpPr>
            <a:spLocks noGrp="1"/>
          </p:cNvSpPr>
          <p:nvPr/>
        </p:nvSpPr>
        <p:spPr>
          <a:xfrm>
            <a:off x="74295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58198B-C6A0-4D97-9BF4-C396ADBECF2E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메커니즘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CD4509B-43BA-4143-A2E3-BDA447E246DB}"/>
              </a:ext>
            </a:extLst>
          </p:cNvPr>
          <p:cNvSpPr>
            <a:spLocks noGrp="1"/>
          </p:cNvSpPr>
          <p:nvPr/>
        </p:nvSpPr>
        <p:spPr>
          <a:xfrm>
            <a:off x="74295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충족·미달·양보를 병렬 설명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85CA3743-4E26-42BE-AC43-80F663A456A9}"/>
              </a:ext>
            </a:extLst>
          </p:cNvPr>
          <p:cNvSpPr>
            <a:spLocks noGrp="1"/>
          </p:cNvSpPr>
          <p:nvPr/>
        </p:nvSpPr>
        <p:spPr>
          <a:xfrm>
            <a:off x="74295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88A67F4-B0C4-418F-9DD9-7001B01337C3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총점·자동 추천 없음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B42B96DD-4519-40E4-A6B4-BE16060DB651}"/>
              </a:ext>
            </a:extLst>
          </p:cNvPr>
          <p:cNvSpPr>
            <a:spLocks noGrp="1"/>
          </p:cNvSpPr>
          <p:nvPr/>
        </p:nvSpPr>
        <p:spPr>
          <a:xfrm>
            <a:off x="92106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5B351D4-0C07-4606-9305-4A76C326EF65}"/>
              </a:ext>
            </a:extLst>
          </p:cNvPr>
          <p:cNvSpPr>
            <a:spLocks noGrp="1"/>
          </p:cNvSpPr>
          <p:nvPr/>
        </p:nvSpPr>
        <p:spPr>
          <a:xfrm>
            <a:off x="9448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A4A65B3-794B-49C2-8DFC-7301B9F02096}"/>
              </a:ext>
            </a:extLst>
          </p:cNvPr>
          <p:cNvSpPr>
            <a:spLocks noGrp="1"/>
          </p:cNvSpPr>
          <p:nvPr/>
        </p:nvSpPr>
        <p:spPr>
          <a:xfrm>
            <a:off x="9620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4118C2F-A97A-47EF-AF56-DD8AAF9C0A8C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종료점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9FD6B20-84F8-4FC0-9A77-04F74739EC19}"/>
              </a:ext>
            </a:extLst>
          </p:cNvPr>
          <p:cNvSpPr>
            <a:spLocks noGrp="1"/>
          </p:cNvSpPr>
          <p:nvPr/>
        </p:nvSpPr>
        <p:spPr>
          <a:xfrm>
            <a:off x="9620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최대 5개 → 방문 2개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E56DC4D-CEE0-4BF6-88D4-580B6C76C252}"/>
              </a:ext>
            </a:extLst>
          </p:cNvPr>
          <p:cNvSpPr>
            <a:spLocks noGrp="1"/>
          </p:cNvSpPr>
          <p:nvPr/>
        </p:nvSpPr>
        <p:spPr>
          <a:xfrm>
            <a:off x="9620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89EC17B-613E-4250-8D23-368E0446894A}"/>
              </a:ext>
            </a:extLst>
          </p:cNvPr>
          <p:cNvSpPr>
            <a:spLocks noGrp="1"/>
          </p:cNvSpPr>
          <p:nvPr/>
        </p:nvSpPr>
        <p:spPr>
          <a:xfrm>
            <a:off x="9620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둘이 직접 선택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1DDF86D-AC65-4388-ACE1-956DB3C7D56A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820400" cy="1352550"/>
          </a:xfrm>
          <a:prstGeom prst="roundRect">
            <a:avLst>
              <a:gd name="adj" fmla="val 985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B9F3724-7C27-42B3-B1D8-C7F204D5DD81}"/>
              </a:ext>
            </a:extLst>
          </p:cNvPr>
          <p:cNvSpPr>
            <a:spLocks noGrp="1"/>
          </p:cNvSpPr>
          <p:nvPr/>
        </p:nvSpPr>
        <p:spPr>
          <a:xfrm>
            <a:off x="914400" y="45243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검증 순서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2B244E5-2C24-44E2-8689-9F4F8BB35A45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H1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선행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측정</a:t>
            </a:r>
            <a:endParaRPr sz="16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0D64C369-0626-4163-A388-FBFFCB692232}"/>
              </a:ext>
            </a:extLst>
          </p:cNvPr>
          <p:cNvSpPr>
            <a:spLocks noGrp="1"/>
          </p:cNvSpPr>
          <p:nvPr/>
        </p:nvSpPr>
        <p:spPr>
          <a:xfrm>
            <a:off x="3239023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0D0B72-C7D7-4D87-AD38-B7F680383EE3}"/>
              </a:ext>
            </a:extLst>
          </p:cNvPr>
          <p:cNvSpPr>
            <a:spLocks noGrp="1"/>
          </p:cNvSpPr>
          <p:nvPr/>
        </p:nvSpPr>
        <p:spPr>
          <a:xfrm>
            <a:off x="4095750" y="4933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H2-b-2 지연 인과 인터뷰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6332FB74-1E59-4AA0-828F-2EFDD8169133}"/>
              </a:ext>
            </a:extLst>
          </p:cNvPr>
          <p:cNvSpPr>
            <a:spLocks noGrp="1"/>
          </p:cNvSpPr>
          <p:nvPr/>
        </p:nvSpPr>
        <p:spPr>
          <a:xfrm>
            <a:off x="6686550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7C2A830-443C-4FD7-A731-CDF23A1DEFC0}"/>
              </a:ext>
            </a:extLst>
          </p:cNvPr>
          <p:cNvSpPr>
            <a:spLocks noGrp="1"/>
          </p:cNvSpPr>
          <p:nvPr/>
        </p:nvSpPr>
        <p:spPr>
          <a:xfrm>
            <a:off x="752475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1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프로토타입</a:t>
            </a:r>
            <a:endParaRPr sz="16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7D7F945-494B-4A26-9A13-5C609DA19414}"/>
              </a:ext>
            </a:extLst>
          </p:cNvPr>
          <p:cNvSpPr>
            <a:spLocks noGrp="1"/>
          </p:cNvSpPr>
          <p:nvPr/>
        </p:nvSpPr>
        <p:spPr>
          <a:xfrm>
            <a:off x="9620250" y="4665158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FACT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CE4458D-BBAF-4EBA-BA2A-334A9B328A71}"/>
              </a:ext>
            </a:extLst>
          </p:cNvPr>
          <p:cNvSpPr>
            <a:spLocks noGrp="1"/>
          </p:cNvSpPr>
          <p:nvPr/>
        </p:nvSpPr>
        <p:spPr>
          <a:xfrm>
            <a:off x="10353675" y="4665158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02EE706-F59A-4180-BBFB-A4D74A885A65}"/>
              </a:ext>
            </a:extLst>
          </p:cNvPr>
          <p:cNvSpPr>
            <a:spLocks noGrp="1"/>
          </p:cNvSpPr>
          <p:nvPr/>
        </p:nvSpPr>
        <p:spPr>
          <a:xfrm>
            <a:off x="9620250" y="5008058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5AAB9E2-7518-4D7A-BD57-7DD5A0D76B78}"/>
              </a:ext>
            </a:extLst>
          </p:cNvPr>
          <p:cNvSpPr>
            <a:spLocks noGrp="1"/>
          </p:cNvSpPr>
          <p:nvPr/>
        </p:nvSpPr>
        <p:spPr>
          <a:xfrm>
            <a:off x="10687050" y="5008058"/>
            <a:ext cx="552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300967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181D76A-DD87-4540-ACC7-10867A786ED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C62626-E1F0-4588-8540-F5E6B8E2CB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시장은 ‘온라인 주거 탐색’이 아니라 ‘탐색부터 공동 결정까지’로 잠근다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7FCA43A-78D0-4CDF-B16C-F86D10FDE6AA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503735-40F7-4FEF-B49A-DCE9CA42BAB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§5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B520A8-10BA-4A71-89B0-CB0D22B052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F3E2739-0255-4C1C-B338-D426A5994014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667250" cy="323850"/>
          </a:xfrm>
          <a:prstGeom prst="roundRect">
            <a:avLst>
              <a:gd name="adj" fmla="val 4117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대한민국 온라인 주거용 부동산 탐색·비교·의사결정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6E962C8-7BAD-4CBC-BEF6-B468A666D5AC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5240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F400E31-328B-46B9-8689-D282D37C0C37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2AB38DE-06E9-4F7F-A464-9025B6B4CBB6}"/>
              </a:ext>
            </a:extLst>
          </p:cNvPr>
          <p:cNvSpPr>
            <a:spLocks noGrp="1"/>
          </p:cNvSpPr>
          <p:nvPr/>
        </p:nvSpPr>
        <p:spPr>
          <a:xfrm>
            <a:off x="3914775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C8CBAA8-8B22-4101-BB04-9DD8834CF07D}"/>
              </a:ext>
            </a:extLst>
          </p:cNvPr>
          <p:cNvSpPr>
            <a:spLocks noGrp="1"/>
          </p:cNvSpPr>
          <p:nvPr/>
        </p:nvSpPr>
        <p:spPr>
          <a:xfrm>
            <a:off x="5448300" y="2381250"/>
            <a:ext cx="19526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5161C8F-D3FA-4C91-887D-E9EA06F7012E}"/>
              </a:ext>
            </a:extLst>
          </p:cNvPr>
          <p:cNvSpPr>
            <a:spLocks noGrp="1"/>
          </p:cNvSpPr>
          <p:nvPr/>
        </p:nvSpPr>
        <p:spPr>
          <a:xfrm>
            <a:off x="75533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C35C62C-578C-43D2-86B1-156A20810AD6}"/>
              </a:ext>
            </a:extLst>
          </p:cNvPr>
          <p:cNvSpPr>
            <a:spLocks noGrp="1"/>
          </p:cNvSpPr>
          <p:nvPr/>
        </p:nvSpPr>
        <p:spPr>
          <a:xfrm>
            <a:off x="94202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7436D3D-7567-4B90-B77F-8013D92C6A1F}"/>
              </a:ext>
            </a:extLst>
          </p:cNvPr>
          <p:cNvSpPr>
            <a:spLocks noGrp="1"/>
          </p:cNvSpPr>
          <p:nvPr/>
        </p:nvSpPr>
        <p:spPr>
          <a:xfrm>
            <a:off x="2266950" y="3676650"/>
            <a:ext cx="6724650" cy="381000"/>
          </a:xfrm>
          <a:prstGeom prst="roundRect">
            <a:avLst>
              <a:gd name="adj" fmla="val 20000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EC3C2C-B938-4D24-868A-DDFBB140E100}"/>
              </a:ext>
            </a:extLst>
          </p:cNvPr>
          <p:cNvSpPr>
            <a:spLocks noGrp="1"/>
          </p:cNvSpPr>
          <p:nvPr/>
        </p:nvSpPr>
        <p:spPr>
          <a:xfrm>
            <a:off x="2419350" y="3770630"/>
            <a:ext cx="641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INITIAL ENTRY  · 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저장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 · 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전·월세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주거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탐색자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38725C3-4908-4BF3-8770-04F88A393936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F51171B-86FD-425D-90EF-36A47DD3288E}"/>
              </a:ext>
            </a:extLst>
          </p:cNvPr>
          <p:cNvSpPr>
            <a:spLocks noGrp="1"/>
          </p:cNvSpPr>
          <p:nvPr/>
        </p:nvSpPr>
        <p:spPr>
          <a:xfrm>
            <a:off x="895350" y="450977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정의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2CB0CC-07E3-424B-8E13-CC7854B8764D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 · 주거 형태 자체는 제한하지 않음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4758C85-C208-4374-82D7-95AAF40D1F1E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0">
            <a:noFill/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38C398-1948-43C7-AF09-674AF20048B4}"/>
              </a:ext>
            </a:extLst>
          </p:cNvPr>
          <p:cNvSpPr>
            <a:spLocks noGrp="1"/>
          </p:cNvSpPr>
          <p:nvPr/>
        </p:nvSpPr>
        <p:spPr>
          <a:xfrm>
            <a:off x="895350" y="503110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형태</a:t>
            </a:r>
            <a:endParaRPr sz="105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4705AE-8114-46BE-A8B5-0E1EBA2885D2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별도 앱이 아니라 네이버 부동산 안의 기능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30CD901-5339-41B5-A2C0-C81A8169B0FD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24091C-61F9-48A3-A5AC-D301280DD614}"/>
              </a:ext>
            </a:extLst>
          </p:cNvPr>
          <p:cNvSpPr>
            <a:spLocks noGrp="1"/>
          </p:cNvSpPr>
          <p:nvPr/>
        </p:nvSpPr>
        <p:spPr>
          <a:xfrm>
            <a:off x="895350" y="555244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05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2212E8-1CF4-4CED-B74B-275E41EB3E58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계약·등기·보증보험·대출 실행 · 3인 이상 공동 결정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2372AE-E98A-4964-9688-4DA7526E0B83}"/>
              </a:ext>
            </a:extLst>
          </p:cNvPr>
          <p:cNvSpPr>
            <a:spLocks noGrp="1"/>
          </p:cNvSpPr>
          <p:nvPr/>
        </p:nvSpPr>
        <p:spPr>
          <a:xfrm>
            <a:off x="770554" y="2767013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B14F90D-6731-4E19-9AA2-201CAECEC922}"/>
              </a:ext>
            </a:extLst>
          </p:cNvPr>
          <p:cNvSpPr>
            <a:spLocks noGrp="1"/>
          </p:cNvSpPr>
          <p:nvPr/>
        </p:nvSpPr>
        <p:spPr>
          <a:xfrm>
            <a:off x="2239944" y="2833688"/>
            <a:ext cx="17145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25E531-00B4-4376-A2CF-AFF5FE32CD64}"/>
              </a:ext>
            </a:extLst>
          </p:cNvPr>
          <p:cNvSpPr>
            <a:spLocks noGrp="1"/>
          </p:cNvSpPr>
          <p:nvPr/>
        </p:nvSpPr>
        <p:spPr>
          <a:xfrm>
            <a:off x="2446954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4FAF76D-75D5-4DF4-B149-611A50F0296E}"/>
              </a:ext>
            </a:extLst>
          </p:cNvPr>
          <p:cNvSpPr>
            <a:spLocks noGrp="1"/>
          </p:cNvSpPr>
          <p:nvPr/>
        </p:nvSpPr>
        <p:spPr>
          <a:xfrm>
            <a:off x="377346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F11419-E3A6-4B4A-B516-24C75B89F600}"/>
              </a:ext>
            </a:extLst>
          </p:cNvPr>
          <p:cNvSpPr>
            <a:spLocks noGrp="1"/>
          </p:cNvSpPr>
          <p:nvPr/>
        </p:nvSpPr>
        <p:spPr>
          <a:xfrm>
            <a:off x="3980479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3D7566D-4744-47F6-9C08-36F9FD018506}"/>
              </a:ext>
            </a:extLst>
          </p:cNvPr>
          <p:cNvSpPr>
            <a:spLocks noGrp="1"/>
          </p:cNvSpPr>
          <p:nvPr/>
        </p:nvSpPr>
        <p:spPr>
          <a:xfrm>
            <a:off x="5306994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46F86A-DCF2-4BB8-9E04-193F6426C6DC}"/>
              </a:ext>
            </a:extLst>
          </p:cNvPr>
          <p:cNvSpPr>
            <a:spLocks noGrp="1"/>
          </p:cNvSpPr>
          <p:nvPr/>
        </p:nvSpPr>
        <p:spPr>
          <a:xfrm>
            <a:off x="5514004" y="2767013"/>
            <a:ext cx="1800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비교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C8006415-1444-442C-92AE-E810861DFF6F}"/>
              </a:ext>
            </a:extLst>
          </p:cNvPr>
          <p:cNvSpPr>
            <a:spLocks noGrp="1"/>
          </p:cNvSpPr>
          <p:nvPr/>
        </p:nvSpPr>
        <p:spPr>
          <a:xfrm>
            <a:off x="74120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30B098-B7C1-4B8B-8CCE-CC02E11D631A}"/>
              </a:ext>
            </a:extLst>
          </p:cNvPr>
          <p:cNvSpPr>
            <a:spLocks noGrp="1"/>
          </p:cNvSpPr>
          <p:nvPr/>
        </p:nvSpPr>
        <p:spPr>
          <a:xfrm>
            <a:off x="76190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결정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7BACCBAD-1E91-4D70-B800-D8DFB62255FC}"/>
              </a:ext>
            </a:extLst>
          </p:cNvPr>
          <p:cNvSpPr>
            <a:spLocks noGrp="1"/>
          </p:cNvSpPr>
          <p:nvPr/>
        </p:nvSpPr>
        <p:spPr>
          <a:xfrm>
            <a:off x="92789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25A13A4-10B2-476E-BB1D-C05F91DF4D55}"/>
              </a:ext>
            </a:extLst>
          </p:cNvPr>
          <p:cNvSpPr>
            <a:spLocks noGrp="1"/>
          </p:cNvSpPr>
          <p:nvPr/>
        </p:nvSpPr>
        <p:spPr>
          <a:xfrm>
            <a:off x="94859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계약</a:t>
            </a:r>
            <a:r>
              <a:rPr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24337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75B3769-8C31-42EE-88DA-BFE31C58415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 · FIVE FORCES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AC4BF7-994B-4213-90FD-61D65EC796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 경쟁보다 더 큰 압력은 이미 익숙한 대체 워크플로다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98455D6-AE7E-424E-A9C2-F63FB219C06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AED454-EA9D-4648-B146-544521CE6E4E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§5 · docs/04-benchmarks.md · docs/10-data-integration.md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377837-9419-40F0-8AA2-1BA923FDC7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040BC6-08B2-46BA-A82A-1B9B6A68DD0E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대체재 위협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FCFB2B8-D824-4270-82A1-3A3D6958E2A9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6A81915-2DB5-4B8F-B79F-6F432222E47D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750B21D-8FCB-42F4-A28E-E38F0C864445}"/>
              </a:ext>
            </a:extLst>
          </p:cNvPr>
          <p:cNvSpPr>
            <a:spLocks noGrp="1"/>
          </p:cNvSpPr>
          <p:nvPr/>
        </p:nvSpPr>
        <p:spPr>
          <a:xfrm>
            <a:off x="5953125" y="1600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매우 높음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EAD565-FE55-45A2-8751-3964BA29FC80}"/>
              </a:ext>
            </a:extLst>
          </p:cNvPr>
          <p:cNvSpPr>
            <a:spLocks noGrp="1"/>
          </p:cNvSpPr>
          <p:nvPr/>
        </p:nvSpPr>
        <p:spPr>
          <a:xfrm>
            <a:off x="7048500" y="1609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카톡·지도·엑셀·메모보다 시작이 복잡하면 쓰이지 않음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D1E3584-1F37-4C57-9F4F-873D3AE29CE3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0AF67B-BA7E-400F-980D-A83D0A48BF05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기존 경쟁 강도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45FA62-472E-4B71-BCFE-0E1C4C2ADCE2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4C67FE-0BBC-4BA1-9BC7-BBB0438D861E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2D5EE25-C158-4352-BCBA-D9A91FDA9FEE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BD4D12-BB31-4ADC-9255-D9BA36B00C4F}"/>
              </a:ext>
            </a:extLst>
          </p:cNvPr>
          <p:cNvSpPr>
            <a:spLocks noGrp="1"/>
          </p:cNvSpPr>
          <p:nvPr/>
        </p:nvSpPr>
        <p:spPr>
          <a:xfrm>
            <a:off x="7048500" y="2371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검색·지도·매물량 정면 경쟁을 피함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E70EBA8-AB48-4A53-9E2E-1941E47397C9}"/>
              </a:ext>
            </a:extLst>
          </p:cNvPr>
          <p:cNvSpPr>
            <a:spLocks noGrp="1"/>
          </p:cNvSpPr>
          <p:nvPr/>
        </p:nvSpPr>
        <p:spPr>
          <a:xfrm>
            <a:off x="723900" y="2905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FE45C0-88A6-452B-B82F-134301D87B02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구매자 교섭력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8A2FCE4-5D21-467C-AB83-DACE988528F5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2A8B666-E3BF-462E-A1BC-846DFE55B257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7B535D6-06BE-450E-AC93-923A766A70FD}"/>
              </a:ext>
            </a:extLst>
          </p:cNvPr>
          <p:cNvSpPr>
            <a:spLocks noGrp="1"/>
          </p:cNvSpPr>
          <p:nvPr/>
        </p:nvSpPr>
        <p:spPr>
          <a:xfrm>
            <a:off x="5953125" y="3124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D86384-D309-410D-A4B0-C9DB30000F78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가입·초대·조건 입력 마찰을 최소화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908E7A56-653D-4E9A-B2B5-7ABAD16DA039}"/>
              </a:ext>
            </a:extLst>
          </p:cNvPr>
          <p:cNvSpPr>
            <a:spLocks noGrp="1"/>
          </p:cNvSpPr>
          <p:nvPr/>
        </p:nvSpPr>
        <p:spPr>
          <a:xfrm>
            <a:off x="723900" y="3667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6D00A6-EFAD-4076-853F-A763626520C4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공급자 교섭력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1225B8A-C4F5-4787-AB26-0ECF2556078C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581FEEF-C6E2-4C0F-B594-63211D30D565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226695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DAE2066-C077-4130-9C67-B6F23BB42FAC}"/>
              </a:ext>
            </a:extLst>
          </p:cNvPr>
          <p:cNvSpPr>
            <a:spLocks noGrp="1"/>
          </p:cNvSpPr>
          <p:nvPr/>
        </p:nvSpPr>
        <p:spPr>
          <a:xfrm>
            <a:off x="5953125" y="3886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중~높음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AA2AAE-DC0A-4DEE-ADC5-1C7D0A1B38F4}"/>
              </a:ext>
            </a:extLst>
          </p:cNvPr>
          <p:cNvSpPr>
            <a:spLocks noGrp="1"/>
          </p:cNvSpPr>
          <p:nvPr/>
        </p:nvSpPr>
        <p:spPr>
          <a:xfrm>
            <a:off x="7048500" y="3895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 매물 데이터를 읽어 판정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567338C0-A87C-4855-A811-2949C6E00AA7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D92E48-559D-4672-8608-0058019984F6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신규 진입 위협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B8CFB5E-B984-42D1-BEC6-4298FCC8DFCF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352CC32-6132-41CA-BAB6-19CE04C871AE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19431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3B321BC-9019-4B75-A9D4-E4734595D62D}"/>
              </a:ext>
            </a:extLst>
          </p:cNvPr>
          <p:cNvSpPr>
            <a:spLocks noGrp="1"/>
          </p:cNvSpPr>
          <p:nvPr/>
        </p:nvSpPr>
        <p:spPr>
          <a:xfrm>
            <a:off x="5953125" y="4648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1BBFF16-E16C-437A-B769-536070C07681}"/>
              </a:ext>
            </a:extLst>
          </p:cNvPr>
          <p:cNvSpPr>
            <a:spLocks noGrp="1"/>
          </p:cNvSpPr>
          <p:nvPr/>
        </p:nvSpPr>
        <p:spPr>
          <a:xfrm>
            <a:off x="7048500" y="4657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기능 전제가 데이터 장벽을 낮춤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79D44D3A-D71E-47ED-AF4A-948558D552AD}"/>
              </a:ext>
            </a:extLst>
          </p:cNvPr>
          <p:cNvSpPr>
            <a:spLocks noGrp="1"/>
          </p:cNvSpPr>
          <p:nvPr/>
        </p:nvSpPr>
        <p:spPr>
          <a:xfrm>
            <a:off x="723900" y="5191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2863AC8-BE14-4D35-9A9B-5DB9C7529D37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496550" cy="514350"/>
          </a:xfrm>
          <a:prstGeom prst="roundRect">
            <a:avLst>
              <a:gd name="adj" fmla="val 1851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EF3BAB-CE72-4894-9AD0-030E3D46CC0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결론</a:t>
            </a:r>
            <a:endParaRPr sz="105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4553BEF-E7AF-4137-92F1-93B3072C537F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‘매물을 더 잘 찾기’보다 기존 탐색 위에 붙는 공동 의사결정 레이어</a:t>
            </a:r>
          </a:p>
        </p:txBody>
      </p:sp>
    </p:spTree>
    <p:extLst>
      <p:ext uri="{BB962C8B-B14F-4D97-AF65-F5344CB8AC3E}">
        <p14:creationId xmlns:p14="http://schemas.microsoft.com/office/powerpoint/2010/main" val="1480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366E91-3606-44FB-B6DB-C8E8E4D80DB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 · SIZE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021A16-EA69-49C0-9F22-D3A22FA295D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 규모는 ‘큰 숫자’보다 하한과 가정의 경계를 보여준다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45252D8-BA4B-4AF5-8AB1-22CAE359F65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EC169E-B5AB-4C29-A17F-CE3A3DA5AE3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§5 · docs/03-evidence-log.md F13~F17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59F18B-EE26-42CE-B8EB-F6F5742254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AA5A351-ED0E-4F48-876C-CEC73C91FE5A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8763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7574B72-F892-47CD-9F48-A4937FCF9624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TAM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5CD523-36A9-4B84-8EAC-C9BD748D266E}"/>
              </a:ext>
            </a:extLst>
          </p:cNvPr>
          <p:cNvSpPr>
            <a:spLocks noGrp="1"/>
          </p:cNvSpPr>
          <p:nvPr/>
        </p:nvSpPr>
        <p:spPr>
          <a:xfrm>
            <a:off x="1943100" y="17430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500만~700만 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C01E5E-9AAB-4B92-8052-55A54557AA4E}"/>
              </a:ext>
            </a:extLst>
          </p:cNvPr>
          <p:cNvSpPr>
            <a:spLocks noGrp="1"/>
          </p:cNvSpPr>
          <p:nvPr/>
        </p:nvSpPr>
        <p:spPr>
          <a:xfrm>
            <a:off x="1943100" y="2124337"/>
            <a:ext cx="733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앱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이용자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자릿수</a:t>
            </a:r>
            <a:endParaRPr sz="10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836644-6520-46F2-8579-13F9411B6397}"/>
              </a:ext>
            </a:extLst>
          </p:cNvPr>
          <p:cNvSpPr>
            <a:spLocks noGrp="1"/>
          </p:cNvSpPr>
          <p:nvPr/>
        </p:nvSpPr>
        <p:spPr>
          <a:xfrm>
            <a:off x="1943100" y="2295525"/>
            <a:ext cx="733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중간 · 중복 제거 불가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D0CE835-95EB-47B0-BDD7-04182CFAC1D6}"/>
              </a:ext>
            </a:extLst>
          </p:cNvPr>
          <p:cNvSpPr>
            <a:spLocks noGrp="1"/>
          </p:cNvSpPr>
          <p:nvPr/>
        </p:nvSpPr>
        <p:spPr>
          <a:xfrm>
            <a:off x="1800225" y="2838450"/>
            <a:ext cx="6572250" cy="895350"/>
          </a:xfrm>
          <a:prstGeom prst="roundRect">
            <a:avLst>
              <a:gd name="adj" fmla="val 1276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457392A-BCC7-4305-AFEE-70A97F6C7EBA}"/>
              </a:ext>
            </a:extLst>
          </p:cNvPr>
          <p:cNvSpPr>
            <a:spLocks noGrp="1"/>
          </p:cNvSpPr>
          <p:nvPr/>
        </p:nvSpPr>
        <p:spPr>
          <a:xfrm>
            <a:off x="1952625" y="29908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SAM 하한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06F913-D175-4394-9219-DFBBA39A7C65}"/>
              </a:ext>
            </a:extLst>
          </p:cNvPr>
          <p:cNvSpPr>
            <a:spLocks noGrp="1"/>
          </p:cNvSpPr>
          <p:nvPr/>
        </p:nvSpPr>
        <p:spPr>
          <a:xfrm>
            <a:off x="3038475" y="294322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54.6만 쌍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F56E36-0E4C-432C-9C51-C86E88C4867B}"/>
              </a:ext>
            </a:extLst>
          </p:cNvPr>
          <p:cNvSpPr>
            <a:spLocks noGrp="1"/>
          </p:cNvSpPr>
          <p:nvPr/>
        </p:nvSpPr>
        <p:spPr>
          <a:xfrm>
            <a:off x="3038475" y="3324487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신혼부부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95.2만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무주택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57.3%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9D440F-4362-463A-AAEA-86E6E8FEC3F5}"/>
              </a:ext>
            </a:extLst>
          </p:cNvPr>
          <p:cNvSpPr>
            <a:spLocks noGrp="1"/>
          </p:cNvSpPr>
          <p:nvPr/>
        </p:nvSpPr>
        <p:spPr>
          <a:xfrm>
            <a:off x="3038475" y="3495675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높음 · 신혼부부만 반영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B45F67-C669-40EE-9440-78A25628DEE5}"/>
              </a:ext>
            </a:extLst>
          </p:cNvPr>
          <p:cNvSpPr>
            <a:spLocks noGrp="1"/>
          </p:cNvSpPr>
          <p:nvPr/>
        </p:nvSpPr>
        <p:spPr>
          <a:xfrm>
            <a:off x="3038475" y="4038600"/>
            <a:ext cx="4095750" cy="895350"/>
          </a:xfrm>
          <a:prstGeom prst="roundRect">
            <a:avLst>
              <a:gd name="adj" fmla="val 12766"/>
            </a:avLst>
          </a:prstGeom>
          <a:solidFill>
            <a:srgbClr val="FFF2D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17FCBE-EE9C-4C84-8DE8-1AA4AC30692E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SOM </a:t>
            </a:r>
            <a:r>
              <a:rPr sz="10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시나리오</a:t>
            </a:r>
            <a:endParaRPr sz="10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ED1C5F-895F-4A99-832C-394322A6F60C}"/>
              </a:ext>
            </a:extLst>
          </p:cNvPr>
          <p:cNvSpPr>
            <a:spLocks noGrp="1"/>
          </p:cNvSpPr>
          <p:nvPr/>
        </p:nvSpPr>
        <p:spPr>
          <a:xfrm>
            <a:off x="4424363" y="41433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6.7만~20.1만 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F9F48D-0CA5-4BC0-B3BE-F45EBE0EE0C4}"/>
              </a:ext>
            </a:extLst>
          </p:cNvPr>
          <p:cNvSpPr>
            <a:spLocks noGrp="1"/>
          </p:cNvSpPr>
          <p:nvPr/>
        </p:nvSpPr>
        <p:spPr>
          <a:xfrm>
            <a:off x="4424363" y="451584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MAU 134만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가정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5/10/15%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31474F-5A32-48AB-8418-76053CC4D770}"/>
              </a:ext>
            </a:extLst>
          </p:cNvPr>
          <p:cNvSpPr>
            <a:spLocks noGrp="1"/>
          </p:cNvSpPr>
          <p:nvPr/>
        </p:nvSpPr>
        <p:spPr>
          <a:xfrm>
            <a:off x="4424363" y="469582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낮음 · 수요 예측 아님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1B43737-9656-47AE-B868-778071602F2F}"/>
              </a:ext>
            </a:extLst>
          </p:cNvPr>
          <p:cNvSpPr>
            <a:spLocks noGrp="1"/>
          </p:cNvSpPr>
          <p:nvPr/>
        </p:nvSpPr>
        <p:spPr>
          <a:xfrm>
            <a:off x="9715500" y="1675719"/>
            <a:ext cx="1762125" cy="347730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44AFB8-7FB5-4E0D-B39E-B8B3230C6039}"/>
              </a:ext>
            </a:extLst>
          </p:cNvPr>
          <p:cNvSpPr>
            <a:spLocks noGrp="1"/>
          </p:cNvSpPr>
          <p:nvPr/>
        </p:nvSpPr>
        <p:spPr>
          <a:xfrm>
            <a:off x="9886950" y="1847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2025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모바일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MAU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7A239A-B983-4DA3-8311-DF262E5537D9}"/>
              </a:ext>
            </a:extLst>
          </p:cNvPr>
          <p:cNvSpPr>
            <a:spLocks noGrp="1"/>
          </p:cNvSpPr>
          <p:nvPr/>
        </p:nvSpPr>
        <p:spPr>
          <a:xfrm>
            <a:off x="9886950" y="232342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직방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D127680-80D8-4FF9-8306-20601DA585B3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619F373-1EC6-4110-B310-21A55265CEDB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A6AA65-75F7-44E3-85B7-43FDDE993CE9}"/>
              </a:ext>
            </a:extLst>
          </p:cNvPr>
          <p:cNvSpPr>
            <a:spLocks noGrp="1"/>
          </p:cNvSpPr>
          <p:nvPr/>
        </p:nvSpPr>
        <p:spPr>
          <a:xfrm>
            <a:off x="10763250" y="232342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229만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E083E81-2BD0-4552-8FED-8F915FBE44C1}"/>
              </a:ext>
            </a:extLst>
          </p:cNvPr>
          <p:cNvSpPr>
            <a:spLocks noGrp="1"/>
          </p:cNvSpPr>
          <p:nvPr/>
        </p:nvSpPr>
        <p:spPr>
          <a:xfrm>
            <a:off x="9886950" y="3027224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호갱노노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6D4E8DD-0657-467F-8346-8A3F69429E35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F6EAAF0-C8E3-4586-92AD-452EA7110A0D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027452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2B094F3-54CB-48CF-A17A-96A2BEC44629}"/>
              </a:ext>
            </a:extLst>
          </p:cNvPr>
          <p:cNvSpPr>
            <a:spLocks noGrp="1"/>
          </p:cNvSpPr>
          <p:nvPr/>
        </p:nvSpPr>
        <p:spPr>
          <a:xfrm>
            <a:off x="10763250" y="3027224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179만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6FF307A-1074-4750-8C67-CFC68A074527}"/>
              </a:ext>
            </a:extLst>
          </p:cNvPr>
          <p:cNvSpPr>
            <a:spLocks noGrp="1"/>
          </p:cNvSpPr>
          <p:nvPr/>
        </p:nvSpPr>
        <p:spPr>
          <a:xfrm>
            <a:off x="9886950" y="3731028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9CAEC81-91FA-435A-8548-5EF437D8C6F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8BA99B0-760A-44BB-8CE0-92746FA5278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769154" cy="1143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8A66C7C-7DCF-44A5-8E23-8B78594B8D91}"/>
              </a:ext>
            </a:extLst>
          </p:cNvPr>
          <p:cNvSpPr>
            <a:spLocks noGrp="1"/>
          </p:cNvSpPr>
          <p:nvPr/>
        </p:nvSpPr>
        <p:spPr>
          <a:xfrm>
            <a:off x="10763250" y="3731028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134만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3CA58C8-C842-467C-871B-4A0857193891}"/>
              </a:ext>
            </a:extLst>
          </p:cNvPr>
          <p:cNvSpPr>
            <a:spLocks noGrp="1"/>
          </p:cNvSpPr>
          <p:nvPr/>
        </p:nvSpPr>
        <p:spPr>
          <a:xfrm>
            <a:off x="10228602" y="4437289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가정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F8410DF-ADBA-467D-A042-C16936DDC83E}"/>
              </a:ext>
            </a:extLst>
          </p:cNvPr>
          <p:cNvSpPr>
            <a:spLocks noGrp="1"/>
          </p:cNvSpPr>
          <p:nvPr/>
        </p:nvSpPr>
        <p:spPr>
          <a:xfrm>
            <a:off x="9715500" y="4751614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SOM은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점선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범위로만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9D49CC3-E2D7-449D-9B0D-88BC0BA0E127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10782300" cy="628650"/>
          </a:xfrm>
          <a:prstGeom prst="roundRect">
            <a:avLst>
              <a:gd name="adj" fmla="val 1515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A92E8F6-8312-4E4A-AA0C-4A6402BC2494}"/>
              </a:ext>
            </a:extLst>
          </p:cNvPr>
          <p:cNvSpPr>
            <a:spLocks noGrp="1"/>
          </p:cNvSpPr>
          <p:nvPr/>
        </p:nvSpPr>
        <p:spPr>
          <a:xfrm>
            <a:off x="876300" y="552577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해석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04BD844-2C37-49F0-9A59-1ABF27B52676}"/>
              </a:ext>
            </a:extLst>
          </p:cNvPr>
          <p:cNvSpPr>
            <a:spLocks noGrp="1"/>
          </p:cNvSpPr>
          <p:nvPr/>
        </p:nvSpPr>
        <p:spPr>
          <a:xfrm>
            <a:off x="1619250" y="5478145"/>
            <a:ext cx="960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보유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자산을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활용해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미점유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구간을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공략한다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—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숫자의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확실성은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서로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다르다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541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B58634C-7915-47DE-89A9-25858811647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0480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ENTERPRISE · VALUE CHAIN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279769-552F-403B-90FE-A7E000FD68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가치사슬의 공백은 관심매물 저장과 문의·방문 사이에 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562F7FB-16A7-4C59-94D5-9D12FF19E98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5FD10B-FFD2-4EB8-AA58-7584012B148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· docs/07-cjm-opportunity-score.md · docs/10-data-integration.md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FD97EE-02C0-4810-93C6-BC87F241950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123EA28-90F3-49E7-94AC-F4E1E71D9A2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3402AA-644F-4B67-A564-0536475C1D9D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확보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4734EE4-DD14-4FB4-86E7-7E2B4D636CAC}"/>
              </a:ext>
            </a:extLst>
          </p:cNvPr>
          <p:cNvSpPr>
            <a:spLocks noGrp="1"/>
          </p:cNvSpPr>
          <p:nvPr/>
        </p:nvSpPr>
        <p:spPr>
          <a:xfrm>
            <a:off x="16764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0BD234-3207-494B-8E76-F7F52520E752}"/>
              </a:ext>
            </a:extLst>
          </p:cNvPr>
          <p:cNvSpPr>
            <a:spLocks noGrp="1"/>
          </p:cNvSpPr>
          <p:nvPr/>
        </p:nvSpPr>
        <p:spPr>
          <a:xfrm>
            <a:off x="1828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EB332B-6552-4648-87E6-395C98CBC128}"/>
              </a:ext>
            </a:extLst>
          </p:cNvPr>
          <p:cNvSpPr>
            <a:spLocks noGrp="1"/>
          </p:cNvSpPr>
          <p:nvPr/>
        </p:nvSpPr>
        <p:spPr>
          <a:xfrm>
            <a:off x="1885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정규화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A40CB4C-8683-4A8A-AF9B-1AFC9F80FEDA}"/>
              </a:ext>
            </a:extLst>
          </p:cNvPr>
          <p:cNvSpPr>
            <a:spLocks noGrp="1"/>
          </p:cNvSpPr>
          <p:nvPr/>
        </p:nvSpPr>
        <p:spPr>
          <a:xfrm>
            <a:off x="28956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1D9CFF-351E-4F3D-83C5-D2209BE1C1DE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8E6DD5-A2C7-4053-A6DE-FA620CF5D627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검색/지도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E3D0A70-9B36-4588-B768-C6316A56055D}"/>
              </a:ext>
            </a:extLst>
          </p:cNvPr>
          <p:cNvSpPr>
            <a:spLocks noGrp="1"/>
          </p:cNvSpPr>
          <p:nvPr/>
        </p:nvSpPr>
        <p:spPr>
          <a:xfrm>
            <a:off x="4114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920923F-779A-437E-A220-70615F300C66}"/>
              </a:ext>
            </a:extLst>
          </p:cNvPr>
          <p:cNvSpPr>
            <a:spLocks noGrp="1"/>
          </p:cNvSpPr>
          <p:nvPr/>
        </p:nvSpPr>
        <p:spPr>
          <a:xfrm>
            <a:off x="4267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F04346-FCB8-4CF3-AEDE-DF2840519D06}"/>
              </a:ext>
            </a:extLst>
          </p:cNvPr>
          <p:cNvSpPr>
            <a:spLocks noGrp="1"/>
          </p:cNvSpPr>
          <p:nvPr/>
        </p:nvSpPr>
        <p:spPr>
          <a:xfrm>
            <a:off x="4324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상세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7DA810D-6C67-4506-93E3-0E999DD904C5}"/>
              </a:ext>
            </a:extLst>
          </p:cNvPr>
          <p:cNvSpPr>
            <a:spLocks noGrp="1"/>
          </p:cNvSpPr>
          <p:nvPr/>
        </p:nvSpPr>
        <p:spPr>
          <a:xfrm>
            <a:off x="53340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75C9CC-384E-4A81-A3ED-9F1A5DCA58B0}"/>
              </a:ext>
            </a:extLst>
          </p:cNvPr>
          <p:cNvSpPr>
            <a:spLocks noGrp="1"/>
          </p:cNvSpPr>
          <p:nvPr/>
        </p:nvSpPr>
        <p:spPr>
          <a:xfrm>
            <a:off x="54864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35F12C0-6DB7-4139-B2CF-2D85B2464A41}"/>
              </a:ext>
            </a:extLst>
          </p:cNvPr>
          <p:cNvSpPr>
            <a:spLocks noGrp="1"/>
          </p:cNvSpPr>
          <p:nvPr/>
        </p:nvSpPr>
        <p:spPr>
          <a:xfrm>
            <a:off x="55435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5EDC689-D6C4-469C-9147-C1C66A56AB77}"/>
              </a:ext>
            </a:extLst>
          </p:cNvPr>
          <p:cNvSpPr>
            <a:spLocks noGrp="1"/>
          </p:cNvSpPr>
          <p:nvPr/>
        </p:nvSpPr>
        <p:spPr>
          <a:xfrm>
            <a:off x="65532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138C70D-91CF-4C0F-A926-7084C117D752}"/>
              </a:ext>
            </a:extLst>
          </p:cNvPr>
          <p:cNvSpPr>
            <a:spLocks noGrp="1"/>
          </p:cNvSpPr>
          <p:nvPr/>
        </p:nvSpPr>
        <p:spPr>
          <a:xfrm>
            <a:off x="6705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C7A395-AAB3-41FE-985C-EA6E12A92DBF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공유·비교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CB8611F1-71EA-40E7-9762-214A7F837962}"/>
              </a:ext>
            </a:extLst>
          </p:cNvPr>
          <p:cNvSpPr>
            <a:spLocks noGrp="1"/>
          </p:cNvSpPr>
          <p:nvPr/>
        </p:nvSpPr>
        <p:spPr>
          <a:xfrm>
            <a:off x="77724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C9F6621-8D78-4AFD-A307-4DB46D9CEAC3}"/>
              </a:ext>
            </a:extLst>
          </p:cNvPr>
          <p:cNvSpPr>
            <a:spLocks noGrp="1"/>
          </p:cNvSpPr>
          <p:nvPr/>
        </p:nvSpPr>
        <p:spPr>
          <a:xfrm>
            <a:off x="7924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57131-CC35-42C0-8EE6-AECC433E8F77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43C5AD66-666E-434D-90B6-D02D6DF7168A}"/>
              </a:ext>
            </a:extLst>
          </p:cNvPr>
          <p:cNvSpPr>
            <a:spLocks noGrp="1"/>
          </p:cNvSpPr>
          <p:nvPr/>
        </p:nvSpPr>
        <p:spPr>
          <a:xfrm>
            <a:off x="89916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91A16AD-915F-42D3-9D40-D9D9C8879527}"/>
              </a:ext>
            </a:extLst>
          </p:cNvPr>
          <p:cNvSpPr>
            <a:spLocks noGrp="1"/>
          </p:cNvSpPr>
          <p:nvPr/>
        </p:nvSpPr>
        <p:spPr>
          <a:xfrm>
            <a:off x="9144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4E4EB26-886A-485E-9F24-535D1C52B7C2}"/>
              </a:ext>
            </a:extLst>
          </p:cNvPr>
          <p:cNvSpPr>
            <a:spLocks noGrp="1"/>
          </p:cNvSpPr>
          <p:nvPr/>
        </p:nvSpPr>
        <p:spPr>
          <a:xfrm>
            <a:off x="9201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문의/방문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99737D9F-EECF-4923-9A6E-E36199ADEBB8}"/>
              </a:ext>
            </a:extLst>
          </p:cNvPr>
          <p:cNvSpPr>
            <a:spLocks noGrp="1"/>
          </p:cNvSpPr>
          <p:nvPr/>
        </p:nvSpPr>
        <p:spPr>
          <a:xfrm>
            <a:off x="10210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5E7712F-923A-4489-8707-1CFD81E6EC12}"/>
              </a:ext>
            </a:extLst>
          </p:cNvPr>
          <p:cNvSpPr>
            <a:spLocks noGrp="1"/>
          </p:cNvSpPr>
          <p:nvPr/>
        </p:nvSpPr>
        <p:spPr>
          <a:xfrm>
            <a:off x="10363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DB473C-B3B0-424B-80B1-666004E172F3}"/>
              </a:ext>
            </a:extLst>
          </p:cNvPr>
          <p:cNvSpPr>
            <a:spLocks noGrp="1"/>
          </p:cNvSpPr>
          <p:nvPr/>
        </p:nvSpPr>
        <p:spPr>
          <a:xfrm>
            <a:off x="10420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금융/계약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260C2D2-F9A6-478C-A51B-6AA8EFA7BE60}"/>
              </a:ext>
            </a:extLst>
          </p:cNvPr>
          <p:cNvSpPr>
            <a:spLocks noGrp="1"/>
          </p:cNvSpPr>
          <p:nvPr/>
        </p:nvSpPr>
        <p:spPr>
          <a:xfrm>
            <a:off x="6622490" y="1619250"/>
            <a:ext cx="2464360" cy="1581150"/>
          </a:xfrm>
          <a:prstGeom prst="roundRect">
            <a:avLst>
              <a:gd name="adj" fmla="val 8434"/>
            </a:avLst>
          </a:prstGeom>
          <a:noFill/>
          <a:ln w="9525">
            <a:solidFill>
              <a:srgbClr val="03C75A"/>
            </a:solidFill>
            <a:prstDash val="solid"/>
          </a:ln>
        </p:spPr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95DD627-483A-44C6-B2CB-87A09C4644C3}"/>
              </a:ext>
            </a:extLst>
          </p:cNvPr>
          <p:cNvSpPr>
            <a:spLocks noGrp="1"/>
          </p:cNvSpPr>
          <p:nvPr/>
        </p:nvSpPr>
        <p:spPr>
          <a:xfrm>
            <a:off x="7067550" y="174307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OPPORTUNITY ZONE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A158D4-5DFC-4BED-9DFE-D64011A809B5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 이후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A71B7B-6A63-49CA-900E-D78BC88EF0C4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관심매물은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네이버에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남지만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 두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사람의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조율은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여러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도구를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오간다는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팀의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관찰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추론</a:t>
            </a:r>
            <a:endParaRPr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4B92112-FC36-4D44-8E8E-9EA66736E008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80D8B6-40AC-4E18-8F1A-1371790A06BB}"/>
              </a:ext>
            </a:extLst>
          </p:cNvPr>
          <p:cNvSpPr>
            <a:spLocks noGrp="1"/>
          </p:cNvSpPr>
          <p:nvPr/>
        </p:nvSpPr>
        <p:spPr>
          <a:xfrm>
            <a:off x="1676400" y="48672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내부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행동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데이터로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사실이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아님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ACB67D7-85BF-419A-BCDE-469606DBB847}"/>
              </a:ext>
            </a:extLst>
          </p:cNvPr>
          <p:cNvSpPr>
            <a:spLocks noGrp="1"/>
          </p:cNvSpPr>
          <p:nvPr/>
        </p:nvSpPr>
        <p:spPr>
          <a:xfrm>
            <a:off x="8401050" y="3667125"/>
            <a:ext cx="3028950" cy="1619250"/>
          </a:xfrm>
          <a:prstGeom prst="roundRect">
            <a:avLst>
              <a:gd name="adj" fmla="val 8235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EBAEF06-432A-4AC7-B664-182E23F1AA64}"/>
              </a:ext>
            </a:extLst>
          </p:cNvPr>
          <p:cNvSpPr>
            <a:spLocks noGrp="1"/>
          </p:cNvSpPr>
          <p:nvPr/>
        </p:nvSpPr>
        <p:spPr>
          <a:xfrm>
            <a:off x="8629650" y="3886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제품 경계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1E6F48D-2DA8-4C59-8EBC-D65F9E69C97F}"/>
              </a:ext>
            </a:extLst>
          </p:cNvPr>
          <p:cNvSpPr>
            <a:spLocks noGrp="1"/>
          </p:cNvSpPr>
          <p:nvPr/>
        </p:nvSpPr>
        <p:spPr>
          <a:xfrm>
            <a:off x="8629650" y="4162425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새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매물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DB ·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검색을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만들지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않는다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B5480B-4603-4CF9-82DF-5E65F2007A83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저장된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5개에</a:t>
            </a:r>
          </a:p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사람별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적용한다</a:t>
            </a:r>
            <a:endParaRPr sz="1200" b="0" dirty="0">
              <a:solidFill>
                <a:srgbClr val="C7D5CC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60471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AB50883-FB30-4CE3-8E4F-BD07E800C26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ENTERPRISE · KSF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918705-28B8-4533-B8D7-4D04850141F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성공조건은 데이터보다 ‘두 번째 사람을 끝까지 참여시키는 경험’에 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F590BB0-3EBA-48EF-8841-19DC91F8CA0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A1E61C-67E4-45D9-8B6A-E1894F69BF4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· docs/02-hypotheses.md H1 · docs/09-edge-cases.md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D297A4-3EF3-461F-A39E-B4D33DFDB73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061F67-6A3D-41FC-AE6C-E47E0A3AD9B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NAVER ASSETS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780406-ED5D-4512-B872-ED303A9DBD3F}"/>
              </a:ext>
            </a:extLst>
          </p:cNvPr>
          <p:cNvSpPr>
            <a:spLocks noGrp="1"/>
          </p:cNvSpPr>
          <p:nvPr/>
        </p:nvSpPr>
        <p:spPr>
          <a:xfrm>
            <a:off x="6229350" y="1581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DECISION KSF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C5BCCB-8D25-4825-B252-CCEE6FAF77C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20FF4D-E663-4683-B66D-80352A70CCB7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풍부하고 신선한 매물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788622F-3FF1-497F-91DD-64E0DA1AF10B}"/>
              </a:ext>
            </a:extLst>
          </p:cNvPr>
          <p:cNvSpPr>
            <a:spLocks noGrp="1"/>
          </p:cNvSpPr>
          <p:nvPr/>
        </p:nvSpPr>
        <p:spPr>
          <a:xfrm>
            <a:off x="5086350" y="21812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DB90FE9-E16F-4AA4-B316-9CEEB1041DC6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5556D4-2246-4AA4-86A2-A1E4FF74BDC4}"/>
              </a:ext>
            </a:extLst>
          </p:cNvPr>
          <p:cNvSpPr>
            <a:spLocks noGrp="1"/>
          </p:cNvSpPr>
          <p:nvPr/>
        </p:nvSpPr>
        <p:spPr>
          <a:xfrm>
            <a:off x="6438900" y="21431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조건이 매물이 바뀌어도 살아남는 후보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0F4C28A-213C-489F-B648-82A3E98CF16F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62421B-FF17-444A-A896-9707D7A4BCB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지도·필터·검색 속도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E90FC6D-0BB3-4429-8E4B-DAAD11739F31}"/>
              </a:ext>
            </a:extLst>
          </p:cNvPr>
          <p:cNvSpPr>
            <a:spLocks noGrp="1"/>
          </p:cNvSpPr>
          <p:nvPr/>
        </p:nvSpPr>
        <p:spPr>
          <a:xfrm>
            <a:off x="5086350" y="29622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F229EE3-3C98-45A3-9064-A0AF3B124792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4F1BB1-1950-4459-B459-DA617AB80180}"/>
              </a:ext>
            </a:extLst>
          </p:cNvPr>
          <p:cNvSpPr>
            <a:spLocks noGrp="1"/>
          </p:cNvSpPr>
          <p:nvPr/>
        </p:nvSpPr>
        <p:spPr>
          <a:xfrm>
            <a:off x="6438900" y="29241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 중심의 낮은 초대 마찰과 최소 입력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B919679-29CB-4957-92CF-780E0E28150E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06D9C6-191A-48AD-8399-944901A3E902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로그인 사용자·관심매물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8AD24D8C-08B4-408B-8114-832435E20A7E}"/>
              </a:ext>
            </a:extLst>
          </p:cNvPr>
          <p:cNvSpPr>
            <a:spLocks noGrp="1"/>
          </p:cNvSpPr>
          <p:nvPr/>
        </p:nvSpPr>
        <p:spPr>
          <a:xfrm>
            <a:off x="5086350" y="37433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E315899-187F-4F25-9AC7-3253866DBC0A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438294-0380-46C0-8576-A683E3256E06}"/>
              </a:ext>
            </a:extLst>
          </p:cNvPr>
          <p:cNvSpPr>
            <a:spLocks noGrp="1"/>
          </p:cNvSpPr>
          <p:nvPr/>
        </p:nvSpPr>
        <p:spPr>
          <a:xfrm>
            <a:off x="6438900" y="37052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조건을 같은 비중으로 설명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82B5B15-DE6F-4A95-8D6F-7697824C262F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990895-357E-4CDA-B9A9-6A2B8020C2A9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문의·방문·금융 생태계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EB5E1206-08AF-4DBB-B02E-D146A409A8A3}"/>
              </a:ext>
            </a:extLst>
          </p:cNvPr>
          <p:cNvSpPr>
            <a:spLocks noGrp="1"/>
          </p:cNvSpPr>
          <p:nvPr/>
        </p:nvSpPr>
        <p:spPr>
          <a:xfrm>
            <a:off x="5086350" y="45243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891E6E3-C89C-4C52-9B4E-25ACDC19AED0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50BAED-5487-4E74-9BB2-BA1C6831E085}"/>
              </a:ext>
            </a:extLst>
          </p:cNvPr>
          <p:cNvSpPr>
            <a:spLocks noGrp="1"/>
          </p:cNvSpPr>
          <p:nvPr/>
        </p:nvSpPr>
        <p:spPr>
          <a:xfrm>
            <a:off x="6438900" y="44862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후 기존 행동으로 자연스럽게 복귀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E5B2A39-5556-4798-9313-E44EB5AD2CBC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534650" cy="685800"/>
          </a:xfrm>
          <a:prstGeom prst="roundRect">
            <a:avLst>
              <a:gd name="adj" fmla="val 16667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3CCCAEB-D118-4734-A444-B49ECD86085B}"/>
              </a:ext>
            </a:extLst>
          </p:cNvPr>
          <p:cNvSpPr>
            <a:spLocks noGrp="1"/>
          </p:cNvSpPr>
          <p:nvPr/>
        </p:nvSpPr>
        <p:spPr>
          <a:xfrm>
            <a:off x="895350" y="556387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H1 급소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68235F-F969-4B42-BB35-2B0DAE6440E7}"/>
              </a:ext>
            </a:extLst>
          </p:cNvPr>
          <p:cNvSpPr>
            <a:spLocks noGrp="1"/>
          </p:cNvSpPr>
          <p:nvPr/>
        </p:nvSpPr>
        <p:spPr>
          <a:xfrm>
            <a:off x="1981200" y="5488305"/>
            <a:ext cx="628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초대받은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들어와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조건까지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입력하는가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B6B004-4B2B-43DA-A6E7-2BA2FE5EB603}"/>
              </a:ext>
            </a:extLst>
          </p:cNvPr>
          <p:cNvSpPr>
            <a:spLocks noGrp="1"/>
          </p:cNvSpPr>
          <p:nvPr/>
        </p:nvSpPr>
        <p:spPr>
          <a:xfrm>
            <a:off x="8286750" y="549656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오지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않아도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A는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막히지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않지만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, 1인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경로를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주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경로로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만들지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않는다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3870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218B7D7-69FD-44D8-908A-F15F812AE29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245F55-AC11-4FEA-A2F1-F149A001F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제품 사용자는 넓게, 첫 검증 표본은 의도적으로 좁게 잡는다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8582DED-50F9-410A-AA0D-5C5181CC3FAC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F3F1D4-9510-44D3-B3FC-D9F7ECCF281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docs/11-decision-status.md · docs/02-hypotheses.md H1 · docs/03-evidence-log.md I12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27DF6A-1D28-441F-BCFD-677C36A797B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390C326-0A4E-4121-936A-2F787F614C34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971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사용자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1A37CA-54A3-4960-B202-DB68FDD2BA59}"/>
              </a:ext>
            </a:extLst>
          </p:cNvPr>
          <p:cNvSpPr>
            <a:spLocks noGrp="1"/>
          </p:cNvSpPr>
          <p:nvPr/>
        </p:nvSpPr>
        <p:spPr>
          <a:xfrm>
            <a:off x="1905000" y="15525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3D88F36-E8D0-4E92-8AF8-27F585EA4DAC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584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AC32D514-4943-47C7-BC7B-6108728D1AA6}"/>
              </a:ext>
            </a:extLst>
          </p:cNvPr>
          <p:cNvSpPr>
            <a:spLocks noGrp="1"/>
          </p:cNvSpPr>
          <p:nvPr/>
        </p:nvSpPr>
        <p:spPr>
          <a:xfrm>
            <a:off x="1619250" y="2800350"/>
            <a:ext cx="8096250" cy="0"/>
          </a:xfrm>
          <a:prstGeom prst="line">
            <a:avLst/>
          </a:prstGeom>
          <a:noFill/>
          <a:ln w="47625">
            <a:solidFill>
              <a:srgbClr val="D8E2DA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5A8CB68-30A6-40BE-A5BE-7918E5A5A644}"/>
              </a:ext>
            </a:extLst>
          </p:cNvPr>
          <p:cNvSpPr>
            <a:spLocks noGrp="1"/>
          </p:cNvSpPr>
          <p:nvPr/>
        </p:nvSpPr>
        <p:spPr>
          <a:xfrm>
            <a:off x="1619250" y="2733675"/>
            <a:ext cx="3714750" cy="1333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1DB47B1-B947-46ED-BA20-5D8893C87998}"/>
              </a:ext>
            </a:extLst>
          </p:cNvPr>
          <p:cNvSpPr>
            <a:spLocks noGrp="1"/>
          </p:cNvSpPr>
          <p:nvPr/>
        </p:nvSpPr>
        <p:spPr>
          <a:xfrm>
            <a:off x="1790700" y="2667000"/>
            <a:ext cx="266700" cy="2667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0794005-23DA-4E31-93DD-531165BB4AE7}"/>
              </a:ext>
            </a:extLst>
          </p:cNvPr>
          <p:cNvSpPr>
            <a:spLocks noGrp="1"/>
          </p:cNvSpPr>
          <p:nvPr/>
        </p:nvSpPr>
        <p:spPr>
          <a:xfrm>
            <a:off x="9334500" y="2667000"/>
            <a:ext cx="266700" cy="2667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86C17A-BB4A-4C37-B4B8-9DE7D1783972}"/>
              </a:ext>
            </a:extLst>
          </p:cNvPr>
          <p:cNvSpPr>
            <a:spLocks noGrp="1"/>
          </p:cNvSpPr>
          <p:nvPr/>
        </p:nvSpPr>
        <p:spPr>
          <a:xfrm>
            <a:off x="13811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공동 의지 높음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3ED8C9-161D-4D9B-B293-2B8659A59155}"/>
              </a:ext>
            </a:extLst>
          </p:cNvPr>
          <p:cNvSpPr>
            <a:spLocks noGrp="1"/>
          </p:cNvSpPr>
          <p:nvPr/>
        </p:nvSpPr>
        <p:spPr>
          <a:xfrm>
            <a:off x="88106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상대적으로 낮음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D240577-F6B4-4487-A016-88D3DFDAE15A}"/>
              </a:ext>
            </a:extLst>
          </p:cNvPr>
          <p:cNvSpPr>
            <a:spLocks noGrp="1"/>
          </p:cNvSpPr>
          <p:nvPr/>
        </p:nvSpPr>
        <p:spPr>
          <a:xfrm>
            <a:off x="1952625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1차 검증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62141E-18A8-4828-B91E-D1D18550CFB3}"/>
              </a:ext>
            </a:extLst>
          </p:cNvPr>
          <p:cNvSpPr>
            <a:spLocks noGrp="1"/>
          </p:cNvSpPr>
          <p:nvPr/>
        </p:nvSpPr>
        <p:spPr>
          <a:xfrm>
            <a:off x="3048000" y="23717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예비부부·신혼부부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A7B37E8-7E39-4343-B9E2-B82786752239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2차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AD94AB-9461-462D-AEDA-980FDB706852}"/>
              </a:ext>
            </a:extLst>
          </p:cNvPr>
          <p:cNvSpPr>
            <a:spLocks noGrp="1"/>
          </p:cNvSpPr>
          <p:nvPr/>
        </p:nvSpPr>
        <p:spPr>
          <a:xfrm>
            <a:off x="8524875" y="23717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친구·룸메이트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EE2709E-6588-4C54-8912-773C7D4249A9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89AA4D-5EBF-4A9D-A38B-E1DE20943AB3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초기 시장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30C855-CBA0-4507-ADD3-ACFC1224CFE4}"/>
              </a:ext>
            </a:extLst>
          </p:cNvPr>
          <p:cNvSpPr>
            <a:spLocks noGrp="1"/>
          </p:cNvSpPr>
          <p:nvPr/>
        </p:nvSpPr>
        <p:spPr>
          <a:xfrm>
            <a:off x="2286000" y="3905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전·월세 공동 주거 탐색자 2인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6FB9CD-624E-46E1-BE42-1DCDB7527815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8AF525-BEB3-4233-AE04-F93699ED592C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표본 조건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3F2808-B111-4277-BFA2-C69E2699D08C}"/>
              </a:ext>
            </a:extLst>
          </p:cNvPr>
          <p:cNvSpPr>
            <a:spLocks noGrp="1"/>
          </p:cNvSpPr>
          <p:nvPr/>
        </p:nvSpPr>
        <p:spPr>
          <a:xfrm>
            <a:off x="2286000" y="45910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완전공동형 — 두 사람이 실제로 각자 의견을 내는 관계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3DBA85C-2CEB-4D7B-9478-FB88F647D788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04E0F-E848-49C2-80FB-0E9FA45303C9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제외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61C859-F7A1-4C2B-9732-8A71F24EEE46}"/>
              </a:ext>
            </a:extLst>
          </p:cNvPr>
          <p:cNvSpPr>
            <a:spLocks noGrp="1"/>
          </p:cNvSpPr>
          <p:nvPr/>
        </p:nvSpPr>
        <p:spPr>
          <a:xfrm>
            <a:off x="2286000" y="52768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3인 이상 · 부모–자녀 · 주도–승인형</a:t>
            </a:r>
          </a:p>
        </p:txBody>
      </p:sp>
    </p:spTree>
    <p:extLst>
      <p:ext uri="{BB962C8B-B14F-4D97-AF65-F5344CB8AC3E}">
        <p14:creationId xmlns:p14="http://schemas.microsoft.com/office/powerpoint/2010/main" val="888504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75354A4-2908-4C50-B14E-8E5D0FE415A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ROLES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37357F-9B0C-490F-AD3D-ED14978D9F3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초대자는 후보를 만들고, 수신자는 맥락을 이해한 뒤 자기 조건을 낸다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A6FADEA-D8F8-40F5-BB53-2F236BAE25C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A2F7FB-39B7-4B68-B497-26844A74F9A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docs/08-screen-design.md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2EC3FD-5767-465E-82AB-5B6DDE92D0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B9C1C28-E766-4046-8D89-93BD704AAF1C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320F882-6C26-450D-B916-AD16B257AC32}"/>
              </a:ext>
            </a:extLst>
          </p:cNvPr>
          <p:cNvSpPr>
            <a:spLocks noGrp="1"/>
          </p:cNvSpPr>
          <p:nvPr/>
        </p:nvSpPr>
        <p:spPr>
          <a:xfrm>
            <a:off x="641985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B7EC124-4E4D-4ECE-80E2-C53B9D690475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1733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 · 초대자 · PC WEB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6E6F00-5BE9-4220-B21B-9EA078727B53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17526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 ·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수신자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· MOBILE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82A878-8381-4210-B7D2-77623AA47A6E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시작</a:t>
            </a:r>
            <a:endParaRPr sz="14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4E4BA5-98CD-4237-B4E8-236CE2AE4CA4}"/>
              </a:ext>
            </a:extLst>
          </p:cNvPr>
          <p:cNvSpPr>
            <a:spLocks noGrp="1"/>
          </p:cNvSpPr>
          <p:nvPr/>
        </p:nvSpPr>
        <p:spPr>
          <a:xfrm>
            <a:off x="190500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탐색·저장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중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3096259B-2C26-4408-B41D-5D3E97BD24D7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7ED7CB-7093-4D88-BC16-B7BDBD6EB4D5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5AACA1-EB6A-49ED-9EF8-38AA295802D2}"/>
              </a:ext>
            </a:extLst>
          </p:cNvPr>
          <p:cNvSpPr>
            <a:spLocks noGrp="1"/>
          </p:cNvSpPr>
          <p:nvPr/>
        </p:nvSpPr>
        <p:spPr>
          <a:xfrm>
            <a:off x="190500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중 최대 5개 선택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D4AEDD30-9588-43D1-9815-6920AA416EAD}"/>
              </a:ext>
            </a:extLst>
          </p:cNvPr>
          <p:cNvSpPr>
            <a:spLocks noGrp="1"/>
          </p:cNvSpPr>
          <p:nvPr/>
        </p:nvSpPr>
        <p:spPr>
          <a:xfrm>
            <a:off x="93345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4A77D3-DFE4-4DE0-9FF6-72ACA60F4BF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7DF403-E853-48A5-B46F-81566677D4F1}"/>
              </a:ext>
            </a:extLst>
          </p:cNvPr>
          <p:cNvSpPr>
            <a:spLocks noGrp="1"/>
          </p:cNvSpPr>
          <p:nvPr/>
        </p:nvSpPr>
        <p:spPr>
          <a:xfrm>
            <a:off x="190500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EB458917-2FCC-425F-AC54-16A98370477C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8466F7-DBD2-415F-9345-1CEFCE56C1C5}"/>
              </a:ext>
            </a:extLst>
          </p:cNvPr>
          <p:cNvSpPr>
            <a:spLocks noGrp="1"/>
          </p:cNvSpPr>
          <p:nvPr/>
        </p:nvSpPr>
        <p:spPr>
          <a:xfrm>
            <a:off x="93345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필요 가치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415486-C740-495C-A91B-ECE5E1234DCB}"/>
              </a:ext>
            </a:extLst>
          </p:cNvPr>
          <p:cNvSpPr>
            <a:spLocks noGrp="1"/>
          </p:cNvSpPr>
          <p:nvPr/>
        </p:nvSpPr>
        <p:spPr>
          <a:xfrm>
            <a:off x="190500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 혼자 설명하지 않고 비교 시작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5ED9BFAA-AD03-4A81-995A-F6DD3ED83F1D}"/>
              </a:ext>
            </a:extLst>
          </p:cNvPr>
          <p:cNvSpPr>
            <a:spLocks noGrp="1"/>
          </p:cNvSpPr>
          <p:nvPr/>
        </p:nvSpPr>
        <p:spPr>
          <a:xfrm>
            <a:off x="93345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280EBF-5592-4789-B119-4B7CC9CC8174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F2F0D6-C55C-4F75-811E-879DF9E0A1A7}"/>
              </a:ext>
            </a:extLst>
          </p:cNvPr>
          <p:cNvSpPr>
            <a:spLocks noGrp="1"/>
          </p:cNvSpPr>
          <p:nvPr/>
        </p:nvSpPr>
        <p:spPr>
          <a:xfrm>
            <a:off x="190500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BAAC8A43-DB2D-485A-B83A-6621F3F63DA4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067A7E-0164-4FB8-8161-AFBCF73A78BD}"/>
              </a:ext>
            </a:extLst>
          </p:cNvPr>
          <p:cNvSpPr>
            <a:spLocks noGrp="1"/>
          </p:cNvSpPr>
          <p:nvPr/>
        </p:nvSpPr>
        <p:spPr>
          <a:xfrm>
            <a:off x="662940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005095-8C27-42E9-9DC7-05F7DDDBB3D4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카카오톡 등에서 받은 링크를 엶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6635DEB9-71D1-497A-A661-3909844F871E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21E0D9-1E50-4F0D-B12B-5CA3ED0352D9}"/>
              </a:ext>
            </a:extLst>
          </p:cNvPr>
          <p:cNvSpPr>
            <a:spLocks noGrp="1"/>
          </p:cNvSpPr>
          <p:nvPr/>
        </p:nvSpPr>
        <p:spPr>
          <a:xfrm>
            <a:off x="662940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46AEB53-AF99-4D35-A5DE-9475CF52BD40}"/>
              </a:ext>
            </a:extLst>
          </p:cNvPr>
          <p:cNvSpPr>
            <a:spLocks noGrp="1"/>
          </p:cNvSpPr>
          <p:nvPr/>
        </p:nvSpPr>
        <p:spPr>
          <a:xfrm>
            <a:off x="760095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A의 선호를 먼저 확인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AB6179FF-E509-45D9-A181-282DD13B6113}"/>
              </a:ext>
            </a:extLst>
          </p:cNvPr>
          <p:cNvSpPr>
            <a:spLocks noGrp="1"/>
          </p:cNvSpPr>
          <p:nvPr/>
        </p:nvSpPr>
        <p:spPr>
          <a:xfrm>
            <a:off x="662940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3ACFFEC-E393-4E41-B9DC-C94FA06DAFD9}"/>
              </a:ext>
            </a:extLst>
          </p:cNvPr>
          <p:cNvSpPr>
            <a:spLocks noGrp="1"/>
          </p:cNvSpPr>
          <p:nvPr/>
        </p:nvSpPr>
        <p:spPr>
          <a:xfrm>
            <a:off x="662940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D6AF3F7-B031-4FA4-9E96-C03F66B45A24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6B596F6B-17F3-4989-82D9-B56D2A218EBF}"/>
              </a:ext>
            </a:extLst>
          </p:cNvPr>
          <p:cNvSpPr>
            <a:spLocks noGrp="1"/>
          </p:cNvSpPr>
          <p:nvPr/>
        </p:nvSpPr>
        <p:spPr>
          <a:xfrm>
            <a:off x="662940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FF2132D-0137-401B-9EC9-357F5477E9B4}"/>
              </a:ext>
            </a:extLst>
          </p:cNvPr>
          <p:cNvSpPr>
            <a:spLocks noGrp="1"/>
          </p:cNvSpPr>
          <p:nvPr/>
        </p:nvSpPr>
        <p:spPr>
          <a:xfrm>
            <a:off x="662940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필요 가치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6A21B01-14C5-407E-8073-B6B53E8E9BFE}"/>
              </a:ext>
            </a:extLst>
          </p:cNvPr>
          <p:cNvSpPr>
            <a:spLocks noGrp="1"/>
          </p:cNvSpPr>
          <p:nvPr/>
        </p:nvSpPr>
        <p:spPr>
          <a:xfrm>
            <a:off x="760095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맥락을 알고 최소 입력으로 참여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F06AAC49-7E5F-4ABA-941E-F706BA32C488}"/>
              </a:ext>
            </a:extLst>
          </p:cNvPr>
          <p:cNvSpPr>
            <a:spLocks noGrp="1"/>
          </p:cNvSpPr>
          <p:nvPr/>
        </p:nvSpPr>
        <p:spPr>
          <a:xfrm>
            <a:off x="662940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4B44A9-F092-4A3C-A210-75ED2E71AF89}"/>
              </a:ext>
            </a:extLst>
          </p:cNvPr>
          <p:cNvSpPr>
            <a:spLocks noGrp="1"/>
          </p:cNvSpPr>
          <p:nvPr/>
        </p:nvSpPr>
        <p:spPr>
          <a:xfrm>
            <a:off x="662940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550EEA8-12B2-49BC-9F79-F43C6D99E3B9}"/>
              </a:ext>
            </a:extLst>
          </p:cNvPr>
          <p:cNvSpPr>
            <a:spLocks noGrp="1"/>
          </p:cNvSpPr>
          <p:nvPr/>
        </p:nvSpPr>
        <p:spPr>
          <a:xfrm>
            <a:off x="760095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F5DB91F1-BE8B-4086-96AC-163D903F6709}"/>
              </a:ext>
            </a:extLst>
          </p:cNvPr>
          <p:cNvSpPr>
            <a:spLocks noGrp="1"/>
          </p:cNvSpPr>
          <p:nvPr/>
        </p:nvSpPr>
        <p:spPr>
          <a:xfrm>
            <a:off x="662940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8109D5F3-3D5D-4DE8-B54D-CCE5C8AAB9E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5524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D35E49-4DB5-4FE6-A51F-32BA08B5766D}"/>
              </a:ext>
            </a:extLst>
          </p:cNvPr>
          <p:cNvSpPr>
            <a:spLocks noGrp="1"/>
          </p:cNvSpPr>
          <p:nvPr/>
        </p:nvSpPr>
        <p:spPr>
          <a:xfrm>
            <a:off x="5734050" y="3676650"/>
            <a:ext cx="72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권한은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대칭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60F216A-22FB-4450-8AEC-F0B4CA196576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744200" cy="323850"/>
          </a:xfrm>
          <a:prstGeom prst="roundRect">
            <a:avLst>
              <a:gd name="adj" fmla="val 23529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F5640C-C078-42F3-9FDC-59F6D76BDC72}"/>
              </a:ext>
            </a:extLst>
          </p:cNvPr>
          <p:cNvSpPr>
            <a:spLocks noGrp="1"/>
          </p:cNvSpPr>
          <p:nvPr/>
        </p:nvSpPr>
        <p:spPr>
          <a:xfrm>
            <a:off x="895350" y="5895975"/>
            <a:ext cx="1040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B의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대신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바꾸지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않는다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진입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맥락과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기기는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다르지만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비중은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같다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9083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7E38600-8751-4065-A9F6-25C83D1285E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JOURNEY / JTBD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18E7FF-5341-49F6-9885-93DE8F470C6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6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사용자가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원하는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것은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알고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정하는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것’이다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8FACDA7-F7D1-45DA-963F-172A03A60C5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42DAA4-2302-4A5E-B2D6-69180589E3F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docs/07-cjm-opportunity-score.md · value-proposition_20260820.md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F91A76-68C1-467A-AEB9-53B27E57A99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6E29614-FB4D-4EA7-A115-491BA94EDB4E}"/>
              </a:ext>
            </a:extLst>
          </p:cNvPr>
          <p:cNvSpPr>
            <a:spLocks noGrp="1"/>
          </p:cNvSpPr>
          <p:nvPr/>
        </p:nvSpPr>
        <p:spPr>
          <a:xfrm>
            <a:off x="11239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AD9C33A4-FDE2-48DD-A108-EC7B542FD223}"/>
              </a:ext>
            </a:extLst>
          </p:cNvPr>
          <p:cNvSpPr>
            <a:spLocks noGrp="1"/>
          </p:cNvSpPr>
          <p:nvPr/>
        </p:nvSpPr>
        <p:spPr>
          <a:xfrm>
            <a:off x="12954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48E4BA-894D-4959-8B14-AB134DA6A0C3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590398E-EFE8-42CA-A3D4-96AA046D559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7E81449-8DDF-4A09-A283-CF5B3DA13D5A}"/>
              </a:ext>
            </a:extLst>
          </p:cNvPr>
          <p:cNvSpPr>
            <a:spLocks noGrp="1"/>
          </p:cNvSpPr>
          <p:nvPr/>
        </p:nvSpPr>
        <p:spPr>
          <a:xfrm>
            <a:off x="25146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879898E6-90CF-4A7D-9A25-BCF693488A88}"/>
              </a:ext>
            </a:extLst>
          </p:cNvPr>
          <p:cNvSpPr>
            <a:spLocks noGrp="1"/>
          </p:cNvSpPr>
          <p:nvPr/>
        </p:nvSpPr>
        <p:spPr>
          <a:xfrm>
            <a:off x="26860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6DB321-B83A-431D-8713-B2B733521921}"/>
              </a:ext>
            </a:extLst>
          </p:cNvPr>
          <p:cNvSpPr>
            <a:spLocks noGrp="1"/>
          </p:cNvSpPr>
          <p:nvPr/>
        </p:nvSpPr>
        <p:spPr>
          <a:xfrm>
            <a:off x="20193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9CBDC07-0D77-475F-8A95-F23D09288E53}"/>
              </a:ext>
            </a:extLst>
          </p:cNvPr>
          <p:cNvSpPr>
            <a:spLocks noGrp="1"/>
          </p:cNvSpPr>
          <p:nvPr/>
        </p:nvSpPr>
        <p:spPr>
          <a:xfrm>
            <a:off x="21717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75B3FEA-19C4-4A1A-8DB6-0E639E6280AF}"/>
              </a:ext>
            </a:extLst>
          </p:cNvPr>
          <p:cNvSpPr>
            <a:spLocks noGrp="1"/>
          </p:cNvSpPr>
          <p:nvPr/>
        </p:nvSpPr>
        <p:spPr>
          <a:xfrm>
            <a:off x="39052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A2336E9A-78AB-48CF-BC7A-B07FB976CFAA}"/>
              </a:ext>
            </a:extLst>
          </p:cNvPr>
          <p:cNvSpPr>
            <a:spLocks noGrp="1"/>
          </p:cNvSpPr>
          <p:nvPr/>
        </p:nvSpPr>
        <p:spPr>
          <a:xfrm>
            <a:off x="40767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A59A90-E3A2-4D56-9C37-8D279522E6BE}"/>
              </a:ext>
            </a:extLst>
          </p:cNvPr>
          <p:cNvSpPr>
            <a:spLocks noGrp="1"/>
          </p:cNvSpPr>
          <p:nvPr/>
        </p:nvSpPr>
        <p:spPr>
          <a:xfrm>
            <a:off x="34099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 열기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ACE9670-9F3D-45FC-B354-30B9F016B244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F43696C-97C6-4C9E-B834-9536A9ABDE3E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B89A3018-0723-4917-B0D4-E81BE819DB16}"/>
              </a:ext>
            </a:extLst>
          </p:cNvPr>
          <p:cNvSpPr>
            <a:spLocks noGrp="1"/>
          </p:cNvSpPr>
          <p:nvPr/>
        </p:nvSpPr>
        <p:spPr>
          <a:xfrm>
            <a:off x="54673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4B7F701-0254-45D1-B3B3-6EF982550FC2}"/>
              </a:ext>
            </a:extLst>
          </p:cNvPr>
          <p:cNvSpPr>
            <a:spLocks noGrp="1"/>
          </p:cNvSpPr>
          <p:nvPr/>
        </p:nvSpPr>
        <p:spPr>
          <a:xfrm>
            <a:off x="48006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AFE7820-F24F-4F6E-8893-F3373071674D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1A8A2EA-E849-498B-B307-F32F4AEDC229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ABEA76D1-0D66-4DC4-9AD2-147E99AC7D7F}"/>
              </a:ext>
            </a:extLst>
          </p:cNvPr>
          <p:cNvSpPr>
            <a:spLocks noGrp="1"/>
          </p:cNvSpPr>
          <p:nvPr/>
        </p:nvSpPr>
        <p:spPr>
          <a:xfrm>
            <a:off x="68580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07035A-5F54-452D-9982-368774F97B9C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FCE27A8-70C0-4277-9189-BB6A6F7750B9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계산기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9E51D01-5BC1-400A-9227-837C0AEA26A3}"/>
              </a:ext>
            </a:extLst>
          </p:cNvPr>
          <p:cNvSpPr>
            <a:spLocks noGrp="1"/>
          </p:cNvSpPr>
          <p:nvPr/>
        </p:nvSpPr>
        <p:spPr>
          <a:xfrm>
            <a:off x="8077200" y="2209800"/>
            <a:ext cx="171450" cy="1714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711D748F-79F1-4197-9C4D-52DD9FF7BAFA}"/>
              </a:ext>
            </a:extLst>
          </p:cNvPr>
          <p:cNvSpPr>
            <a:spLocks noGrp="1"/>
          </p:cNvSpPr>
          <p:nvPr/>
        </p:nvSpPr>
        <p:spPr>
          <a:xfrm>
            <a:off x="8248650" y="2295525"/>
            <a:ext cx="1219200" cy="0"/>
          </a:xfrm>
          <a:prstGeom prst="line">
            <a:avLst/>
          </a:prstGeom>
          <a:noFill/>
          <a:ln w="19050">
            <a:solidFill>
              <a:srgbClr val="C2415D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B71336-248B-49E5-8668-2005812FE2D4}"/>
              </a:ext>
            </a:extLst>
          </p:cNvPr>
          <p:cNvSpPr>
            <a:spLocks noGrp="1"/>
          </p:cNvSpPr>
          <p:nvPr/>
        </p:nvSpPr>
        <p:spPr>
          <a:xfrm>
            <a:off x="75819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 교환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7D04D48-18E9-46F4-8E18-3FE31C87FD42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C8EFA0C-2595-4408-8A10-38A3A2122B77}"/>
              </a:ext>
            </a:extLst>
          </p:cNvPr>
          <p:cNvSpPr>
            <a:spLocks noGrp="1"/>
          </p:cNvSpPr>
          <p:nvPr/>
        </p:nvSpPr>
        <p:spPr>
          <a:xfrm>
            <a:off x="94678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1B6BB4C9-7B7F-47E3-AA87-B1BAAC54CD33}"/>
              </a:ext>
            </a:extLst>
          </p:cNvPr>
          <p:cNvSpPr>
            <a:spLocks noGrp="1"/>
          </p:cNvSpPr>
          <p:nvPr/>
        </p:nvSpPr>
        <p:spPr>
          <a:xfrm>
            <a:off x="96393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23B766-C64D-49CF-AB94-FBAFEE02E4D1}"/>
              </a:ext>
            </a:extLst>
          </p:cNvPr>
          <p:cNvSpPr>
            <a:spLocks noGrp="1"/>
          </p:cNvSpPr>
          <p:nvPr/>
        </p:nvSpPr>
        <p:spPr>
          <a:xfrm>
            <a:off x="89725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79551B-B2C7-4228-ADB7-D5E6BABB5CFE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27D3852-8D5F-491E-9B35-1569156B2016}"/>
              </a:ext>
            </a:extLst>
          </p:cNvPr>
          <p:cNvSpPr>
            <a:spLocks noGrp="1"/>
          </p:cNvSpPr>
          <p:nvPr/>
        </p:nvSpPr>
        <p:spPr>
          <a:xfrm>
            <a:off x="108585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488CCB6-6595-4248-967D-607455EFCB81}"/>
              </a:ext>
            </a:extLst>
          </p:cNvPr>
          <p:cNvSpPr>
            <a:spLocks noGrp="1"/>
          </p:cNvSpPr>
          <p:nvPr/>
        </p:nvSpPr>
        <p:spPr>
          <a:xfrm>
            <a:off x="103632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8EE2DE1-298B-44CA-9D8D-2A65D78ADAF4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5423F00-3322-441A-A9E6-5FE5494F1BC7}"/>
              </a:ext>
            </a:extLst>
          </p:cNvPr>
          <p:cNvSpPr>
            <a:spLocks noGrp="1"/>
          </p:cNvSpPr>
          <p:nvPr/>
        </p:nvSpPr>
        <p:spPr>
          <a:xfrm>
            <a:off x="695325" y="31242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관찰/추론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AB9D689-00FC-413C-A327-481F108E2AD2}"/>
              </a:ext>
            </a:extLst>
          </p:cNvPr>
          <p:cNvSpPr>
            <a:spLocks noGrp="1"/>
          </p:cNvSpPr>
          <p:nvPr/>
        </p:nvSpPr>
        <p:spPr>
          <a:xfrm>
            <a:off x="1752600" y="31242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B의 초대 맥락 부족과 의견 기준의 비구조화는 사용자 검증이 필요한 CJM 모델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F085F63-6B75-472C-BE5D-D1B130872AE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820400" cy="1905000"/>
          </a:xfrm>
          <a:prstGeom prst="roundRect">
            <a:avLst>
              <a:gd name="adj" fmla="val 8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B5FDC12-D162-4B90-90B6-D9DF3CD63E77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JOB TO BE DONE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49E62A2-1E65-4794-B7D9-FCC7854C4F14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1036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저장한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중,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감수할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알고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이번에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갈 집 두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곳을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정한다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74DEE6-27D9-4E97-9793-7493BA31040D}"/>
              </a:ext>
            </a:extLst>
          </p:cNvPr>
          <p:cNvSpPr>
            <a:spLocks noGrp="1"/>
          </p:cNvSpPr>
          <p:nvPr/>
        </p:nvSpPr>
        <p:spPr>
          <a:xfrm>
            <a:off x="110490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Functional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A16659-A092-4359-B350-15BA23695BA1}"/>
              </a:ext>
            </a:extLst>
          </p:cNvPr>
          <p:cNvSpPr>
            <a:spLocks noGrp="1"/>
          </p:cNvSpPr>
          <p:nvPr/>
        </p:nvSpPr>
        <p:spPr>
          <a:xfrm>
            <a:off x="20955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EACD91D-C051-4D1A-BD7D-17E2F469BD2F}"/>
              </a:ext>
            </a:extLst>
          </p:cNvPr>
          <p:cNvSpPr>
            <a:spLocks noGrp="1"/>
          </p:cNvSpPr>
          <p:nvPr/>
        </p:nvSpPr>
        <p:spPr>
          <a:xfrm>
            <a:off x="4486275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Decision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5B8982E-0112-40F9-BD2F-692246BEAADE}"/>
              </a:ext>
            </a:extLst>
          </p:cNvPr>
          <p:cNvSpPr>
            <a:spLocks noGrp="1"/>
          </p:cNvSpPr>
          <p:nvPr/>
        </p:nvSpPr>
        <p:spPr>
          <a:xfrm>
            <a:off x="52959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얼마나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D6D6AAA-FBF9-44C2-8112-11BD7A38A277}"/>
              </a:ext>
            </a:extLst>
          </p:cNvPr>
          <p:cNvSpPr>
            <a:spLocks noGrp="1"/>
          </p:cNvSpPr>
          <p:nvPr/>
        </p:nvSpPr>
        <p:spPr>
          <a:xfrm>
            <a:off x="786765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Relational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B38E168-F31D-4772-8FF8-80885375E6FA}"/>
              </a:ext>
            </a:extLst>
          </p:cNvPr>
          <p:cNvSpPr>
            <a:spLocks noGrp="1"/>
          </p:cNvSpPr>
          <p:nvPr/>
        </p:nvSpPr>
        <p:spPr>
          <a:xfrm>
            <a:off x="885825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비중으로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568D738-CDB4-4E11-8DC9-388182203C6E}"/>
              </a:ext>
            </a:extLst>
          </p:cNvPr>
          <p:cNvSpPr>
            <a:spLocks noGrp="1"/>
          </p:cNvSpPr>
          <p:nvPr/>
        </p:nvSpPr>
        <p:spPr>
          <a:xfrm>
            <a:off x="1809750" y="5810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납득 = 내가 무엇을 감수하는지 알고도 방문 후보로 동의할 수 있는 상태</a:t>
            </a:r>
          </a:p>
        </p:txBody>
      </p:sp>
    </p:spTree>
    <p:extLst>
      <p:ext uri="{BB962C8B-B14F-4D97-AF65-F5344CB8AC3E}">
        <p14:creationId xmlns:p14="http://schemas.microsoft.com/office/powerpoint/2010/main" val="68102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CADC45C-7D01-4C0C-A216-E78AB2328BC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OPPORTUNITY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37BCF11-8D72-40C9-B73D-D38EE6CE268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 중요한 기회는 ‘의견 교환’ 단계지만, 아직 수치 점수는 없다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D621105-7920-4022-8A8D-E002C873CE43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36B699-38E5-4BF7-A58E-42452D6D90E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docs/07-cjm-opportunity-score.md · docs/01-team-brief.md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F41C5D-0C8D-4182-9E20-8AD7CB8A2A21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5C20C2C-17EC-4AAA-B160-8AD7E08AA013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BEFD84-9416-49A3-9F6A-5FB2CDF00BB0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FE85A80-9FB3-4B37-8925-EA0DB78DC452}"/>
              </a:ext>
            </a:extLst>
          </p:cNvPr>
          <p:cNvSpPr>
            <a:spLocks noGrp="1"/>
          </p:cNvSpPr>
          <p:nvPr/>
        </p:nvSpPr>
        <p:spPr>
          <a:xfrm>
            <a:off x="21907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ED410A4-D931-47C8-B87B-6047708757ED}"/>
              </a:ext>
            </a:extLst>
          </p:cNvPr>
          <p:cNvSpPr>
            <a:spLocks noGrp="1"/>
          </p:cNvSpPr>
          <p:nvPr/>
        </p:nvSpPr>
        <p:spPr>
          <a:xfrm>
            <a:off x="24765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53B334-19CF-43EF-9489-F783EA4C2F06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456253D-8086-4DE7-8A3B-972F2083AC88}"/>
              </a:ext>
            </a:extLst>
          </p:cNvPr>
          <p:cNvSpPr>
            <a:spLocks noGrp="1"/>
          </p:cNvSpPr>
          <p:nvPr/>
        </p:nvSpPr>
        <p:spPr>
          <a:xfrm>
            <a:off x="39433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9F6964C-3090-4A6C-B921-DD23B24848A1}"/>
              </a:ext>
            </a:extLst>
          </p:cNvPr>
          <p:cNvSpPr>
            <a:spLocks noGrp="1"/>
          </p:cNvSpPr>
          <p:nvPr/>
        </p:nvSpPr>
        <p:spPr>
          <a:xfrm>
            <a:off x="42291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402601-639B-4698-B5B5-8A75CEBC695B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B1C17211-8981-453C-B460-FA25CC4DF463}"/>
              </a:ext>
            </a:extLst>
          </p:cNvPr>
          <p:cNvSpPr>
            <a:spLocks noGrp="1"/>
          </p:cNvSpPr>
          <p:nvPr/>
        </p:nvSpPr>
        <p:spPr>
          <a:xfrm>
            <a:off x="56959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F7F9B26-DC61-4317-B1D1-8C9B1545B40D}"/>
              </a:ext>
            </a:extLst>
          </p:cNvPr>
          <p:cNvSpPr>
            <a:spLocks noGrp="1"/>
          </p:cNvSpPr>
          <p:nvPr/>
        </p:nvSpPr>
        <p:spPr>
          <a:xfrm>
            <a:off x="5981700" y="1724025"/>
            <a:ext cx="1466850" cy="914400"/>
          </a:xfrm>
          <a:prstGeom prst="roundRect">
            <a:avLst>
              <a:gd name="adj" fmla="val 1041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01EA35-A444-4FE1-8E0A-4409D4D6FA97}"/>
              </a:ext>
            </a:extLst>
          </p:cNvPr>
          <p:cNvSpPr>
            <a:spLocks noGrp="1"/>
          </p:cNvSpPr>
          <p:nvPr/>
        </p:nvSpPr>
        <p:spPr>
          <a:xfrm>
            <a:off x="6076950" y="2028825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교환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85319C83-D9FB-40C6-B5B2-6AF260586230}"/>
              </a:ext>
            </a:extLst>
          </p:cNvPr>
          <p:cNvSpPr>
            <a:spLocks noGrp="1"/>
          </p:cNvSpPr>
          <p:nvPr/>
        </p:nvSpPr>
        <p:spPr>
          <a:xfrm>
            <a:off x="7448550" y="2076450"/>
            <a:ext cx="28575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784010D-B677-4C7F-BF37-DBE6032AC700}"/>
              </a:ext>
            </a:extLst>
          </p:cNvPr>
          <p:cNvSpPr>
            <a:spLocks noGrp="1"/>
          </p:cNvSpPr>
          <p:nvPr/>
        </p:nvSpPr>
        <p:spPr>
          <a:xfrm>
            <a:off x="77343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6D2297-BFCE-44D5-AB4D-C523F3BBC1DF}"/>
              </a:ext>
            </a:extLst>
          </p:cNvPr>
          <p:cNvSpPr>
            <a:spLocks noGrp="1"/>
          </p:cNvSpPr>
          <p:nvPr/>
        </p:nvSpPr>
        <p:spPr>
          <a:xfrm>
            <a:off x="78295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14CC79CE-B9F5-4FD1-B0A9-D3E2A4FE78C5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42CB275-99A3-4B6C-B90A-84C4DBC534AD}"/>
              </a:ext>
            </a:extLst>
          </p:cNvPr>
          <p:cNvSpPr>
            <a:spLocks noGrp="1"/>
          </p:cNvSpPr>
          <p:nvPr/>
        </p:nvSpPr>
        <p:spPr>
          <a:xfrm>
            <a:off x="9486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1EAEA88-7CBC-4B36-8E2A-04AF0DB8DE31}"/>
              </a:ext>
            </a:extLst>
          </p:cNvPr>
          <p:cNvSpPr>
            <a:spLocks noGrp="1"/>
          </p:cNvSpPr>
          <p:nvPr/>
        </p:nvSpPr>
        <p:spPr>
          <a:xfrm>
            <a:off x="9582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1620480F-9B8B-49B4-B8C8-3705F7F0F34C}"/>
              </a:ext>
            </a:extLst>
          </p:cNvPr>
          <p:cNvSpPr>
            <a:spLocks noGrp="1"/>
          </p:cNvSpPr>
          <p:nvPr/>
        </p:nvSpPr>
        <p:spPr>
          <a:xfrm rot="5400000">
            <a:off x="6528916" y="2759634"/>
            <a:ext cx="372417" cy="671983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7C82907-29A7-4D14-B3F0-0271D2E40D26}"/>
              </a:ext>
            </a:extLst>
          </p:cNvPr>
          <p:cNvSpPr>
            <a:spLocks noGrp="1"/>
          </p:cNvSpPr>
          <p:nvPr/>
        </p:nvSpPr>
        <p:spPr>
          <a:xfrm>
            <a:off x="4286250" y="3467100"/>
            <a:ext cx="5105400" cy="1790700"/>
          </a:xfrm>
          <a:prstGeom prst="roundRect">
            <a:avLst>
              <a:gd name="adj" fmla="val 85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654E97-66DE-46B5-A7AE-15497382C052}"/>
              </a:ext>
            </a:extLst>
          </p:cNvPr>
          <p:cNvSpPr>
            <a:spLocks noGrp="1"/>
          </p:cNvSpPr>
          <p:nvPr/>
        </p:nvSpPr>
        <p:spPr>
          <a:xfrm>
            <a:off x="455295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WHY PRIORITY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B769384-F45A-4294-8ED9-10B7822E203F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46A7F42-4DFE-4B95-9B86-19C1238AE6EF}"/>
              </a:ext>
            </a:extLst>
          </p:cNvPr>
          <p:cNvSpPr>
            <a:spLocks noGrp="1"/>
          </p:cNvSpPr>
          <p:nvPr/>
        </p:nvSpPr>
        <p:spPr>
          <a:xfrm>
            <a:off x="4743450" y="399097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도구로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우회하기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어려운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</a:t>
            </a:r>
            <a:endParaRPr sz="1400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CCFB3F3-0DA7-40E5-BD70-8C8098E592CD}"/>
              </a:ext>
            </a:extLst>
          </p:cNvPr>
          <p:cNvSpPr>
            <a:spLocks noGrp="1"/>
          </p:cNvSpPr>
          <p:nvPr/>
        </p:nvSpPr>
        <p:spPr>
          <a:xfrm>
            <a:off x="4572000" y="44672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CE8C50A-AB87-48E1-AD5B-452BF15C0A72}"/>
              </a:ext>
            </a:extLst>
          </p:cNvPr>
          <p:cNvSpPr>
            <a:spLocks noGrp="1"/>
          </p:cNvSpPr>
          <p:nvPr/>
        </p:nvSpPr>
        <p:spPr>
          <a:xfrm>
            <a:off x="4743450" y="43434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‘그냥 별로’가 선택 근거로 이어지지 않는 구간 [추론]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4CC57B3-F37A-4C93-A7D7-E4147D6BF908}"/>
              </a:ext>
            </a:extLst>
          </p:cNvPr>
          <p:cNvSpPr>
            <a:spLocks noGrp="1"/>
          </p:cNvSpPr>
          <p:nvPr/>
        </p:nvSpPr>
        <p:spPr>
          <a:xfrm>
            <a:off x="4572000" y="4819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7E525E2-70A7-48B4-B164-B43FB02A42AC}"/>
              </a:ext>
            </a:extLst>
          </p:cNvPr>
          <p:cNvSpPr>
            <a:spLocks noGrp="1"/>
          </p:cNvSpPr>
          <p:nvPr/>
        </p:nvSpPr>
        <p:spPr>
          <a:xfrm>
            <a:off x="4743450" y="469582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앞 단계의 비교 노력을 다시 탐색으로 되돌릴 수 있음 [추론]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17179AB-B886-44D6-AF87-6D6B578AF3D2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314325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1AB8B2-204D-40D3-B67A-90D606C90F5B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Opportunity Score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EC0983-FE00-45C8-9BC3-47A8DAD36D29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Importance +</a:t>
            </a:r>
          </a:p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max(Importance − Satisfaction, 0)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6390492-B588-46F1-A708-1A66B311E311}"/>
              </a:ext>
            </a:extLst>
          </p:cNvPr>
          <p:cNvSpPr>
            <a:spLocks noGrp="1"/>
          </p:cNvSpPr>
          <p:nvPr/>
        </p:nvSpPr>
        <p:spPr>
          <a:xfrm>
            <a:off x="933450" y="4777366"/>
            <a:ext cx="895350" cy="2667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미측정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EABDD4A-D484-466F-B6DD-B391E43AB2F6}"/>
              </a:ext>
            </a:extLst>
          </p:cNvPr>
          <p:cNvSpPr>
            <a:spLocks noGrp="1"/>
          </p:cNvSpPr>
          <p:nvPr/>
        </p:nvSpPr>
        <p:spPr>
          <a:xfrm>
            <a:off x="1962150" y="4777366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중요도·만족도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원자료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없음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A49020E-C890-4328-BDCB-86229642369B}"/>
              </a:ext>
            </a:extLst>
          </p:cNvPr>
          <p:cNvSpPr>
            <a:spLocks noGrp="1"/>
          </p:cNvSpPr>
          <p:nvPr/>
        </p:nvSpPr>
        <p:spPr>
          <a:xfrm>
            <a:off x="10001250" y="3619500"/>
            <a:ext cx="933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수치 TBD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BC2BF7-2965-4BE7-A672-6C6CE96F1AFD}"/>
              </a:ext>
            </a:extLst>
          </p:cNvPr>
          <p:cNvSpPr>
            <a:spLocks noGrp="1"/>
          </p:cNvSpPr>
          <p:nvPr/>
        </p:nvSpPr>
        <p:spPr>
          <a:xfrm>
            <a:off x="9582150" y="4057650"/>
            <a:ext cx="1771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OS ≥ 12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적용</a:t>
            </a: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여부는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추후</a:t>
            </a: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조사</a:t>
            </a: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판단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885542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49F2BA1-E2ED-4EF9-A5BE-AD7292B816D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1E665E-3D10-47DB-A3DF-EFEA3E74990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확인된 것은 반복 비교와 조건 충돌이며, ‘지연 인과’는 비어 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230C1C7-61BF-47BD-A13F-FD6032AA0A11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732529-C406-48A6-A08B-ED4DE95C1DB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docs/03-evidence-log.md F1·F3·F26~F28 · docs/02-hypotheses.md H2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DC004D-49ED-49B5-8464-8628DD1EC68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81BC484-4D12-4EDA-9E71-35A2DE7498E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CCE6F1-4AF2-4D8F-9F19-0F03F3DF7547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F03016-7662-45A8-BB87-E7733638AE47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B184BA-C584-49F8-8916-16E75851CC79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2.5개월 · 4.1곳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6C290F-20E5-435E-B864-D16812EC02C3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당근부동산 2026 · n=971 · 전세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78C864-CEDE-4B67-8E2C-6317DEDD9539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여부 미측정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E970D86-0F58-4878-BF77-54AF35AAAACF}"/>
              </a:ext>
            </a:extLst>
          </p:cNvPr>
          <p:cNvSpPr>
            <a:spLocks noGrp="1"/>
          </p:cNvSpPr>
          <p:nvPr/>
        </p:nvSpPr>
        <p:spPr>
          <a:xfrm>
            <a:off x="417195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7253DE6-1DD3-44E9-AF0C-E01A12DA109C}"/>
              </a:ext>
            </a:extLst>
          </p:cNvPr>
          <p:cNvSpPr>
            <a:spLocks noGrp="1"/>
          </p:cNvSpPr>
          <p:nvPr/>
        </p:nvSpPr>
        <p:spPr>
          <a:xfrm>
            <a:off x="436245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51E919-25EC-490E-89DC-15626FE0E58D}"/>
              </a:ext>
            </a:extLst>
          </p:cNvPr>
          <p:cNvSpPr>
            <a:spLocks noGrp="1"/>
          </p:cNvSpPr>
          <p:nvPr/>
        </p:nvSpPr>
        <p:spPr>
          <a:xfrm>
            <a:off x="436245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파트너 조건 충돌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0C338-50DA-420C-83E3-F39F3F29CA62}"/>
              </a:ext>
            </a:extLst>
          </p:cNvPr>
          <p:cNvSpPr>
            <a:spLocks noGrp="1"/>
          </p:cNvSpPr>
          <p:nvPr/>
        </p:nvSpPr>
        <p:spPr>
          <a:xfrm>
            <a:off x="436245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 dirty="0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77%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02B158-A303-4B4B-811D-A7F5A56E70CE}"/>
              </a:ext>
            </a:extLst>
          </p:cNvPr>
          <p:cNvSpPr>
            <a:spLocks noGrp="1"/>
          </p:cNvSpPr>
          <p:nvPr/>
        </p:nvSpPr>
        <p:spPr>
          <a:xfrm>
            <a:off x="436245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 2020 · 파트너와 구매 중 다툼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1E8991-D1E5-41E5-8B52-9CBBFD3379B1}"/>
              </a:ext>
            </a:extLst>
          </p:cNvPr>
          <p:cNvSpPr>
            <a:spLocks noGrp="1"/>
          </p:cNvSpPr>
          <p:nvPr/>
        </p:nvSpPr>
        <p:spPr>
          <a:xfrm>
            <a:off x="436245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미국·매매 · 표본 크기 미확인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870DF56-D82A-4E1B-83FA-3E12808DE49C}"/>
              </a:ext>
            </a:extLst>
          </p:cNvPr>
          <p:cNvSpPr>
            <a:spLocks noGrp="1"/>
          </p:cNvSpPr>
          <p:nvPr/>
        </p:nvSpPr>
        <p:spPr>
          <a:xfrm>
            <a:off x="76581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0499D17-48CD-46C3-979C-B9C149616270}"/>
              </a:ext>
            </a:extLst>
          </p:cNvPr>
          <p:cNvSpPr>
            <a:spLocks noGrp="1"/>
          </p:cNvSpPr>
          <p:nvPr/>
        </p:nvSpPr>
        <p:spPr>
          <a:xfrm>
            <a:off x="78486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존재 증명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659FAA-EB9A-40AB-8885-664079D00E85}"/>
              </a:ext>
            </a:extLst>
          </p:cNvPr>
          <p:cNvSpPr>
            <a:spLocks noGrp="1"/>
          </p:cNvSpPr>
          <p:nvPr/>
        </p:nvSpPr>
        <p:spPr>
          <a:xfrm>
            <a:off x="78486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도구의 존재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B4339B-9317-4A6F-B07B-E8F8212E190D}"/>
              </a:ext>
            </a:extLst>
          </p:cNvPr>
          <p:cNvSpPr>
            <a:spLocks noGrp="1"/>
          </p:cNvSpPr>
          <p:nvPr/>
        </p:nvSpPr>
        <p:spPr>
          <a:xfrm>
            <a:off x="7848599" y="2628900"/>
            <a:ext cx="310515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22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앱 3종 · </a:t>
            </a: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TwoKeys</a:t>
            </a:r>
            <a:endParaRPr sz="220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B600220-F145-46B4-94A1-4DCD20D53906}"/>
              </a:ext>
            </a:extLst>
          </p:cNvPr>
          <p:cNvSpPr>
            <a:spLocks noGrp="1"/>
          </p:cNvSpPr>
          <p:nvPr/>
        </p:nvSpPr>
        <p:spPr>
          <a:xfrm>
            <a:off x="78486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참여·평가 형태의 존재 증명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3B8EB6-1C25-4BFE-910C-21B36DF91B79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수락률·성과 비공개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B504837-11DE-46B6-91CB-3B0F7A49013C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4381500" cy="1123950"/>
          </a:xfrm>
          <a:prstGeom prst="roundRect">
            <a:avLst>
              <a:gd name="adj" fmla="val 10169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1CCC59-00BB-48A3-B83B-AE4A27F1310F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충돌은</a:t>
            </a: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존재한다</a:t>
            </a:r>
            <a:endParaRPr sz="2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101A77-5286-4EFD-AB67-1BB43358BD97}"/>
              </a:ext>
            </a:extLst>
          </p:cNvPr>
          <p:cNvSpPr>
            <a:spLocks noGrp="1"/>
          </p:cNvSpPr>
          <p:nvPr/>
        </p:nvSpPr>
        <p:spPr>
          <a:xfrm>
            <a:off x="933450" y="50482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H2-b-1 [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]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380D588E-9519-4F7F-AE69-5E12EB9B163C}"/>
              </a:ext>
            </a:extLst>
          </p:cNvPr>
          <p:cNvSpPr>
            <a:spLocks noGrp="1"/>
          </p:cNvSpPr>
          <p:nvPr/>
        </p:nvSpPr>
        <p:spPr>
          <a:xfrm>
            <a:off x="5219700" y="4886325"/>
            <a:ext cx="1657350" cy="0"/>
          </a:xfrm>
          <a:prstGeom prst="line">
            <a:avLst/>
          </a:prstGeom>
          <a:noFill/>
          <a:ln w="28575">
            <a:solidFill>
              <a:srgbClr val="C2415D"/>
            </a:solidFill>
            <a:prstDash val="dash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ED125D9-EB54-4C96-933A-4881D2F86C99}"/>
              </a:ext>
            </a:extLst>
          </p:cNvPr>
          <p:cNvSpPr>
            <a:spLocks noGrp="1"/>
          </p:cNvSpPr>
          <p:nvPr/>
        </p:nvSpPr>
        <p:spPr>
          <a:xfrm>
            <a:off x="5848350" y="4562475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≠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D786A80-6BE8-418A-B2FA-79196E2F9102}"/>
              </a:ext>
            </a:extLst>
          </p:cNvPr>
          <p:cNvSpPr>
            <a:spLocks noGrp="1"/>
          </p:cNvSpPr>
          <p:nvPr/>
        </p:nvSpPr>
        <p:spPr>
          <a:xfrm>
            <a:off x="7029450" y="4333875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F7CF0F5-2567-45D7-A439-E00A87B0602B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미검증</a:t>
            </a:r>
            <a:endParaRPr sz="9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D2ACFA-651B-40B7-8255-60F9682558FA}"/>
              </a:ext>
            </a:extLst>
          </p:cNvPr>
          <p:cNvSpPr>
            <a:spLocks noGrp="1"/>
          </p:cNvSpPr>
          <p:nvPr/>
        </p:nvSpPr>
        <p:spPr>
          <a:xfrm>
            <a:off x="8096250" y="4505325"/>
            <a:ext cx="3105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때문에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지연된다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DB5A3D-A42D-42EF-9F98-9FE812989453}"/>
              </a:ext>
            </a:extLst>
          </p:cNvPr>
          <p:cNvSpPr>
            <a:spLocks noGrp="1"/>
          </p:cNvSpPr>
          <p:nvPr/>
        </p:nvSpPr>
        <p:spPr>
          <a:xfrm>
            <a:off x="7239000" y="5105400"/>
            <a:ext cx="396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H2-b-2 · </a:t>
            </a:r>
            <a:r>
              <a:rPr sz="105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직접</a:t>
            </a:r>
            <a:r>
              <a:rPr sz="105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근거</a:t>
            </a:r>
            <a:r>
              <a:rPr sz="105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미발견</a:t>
            </a:r>
            <a:endParaRPr sz="105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C29985-4B43-46A1-B635-59D676FEE19C}"/>
              </a:ext>
            </a:extLst>
          </p:cNvPr>
          <p:cNvSpPr>
            <a:spLocks noGrp="1"/>
          </p:cNvSpPr>
          <p:nvPr/>
        </p:nvSpPr>
        <p:spPr>
          <a:xfrm>
            <a:off x="2476500" y="57816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반대 신호: Zillow 응답자의 60%는 ‘결국 상관없었다’고 회고</a:t>
            </a:r>
          </a:p>
        </p:txBody>
      </p:sp>
    </p:spTree>
    <p:extLst>
      <p:ext uri="{BB962C8B-B14F-4D97-AF65-F5344CB8AC3E}">
        <p14:creationId xmlns:p14="http://schemas.microsoft.com/office/powerpoint/2010/main" val="903037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B89F2A5-5212-4C5B-811A-9AEFFA169B6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PROBLEM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E00254-6B31-4916-9E61-0F98CC4D9F41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21940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96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우리가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풀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수집이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‘두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사람의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설명하는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일’이다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98948CF-E560-4B28-B899-D364CD9AB13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A8C27F-8B09-4560-84BA-A05EBBDD654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§1 · docs/02-hypotheses.md H2 · PRD §6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F0A061-BC14-48F9-8ADB-E87000A76AA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D79B808-EDE4-4F64-A34E-F2A732060AB6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7EE7456-B018-4427-BB04-404215B395F9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정보의 문제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EA0599-4728-4184-AFB3-A48C7F21E74D}"/>
              </a:ext>
            </a:extLst>
          </p:cNvPr>
          <p:cNvSpPr>
            <a:spLocks noGrp="1"/>
          </p:cNvSpPr>
          <p:nvPr/>
        </p:nvSpPr>
        <p:spPr>
          <a:xfrm>
            <a:off x="933450" y="23717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분산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수동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의사결정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7623F9-A8C6-4092-A875-D99901FB2ADA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혼자 구해도 발생 · 기록/공유 도구가 일부 해결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9831E42-6BF9-4BAD-B84C-8A6443B17EB1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1A83332-02D2-4EE7-9FB5-E19D3A6C6CD8}"/>
              </a:ext>
            </a:extLst>
          </p:cNvPr>
          <p:cNvSpPr>
            <a:spLocks noGrp="1"/>
          </p:cNvSpPr>
          <p:nvPr/>
        </p:nvSpPr>
        <p:spPr>
          <a:xfrm>
            <a:off x="933450" y="3724275"/>
            <a:ext cx="16383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 문제 · 제품 범위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7D2986-BF62-4D41-ADF5-F64852256DA9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감수하는지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불명확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7ECF58-81EA-40C6-B9FA-9546FF3C9FD7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두 사람이 함께 결정할 때 생기는 추가 문제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1F006E3-3031-4DFA-891C-E5F8104E9BFE}"/>
              </a:ext>
            </a:extLst>
          </p:cNvPr>
          <p:cNvSpPr>
            <a:spLocks noGrp="1"/>
          </p:cNvSpPr>
          <p:nvPr/>
        </p:nvSpPr>
        <p:spPr>
          <a:xfrm>
            <a:off x="5029200" y="2447925"/>
            <a:ext cx="819150" cy="2095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5D7BE29-1B6A-4D12-B020-BE0CC56C8BD9}"/>
              </a:ext>
            </a:extLst>
          </p:cNvPr>
          <p:cNvSpPr>
            <a:spLocks noGrp="1"/>
          </p:cNvSpPr>
          <p:nvPr/>
        </p:nvSpPr>
        <p:spPr>
          <a:xfrm>
            <a:off x="5029200" y="4219575"/>
            <a:ext cx="8191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1BA81A6-D5D2-4035-AC06-C7FE252D643D}"/>
              </a:ext>
            </a:extLst>
          </p:cNvPr>
          <p:cNvSpPr>
            <a:spLocks noGrp="1"/>
          </p:cNvSpPr>
          <p:nvPr/>
        </p:nvSpPr>
        <p:spPr>
          <a:xfrm>
            <a:off x="6115050" y="2124075"/>
            <a:ext cx="5181600" cy="2552700"/>
          </a:xfrm>
          <a:prstGeom prst="roundRect">
            <a:avLst>
              <a:gd name="adj" fmla="val 597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B59B0D8-D2C2-482F-97C2-EF4FF1B388AB}"/>
              </a:ext>
            </a:extLst>
          </p:cNvPr>
          <p:cNvSpPr>
            <a:spLocks noGrp="1"/>
          </p:cNvSpPr>
          <p:nvPr/>
        </p:nvSpPr>
        <p:spPr>
          <a:xfrm>
            <a:off x="6343650" y="2333625"/>
            <a:ext cx="12573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추론/검증 가설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207C8E-BF8D-42DC-8BC6-759FCCD6E045}"/>
              </a:ext>
            </a:extLst>
          </p:cNvPr>
          <p:cNvSpPr>
            <a:spLocks noGrp="1"/>
          </p:cNvSpPr>
          <p:nvPr/>
        </p:nvSpPr>
        <p:spPr>
          <a:xfrm>
            <a:off x="6343650" y="271208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두 </a:t>
            </a:r>
            <a:r>
              <a:rPr sz="120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갈래가</a:t>
            </a: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만나는</a:t>
            </a: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지점</a:t>
            </a:r>
            <a:endParaRPr sz="120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049BD9-7B58-46C2-BA89-21A96590E0F3}"/>
              </a:ext>
            </a:extLst>
          </p:cNvPr>
          <p:cNvSpPr>
            <a:spLocks noGrp="1"/>
          </p:cNvSpPr>
          <p:nvPr/>
        </p:nvSpPr>
        <p:spPr>
          <a:xfrm>
            <a:off x="6343650" y="3032125"/>
            <a:ext cx="4610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</a:t>
            </a:r>
            <a:r>
              <a:rPr sz="3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3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정하는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의사결정</a:t>
            </a:r>
            <a:r>
              <a:rPr sz="3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119A2B-614B-45CB-9314-0E30177F6E69}"/>
              </a:ext>
            </a:extLst>
          </p:cNvPr>
          <p:cNvSpPr>
            <a:spLocks noGrp="1"/>
          </p:cNvSpPr>
          <p:nvPr/>
        </p:nvSpPr>
        <p:spPr>
          <a:xfrm>
            <a:off x="6438900" y="42195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H2-a 반복 비교 [확인]  ·  H2-b-1 충돌 [확인]  ·  H2-b-2 지연 [미검증]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32AC9A9-C1C3-45D7-864A-5DFE6F6A82C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553700" cy="647700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AE0627-C8FE-4C4D-924C-9940C3AABAC8}"/>
              </a:ext>
            </a:extLst>
          </p:cNvPr>
          <p:cNvSpPr>
            <a:spLocks noGrp="1"/>
          </p:cNvSpPr>
          <p:nvPr/>
        </p:nvSpPr>
        <p:spPr>
          <a:xfrm>
            <a:off x="933450" y="5582696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 질문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9E73DC-FC0A-43C5-8FA8-0FA2A0596B99}"/>
              </a:ext>
            </a:extLst>
          </p:cNvPr>
          <p:cNvSpPr>
            <a:spLocks noGrp="1"/>
          </p:cNvSpPr>
          <p:nvPr/>
        </p:nvSpPr>
        <p:spPr>
          <a:xfrm>
            <a:off x="2190750" y="5507131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‘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우리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둘에게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좋은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?’이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 ‘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감수하고도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납득할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?’</a:t>
            </a:r>
          </a:p>
        </p:txBody>
      </p:sp>
    </p:spTree>
    <p:extLst>
      <p:ext uri="{BB962C8B-B14F-4D97-AF65-F5344CB8AC3E}">
        <p14:creationId xmlns:p14="http://schemas.microsoft.com/office/powerpoint/2010/main" val="1081108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264D966-0F79-43E7-BC1C-E21E94DDD09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933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SAME DOMAIN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EA357A-E109-40F1-B0BB-A25459F576F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128968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1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동종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서비스는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평가는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해도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양보하는지’는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가리지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못한다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E43666B-0C8F-4227-B53E-752CD99F3CC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7692CF-AA99-4223-8898-CA9BDB363F84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docs/04-benchmarks.md Tier 1·3 · docs/03-evidence-log.md F2·F27·F28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05D20D-8B76-4C53-BF70-044369312EE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58E84E-A0C4-482D-A2F1-3D5ECB3B4BC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00DBD7-1315-4024-8347-F52F9E311D8C}"/>
              </a:ext>
            </a:extLst>
          </p:cNvPr>
          <p:cNvSpPr>
            <a:spLocks noGrp="1"/>
          </p:cNvSpPr>
          <p:nvPr/>
        </p:nvSpPr>
        <p:spPr>
          <a:xfrm>
            <a:off x="1762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D34E09C6-6E69-4889-A3B8-02DE3DC6D94A}"/>
              </a:ext>
            </a:extLst>
          </p:cNvPr>
          <p:cNvSpPr>
            <a:spLocks noGrp="1"/>
          </p:cNvSpPr>
          <p:nvPr/>
        </p:nvSpPr>
        <p:spPr>
          <a:xfrm>
            <a:off x="1943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EBEA48-11DE-40CF-BB2D-3E247D0FA176}"/>
              </a:ext>
            </a:extLst>
          </p:cNvPr>
          <p:cNvSpPr>
            <a:spLocks noGrp="1"/>
          </p:cNvSpPr>
          <p:nvPr/>
        </p:nvSpPr>
        <p:spPr>
          <a:xfrm>
            <a:off x="3467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개인 평가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8A53298-5CAF-4437-BBA6-06EA53F51549}"/>
              </a:ext>
            </a:extLst>
          </p:cNvPr>
          <p:cNvSpPr>
            <a:spLocks noGrp="1"/>
          </p:cNvSpPr>
          <p:nvPr/>
        </p:nvSpPr>
        <p:spPr>
          <a:xfrm>
            <a:off x="4429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756070E2-CB40-4981-A892-ECAEAD786E00}"/>
              </a:ext>
            </a:extLst>
          </p:cNvPr>
          <p:cNvSpPr>
            <a:spLocks noGrp="1"/>
          </p:cNvSpPr>
          <p:nvPr/>
        </p:nvSpPr>
        <p:spPr>
          <a:xfrm>
            <a:off x="4610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5E11A7-DA69-45FC-994F-FAB541DB1187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평가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49EEC6E-C340-42C8-BEB4-9939AA4CFF4E}"/>
              </a:ext>
            </a:extLst>
          </p:cNvPr>
          <p:cNvSpPr>
            <a:spLocks noGrp="1"/>
          </p:cNvSpPr>
          <p:nvPr/>
        </p:nvSpPr>
        <p:spPr>
          <a:xfrm>
            <a:off x="7096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87EB3715-2BC2-47F1-90E9-9A9C227738A2}"/>
              </a:ext>
            </a:extLst>
          </p:cNvPr>
          <p:cNvSpPr>
            <a:spLocks noGrp="1"/>
          </p:cNvSpPr>
          <p:nvPr/>
        </p:nvSpPr>
        <p:spPr>
          <a:xfrm>
            <a:off x="7277100" y="2171700"/>
            <a:ext cx="2286000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86FD61-41E3-48B0-939E-B068DF93055E}"/>
              </a:ext>
            </a:extLst>
          </p:cNvPr>
          <p:cNvSpPr>
            <a:spLocks noGrp="1"/>
          </p:cNvSpPr>
          <p:nvPr/>
        </p:nvSpPr>
        <p:spPr>
          <a:xfrm>
            <a:off x="8801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trade-off 설명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EA7456-5E3F-48ED-B49D-A429F56A3978}"/>
              </a:ext>
            </a:extLst>
          </p:cNvPr>
          <p:cNvSpPr>
            <a:spLocks noGrp="1"/>
          </p:cNvSpPr>
          <p:nvPr/>
        </p:nvSpPr>
        <p:spPr>
          <a:xfrm>
            <a:off x="9763125" y="2076450"/>
            <a:ext cx="190500" cy="1905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9AC300-FDD3-4AF5-A90F-1893569C7A1F}"/>
              </a:ext>
            </a:extLst>
          </p:cNvPr>
          <p:cNvSpPr>
            <a:spLocks noGrp="1"/>
          </p:cNvSpPr>
          <p:nvPr/>
        </p:nvSpPr>
        <p:spPr>
          <a:xfrm>
            <a:off x="8629650" y="1390650"/>
            <a:ext cx="2343150" cy="1257300"/>
          </a:xfrm>
          <a:prstGeom prst="roundRect">
            <a:avLst>
              <a:gd name="adj" fmla="val 1060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080688-30CD-4EA1-8934-E792B785A439}"/>
              </a:ext>
            </a:extLst>
          </p:cNvPr>
          <p:cNvSpPr>
            <a:spLocks noGrp="1"/>
          </p:cNvSpPr>
          <p:nvPr/>
        </p:nvSpPr>
        <p:spPr>
          <a:xfrm>
            <a:off x="8858250" y="15621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우리 검증 영역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0616A7-BC6C-4674-98DF-BCA9DB738E37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합산 없이</a:t>
            </a:r>
          </a:p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주체를 설명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7CC82-4188-4470-B128-271D061CBCA4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681537-BA16-4884-809A-57E7549CCE4A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탐색·상세·관심매물</a:t>
            </a:r>
            <a:endParaRPr sz="11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B7902C-6283-4F7F-AD9F-8C4DF1935180}"/>
              </a:ext>
            </a:extLst>
          </p:cNvPr>
          <p:cNvSpPr>
            <a:spLocks noGrp="1"/>
          </p:cNvSpPr>
          <p:nvPr/>
        </p:nvSpPr>
        <p:spPr>
          <a:xfrm>
            <a:off x="5143500" y="30861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후보·데이터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사용</a:t>
            </a:r>
            <a:endParaRPr sz="110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C9C26BE-97EF-4C97-B881-7383485015A7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판정은 기회 구간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001FDA89-363B-4929-B789-B6E3CF24B9F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804CAB-E8AF-4587-94F6-10B55C2260E3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집노트 등 20개+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6A37F60-B828-4C33-84E2-4ACF43651434}"/>
              </a:ext>
            </a:extLst>
          </p:cNvPr>
          <p:cNvSpPr>
            <a:spLocks noGrp="1"/>
          </p:cNvSpPr>
          <p:nvPr/>
        </p:nvSpPr>
        <p:spPr>
          <a:xfrm>
            <a:off x="2571750" y="37528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개인 체크리스트·채점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80A2F7-3C7C-479B-A381-F3EAB417B0D6}"/>
              </a:ext>
            </a:extLst>
          </p:cNvPr>
          <p:cNvSpPr>
            <a:spLocks noGrp="1"/>
          </p:cNvSpPr>
          <p:nvPr/>
        </p:nvSpPr>
        <p:spPr>
          <a:xfrm>
            <a:off x="5143500" y="37528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입력·현장 기록 참고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9ABB8D-F59E-43EB-BF46-AE50133EFFCD}"/>
              </a:ext>
            </a:extLst>
          </p:cNvPr>
          <p:cNvSpPr>
            <a:spLocks noGrp="1"/>
          </p:cNvSpPr>
          <p:nvPr/>
        </p:nvSpPr>
        <p:spPr>
          <a:xfrm>
            <a:off x="7524750" y="37528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대부분 1인·총점·단방향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BE94AE97-5D13-4F71-95C5-1AF9A3706AF9}"/>
              </a:ext>
            </a:extLst>
          </p:cNvPr>
          <p:cNvSpPr>
            <a:spLocks noGrp="1"/>
          </p:cNvSpPr>
          <p:nvPr/>
        </p:nvSpPr>
        <p:spPr>
          <a:xfrm>
            <a:off x="781050" y="42005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14F49D9-9CC8-48D7-B5C8-5627BAF8C007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주거비 계산기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FAD6E1-8047-4643-9E17-E90C5399F507}"/>
              </a:ext>
            </a:extLst>
          </p:cNvPr>
          <p:cNvSpPr>
            <a:spLocks noGrp="1"/>
          </p:cNvSpPr>
          <p:nvPr/>
        </p:nvSpPr>
        <p:spPr>
          <a:xfrm>
            <a:off x="2571750" y="44196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전월세·이자·기회비용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1195D2-CCAE-4D6F-A9D4-BF3963CA7E99}"/>
              </a:ext>
            </a:extLst>
          </p:cNvPr>
          <p:cNvSpPr>
            <a:spLocks noGrp="1"/>
          </p:cNvSpPr>
          <p:nvPr/>
        </p:nvSpPr>
        <p:spPr>
          <a:xfrm>
            <a:off x="5143500" y="44196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보조 재료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221F92-58F7-4C21-8B1E-6153B86290F1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결정 기능 아님</a:t>
            </a:r>
          </a:p>
        </p:txBody>
      </p:sp>
      <p:sp>
        <p:nvSpPr>
          <p:cNvPr id="37" name="직선 연결선 36">
            <a:extLst>
              <a:ext uri="{FF2B5EF4-FFF2-40B4-BE49-F238E27FC236}">
                <a16:creationId xmlns:a16="http://schemas.microsoft.com/office/drawing/2014/main" id="{1760CA7C-E9B6-4BD6-915E-4255DE6068E5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83EAAF9-377A-43AB-8EDC-8FC22A1537D2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TwoKeys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6ADBAB6-5850-41F7-991C-8072EF89ECCD}"/>
              </a:ext>
            </a:extLst>
          </p:cNvPr>
          <p:cNvSpPr>
            <a:spLocks noGrp="1"/>
          </p:cNvSpPr>
          <p:nvPr/>
        </p:nvSpPr>
        <p:spPr>
          <a:xfrm>
            <a:off x="2571750" y="5086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평가·total rating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F7802E4-363E-40B2-83FF-316FFD12B9C2}"/>
              </a:ext>
            </a:extLst>
          </p:cNvPr>
          <p:cNvSpPr>
            <a:spLocks noGrp="1"/>
          </p:cNvSpPr>
          <p:nvPr/>
        </p:nvSpPr>
        <p:spPr>
          <a:xfrm>
            <a:off x="5143500" y="50863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공동 평가 형태 존재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16F7E0A-6A5E-4C89-9E01-8D6203FF46C5}"/>
              </a:ext>
            </a:extLst>
          </p:cNvPr>
          <p:cNvSpPr>
            <a:spLocks noGrp="1"/>
          </p:cNvSpPr>
          <p:nvPr/>
        </p:nvSpPr>
        <p:spPr>
          <a:xfrm>
            <a:off x="7524750" y="50863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조건을 매물에 저장·합산</a:t>
            </a:r>
          </a:p>
        </p:txBody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D658D4B3-F68A-47C3-BD75-6E853C131F7B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46F06CE-971E-4F00-B034-8C1D5431AB0F}"/>
              </a:ext>
            </a:extLst>
          </p:cNvPr>
          <p:cNvSpPr>
            <a:spLocks noGrp="1"/>
          </p:cNvSpPr>
          <p:nvPr/>
        </p:nvSpPr>
        <p:spPr>
          <a:xfrm>
            <a:off x="9810750" y="56197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존재 증명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1CD5D55-7A8F-4FC2-8298-5F8191C506F5}"/>
              </a:ext>
            </a:extLst>
          </p:cNvPr>
          <p:cNvSpPr>
            <a:spLocks noGrp="1"/>
          </p:cNvSpPr>
          <p:nvPr/>
        </p:nvSpPr>
        <p:spPr>
          <a:xfrm>
            <a:off x="4953000" y="5638800"/>
            <a:ext cx="462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서비스 존재 ≠ 국내 수요·초대 수락·효과 검증</a:t>
            </a:r>
          </a:p>
        </p:txBody>
      </p:sp>
    </p:spTree>
    <p:extLst>
      <p:ext uri="{BB962C8B-B14F-4D97-AF65-F5344CB8AC3E}">
        <p14:creationId xmlns:p14="http://schemas.microsoft.com/office/powerpoint/2010/main" val="1307932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AC950D5-4862-4A85-80FF-1251CE7BDF3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ADJACENT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362F7C-24B1-4CA0-9EF3-27A484FB8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인접 서비스에서 가져올 것은 기능이 아니라 참여를 만드는 메커니즘이다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D105013-172E-4E2C-AB5F-181D799F46D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CFB905-1618-49D4-88A8-60FDF5966D5D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docs/04-benchmarks.md · docs/02-hypotheses.md H1 · docs/03-evidence-log.md F3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20A284-4D6F-4B29-9E4D-42EF89B21720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660776-CD11-44E9-B1C8-CF83CCA22863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92F28F-9A4E-4967-8471-7304E49DA6DC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9FE41F2-04DB-45DC-88AC-AAE56AF704C7}"/>
              </a:ext>
            </a:extLst>
          </p:cNvPr>
          <p:cNvSpPr>
            <a:spLocks noGrp="1"/>
          </p:cNvSpPr>
          <p:nvPr/>
        </p:nvSpPr>
        <p:spPr>
          <a:xfrm>
            <a:off x="3143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795F28B-5E5C-4632-9FD9-07F2F88C1C8D}"/>
              </a:ext>
            </a:extLst>
          </p:cNvPr>
          <p:cNvSpPr>
            <a:spLocks noGrp="1"/>
          </p:cNvSpPr>
          <p:nvPr/>
        </p:nvSpPr>
        <p:spPr>
          <a:xfrm>
            <a:off x="3486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26CB0D-F3C3-4F35-A468-E54FAD535A7C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1180C53-95B8-43D5-9FA4-E8091EFBC873}"/>
              </a:ext>
            </a:extLst>
          </p:cNvPr>
          <p:cNvSpPr>
            <a:spLocks noGrp="1"/>
          </p:cNvSpPr>
          <p:nvPr/>
        </p:nvSpPr>
        <p:spPr>
          <a:xfrm>
            <a:off x="5810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A598BC-FFC8-4AB0-8771-0F2AE5A245B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55B35-B3DC-47BB-A7FA-D2C475E21419}"/>
              </a:ext>
            </a:extLst>
          </p:cNvPr>
          <p:cNvSpPr>
            <a:spLocks noGrp="1"/>
          </p:cNvSpPr>
          <p:nvPr/>
        </p:nvSpPr>
        <p:spPr>
          <a:xfrm>
            <a:off x="6153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4136A93D-545A-4B77-B473-C538D0466497}"/>
              </a:ext>
            </a:extLst>
          </p:cNvPr>
          <p:cNvSpPr>
            <a:spLocks noGrp="1"/>
          </p:cNvSpPr>
          <p:nvPr/>
        </p:nvSpPr>
        <p:spPr>
          <a:xfrm>
            <a:off x="8477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D3B34E5-B273-4E44-BB18-2787A70A516E}"/>
              </a:ext>
            </a:extLst>
          </p:cNvPr>
          <p:cNvSpPr>
            <a:spLocks noGrp="1"/>
          </p:cNvSpPr>
          <p:nvPr/>
        </p:nvSpPr>
        <p:spPr>
          <a:xfrm>
            <a:off x="8820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B56602-ACEB-43B9-914D-ABB7CB1571F3}"/>
              </a:ext>
            </a:extLst>
          </p:cNvPr>
          <p:cNvSpPr>
            <a:spLocks noGrp="1"/>
          </p:cNvSpPr>
          <p:nvPr/>
        </p:nvSpPr>
        <p:spPr>
          <a:xfrm>
            <a:off x="8820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6B82E6-3B8C-4E61-86BA-D5A3B245D655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특별시·웨딩노트·MarryNote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31A1A0-2B12-4922-9CB8-7B580717DECF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파트너 연결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01AB80-81B5-4A07-887A-61C2A570C57B}"/>
              </a:ext>
            </a:extLst>
          </p:cNvPr>
          <p:cNvSpPr>
            <a:spLocks noGrp="1"/>
          </p:cNvSpPr>
          <p:nvPr/>
        </p:nvSpPr>
        <p:spPr>
          <a:xfrm>
            <a:off x="6248400" y="24574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2인 초대의 존재 증명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B78AEA-84DB-401D-9816-1436292FD02C}"/>
              </a:ext>
            </a:extLst>
          </p:cNvPr>
          <p:cNvSpPr>
            <a:spLocks noGrp="1"/>
          </p:cNvSpPr>
          <p:nvPr/>
        </p:nvSpPr>
        <p:spPr>
          <a:xfrm>
            <a:off x="874395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 비공개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B8654C60-3372-4E95-9579-394B969F0B2E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AAAA7B-1489-47A7-9DFC-CB0C3AAAFD9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위밋플레이스·모이삼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0D5D88-2308-4B86-A75D-F172E4F464B7}"/>
              </a:ext>
            </a:extLst>
          </p:cNvPr>
          <p:cNvSpPr>
            <a:spLocks noGrp="1"/>
          </p:cNvSpPr>
          <p:nvPr/>
        </p:nvSpPr>
        <p:spPr>
          <a:xfrm>
            <a:off x="361950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출발지 → 결과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A1B91C-309D-4E0A-9AB5-3810F174EB96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 후 최소 입력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2F9FBA-06CC-4913-BC93-A2F297EAA015}"/>
              </a:ext>
            </a:extLst>
          </p:cNvPr>
          <p:cNvSpPr>
            <a:spLocks noGrp="1"/>
          </p:cNvSpPr>
          <p:nvPr/>
        </p:nvSpPr>
        <p:spPr>
          <a:xfrm>
            <a:off x="874395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집은 단일 최적점 아님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1C08FE6-DD53-4A4E-AA5C-19873828827B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D35661C-F174-4830-B667-38C8E86813DB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Cozymate·한집친구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CA1325D-BA00-408A-947A-CD6672ED38AB}"/>
              </a:ext>
            </a:extLst>
          </p:cNvPr>
          <p:cNvSpPr>
            <a:spLocks noGrp="1"/>
          </p:cNvSpPr>
          <p:nvPr/>
        </p:nvSpPr>
        <p:spPr>
          <a:xfrm>
            <a:off x="361950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룸메이트 조건·성향 입력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BAB8013-2666-4970-9CFB-12524789CD99}"/>
              </a:ext>
            </a:extLst>
          </p:cNvPr>
          <p:cNvSpPr>
            <a:spLocks noGrp="1"/>
          </p:cNvSpPr>
          <p:nvPr/>
        </p:nvSpPr>
        <p:spPr>
          <a:xfrm>
            <a:off x="6248400" y="36766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입력 부담 참고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327188D-8D6C-4A14-890B-0D9D36C0B28A}"/>
              </a:ext>
            </a:extLst>
          </p:cNvPr>
          <p:cNvSpPr>
            <a:spLocks noGrp="1"/>
          </p:cNvSpPr>
          <p:nvPr/>
        </p:nvSpPr>
        <p:spPr>
          <a:xfrm>
            <a:off x="874395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판정 조건과 다름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AE5A6BC5-C473-42BE-BBD3-2DD8B322ED86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4C65D2-5FFC-4B28-AED4-0917672466A5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바로계산·EZB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7AEE07-2763-4615-8DCC-314D89618EC1}"/>
              </a:ext>
            </a:extLst>
          </p:cNvPr>
          <p:cNvSpPr>
            <a:spLocks noGrp="1"/>
          </p:cNvSpPr>
          <p:nvPr/>
        </p:nvSpPr>
        <p:spPr>
          <a:xfrm>
            <a:off x="361950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월·기간 기준 주거비 환산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1B3F430-7BA5-4756-8A42-279300828977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근거 구조화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878635-FC3F-42DC-9FCB-E8B330F8F67B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 조언 아님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BDCDA3F9-9111-427C-AB06-3CF7779F00DB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BC954AA-E002-4DF2-A2F6-7E61CEFBD3BF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Airbnb·Doodle·Wanderlog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79EC1E7-7425-425B-BE23-2A5A3B6C7908}"/>
              </a:ext>
            </a:extLst>
          </p:cNvPr>
          <p:cNvSpPr>
            <a:spLocks noGrp="1"/>
          </p:cNvSpPr>
          <p:nvPr/>
        </p:nvSpPr>
        <p:spPr>
          <a:xfrm>
            <a:off x="361950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저장·선호·참여 상태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53399ED-EE8B-44F4-88E5-2C9AE464855C}"/>
              </a:ext>
            </a:extLst>
          </p:cNvPr>
          <p:cNvSpPr>
            <a:spLocks noGrp="1"/>
          </p:cNvSpPr>
          <p:nvPr/>
        </p:nvSpPr>
        <p:spPr>
          <a:xfrm>
            <a:off x="6248400" y="48958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관리와 참여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E226E7-FFD4-4694-A8FA-8FE27C4D5180}"/>
              </a:ext>
            </a:extLst>
          </p:cNvPr>
          <p:cNvSpPr>
            <a:spLocks noGrp="1"/>
          </p:cNvSpPr>
          <p:nvPr/>
        </p:nvSpPr>
        <p:spPr>
          <a:xfrm>
            <a:off x="874395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투표·순위는 그대로 못 옮김</a:t>
            </a:r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D98A07A6-7051-402D-8B20-5BD51E351496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91B35D0-9E61-49DA-8340-315B705AC8BC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10401300" cy="438150"/>
          </a:xfrm>
          <a:prstGeom prst="roundRect">
            <a:avLst>
              <a:gd name="adj" fmla="val 19565"/>
            </a:avLst>
          </a:prstGeom>
          <a:solidFill>
            <a:srgbClr val="E8F0FE"/>
          </a:solidFill>
          <a:ln w="0">
            <a:noFill/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6087569-5FB5-46BB-9021-EC9A0B900D1F}"/>
              </a:ext>
            </a:extLst>
          </p:cNvPr>
          <p:cNvSpPr>
            <a:spLocks noGrp="1"/>
          </p:cNvSpPr>
          <p:nvPr/>
        </p:nvSpPr>
        <p:spPr>
          <a:xfrm>
            <a:off x="971550" y="57721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전이 기준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47EFA9-1743-45A0-86C2-FCBB1D5CA033}"/>
              </a:ext>
            </a:extLst>
          </p:cNvPr>
          <p:cNvSpPr>
            <a:spLocks noGrp="1"/>
          </p:cNvSpPr>
          <p:nvPr/>
        </p:nvSpPr>
        <p:spPr>
          <a:xfrm>
            <a:off x="1905000" y="574421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어떤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마찰을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어떤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방식으로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줄였는지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분해한다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—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서비스의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정답’은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가져오지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않는다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9083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B7D0965-B0A8-4551-9CF9-61F2D8E3B76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276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CROSS INDUSTRY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9C8668-E38E-413E-973A-EBC79840411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교차산업의 핵심 교훈은 ‘집계보다 균형 있는 비교’다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BF04EE8-5635-4659-A660-53930035124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4B6419-0B52-4547-BF09-BDA03C08293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docs/05-tradeoff-patterns.md · docs/03-evidence-log.md F8~F11 · DOI 10.1177/0272989X211021397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519A93-F89C-46E4-89AA-C2A48724C5D5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B2F94E8-D327-441E-85E4-697B54075251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723E66-8315-4B09-A455-E5D487D9C2D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ORIGINAL · OPTION GRID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C17635-C43F-4259-B34E-6C324E19A1D8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옵션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D5F2483-95D2-4C90-A3F5-2ED1BF4708CB}"/>
              </a:ext>
            </a:extLst>
          </p:cNvPr>
          <p:cNvSpPr>
            <a:spLocks noGrp="1"/>
          </p:cNvSpPr>
          <p:nvPr/>
        </p:nvSpPr>
        <p:spPr>
          <a:xfrm>
            <a:off x="22098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07C5DB-C1A2-4B1B-A60F-EA5424CBE0B9}"/>
              </a:ext>
            </a:extLst>
          </p:cNvPr>
          <p:cNvSpPr>
            <a:spLocks noGrp="1"/>
          </p:cNvSpPr>
          <p:nvPr/>
        </p:nvSpPr>
        <p:spPr>
          <a:xfrm>
            <a:off x="22098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A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F44210-6422-46D4-BCD7-916CC55F8298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7B6166-1C60-46A6-AD4D-3688A2D6DBE2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B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134320-9D4D-4E1F-B035-0571F57CA666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EADF759-A8D6-4827-AD8C-34252D5198E3}"/>
              </a:ext>
            </a:extLst>
          </p:cNvPr>
          <p:cNvSpPr>
            <a:spLocks noGrp="1"/>
          </p:cNvSpPr>
          <p:nvPr/>
        </p:nvSpPr>
        <p:spPr>
          <a:xfrm>
            <a:off x="22098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8B0EBE8-1711-4B1F-96CE-82CE4C9B3073}"/>
              </a:ext>
            </a:extLst>
          </p:cNvPr>
          <p:cNvSpPr>
            <a:spLocks noGrp="1"/>
          </p:cNvSpPr>
          <p:nvPr/>
        </p:nvSpPr>
        <p:spPr>
          <a:xfrm>
            <a:off x="35623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CB1553-EDA1-44B0-867F-8DFB0928A91C}"/>
              </a:ext>
            </a:extLst>
          </p:cNvPr>
          <p:cNvSpPr>
            <a:spLocks noGrp="1"/>
          </p:cNvSpPr>
          <p:nvPr/>
        </p:nvSpPr>
        <p:spPr>
          <a:xfrm>
            <a:off x="10477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거리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C06C898-3506-4393-9356-690969ED454D}"/>
              </a:ext>
            </a:extLst>
          </p:cNvPr>
          <p:cNvSpPr>
            <a:spLocks noGrp="1"/>
          </p:cNvSpPr>
          <p:nvPr/>
        </p:nvSpPr>
        <p:spPr>
          <a:xfrm>
            <a:off x="22098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90D2A3C-852B-46AF-90B5-46E65DE2261F}"/>
              </a:ext>
            </a:extLst>
          </p:cNvPr>
          <p:cNvSpPr>
            <a:spLocks noGrp="1"/>
          </p:cNvSpPr>
          <p:nvPr/>
        </p:nvSpPr>
        <p:spPr>
          <a:xfrm>
            <a:off x="35623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967B31-7D86-4741-8C82-5FBB2DB9CC14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9D9F34A-D9AF-4BA8-9DF2-08D4140A847C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BD5D76-AD19-41D9-9E76-442E7B626DF2}"/>
              </a:ext>
            </a:extLst>
          </p:cNvPr>
          <p:cNvSpPr>
            <a:spLocks noGrp="1"/>
          </p:cNvSpPr>
          <p:nvPr/>
        </p:nvSpPr>
        <p:spPr>
          <a:xfrm>
            <a:off x="35623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99169C-5319-4C5B-968E-95D6147262BF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F8BC1DE-D4DA-4E15-9FF5-FD3EF1119E61}"/>
              </a:ext>
            </a:extLst>
          </p:cNvPr>
          <p:cNvSpPr>
            <a:spLocks noGrp="1"/>
          </p:cNvSpPr>
          <p:nvPr/>
        </p:nvSpPr>
        <p:spPr>
          <a:xfrm>
            <a:off x="22098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DC2837E-65D7-4B91-A03F-17149B22F0F2}"/>
              </a:ext>
            </a:extLst>
          </p:cNvPr>
          <p:cNvSpPr>
            <a:spLocks noGrp="1"/>
          </p:cNvSpPr>
          <p:nvPr/>
        </p:nvSpPr>
        <p:spPr>
          <a:xfrm>
            <a:off x="35623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48B2E9-FC95-497D-8F19-89886AA7C17D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40개 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연구</a:t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중 28개가 side-by-side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C11A011-988F-45D8-BC59-9DF8398A16B9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균형 인식 70~96% · 부동산 효과 전이는 추론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D44F7507-7B0C-493D-9A97-F8F2CCFD89D7}"/>
              </a:ext>
            </a:extLst>
          </p:cNvPr>
          <p:cNvSpPr>
            <a:spLocks noGrp="1"/>
          </p:cNvSpPr>
          <p:nvPr/>
        </p:nvSpPr>
        <p:spPr>
          <a:xfrm>
            <a:off x="5753100" y="3286125"/>
            <a:ext cx="68580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849B4C3-758D-42A3-A286-A0B3A2BAE178}"/>
              </a:ext>
            </a:extLst>
          </p:cNvPr>
          <p:cNvSpPr>
            <a:spLocks noGrp="1"/>
          </p:cNvSpPr>
          <p:nvPr/>
        </p:nvSpPr>
        <p:spPr>
          <a:xfrm>
            <a:off x="5715000" y="3667125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형식·균형</a:t>
            </a:r>
          </a:p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원칙만 전이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0C3EB5B-03E7-4A36-9D7C-2E20C5E76038}"/>
              </a:ext>
            </a:extLst>
          </p:cNvPr>
          <p:cNvSpPr>
            <a:spLocks noGrp="1"/>
          </p:cNvSpPr>
          <p:nvPr/>
        </p:nvSpPr>
        <p:spPr>
          <a:xfrm>
            <a:off x="66294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9143198-6194-4B8C-ADD6-E1C66ACCF3B2}"/>
              </a:ext>
            </a:extLst>
          </p:cNvPr>
          <p:cNvSpPr>
            <a:spLocks noGrp="1"/>
          </p:cNvSpPr>
          <p:nvPr/>
        </p:nvSpPr>
        <p:spPr>
          <a:xfrm>
            <a:off x="6838950" y="18383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ADAPTED · JOINT HOUSING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D7C1863-3CD1-4517-9283-728994F71D9C}"/>
              </a:ext>
            </a:extLst>
          </p:cNvPr>
          <p:cNvSpPr>
            <a:spLocks noGrp="1"/>
          </p:cNvSpPr>
          <p:nvPr/>
        </p:nvSpPr>
        <p:spPr>
          <a:xfrm>
            <a:off x="6838950" y="2171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사람 · 행 = 조건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E78C86E-BE2E-4903-90D9-6AE4F77166E3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A18DC48-FC7B-404D-9612-58E3CA1B2F89}"/>
              </a:ext>
            </a:extLst>
          </p:cNvPr>
          <p:cNvSpPr>
            <a:spLocks noGrp="1"/>
          </p:cNvSpPr>
          <p:nvPr/>
        </p:nvSpPr>
        <p:spPr>
          <a:xfrm>
            <a:off x="81153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60B0D39-B34B-48E8-A894-1460A6E5C88F}"/>
              </a:ext>
            </a:extLst>
          </p:cNvPr>
          <p:cNvSpPr>
            <a:spLocks noGrp="1"/>
          </p:cNvSpPr>
          <p:nvPr/>
        </p:nvSpPr>
        <p:spPr>
          <a:xfrm>
            <a:off x="94678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A9AA262-66C9-45DB-998A-78D52BF7C88D}"/>
              </a:ext>
            </a:extLst>
          </p:cNvPr>
          <p:cNvSpPr>
            <a:spLocks noGrp="1"/>
          </p:cNvSpPr>
          <p:nvPr/>
        </p:nvSpPr>
        <p:spPr>
          <a:xfrm>
            <a:off x="94678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BE68378-416A-4733-A58E-19B93B1E0045}"/>
              </a:ext>
            </a:extLst>
          </p:cNvPr>
          <p:cNvSpPr>
            <a:spLocks noGrp="1"/>
          </p:cNvSpPr>
          <p:nvPr/>
        </p:nvSpPr>
        <p:spPr>
          <a:xfrm>
            <a:off x="69532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A1240F8-4574-42C4-86D4-6C76F9918C7B}"/>
              </a:ext>
            </a:extLst>
          </p:cNvPr>
          <p:cNvSpPr>
            <a:spLocks noGrp="1"/>
          </p:cNvSpPr>
          <p:nvPr/>
        </p:nvSpPr>
        <p:spPr>
          <a:xfrm>
            <a:off x="81153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BB3FF5B-6FCC-45C7-86A0-7A0F7723E2E7}"/>
              </a:ext>
            </a:extLst>
          </p:cNvPr>
          <p:cNvSpPr>
            <a:spLocks noGrp="1"/>
          </p:cNvSpPr>
          <p:nvPr/>
        </p:nvSpPr>
        <p:spPr>
          <a:xfrm>
            <a:off x="811530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72816E3-3873-4F52-8C0A-20C427208BAF}"/>
              </a:ext>
            </a:extLst>
          </p:cNvPr>
          <p:cNvSpPr>
            <a:spLocks noGrp="1"/>
          </p:cNvSpPr>
          <p:nvPr/>
        </p:nvSpPr>
        <p:spPr>
          <a:xfrm>
            <a:off x="94678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12853B6-65B8-4E8D-BAB5-4457749A1FA1}"/>
              </a:ext>
            </a:extLst>
          </p:cNvPr>
          <p:cNvSpPr>
            <a:spLocks noGrp="1"/>
          </p:cNvSpPr>
          <p:nvPr/>
        </p:nvSpPr>
        <p:spPr>
          <a:xfrm>
            <a:off x="946785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63069CE-49CC-48E9-8871-E201F2BEC91C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7453F12-1A16-48CF-92FF-23EE76741C80}"/>
              </a:ext>
            </a:extLst>
          </p:cNvPr>
          <p:cNvSpPr>
            <a:spLocks noGrp="1"/>
          </p:cNvSpPr>
          <p:nvPr/>
        </p:nvSpPr>
        <p:spPr>
          <a:xfrm>
            <a:off x="81153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CC5B92-77EF-43E6-9AAC-5012682834E2}"/>
              </a:ext>
            </a:extLst>
          </p:cNvPr>
          <p:cNvSpPr>
            <a:spLocks noGrp="1"/>
          </p:cNvSpPr>
          <p:nvPr/>
        </p:nvSpPr>
        <p:spPr>
          <a:xfrm>
            <a:off x="811530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+13분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06F9C2B-674C-4A0A-84D7-96DE5A953480}"/>
              </a:ext>
            </a:extLst>
          </p:cNvPr>
          <p:cNvSpPr>
            <a:spLocks noGrp="1"/>
          </p:cNvSpPr>
          <p:nvPr/>
        </p:nvSpPr>
        <p:spPr>
          <a:xfrm>
            <a:off x="94678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BA784B8-DF08-425A-BDA8-D5116389E285}"/>
              </a:ext>
            </a:extLst>
          </p:cNvPr>
          <p:cNvSpPr>
            <a:spLocks noGrp="1"/>
          </p:cNvSpPr>
          <p:nvPr/>
        </p:nvSpPr>
        <p:spPr>
          <a:xfrm>
            <a:off x="946785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5AA7305-D57D-45AE-8447-4F4CA0672BFA}"/>
              </a:ext>
            </a:extLst>
          </p:cNvPr>
          <p:cNvSpPr>
            <a:spLocks noGrp="1"/>
          </p:cNvSpPr>
          <p:nvPr/>
        </p:nvSpPr>
        <p:spPr>
          <a:xfrm>
            <a:off x="69532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B21EDAB-3E08-478D-9A17-3DA40E77F146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0E62D6B-B8C7-47C4-ACCA-B7AE927F86DB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054FE4BF-AE38-404E-98FA-DDA189CB40C8}"/>
              </a:ext>
            </a:extLst>
          </p:cNvPr>
          <p:cNvSpPr>
            <a:spLocks noGrp="1"/>
          </p:cNvSpPr>
          <p:nvPr/>
        </p:nvSpPr>
        <p:spPr>
          <a:xfrm>
            <a:off x="94678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FB8799C-4189-4047-9B78-88BFAA0AD63F}"/>
              </a:ext>
            </a:extLst>
          </p:cNvPr>
          <p:cNvSpPr>
            <a:spLocks noGrp="1"/>
          </p:cNvSpPr>
          <p:nvPr/>
        </p:nvSpPr>
        <p:spPr>
          <a:xfrm>
            <a:off x="946785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729BB87-4ED1-4C65-A36B-7911000862F1}"/>
              </a:ext>
            </a:extLst>
          </p:cNvPr>
          <p:cNvSpPr>
            <a:spLocks noGrp="1"/>
          </p:cNvSpPr>
          <p:nvPr/>
        </p:nvSpPr>
        <p:spPr>
          <a:xfrm>
            <a:off x="69532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B64F5BB-1CC2-4D3B-9945-534950429555}"/>
              </a:ext>
            </a:extLst>
          </p:cNvPr>
          <p:cNvSpPr>
            <a:spLocks noGrp="1"/>
          </p:cNvSpPr>
          <p:nvPr/>
        </p:nvSpPr>
        <p:spPr>
          <a:xfrm>
            <a:off x="81153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49D0DCD-704F-40D9-B139-13B6CB4A7125}"/>
              </a:ext>
            </a:extLst>
          </p:cNvPr>
          <p:cNvSpPr>
            <a:spLocks noGrp="1"/>
          </p:cNvSpPr>
          <p:nvPr/>
        </p:nvSpPr>
        <p:spPr>
          <a:xfrm>
            <a:off x="811530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5B6DD12-BA35-4733-BC9D-288ACA853287}"/>
              </a:ext>
            </a:extLst>
          </p:cNvPr>
          <p:cNvSpPr>
            <a:spLocks noGrp="1"/>
          </p:cNvSpPr>
          <p:nvPr/>
        </p:nvSpPr>
        <p:spPr>
          <a:xfrm>
            <a:off x="94678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EB2D0D8-9C2D-42B6-A2E6-CA2567151E3E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738F044-29DE-4375-B298-39C1922AD907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763250" cy="419100"/>
          </a:xfrm>
          <a:prstGeom prst="roundRect">
            <a:avLst>
              <a:gd name="adj" fmla="val 1818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AB9ED2B-2265-4DD4-85D2-DBED3F154FEE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1030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총점으로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합치지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 ‘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한쪽만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충족’을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대상으로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유지한다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3526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E19AD0F-07DE-48E6-9104-40E7CD3B7C0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TRANSFER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E11769-BB9B-4171-86DB-CCA54A34F1DB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9882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18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전이할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것은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참여·병렬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비교·설명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’,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변형할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것은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답으로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수렴하는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방식’이다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7EF3BDB-1E38-4BC6-884F-3AB60C9D6BB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B03DEE-2DC8-4D2E-A4BE-4D12699656A3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docs/04-benchmarks.md · docs/05-tradeoff-patterns.md · decisions/0001·0003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AF509E-946F-428A-A2C7-3D4A773B3274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B7D6DE0-843F-4A28-8653-37366E2E5600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D4B9E5D-E857-43A5-BDF3-6F25FB380526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7FA0F6-8CF7-47AE-87ED-9FC956865FBA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3B322D4-27AB-4A97-AC82-598593CC2144}"/>
              </a:ext>
            </a:extLst>
          </p:cNvPr>
          <p:cNvSpPr>
            <a:spLocks noGrp="1"/>
          </p:cNvSpPr>
          <p:nvPr/>
        </p:nvSpPr>
        <p:spPr>
          <a:xfrm>
            <a:off x="65151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변형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38A72C-9D80-4501-B0D5-528AA2A6C0D3}"/>
              </a:ext>
            </a:extLst>
          </p:cNvPr>
          <p:cNvSpPr>
            <a:spLocks noGrp="1"/>
          </p:cNvSpPr>
          <p:nvPr/>
        </p:nvSpPr>
        <p:spPr>
          <a:xfrm>
            <a:off x="9144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기본·코드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보조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1216E0-8748-4017-8392-5ED4240BB015}"/>
              </a:ext>
            </a:extLst>
          </p:cNvPr>
          <p:cNvSpPr>
            <a:spLocks noGrp="1"/>
          </p:cNvSpPr>
          <p:nvPr/>
        </p:nvSpPr>
        <p:spPr>
          <a:xfrm>
            <a:off x="2667000" y="242189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모바일에서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맥락을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먼저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본다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78D979D-F7C4-48A1-AC7F-0959076083F3}"/>
              </a:ext>
            </a:extLst>
          </p:cNvPr>
          <p:cNvSpPr>
            <a:spLocks noGrp="1"/>
          </p:cNvSpPr>
          <p:nvPr/>
        </p:nvSpPr>
        <p:spPr>
          <a:xfrm>
            <a:off x="914400" y="30791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AC276E5-6F5F-416A-A228-07FE54DA411D}"/>
              </a:ext>
            </a:extLst>
          </p:cNvPr>
          <p:cNvSpPr>
            <a:spLocks noGrp="1"/>
          </p:cNvSpPr>
          <p:nvPr/>
        </p:nvSpPr>
        <p:spPr>
          <a:xfrm>
            <a:off x="9144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side-by-side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FCAB63-F745-43FE-8905-C2925F139094}"/>
              </a:ext>
            </a:extLst>
          </p:cNvPr>
          <p:cNvSpPr>
            <a:spLocks noGrp="1"/>
          </p:cNvSpPr>
          <p:nvPr/>
        </p:nvSpPr>
        <p:spPr>
          <a:xfrm>
            <a:off x="2667000" y="32600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블록의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크기·순서·손실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이득을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동일하게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91B4D608-5523-44A7-8E24-C4CBCBBA7CF2}"/>
              </a:ext>
            </a:extLst>
          </p:cNvPr>
          <p:cNvSpPr>
            <a:spLocks noGrp="1"/>
          </p:cNvSpPr>
          <p:nvPr/>
        </p:nvSpPr>
        <p:spPr>
          <a:xfrm>
            <a:off x="914400" y="40316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B051B7-448F-490A-BD1F-02E458E85A97}"/>
              </a:ext>
            </a:extLst>
          </p:cNvPr>
          <p:cNvSpPr>
            <a:spLocks noGrp="1"/>
          </p:cNvSpPr>
          <p:nvPr/>
        </p:nvSpPr>
        <p:spPr>
          <a:xfrm>
            <a:off x="9144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가치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우선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CBBE08-89B1-48FF-ADCF-39D022C401E2}"/>
              </a:ext>
            </a:extLst>
          </p:cNvPr>
          <p:cNvSpPr>
            <a:spLocks noGrp="1"/>
          </p:cNvSpPr>
          <p:nvPr/>
        </p:nvSpPr>
        <p:spPr>
          <a:xfrm>
            <a:off x="2667000" y="42125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통근 → 추가 필수 → 확인 순서 고정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492E8102-5A45-4A9D-B6D7-72893C141004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034B31-ECDF-4E02-82B5-AA60FEEE8A6E}"/>
              </a:ext>
            </a:extLst>
          </p:cNvPr>
          <p:cNvSpPr>
            <a:spLocks noGrp="1"/>
          </p:cNvSpPr>
          <p:nvPr/>
        </p:nvSpPr>
        <p:spPr>
          <a:xfrm>
            <a:off x="65151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옵션</a:t>
            </a:r>
            <a:r>
              <a:rPr sz="14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2B5541-04C2-4BA0-AF40-B95391240CCE}"/>
              </a:ext>
            </a:extLst>
          </p:cNvPr>
          <p:cNvSpPr>
            <a:spLocks noGrp="1"/>
          </p:cNvSpPr>
          <p:nvPr/>
        </p:nvSpPr>
        <p:spPr>
          <a:xfrm>
            <a:off x="7706139" y="2421890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열=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 행=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조건으로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바꿔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한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매물의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대가를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비교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0B68262A-953E-4A40-98C7-B5E18E37BDE7}"/>
              </a:ext>
            </a:extLst>
          </p:cNvPr>
          <p:cNvSpPr>
            <a:spLocks noGrp="1"/>
          </p:cNvSpPr>
          <p:nvPr/>
        </p:nvSpPr>
        <p:spPr>
          <a:xfrm>
            <a:off x="6515100" y="30791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2BDBC9-5729-471E-B202-75D1D60B5662}"/>
              </a:ext>
            </a:extLst>
          </p:cNvPr>
          <p:cNvSpPr>
            <a:spLocks noGrp="1"/>
          </p:cNvSpPr>
          <p:nvPr/>
        </p:nvSpPr>
        <p:spPr>
          <a:xfrm>
            <a:off x="65151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단일 결과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0BE8F1-A706-42EC-930D-BB56CE651484}"/>
              </a:ext>
            </a:extLst>
          </p:cNvPr>
          <p:cNvSpPr>
            <a:spLocks noGrp="1"/>
          </p:cNvSpPr>
          <p:nvPr/>
        </p:nvSpPr>
        <p:spPr>
          <a:xfrm>
            <a:off x="7706139" y="32600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상태만 설명하고 방문 후보 2개는 사용자가 선택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3F3ED5CE-4210-4E40-B5C2-20B6FA8E40CC}"/>
              </a:ext>
            </a:extLst>
          </p:cNvPr>
          <p:cNvSpPr>
            <a:spLocks noGrp="1"/>
          </p:cNvSpPr>
          <p:nvPr/>
        </p:nvSpPr>
        <p:spPr>
          <a:xfrm>
            <a:off x="6515100" y="40316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D84580-4334-4766-A631-1676366036F2}"/>
              </a:ext>
            </a:extLst>
          </p:cNvPr>
          <p:cNvSpPr>
            <a:spLocks noGrp="1"/>
          </p:cNvSpPr>
          <p:nvPr/>
        </p:nvSpPr>
        <p:spPr>
          <a:xfrm>
            <a:off x="65151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개인 rating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9D43E8-289A-4F85-946E-6627547C95F4}"/>
              </a:ext>
            </a:extLst>
          </p:cNvPr>
          <p:cNvSpPr>
            <a:spLocks noGrp="1"/>
          </p:cNvSpPr>
          <p:nvPr/>
        </p:nvSpPr>
        <p:spPr>
          <a:xfrm>
            <a:off x="7706139" y="42125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조건을 사람에게 저장해 새 매물에 재적용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C38A8F6B-FD79-4EA1-9470-867A6C9BFD76}"/>
              </a:ext>
            </a:extLst>
          </p:cNvPr>
          <p:cNvSpPr>
            <a:spLocks noGrp="1"/>
          </p:cNvSpPr>
          <p:nvPr/>
        </p:nvSpPr>
        <p:spPr>
          <a:xfrm>
            <a:off x="6515100" y="494347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08D178F-D910-4283-8057-CDA57FAD4242}"/>
              </a:ext>
            </a:extLst>
          </p:cNvPr>
          <p:cNvSpPr>
            <a:spLocks noGrp="1"/>
          </p:cNvSpPr>
          <p:nvPr/>
        </p:nvSpPr>
        <p:spPr>
          <a:xfrm>
            <a:off x="2971800" y="5886450"/>
            <a:ext cx="62484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B524BC-9D12-4388-9641-803D43896CFA}"/>
              </a:ext>
            </a:extLst>
          </p:cNvPr>
          <p:cNvSpPr>
            <a:spLocks noGrp="1"/>
          </p:cNvSpPr>
          <p:nvPr/>
        </p:nvSpPr>
        <p:spPr>
          <a:xfrm>
            <a:off x="3143250" y="59626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전이는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복제가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작동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원리를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단위에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맞게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바꾸는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일</a:t>
            </a:r>
          </a:p>
        </p:txBody>
      </p:sp>
    </p:spTree>
    <p:extLst>
      <p:ext uri="{BB962C8B-B14F-4D97-AF65-F5344CB8AC3E}">
        <p14:creationId xmlns:p14="http://schemas.microsoft.com/office/powerpoint/2010/main" val="649107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1B007EA-28CD-416C-9D7C-CB867C4EA8D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362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TRANSFER · EXCLUDE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B7EE99-0446-4E7A-B927-62CF28C7883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총점·자동 추천·투표는 결정을 빠르게 보여도 핵심 차이를 지운다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F180D27-C58A-4CBB-A2C7-BB90EBDD73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E741EE-B06E-4DA3-9533-95EC8491B65B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decisions/0001 · decisions/0004 · docs/05-tradeoff-patterns.md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A0428E-7450-4F1B-9EF8-0517F8B0FE9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18A29A7-0C61-4010-9678-E49DC65592FC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A7A279-D27F-4EC4-8B5C-BF1B79545693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83점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E9874F14-F3B8-4807-8611-A583786D4A98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866260-68BC-4A54-A786-5BAB20DFC2E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적합도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657A74-05EC-496C-9779-675B617BA09E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주체가 사라짐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6AEC967-EC70-4653-80BF-CAED27413B65}"/>
              </a:ext>
            </a:extLst>
          </p:cNvPr>
          <p:cNvSpPr>
            <a:spLocks noGrp="1"/>
          </p:cNvSpPr>
          <p:nvPr/>
        </p:nvSpPr>
        <p:spPr>
          <a:xfrm>
            <a:off x="29908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F157C6-E20A-452B-94E6-CAB5C511BFC9}"/>
              </a:ext>
            </a:extLst>
          </p:cNvPr>
          <p:cNvSpPr>
            <a:spLocks noGrp="1"/>
          </p:cNvSpPr>
          <p:nvPr/>
        </p:nvSpPr>
        <p:spPr>
          <a:xfrm>
            <a:off x="31623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1위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4CA7BA45-AE5E-4C92-9579-3D52E878B56D}"/>
              </a:ext>
            </a:extLst>
          </p:cNvPr>
          <p:cNvSpPr>
            <a:spLocks noGrp="1"/>
          </p:cNvSpPr>
          <p:nvPr/>
        </p:nvSpPr>
        <p:spPr>
          <a:xfrm>
            <a:off x="32575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DF851-85EA-4FFE-AE3E-E92EEE88C45E}"/>
              </a:ext>
            </a:extLst>
          </p:cNvPr>
          <p:cNvSpPr>
            <a:spLocks noGrp="1"/>
          </p:cNvSpPr>
          <p:nvPr/>
        </p:nvSpPr>
        <p:spPr>
          <a:xfrm>
            <a:off x="31623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Borda·순위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AC49D4-8302-43F6-A384-416B844F36EE}"/>
              </a:ext>
            </a:extLst>
          </p:cNvPr>
          <p:cNvSpPr>
            <a:spLocks noGrp="1"/>
          </p:cNvSpPr>
          <p:nvPr/>
        </p:nvSpPr>
        <p:spPr>
          <a:xfrm>
            <a:off x="31623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승패 프레임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B03BB6B-6F84-425C-A382-788E1B90909A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E6AB50-3C60-4ADA-8683-94166C3A19C5}"/>
              </a:ext>
            </a:extLst>
          </p:cNvPr>
          <p:cNvSpPr>
            <a:spLocks noGrp="1"/>
          </p:cNvSpPr>
          <p:nvPr/>
        </p:nvSpPr>
        <p:spPr>
          <a:xfrm>
            <a:off x="54102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AI PICK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87333624-E072-491D-840E-32DE105D6820}"/>
              </a:ext>
            </a:extLst>
          </p:cNvPr>
          <p:cNvSpPr>
            <a:spLocks noGrp="1"/>
          </p:cNvSpPr>
          <p:nvPr/>
        </p:nvSpPr>
        <p:spPr>
          <a:xfrm>
            <a:off x="55054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17E916-0B57-4B16-BC73-6B2D2B034654}"/>
              </a:ext>
            </a:extLst>
          </p:cNvPr>
          <p:cNvSpPr>
            <a:spLocks noGrp="1"/>
          </p:cNvSpPr>
          <p:nvPr/>
        </p:nvSpPr>
        <p:spPr>
          <a:xfrm>
            <a:off x="54102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최적 타협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F1144F-DCF6-4AA1-826C-79A997D98A55}"/>
              </a:ext>
            </a:extLst>
          </p:cNvPr>
          <p:cNvSpPr>
            <a:spLocks noGrp="1"/>
          </p:cNvSpPr>
          <p:nvPr/>
        </p:nvSpPr>
        <p:spPr>
          <a:xfrm>
            <a:off x="54102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가치 판단을 대행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32001A19-A74F-4E94-B22E-0C4F0DBE2CD5}"/>
              </a:ext>
            </a:extLst>
          </p:cNvPr>
          <p:cNvSpPr>
            <a:spLocks noGrp="1"/>
          </p:cNvSpPr>
          <p:nvPr/>
        </p:nvSpPr>
        <p:spPr>
          <a:xfrm>
            <a:off x="7543800" y="2247900"/>
            <a:ext cx="74295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76EBD74-1F2A-478F-A1E0-BC943BD22FFD}"/>
              </a:ext>
            </a:extLst>
          </p:cNvPr>
          <p:cNvSpPr>
            <a:spLocks noGrp="1"/>
          </p:cNvSpPr>
          <p:nvPr/>
        </p:nvSpPr>
        <p:spPr>
          <a:xfrm>
            <a:off x="8515350" y="1581150"/>
            <a:ext cx="2971800" cy="1714500"/>
          </a:xfrm>
          <a:prstGeom prst="roundRect">
            <a:avLst>
              <a:gd name="adj" fmla="val 888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046364-A653-43A9-A98E-FC98C51EEFDB}"/>
              </a:ext>
            </a:extLst>
          </p:cNvPr>
          <p:cNvSpPr>
            <a:spLocks noGrp="1"/>
          </p:cNvSpPr>
          <p:nvPr/>
        </p:nvSpPr>
        <p:spPr>
          <a:xfrm>
            <a:off x="8743950" y="17907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대신 유지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B13BB2-26D0-41C6-BD7C-182522281533}"/>
              </a:ext>
            </a:extLst>
          </p:cNvPr>
          <p:cNvSpPr>
            <a:spLocks noGrp="1"/>
          </p:cNvSpPr>
          <p:nvPr/>
        </p:nvSpPr>
        <p:spPr>
          <a:xfrm>
            <a:off x="8743950" y="20859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+13분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7E65D5-B908-4EF8-A707-A5240A815411}"/>
              </a:ext>
            </a:extLst>
          </p:cNvPr>
          <p:cNvSpPr>
            <a:spLocks noGrp="1"/>
          </p:cNvSpPr>
          <p:nvPr/>
        </p:nvSpPr>
        <p:spPr>
          <a:xfrm>
            <a:off x="8743950" y="248602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A889928-9A58-44BB-90FE-73B0B16BDA8D}"/>
              </a:ext>
            </a:extLst>
          </p:cNvPr>
          <p:cNvSpPr>
            <a:spLocks noGrp="1"/>
          </p:cNvSpPr>
          <p:nvPr/>
        </p:nvSpPr>
        <p:spPr>
          <a:xfrm>
            <a:off x="8743950" y="28670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실제값</a:t>
            </a:r>
            <a:r>
              <a:rPr sz="10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기준값</a:t>
            </a:r>
            <a:r>
              <a:rPr sz="10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미달량</a:t>
            </a:r>
            <a:endParaRPr sz="105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6AFC29-7C52-4813-9B08-09890E4AC406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Least Misery 탈락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407ED3-AC99-4A95-975C-99352A9D212E}"/>
              </a:ext>
            </a:extLst>
          </p:cNvPr>
          <p:cNvSpPr>
            <a:spLocks noGrp="1"/>
          </p:cNvSpPr>
          <p:nvPr/>
        </p:nvSpPr>
        <p:spPr>
          <a:xfrm>
            <a:off x="3543300" y="37147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한쪽만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충족을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설명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대상으로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유지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BF778DCE-5D2E-4FB3-8E6C-2F27A05C095C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AFD9441-F9AE-474C-917D-F4CE5A7AF947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투표·순위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B6456D-C7EF-4B87-8B12-D71AD4588955}"/>
              </a:ext>
            </a:extLst>
          </p:cNvPr>
          <p:cNvSpPr>
            <a:spLocks noGrp="1"/>
          </p:cNvSpPr>
          <p:nvPr/>
        </p:nvSpPr>
        <p:spPr>
          <a:xfrm>
            <a:off x="3543300" y="42291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각자 2개 선택 → 겹침·분할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617FD7EB-3351-4443-9DDC-DFE1F3ACF013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ED440D-3739-41C6-936A-627BB74945B3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아이소크론 후보 생성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21B4C9A-A2F9-485A-8829-CF5DAB172817}"/>
              </a:ext>
            </a:extLst>
          </p:cNvPr>
          <p:cNvSpPr>
            <a:spLocks noGrp="1"/>
          </p:cNvSpPr>
          <p:nvPr/>
        </p:nvSpPr>
        <p:spPr>
          <a:xfrm>
            <a:off x="3543300" y="47434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출근지는 판정 조건 중 하나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B7BD78D2-DF5D-4445-BC00-6713B2C28EAE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55EAA1-C43B-4A30-96C1-B4E62CDA6429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평가적 사진 강조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A851AF8-E902-4DFA-9C0B-A67BF6A51110}"/>
              </a:ext>
            </a:extLst>
          </p:cNvPr>
          <p:cNvSpPr>
            <a:spLocks noGrp="1"/>
          </p:cNvSpPr>
          <p:nvPr/>
        </p:nvSpPr>
        <p:spPr>
          <a:xfrm>
            <a:off x="3543300" y="52578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식별 수준만 · 노출 범위 TBD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829EE85-B58B-4CD5-9EEF-55AE0A18D121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198C816-9E32-48FE-9E76-BB2B61E037AA}"/>
              </a:ext>
            </a:extLst>
          </p:cNvPr>
          <p:cNvSpPr>
            <a:spLocks noGrp="1"/>
          </p:cNvSpPr>
          <p:nvPr/>
        </p:nvSpPr>
        <p:spPr>
          <a:xfrm>
            <a:off x="9906000" y="5400675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사진 TBD</a:t>
            </a:r>
          </a:p>
        </p:txBody>
      </p:sp>
    </p:spTree>
    <p:extLst>
      <p:ext uri="{BB962C8B-B14F-4D97-AF65-F5344CB8AC3E}">
        <p14:creationId xmlns:p14="http://schemas.microsoft.com/office/powerpoint/2010/main" val="1764460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BC34129-8F5F-4BC5-865C-827F0753429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294338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VALUE PROPOSITION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113F86-1F38-435F-B164-00B7EBF08B5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둘이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납득할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정한다</a:t>
            </a:r>
            <a:endParaRPr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3F4D29D-F984-4B21-842D-0F4F4A99906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385044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23544F-F7B5-4A0B-8E49-F45A2315F0C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BFD0C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BFD0C5"/>
                </a:solidFill>
                <a:latin typeface="Noto Sans KR"/>
                <a:ea typeface="Noto Sans KR"/>
                <a:cs typeface="Noto Sans KR"/>
              </a:rPr>
              <a:t>Source: value-proposition_20260820.md · PRD §7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FB79C0-205B-471E-8B57-B054FD9070A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66C5CF-3C89-4DED-941D-C836A5529045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def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B6747F-92D2-4D6A-A0DE-2A8A13FC3A40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91059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살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구하는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두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사람이</a:t>
            </a:r>
            <a:endParaRPr sz="255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한눈에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확인하고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서로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납득할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결정하도록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돕는다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2EB63D4-F630-4FD3-A1EE-DBACE7663572}"/>
              </a:ext>
            </a:extLst>
          </p:cNvPr>
          <p:cNvSpPr>
            <a:spLocks noGrp="1"/>
          </p:cNvSpPr>
          <p:nvPr/>
        </p:nvSpPr>
        <p:spPr>
          <a:xfrm>
            <a:off x="11811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2F3016-C615-4064-A23A-42E730D6E6A1}"/>
              </a:ext>
            </a:extLst>
          </p:cNvPr>
          <p:cNvSpPr>
            <a:spLocks noGrp="1"/>
          </p:cNvSpPr>
          <p:nvPr/>
        </p:nvSpPr>
        <p:spPr>
          <a:xfrm>
            <a:off x="13525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충돌</a:t>
            </a:r>
            <a:endParaRPr sz="1425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3784A18-E9EA-4B5B-9B66-6F77D7C0A3E6}"/>
              </a:ext>
            </a:extLst>
          </p:cNvPr>
          <p:cNvSpPr>
            <a:spLocks noGrp="1"/>
          </p:cNvSpPr>
          <p:nvPr/>
        </p:nvSpPr>
        <p:spPr>
          <a:xfrm>
            <a:off x="13525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누구의</a:t>
            </a:r>
            <a:r>
              <a:rPr sz="1050" b="0" dirty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무엇이</a:t>
            </a:r>
            <a:r>
              <a:rPr sz="1050" b="0" dirty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어긋나는가</a:t>
            </a:r>
            <a:endParaRPr sz="1050" b="0" dirty="0">
              <a:solidFill>
                <a:srgbClr val="CFDB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E1C3901-70CD-41F1-8729-C194E4B82BC3}"/>
              </a:ext>
            </a:extLst>
          </p:cNvPr>
          <p:cNvSpPr>
            <a:spLocks noGrp="1"/>
          </p:cNvSpPr>
          <p:nvPr/>
        </p:nvSpPr>
        <p:spPr>
          <a:xfrm>
            <a:off x="41338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22C740E-E3B2-4EEE-8652-335BCBF15B0B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94338"/>
          </a:solidFill>
          <a:ln w="9525">
            <a:solidFill>
              <a:srgbClr val="385044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EB390D-B3A0-4328-9262-4AC9FF980A94}"/>
              </a:ext>
            </a:extLst>
          </p:cNvPr>
          <p:cNvSpPr>
            <a:spLocks noGrp="1"/>
          </p:cNvSpPr>
          <p:nvPr/>
        </p:nvSpPr>
        <p:spPr>
          <a:xfrm>
            <a:off x="47434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양보 지점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FD1A8E-3080-4194-8362-FF4E1D855EBC}"/>
              </a:ext>
            </a:extLst>
          </p:cNvPr>
          <p:cNvSpPr>
            <a:spLocks noGrp="1"/>
          </p:cNvSpPr>
          <p:nvPr/>
        </p:nvSpPr>
        <p:spPr>
          <a:xfrm>
            <a:off x="47434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무엇을 얼마나 감수하는가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03C873A-9EEE-4F7C-84C8-FB7720083913}"/>
              </a:ext>
            </a:extLst>
          </p:cNvPr>
          <p:cNvSpPr>
            <a:spLocks noGrp="1"/>
          </p:cNvSpPr>
          <p:nvPr/>
        </p:nvSpPr>
        <p:spPr>
          <a:xfrm>
            <a:off x="75247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BDBA7C2-72F1-4E38-B4F3-FBAE876A5D94}"/>
              </a:ext>
            </a:extLst>
          </p:cNvPr>
          <p:cNvSpPr>
            <a:spLocks noGrp="1"/>
          </p:cNvSpPr>
          <p:nvPr/>
        </p:nvSpPr>
        <p:spPr>
          <a:xfrm>
            <a:off x="79629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6D5711-6C55-4E84-BFBA-6CE19785E095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AA3ADE-641B-4B9C-96BD-BEF2FC9A3BB9}"/>
              </a:ext>
            </a:extLst>
          </p:cNvPr>
          <p:cNvSpPr>
            <a:spLocks noGrp="1"/>
          </p:cNvSpPr>
          <p:nvPr/>
        </p:nvSpPr>
        <p:spPr>
          <a:xfrm>
            <a:off x="81343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알고도 둘이 선택하는가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1D2C0A-A37D-404F-A670-8B8B2D8ADFAA}"/>
              </a:ext>
            </a:extLst>
          </p:cNvPr>
          <p:cNvSpPr>
            <a:spLocks noGrp="1"/>
          </p:cNvSpPr>
          <p:nvPr/>
        </p:nvSpPr>
        <p:spPr>
          <a:xfrm>
            <a:off x="1809750" y="5715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Short VP  ·  각자의 조건과 양보 지점을 보고, 함께 보러 갈 집을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389870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5F2CBAF-5011-477A-AF63-593373D6A7B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54A5A5-520E-4A0C-97F4-F493ADB611D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5개를 ‘정답 1개’가 아니라 ‘방문 후보 2개’로 바꾸는 과정이다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B58036A-7342-40C9-962A-BDAD8486C16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5F6273-F735-4EAF-A837-4A12415CE39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docs/11-decision-status.md · docs/08-screen-design.md · decisions/0003·0004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324768-9C87-4C97-A96C-6B254CECABD3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0F8310D-530E-4C41-A9A4-6A3FBD42491D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A80ED5D-C8E6-46E7-9281-E8C8472F252B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7DB27A30-B8A2-47A8-849F-FD3F7CAA2552}"/>
              </a:ext>
            </a:extLst>
          </p:cNvPr>
          <p:cNvSpPr>
            <a:spLocks noGrp="1"/>
          </p:cNvSpPr>
          <p:nvPr/>
        </p:nvSpPr>
        <p:spPr>
          <a:xfrm>
            <a:off x="828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64C9C8-60AD-43BD-B173-7B1A71D9D045}"/>
              </a:ext>
            </a:extLst>
          </p:cNvPr>
          <p:cNvSpPr>
            <a:spLocks noGrp="1"/>
          </p:cNvSpPr>
          <p:nvPr/>
        </p:nvSpPr>
        <p:spPr>
          <a:xfrm>
            <a:off x="14097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C03F084-DCDE-42CF-B0D9-C96CED174428}"/>
              </a:ext>
            </a:extLst>
          </p:cNvPr>
          <p:cNvSpPr>
            <a:spLocks noGrp="1"/>
          </p:cNvSpPr>
          <p:nvPr/>
        </p:nvSpPr>
        <p:spPr>
          <a:xfrm>
            <a:off x="14859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D8CE6A05-F0EF-4350-8597-D4EA7F4C3507}"/>
              </a:ext>
            </a:extLst>
          </p:cNvPr>
          <p:cNvSpPr>
            <a:spLocks noGrp="1"/>
          </p:cNvSpPr>
          <p:nvPr/>
        </p:nvSpPr>
        <p:spPr>
          <a:xfrm>
            <a:off x="14954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67626CD-402D-4609-A1BA-523F238676C5}"/>
              </a:ext>
            </a:extLst>
          </p:cNvPr>
          <p:cNvSpPr>
            <a:spLocks noGrp="1"/>
          </p:cNvSpPr>
          <p:nvPr/>
        </p:nvSpPr>
        <p:spPr>
          <a:xfrm>
            <a:off x="20764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1D3D4ED-0794-4A68-BF15-5D105D50E334}"/>
              </a:ext>
            </a:extLst>
          </p:cNvPr>
          <p:cNvSpPr>
            <a:spLocks noGrp="1"/>
          </p:cNvSpPr>
          <p:nvPr/>
        </p:nvSpPr>
        <p:spPr>
          <a:xfrm>
            <a:off x="21526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2F34851A-2562-4853-A007-75E2012856A0}"/>
              </a:ext>
            </a:extLst>
          </p:cNvPr>
          <p:cNvSpPr>
            <a:spLocks noGrp="1"/>
          </p:cNvSpPr>
          <p:nvPr/>
        </p:nvSpPr>
        <p:spPr>
          <a:xfrm>
            <a:off x="21621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CCE234F-BA68-4660-8C3F-CD3743FFF47C}"/>
              </a:ext>
            </a:extLst>
          </p:cNvPr>
          <p:cNvSpPr>
            <a:spLocks noGrp="1"/>
          </p:cNvSpPr>
          <p:nvPr/>
        </p:nvSpPr>
        <p:spPr>
          <a:xfrm>
            <a:off x="27432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E45693-7654-42E0-A91A-09C44C013E08}"/>
              </a:ext>
            </a:extLst>
          </p:cNvPr>
          <p:cNvSpPr>
            <a:spLocks noGrp="1"/>
          </p:cNvSpPr>
          <p:nvPr/>
        </p:nvSpPr>
        <p:spPr>
          <a:xfrm>
            <a:off x="28194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1F939EB-6F05-4E08-BCFB-8266B4814553}"/>
              </a:ext>
            </a:extLst>
          </p:cNvPr>
          <p:cNvSpPr>
            <a:spLocks noGrp="1"/>
          </p:cNvSpPr>
          <p:nvPr/>
        </p:nvSpPr>
        <p:spPr>
          <a:xfrm>
            <a:off x="28289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131BF5C-26B7-4E87-84FD-B26D6873145C}"/>
              </a:ext>
            </a:extLst>
          </p:cNvPr>
          <p:cNvSpPr>
            <a:spLocks noGrp="1"/>
          </p:cNvSpPr>
          <p:nvPr/>
        </p:nvSpPr>
        <p:spPr>
          <a:xfrm>
            <a:off x="3409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0522D17-D2B6-44EE-95C4-AC21256A3854}"/>
              </a:ext>
            </a:extLst>
          </p:cNvPr>
          <p:cNvSpPr>
            <a:spLocks noGrp="1"/>
          </p:cNvSpPr>
          <p:nvPr/>
        </p:nvSpPr>
        <p:spPr>
          <a:xfrm>
            <a:off x="3486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2233F965-041F-44E2-8696-AD6394AE93E1}"/>
              </a:ext>
            </a:extLst>
          </p:cNvPr>
          <p:cNvSpPr>
            <a:spLocks noGrp="1"/>
          </p:cNvSpPr>
          <p:nvPr/>
        </p:nvSpPr>
        <p:spPr>
          <a:xfrm>
            <a:off x="3495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AC56D8C-FFB0-4BF2-BF5A-CDF4F42A04BF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최대 5개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9FBDDB7-08BA-4D51-95BF-D0C0EA518169}"/>
              </a:ext>
            </a:extLst>
          </p:cNvPr>
          <p:cNvSpPr>
            <a:spLocks noGrp="1"/>
          </p:cNvSpPr>
          <p:nvPr/>
        </p:nvSpPr>
        <p:spPr>
          <a:xfrm>
            <a:off x="41529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E1B299C-F435-4FD1-B6AF-F5C806C8EE2C}"/>
              </a:ext>
            </a:extLst>
          </p:cNvPr>
          <p:cNvSpPr>
            <a:spLocks noGrp="1"/>
          </p:cNvSpPr>
          <p:nvPr/>
        </p:nvSpPr>
        <p:spPr>
          <a:xfrm>
            <a:off x="5067300" y="1619250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1980CC2-9B4A-468E-9DBA-5575250B54B0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100965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BEBD065-C339-4F61-B176-FADE54F5CA60}"/>
              </a:ext>
            </a:extLst>
          </p:cNvPr>
          <p:cNvSpPr>
            <a:spLocks noGrp="1"/>
          </p:cNvSpPr>
          <p:nvPr/>
        </p:nvSpPr>
        <p:spPr>
          <a:xfrm>
            <a:off x="5276850" y="22479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6E2F9930-385B-4759-9540-1A5F75D38449}"/>
              </a:ext>
            </a:extLst>
          </p:cNvPr>
          <p:cNvSpPr>
            <a:spLocks noGrp="1"/>
          </p:cNvSpPr>
          <p:nvPr/>
        </p:nvSpPr>
        <p:spPr>
          <a:xfrm>
            <a:off x="58483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15B6E7-9E92-4ADF-BEB7-BDA062FBC611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여부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054E363-FEBC-4A99-A529-D2EBF30C9C21}"/>
              </a:ext>
            </a:extLst>
          </p:cNvPr>
          <p:cNvSpPr>
            <a:spLocks noGrp="1"/>
          </p:cNvSpPr>
          <p:nvPr/>
        </p:nvSpPr>
        <p:spPr>
          <a:xfrm>
            <a:off x="72199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0DAF73-7AFB-4B7F-B185-2F57C7109A69}"/>
              </a:ext>
            </a:extLst>
          </p:cNvPr>
          <p:cNvSpPr>
            <a:spLocks noGrp="1"/>
          </p:cNvSpPr>
          <p:nvPr/>
        </p:nvSpPr>
        <p:spPr>
          <a:xfrm>
            <a:off x="7734300" y="2171700"/>
            <a:ext cx="97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11"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2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시 </a:t>
            </a: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출근지·이동수단</a:t>
            </a:r>
            <a:endParaRPr sz="12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8DEF7177-9B3B-4ED6-8CE9-52052CD4BFF3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33909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DDC76E4-EBC7-4AF0-92F3-68FCC5D7E845}"/>
              </a:ext>
            </a:extLst>
          </p:cNvPr>
          <p:cNvSpPr>
            <a:spLocks noGrp="1"/>
          </p:cNvSpPr>
          <p:nvPr/>
        </p:nvSpPr>
        <p:spPr>
          <a:xfrm>
            <a:off x="5276850" y="2876550"/>
            <a:ext cx="3390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결과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후  · 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추가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필수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0~4 ·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선호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0~3 ·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필요</a:t>
            </a:r>
            <a:endParaRPr sz="12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575A28F3-A422-4EC0-8B95-8AFDE0B5AB27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B0B8F83-D385-4B2D-84B2-4A628C33B468}"/>
              </a:ext>
            </a:extLst>
          </p:cNvPr>
          <p:cNvSpPr>
            <a:spLocks noGrp="1"/>
          </p:cNvSpPr>
          <p:nvPr/>
        </p:nvSpPr>
        <p:spPr>
          <a:xfrm>
            <a:off x="998220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0AE8B61-E233-4419-90EC-1264FDBCBA14}"/>
              </a:ext>
            </a:extLst>
          </p:cNvPr>
          <p:cNvSpPr>
            <a:spLocks noGrp="1"/>
          </p:cNvSpPr>
          <p:nvPr/>
        </p:nvSpPr>
        <p:spPr>
          <a:xfrm>
            <a:off x="1007745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 1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07C3DF7-8F95-4A9D-A467-0FF6C4A700B7}"/>
              </a:ext>
            </a:extLst>
          </p:cNvPr>
          <p:cNvSpPr>
            <a:spLocks noGrp="1"/>
          </p:cNvSpPr>
          <p:nvPr/>
        </p:nvSpPr>
        <p:spPr>
          <a:xfrm>
            <a:off x="1102995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291C9E8-D615-40B1-9F13-1FFD0F782938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2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636243F-C9A7-40F0-982C-2DC24F9E6DEE}"/>
              </a:ext>
            </a:extLst>
          </p:cNvPr>
          <p:cNvSpPr>
            <a:spLocks noGrp="1"/>
          </p:cNvSpPr>
          <p:nvPr/>
        </p:nvSpPr>
        <p:spPr>
          <a:xfrm>
            <a:off x="831710" y="3905251"/>
            <a:ext cx="10744200" cy="1409700"/>
          </a:xfrm>
          <a:prstGeom prst="roundRect">
            <a:avLst>
              <a:gd name="adj" fmla="val 108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B62FCFD-800A-4D7C-AFF6-1A93511A356B}"/>
              </a:ext>
            </a:extLst>
          </p:cNvPr>
          <p:cNvSpPr>
            <a:spLocks noGrp="1"/>
          </p:cNvSpPr>
          <p:nvPr/>
        </p:nvSpPr>
        <p:spPr>
          <a:xfrm>
            <a:off x="12954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A373F4-1832-45AA-ABF7-74DCB5E35035}"/>
              </a:ext>
            </a:extLst>
          </p:cNvPr>
          <p:cNvSpPr>
            <a:spLocks noGrp="1"/>
          </p:cNvSpPr>
          <p:nvPr/>
        </p:nvSpPr>
        <p:spPr>
          <a:xfrm>
            <a:off x="12954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5E77D76-FE09-4A6B-8767-715D900EF36D}"/>
              </a:ext>
            </a:extLst>
          </p:cNvPr>
          <p:cNvSpPr>
            <a:spLocks noGrp="1"/>
          </p:cNvSpPr>
          <p:nvPr/>
        </p:nvSpPr>
        <p:spPr>
          <a:xfrm>
            <a:off x="17526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2개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선택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E582A662-9310-4A9C-9771-BE02917A3D69}"/>
              </a:ext>
            </a:extLst>
          </p:cNvPr>
          <p:cNvSpPr>
            <a:spLocks noGrp="1"/>
          </p:cNvSpPr>
          <p:nvPr/>
        </p:nvSpPr>
        <p:spPr>
          <a:xfrm>
            <a:off x="291465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39C79BB-46C7-46E5-A4A4-D516164799CC}"/>
              </a:ext>
            </a:extLst>
          </p:cNvPr>
          <p:cNvSpPr>
            <a:spLocks noGrp="1"/>
          </p:cNvSpPr>
          <p:nvPr/>
        </p:nvSpPr>
        <p:spPr>
          <a:xfrm>
            <a:off x="34671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9BE76DD-7C93-4052-BCBA-D43C73E78A9D}"/>
              </a:ext>
            </a:extLst>
          </p:cNvPr>
          <p:cNvSpPr>
            <a:spLocks noGrp="1"/>
          </p:cNvSpPr>
          <p:nvPr/>
        </p:nvSpPr>
        <p:spPr>
          <a:xfrm>
            <a:off x="34671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BB43626-96A1-4FE7-BBAD-3539BEE5C47D}"/>
              </a:ext>
            </a:extLst>
          </p:cNvPr>
          <p:cNvSpPr>
            <a:spLocks noGrp="1"/>
          </p:cNvSpPr>
          <p:nvPr/>
        </p:nvSpPr>
        <p:spPr>
          <a:xfrm>
            <a:off x="39243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겹치면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D468452B-1BDF-49F0-97DC-A01A62A6230A}"/>
              </a:ext>
            </a:extLst>
          </p:cNvPr>
          <p:cNvSpPr>
            <a:spLocks noGrp="1"/>
          </p:cNvSpPr>
          <p:nvPr/>
        </p:nvSpPr>
        <p:spPr>
          <a:xfrm>
            <a:off x="518160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DFC8448E-62BF-467B-A51E-64B5C6E8E421}"/>
              </a:ext>
            </a:extLst>
          </p:cNvPr>
          <p:cNvSpPr>
            <a:spLocks noGrp="1"/>
          </p:cNvSpPr>
          <p:nvPr/>
        </p:nvSpPr>
        <p:spPr>
          <a:xfrm>
            <a:off x="5743575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A9F910E-75D9-45AF-BC62-884182202634}"/>
              </a:ext>
            </a:extLst>
          </p:cNvPr>
          <p:cNvSpPr>
            <a:spLocks noGrp="1"/>
          </p:cNvSpPr>
          <p:nvPr/>
        </p:nvSpPr>
        <p:spPr>
          <a:xfrm>
            <a:off x="57435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43A0826-12A2-4848-BF9C-304351AE7FB8}"/>
              </a:ext>
            </a:extLst>
          </p:cNvPr>
          <p:cNvSpPr>
            <a:spLocks noGrp="1"/>
          </p:cNvSpPr>
          <p:nvPr/>
        </p:nvSpPr>
        <p:spPr>
          <a:xfrm>
            <a:off x="6200775" y="4258722"/>
            <a:ext cx="215893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1개만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겹치면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차이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재비교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F77EE6CF-5D8C-4584-B426-FED7896AD885}"/>
              </a:ext>
            </a:extLst>
          </p:cNvPr>
          <p:cNvSpPr>
            <a:spLocks noGrp="1"/>
          </p:cNvSpPr>
          <p:nvPr/>
        </p:nvSpPr>
        <p:spPr>
          <a:xfrm>
            <a:off x="852163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F8EB09C9-B68D-4D58-BC1F-2BD1C265691E}"/>
              </a:ext>
            </a:extLst>
          </p:cNvPr>
          <p:cNvSpPr>
            <a:spLocks noGrp="1"/>
          </p:cNvSpPr>
          <p:nvPr/>
        </p:nvSpPr>
        <p:spPr>
          <a:xfrm>
            <a:off x="9134475" y="4306347"/>
            <a:ext cx="323850" cy="3238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BED9417-7E6C-44F6-8A0D-808B3F846EA1}"/>
              </a:ext>
            </a:extLst>
          </p:cNvPr>
          <p:cNvSpPr>
            <a:spLocks noGrp="1"/>
          </p:cNvSpPr>
          <p:nvPr/>
        </p:nvSpPr>
        <p:spPr>
          <a:xfrm>
            <a:off x="91344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355B82-69CD-4B0E-8CE9-623DB5192B3E}"/>
              </a:ext>
            </a:extLst>
          </p:cNvPr>
          <p:cNvSpPr>
            <a:spLocks noGrp="1"/>
          </p:cNvSpPr>
          <p:nvPr/>
        </p:nvSpPr>
        <p:spPr>
          <a:xfrm>
            <a:off x="962025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2라운드 후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분할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F5CA12D-913D-405E-AA58-5F8C6570AD43}"/>
              </a:ext>
            </a:extLst>
          </p:cNvPr>
          <p:cNvSpPr>
            <a:spLocks noGrp="1"/>
          </p:cNvSpPr>
          <p:nvPr/>
        </p:nvSpPr>
        <p:spPr>
          <a:xfrm>
            <a:off x="1638300" y="4933950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2  · 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전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중개사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질문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 → 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공통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체크리스트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 → 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유지·보류·제외</a:t>
            </a:r>
            <a:endParaRPr sz="1200" b="0" dirty="0">
              <a:solidFill>
                <a:srgbClr val="C8D7C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DF7E342-ABD4-4906-B875-DC91F340D85E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정책 확정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8E76D0A-C643-409D-B03D-6E13F96D1706}"/>
              </a:ext>
            </a:extLst>
          </p:cNvPr>
          <p:cNvSpPr>
            <a:spLocks noGrp="1"/>
          </p:cNvSpPr>
          <p:nvPr/>
        </p:nvSpPr>
        <p:spPr>
          <a:xfrm>
            <a:off x="1828800" y="559117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안 함 =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통근·교통비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판정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제외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비교표에서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행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제거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532BEF3-5BDD-44C8-8224-2960618C37A3}"/>
              </a:ext>
            </a:extLst>
          </p:cNvPr>
          <p:cNvSpPr>
            <a:spLocks noGrp="1"/>
          </p:cNvSpPr>
          <p:nvPr/>
        </p:nvSpPr>
        <p:spPr>
          <a:xfrm>
            <a:off x="8229600" y="55911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완화는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자동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타협이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상태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변화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미리보기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803721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82CC129-302C-40D5-B8F1-C4CADE9956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· E2E 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89FFA2-0C1A-42FD-B8F5-71D38213628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초대자의 후보 구성과 수신자의 저마찰 참여를 하나의 판단 흐름으로 잇는다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2B91336-7C9F-413F-96DF-A63EA688DD5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2818B4-82A5-483D-A849-111D74AFFDA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docs/08-screen-design.md · docs/10-data-integration.md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3C0496-5B48-4944-95AA-88F281227C3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E757D15-7DF6-41A5-A612-03E545ADDE52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7D0350-4B83-4ED0-892F-6F617A76EF4C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진입 / 입력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94F802-59EB-4566-8628-74FF26CDBF51}"/>
              </a:ext>
            </a:extLst>
          </p:cNvPr>
          <p:cNvSpPr>
            <a:spLocks noGrp="1"/>
          </p:cNvSpPr>
          <p:nvPr/>
        </p:nvSpPr>
        <p:spPr>
          <a:xfrm>
            <a:off x="428625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 w="0">
            <a:noFill/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DC97CA-3679-4A37-B4B8-A2AE07338639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 / 분기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013BB5-A194-4B3C-B1E4-128D3218E3C9}"/>
              </a:ext>
            </a:extLst>
          </p:cNvPr>
          <p:cNvSpPr>
            <a:spLocks noGrp="1"/>
          </p:cNvSpPr>
          <p:nvPr/>
        </p:nvSpPr>
        <p:spPr>
          <a:xfrm>
            <a:off x="78486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0F172E-1598-4E8E-9F51-04575FED0D5B}"/>
              </a:ext>
            </a:extLst>
          </p:cNvPr>
          <p:cNvSpPr>
            <a:spLocks noGrp="1"/>
          </p:cNvSpPr>
          <p:nvPr/>
        </p:nvSpPr>
        <p:spPr>
          <a:xfrm>
            <a:off x="78486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 / 방문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309659-0169-43F4-8CC9-5CB876135CF4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A0ED9D0-469E-4EBD-8234-6D4D73CF7A50}"/>
              </a:ext>
            </a:extLst>
          </p:cNvPr>
          <p:cNvSpPr>
            <a:spLocks noGrp="1"/>
          </p:cNvSpPr>
          <p:nvPr/>
        </p:nvSpPr>
        <p:spPr>
          <a:xfrm>
            <a:off x="17907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57B12B-CE24-4286-A556-EA090D0A0BFD}"/>
              </a:ext>
            </a:extLst>
          </p:cNvPr>
          <p:cNvSpPr>
            <a:spLocks noGrp="1"/>
          </p:cNvSpPr>
          <p:nvPr/>
        </p:nvSpPr>
        <p:spPr>
          <a:xfrm>
            <a:off x="19431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1~5개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9D8F6E-1A2D-4C9E-B8A1-66743FE4272F}"/>
              </a:ext>
            </a:extLst>
          </p:cNvPr>
          <p:cNvSpPr>
            <a:spLocks noGrp="1"/>
          </p:cNvSpPr>
          <p:nvPr/>
        </p:nvSpPr>
        <p:spPr>
          <a:xfrm>
            <a:off x="19431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790010-0B7D-4B5B-A07B-07D1308C1474}"/>
              </a:ext>
            </a:extLst>
          </p:cNvPr>
          <p:cNvSpPr>
            <a:spLocks noGrp="1"/>
          </p:cNvSpPr>
          <p:nvPr/>
        </p:nvSpPr>
        <p:spPr>
          <a:xfrm>
            <a:off x="1943100" y="28098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추가 조건·초대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A58D8CC-84BC-4EDD-9373-04547EC03DB1}"/>
              </a:ext>
            </a:extLst>
          </p:cNvPr>
          <p:cNvSpPr>
            <a:spLocks noGrp="1"/>
          </p:cNvSpPr>
          <p:nvPr/>
        </p:nvSpPr>
        <p:spPr>
          <a:xfrm>
            <a:off x="535305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B4F59D-07D7-4C17-94E6-40D5205BDD1E}"/>
              </a:ext>
            </a:extLst>
          </p:cNvPr>
          <p:cNvSpPr>
            <a:spLocks noGrp="1"/>
          </p:cNvSpPr>
          <p:nvPr/>
        </p:nvSpPr>
        <p:spPr>
          <a:xfrm>
            <a:off x="550545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비교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8C645A-8564-4DFE-BCFB-7FFEBB5C4F3C}"/>
              </a:ext>
            </a:extLst>
          </p:cNvPr>
          <p:cNvSpPr>
            <a:spLocks noGrp="1"/>
          </p:cNvSpPr>
          <p:nvPr/>
        </p:nvSpPr>
        <p:spPr>
          <a:xfrm>
            <a:off x="550545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완화 제안 선택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005F7BA-FCBD-463C-B454-2C9BDA1F4252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89A731-8DBF-4AF9-B66D-C2CBF70AFA6D}"/>
              </a:ext>
            </a:extLst>
          </p:cNvPr>
          <p:cNvSpPr>
            <a:spLocks noGrp="1"/>
          </p:cNvSpPr>
          <p:nvPr/>
        </p:nvSpPr>
        <p:spPr>
          <a:xfrm>
            <a:off x="90678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8DE01B-A3D1-4C4C-BBC4-EB458D40A875}"/>
              </a:ext>
            </a:extLst>
          </p:cNvPr>
          <p:cNvSpPr>
            <a:spLocks noGrp="1"/>
          </p:cNvSpPr>
          <p:nvPr/>
        </p:nvSpPr>
        <p:spPr>
          <a:xfrm>
            <a:off x="90678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후 기록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72A23BBF-59B2-463F-9FC1-A3B8DDE46009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F7A3724-E237-46E2-BD06-DBDE6A98D13A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SYSTEM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A385F02-2F84-41F5-AAA7-70266D9132D5}"/>
              </a:ext>
            </a:extLst>
          </p:cNvPr>
          <p:cNvSpPr>
            <a:spLocks noGrp="1"/>
          </p:cNvSpPr>
          <p:nvPr/>
        </p:nvSpPr>
        <p:spPr>
          <a:xfrm>
            <a:off x="17907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07E81CC-C65F-4539-B85E-63A88A289BA8}"/>
              </a:ext>
            </a:extLst>
          </p:cNvPr>
          <p:cNvSpPr>
            <a:spLocks noGrp="1"/>
          </p:cNvSpPr>
          <p:nvPr/>
        </p:nvSpPr>
        <p:spPr>
          <a:xfrm>
            <a:off x="19431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 객체 초안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4D49B7-F3F9-4C66-9E16-2BBD6458DC32}"/>
              </a:ext>
            </a:extLst>
          </p:cNvPr>
          <p:cNvSpPr>
            <a:spLocks noGrp="1"/>
          </p:cNvSpPr>
          <p:nvPr/>
        </p:nvSpPr>
        <p:spPr>
          <a:xfrm>
            <a:off x="19431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 조건 저장·첫 결과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E240C76-EECB-4C01-ADA1-BBC6B27072C7}"/>
              </a:ext>
            </a:extLst>
          </p:cNvPr>
          <p:cNvSpPr>
            <a:spLocks noGrp="1"/>
          </p:cNvSpPr>
          <p:nvPr/>
        </p:nvSpPr>
        <p:spPr>
          <a:xfrm>
            <a:off x="535305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0F07C33-07F3-4FFC-B525-16D9CEA61D82}"/>
              </a:ext>
            </a:extLst>
          </p:cNvPr>
          <p:cNvSpPr>
            <a:spLocks noGrp="1"/>
          </p:cNvSpPr>
          <p:nvPr/>
        </p:nvSpPr>
        <p:spPr>
          <a:xfrm>
            <a:off x="550545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조건별 판정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FA114E6-EBFC-4EC4-9530-06290B725775}"/>
              </a:ext>
            </a:extLst>
          </p:cNvPr>
          <p:cNvSpPr>
            <a:spLocks noGrp="1"/>
          </p:cNvSpPr>
          <p:nvPr/>
        </p:nvSpPr>
        <p:spPr>
          <a:xfrm>
            <a:off x="550545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문장·0건 분기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4075B82-A06F-413E-AB7E-D351CDB19ED2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F0C4B5-EC6B-401C-B26A-929F92A25B65}"/>
              </a:ext>
            </a:extLst>
          </p:cNvPr>
          <p:cNvSpPr>
            <a:spLocks noGrp="1"/>
          </p:cNvSpPr>
          <p:nvPr/>
        </p:nvSpPr>
        <p:spPr>
          <a:xfrm>
            <a:off x="90678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겹침·최대 2라운드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3BD7769-35C5-41C5-893B-D8297602221B}"/>
              </a:ext>
            </a:extLst>
          </p:cNvPr>
          <p:cNvSpPr>
            <a:spLocks noGrp="1"/>
          </p:cNvSpPr>
          <p:nvPr/>
        </p:nvSpPr>
        <p:spPr>
          <a:xfrm>
            <a:off x="90678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유지·보류·제외 저장</a:t>
            </a: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35B7CB45-6FD4-41FD-920B-2103746777F8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7E701CC-3061-45FD-9B4C-CFB97AB750D0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93644A4-4C1D-4779-A424-645212F45731}"/>
              </a:ext>
            </a:extLst>
          </p:cNvPr>
          <p:cNvSpPr>
            <a:spLocks noGrp="1"/>
          </p:cNvSpPr>
          <p:nvPr/>
        </p:nvSpPr>
        <p:spPr>
          <a:xfrm>
            <a:off x="17907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28E38BA-9497-4876-B6BA-E4BC6CEDAC03}"/>
              </a:ext>
            </a:extLst>
          </p:cNvPr>
          <p:cNvSpPr>
            <a:spLocks noGrp="1"/>
          </p:cNvSpPr>
          <p:nvPr/>
        </p:nvSpPr>
        <p:spPr>
          <a:xfrm>
            <a:off x="19431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후보·A 선호 먼저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43507B2-8DAE-40AF-A796-DAB9829658DE}"/>
              </a:ext>
            </a:extLst>
          </p:cNvPr>
          <p:cNvSpPr>
            <a:spLocks noGrp="1"/>
          </p:cNvSpPr>
          <p:nvPr/>
        </p:nvSpPr>
        <p:spPr>
          <a:xfrm>
            <a:off x="19431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34E2870-EBF9-4922-9F0B-9BA7D7176823}"/>
              </a:ext>
            </a:extLst>
          </p:cNvPr>
          <p:cNvSpPr>
            <a:spLocks noGrp="1"/>
          </p:cNvSpPr>
          <p:nvPr/>
        </p:nvSpPr>
        <p:spPr>
          <a:xfrm>
            <a:off x="1943100" y="5286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결과 후 로그인 방향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1D1D53F-1589-4FC7-A0A5-7480C404786C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605FDBA-A3E7-4B35-8C91-9EA258B2D1AC}"/>
              </a:ext>
            </a:extLst>
          </p:cNvPr>
          <p:cNvSpPr>
            <a:spLocks noGrp="1"/>
          </p:cNvSpPr>
          <p:nvPr/>
        </p:nvSpPr>
        <p:spPr>
          <a:xfrm>
            <a:off x="550545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조건 대조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DDF0986-7957-4AA3-B95D-4C16113FEDCE}"/>
              </a:ext>
            </a:extLst>
          </p:cNvPr>
          <p:cNvSpPr>
            <a:spLocks noGrp="1"/>
          </p:cNvSpPr>
          <p:nvPr/>
        </p:nvSpPr>
        <p:spPr>
          <a:xfrm>
            <a:off x="550545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 필요 검토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DAA42B5-09D5-4F80-B75E-C9E8100BD5EC}"/>
              </a:ext>
            </a:extLst>
          </p:cNvPr>
          <p:cNvSpPr>
            <a:spLocks noGrp="1"/>
          </p:cNvSpPr>
          <p:nvPr/>
        </p:nvSpPr>
        <p:spPr>
          <a:xfrm>
            <a:off x="89154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8A24D1E-E3DA-4F7A-87CF-5A73D3CBBD4A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9467F4-A501-458C-ABA0-1DAA6F6B28ED}"/>
              </a:ext>
            </a:extLst>
          </p:cNvPr>
          <p:cNvSpPr>
            <a:spLocks noGrp="1"/>
          </p:cNvSpPr>
          <p:nvPr/>
        </p:nvSpPr>
        <p:spPr>
          <a:xfrm>
            <a:off x="90678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질문·체크 기록</a:t>
            </a:r>
          </a:p>
        </p:txBody>
      </p:sp>
      <p:sp>
        <p:nvSpPr>
          <p:cNvPr id="46" name="직선 연결선 45">
            <a:extLst>
              <a:ext uri="{FF2B5EF4-FFF2-40B4-BE49-F238E27FC236}">
                <a16:creationId xmlns:a16="http://schemas.microsoft.com/office/drawing/2014/main" id="{A4DE0D60-90B8-4CDD-9547-7D7DE0F15CA5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19821FF3-DEB8-4C33-9B34-2DF96200635A}"/>
              </a:ext>
            </a:extLst>
          </p:cNvPr>
          <p:cNvSpPr>
            <a:spLocks noGrp="1"/>
          </p:cNvSpPr>
          <p:nvPr/>
        </p:nvSpPr>
        <p:spPr>
          <a:xfrm>
            <a:off x="4457909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9FF933C2-76E9-4B0A-ADAB-81E7FF1FCE87}"/>
              </a:ext>
            </a:extLst>
          </p:cNvPr>
          <p:cNvSpPr>
            <a:spLocks noGrp="1"/>
          </p:cNvSpPr>
          <p:nvPr/>
        </p:nvSpPr>
        <p:spPr>
          <a:xfrm>
            <a:off x="4457909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A9B33553-761F-4B92-BD9C-8BD3432CBC95}"/>
              </a:ext>
            </a:extLst>
          </p:cNvPr>
          <p:cNvSpPr>
            <a:spLocks noGrp="1"/>
          </p:cNvSpPr>
          <p:nvPr/>
        </p:nvSpPr>
        <p:spPr>
          <a:xfrm>
            <a:off x="4457909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DAA75654-C3AA-426C-8F37-8949DF255283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1EF15A9E-016F-412B-842F-2297D890B0D0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3FB23210-040E-46AF-939D-0AD7A169FA22}"/>
              </a:ext>
            </a:extLst>
          </p:cNvPr>
          <p:cNvSpPr>
            <a:spLocks noGrp="1"/>
          </p:cNvSpPr>
          <p:nvPr/>
        </p:nvSpPr>
        <p:spPr>
          <a:xfrm>
            <a:off x="8039100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4E00CAF-038B-4361-83D4-A9898A9B2DF7}"/>
              </a:ext>
            </a:extLst>
          </p:cNvPr>
          <p:cNvSpPr>
            <a:spLocks noGrp="1"/>
          </p:cNvSpPr>
          <p:nvPr/>
        </p:nvSpPr>
        <p:spPr>
          <a:xfrm>
            <a:off x="7018565" y="5842173"/>
            <a:ext cx="15049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비로그인</a:t>
            </a:r>
            <a:r>
              <a:rPr sz="10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정책</a:t>
            </a:r>
            <a:r>
              <a:rPr sz="10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TBD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9A41ECF-3C43-42F6-9ECF-E008936E4DD2}"/>
              </a:ext>
            </a:extLst>
          </p:cNvPr>
          <p:cNvSpPr>
            <a:spLocks noGrp="1"/>
          </p:cNvSpPr>
          <p:nvPr/>
        </p:nvSpPr>
        <p:spPr>
          <a:xfrm>
            <a:off x="723900" y="5859131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B는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전에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후보와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맥락을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먼저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본다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4AF5948-4737-4A3D-A5D0-1BB2B9481629}"/>
              </a:ext>
            </a:extLst>
          </p:cNvPr>
          <p:cNvSpPr>
            <a:spLocks noGrp="1"/>
          </p:cNvSpPr>
          <p:nvPr/>
        </p:nvSpPr>
        <p:spPr>
          <a:xfrm>
            <a:off x="8523515" y="5861223"/>
            <a:ext cx="26207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모든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기능의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비로그인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사용을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확정하지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않음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184455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2AD2FEE-BFF0-4D86-AB4F-76DF778D8B5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· CORE MOMENTS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37BFAE-7E28-4FEC-8EC2-8F600B28947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핵심 화면은 ‘참여 이유 → 양보 이해 → 남은 한 자리 결정’을 보여준다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782990D-B5CC-4BB2-BFEE-C0C6A0CAB8CF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9F2B79-8956-464A-B913-E78F11BC59A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docs/08-screen-design.md · docs/05-tradeoff-patterns.md · PRD §17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37F1C8-59C2-4037-AB7E-C86FF31C56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B9784B3-58C2-40B0-8F3E-E2141C8CDC65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6F11153-FD37-4C9A-9D81-18C7FC87C721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031EF5-45A3-41E5-B7AF-E192731BF491}"/>
              </a:ext>
            </a:extLst>
          </p:cNvPr>
          <p:cNvSpPr>
            <a:spLocks noGrp="1"/>
          </p:cNvSpPr>
          <p:nvPr/>
        </p:nvSpPr>
        <p:spPr>
          <a:xfrm>
            <a:off x="14478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이유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EFDF3F-CFE9-4183-B5F2-41B0E2F2C885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B-01 · B-02 · B-05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F14153C-2DDA-42D4-A1CC-00F888D56B02}"/>
              </a:ext>
            </a:extLst>
          </p:cNvPr>
          <p:cNvSpPr>
            <a:spLocks noGrp="1"/>
          </p:cNvSpPr>
          <p:nvPr/>
        </p:nvSpPr>
        <p:spPr>
          <a:xfrm>
            <a:off x="11811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A3F3FE-E07C-4010-80E1-69A24D649504}"/>
              </a:ext>
            </a:extLst>
          </p:cNvPr>
          <p:cNvSpPr>
            <a:spLocks noGrp="1"/>
          </p:cNvSpPr>
          <p:nvPr/>
        </p:nvSpPr>
        <p:spPr>
          <a:xfrm>
            <a:off x="1466850" y="2819400"/>
            <a:ext cx="17335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83C11B-92AC-4D1E-AFD1-A33EB2765799}"/>
              </a:ext>
            </a:extLst>
          </p:cNvPr>
          <p:cNvSpPr>
            <a:spLocks noGrp="1"/>
          </p:cNvSpPr>
          <p:nvPr/>
        </p:nvSpPr>
        <p:spPr>
          <a:xfrm>
            <a:off x="1562100" y="2914650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5개 + A 선호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1EA8FA2-B0B3-49BE-B3EF-AF7BAE087651}"/>
              </a:ext>
            </a:extLst>
          </p:cNvPr>
          <p:cNvSpPr>
            <a:spLocks noGrp="1"/>
          </p:cNvSpPr>
          <p:nvPr/>
        </p:nvSpPr>
        <p:spPr>
          <a:xfrm>
            <a:off x="1524000" y="3333750"/>
            <a:ext cx="7239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 필수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2EC2019-20C2-4F9F-89F4-ADD6F673820E}"/>
              </a:ext>
            </a:extLst>
          </p:cNvPr>
          <p:cNvSpPr>
            <a:spLocks noGrp="1"/>
          </p:cNvSpPr>
          <p:nvPr/>
        </p:nvSpPr>
        <p:spPr>
          <a:xfrm>
            <a:off x="2324100" y="333375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출근 여부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AFF756-606C-4815-AF28-4838CFCF7E1B}"/>
              </a:ext>
            </a:extLst>
          </p:cNvPr>
          <p:cNvSpPr>
            <a:spLocks noGrp="1"/>
          </p:cNvSpPr>
          <p:nvPr/>
        </p:nvSpPr>
        <p:spPr>
          <a:xfrm>
            <a:off x="1543050" y="37528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출근하는 경우만 출근지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94C938-3B9C-4F17-BBBA-590BF86CC011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A의 선호를 먼저 보고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7ADD4AB-4BCB-4AA3-ADF9-BD943942FAC7}"/>
              </a:ext>
            </a:extLst>
          </p:cNvPr>
          <p:cNvSpPr>
            <a:spLocks noGrp="1"/>
          </p:cNvSpPr>
          <p:nvPr/>
        </p:nvSpPr>
        <p:spPr>
          <a:xfrm>
            <a:off x="430530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E5A76E6-CE41-4DFF-BCDC-21507822BC26}"/>
              </a:ext>
            </a:extLst>
          </p:cNvPr>
          <p:cNvSpPr>
            <a:spLocks noGrp="1"/>
          </p:cNvSpPr>
          <p:nvPr/>
        </p:nvSpPr>
        <p:spPr>
          <a:xfrm>
            <a:off x="449580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ABA3EEB-6160-4413-8EF4-766067E5BE5E}"/>
              </a:ext>
            </a:extLst>
          </p:cNvPr>
          <p:cNvSpPr>
            <a:spLocks noGrp="1"/>
          </p:cNvSpPr>
          <p:nvPr/>
        </p:nvSpPr>
        <p:spPr>
          <a:xfrm>
            <a:off x="504825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이해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A3F3E9-DE22-402A-9A7C-0FFA19F16E81}"/>
              </a:ext>
            </a:extLst>
          </p:cNvPr>
          <p:cNvSpPr>
            <a:spLocks noGrp="1"/>
          </p:cNvSpPr>
          <p:nvPr/>
        </p:nvSpPr>
        <p:spPr>
          <a:xfrm>
            <a:off x="449580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A-14b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30D019C-A1BD-43E3-87FD-B12BBB491CE2}"/>
              </a:ext>
            </a:extLst>
          </p:cNvPr>
          <p:cNvSpPr>
            <a:spLocks noGrp="1"/>
          </p:cNvSpPr>
          <p:nvPr/>
        </p:nvSpPr>
        <p:spPr>
          <a:xfrm>
            <a:off x="478155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C7B118-6DE2-48DE-936B-5D1505ECC65B}"/>
              </a:ext>
            </a:extLst>
          </p:cNvPr>
          <p:cNvSpPr>
            <a:spLocks noGrp="1"/>
          </p:cNvSpPr>
          <p:nvPr/>
        </p:nvSpPr>
        <p:spPr>
          <a:xfrm>
            <a:off x="4991100" y="28384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C5C1BD-1248-4F55-962F-E4B088F04D6A}"/>
              </a:ext>
            </a:extLst>
          </p:cNvPr>
          <p:cNvSpPr>
            <a:spLocks noGrp="1"/>
          </p:cNvSpPr>
          <p:nvPr/>
        </p:nvSpPr>
        <p:spPr>
          <a:xfrm>
            <a:off x="5353050" y="283845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1924E56-AED0-4D2B-9AC3-8DC78DBC3931}"/>
              </a:ext>
            </a:extLst>
          </p:cNvPr>
          <p:cNvSpPr>
            <a:spLocks noGrp="1"/>
          </p:cNvSpPr>
          <p:nvPr/>
        </p:nvSpPr>
        <p:spPr>
          <a:xfrm>
            <a:off x="4991100" y="32385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BB5DB3-39E8-4B7B-8184-3E3FB1E986AC}"/>
              </a:ext>
            </a:extLst>
          </p:cNvPr>
          <p:cNvSpPr>
            <a:spLocks noGrp="1"/>
          </p:cNvSpPr>
          <p:nvPr/>
        </p:nvSpPr>
        <p:spPr>
          <a:xfrm>
            <a:off x="5353050" y="323850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116CD6C7-EEFB-4447-8632-C3A8EDA1F7F7}"/>
              </a:ext>
            </a:extLst>
          </p:cNvPr>
          <p:cNvSpPr>
            <a:spLocks noGrp="1"/>
          </p:cNvSpPr>
          <p:nvPr/>
        </p:nvSpPr>
        <p:spPr>
          <a:xfrm>
            <a:off x="5029200" y="3638550"/>
            <a:ext cx="1809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058EDF4-D504-4DC0-B418-146860E8B0EF}"/>
              </a:ext>
            </a:extLst>
          </p:cNvPr>
          <p:cNvSpPr>
            <a:spLocks noGrp="1"/>
          </p:cNvSpPr>
          <p:nvPr/>
        </p:nvSpPr>
        <p:spPr>
          <a:xfrm>
            <a:off x="5067300" y="3790950"/>
            <a:ext cx="1733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 통근 13분을 감수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92E269B-F727-4928-BE9E-7FEB1A6A6E82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실제값 &gt; 기준값 · 미달량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 무엇을 얼마나 감수하는지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1F2AE18-F974-4DDD-8164-4A9C90BB3B8B}"/>
              </a:ext>
            </a:extLst>
          </p:cNvPr>
          <p:cNvSpPr>
            <a:spLocks noGrp="1"/>
          </p:cNvSpPr>
          <p:nvPr/>
        </p:nvSpPr>
        <p:spPr>
          <a:xfrm>
            <a:off x="79057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E3B9864-F743-49E4-92A6-BEC622ECE92B}"/>
              </a:ext>
            </a:extLst>
          </p:cNvPr>
          <p:cNvSpPr>
            <a:spLocks noGrp="1"/>
          </p:cNvSpPr>
          <p:nvPr/>
        </p:nvSpPr>
        <p:spPr>
          <a:xfrm>
            <a:off x="80962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827D421-118E-4BBA-9957-9EFB2899EB66}"/>
              </a:ext>
            </a:extLst>
          </p:cNvPr>
          <p:cNvSpPr>
            <a:spLocks noGrp="1"/>
          </p:cNvSpPr>
          <p:nvPr/>
        </p:nvSpPr>
        <p:spPr>
          <a:xfrm>
            <a:off x="86487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남은 한 자리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7FEB8C5-0CC3-4256-BCB1-117D6F10517B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A-16e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3CC4B17-2C8E-4C41-9E8E-238B5EE80E8E}"/>
              </a:ext>
            </a:extLst>
          </p:cNvPr>
          <p:cNvSpPr>
            <a:spLocks noGrp="1"/>
          </p:cNvSpPr>
          <p:nvPr/>
        </p:nvSpPr>
        <p:spPr>
          <a:xfrm>
            <a:off x="83820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8ED7C68-7B58-451E-9AFC-4853B972EDB7}"/>
              </a:ext>
            </a:extLst>
          </p:cNvPr>
          <p:cNvSpPr>
            <a:spLocks noGrp="1"/>
          </p:cNvSpPr>
          <p:nvPr/>
        </p:nvSpPr>
        <p:spPr>
          <a:xfrm>
            <a:off x="859155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522B501-76E0-4316-9939-8BD40709F739}"/>
              </a:ext>
            </a:extLst>
          </p:cNvPr>
          <p:cNvSpPr>
            <a:spLocks noGrp="1"/>
          </p:cNvSpPr>
          <p:nvPr/>
        </p:nvSpPr>
        <p:spPr>
          <a:xfrm>
            <a:off x="963930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B4C4CB-4E23-491C-AD27-126A0B621A9F}"/>
              </a:ext>
            </a:extLst>
          </p:cNvPr>
          <p:cNvSpPr>
            <a:spLocks noGrp="1"/>
          </p:cNvSpPr>
          <p:nvPr/>
        </p:nvSpPr>
        <p:spPr>
          <a:xfrm>
            <a:off x="868680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A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C30D494-296A-4402-BC77-B67CFCD241F1}"/>
              </a:ext>
            </a:extLst>
          </p:cNvPr>
          <p:cNvSpPr>
            <a:spLocks noGrp="1"/>
          </p:cNvSpPr>
          <p:nvPr/>
        </p:nvSpPr>
        <p:spPr>
          <a:xfrm>
            <a:off x="973455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B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4C3C9859-8165-4061-B388-194051B29B33}"/>
              </a:ext>
            </a:extLst>
          </p:cNvPr>
          <p:cNvSpPr>
            <a:spLocks noGrp="1"/>
          </p:cNvSpPr>
          <p:nvPr/>
        </p:nvSpPr>
        <p:spPr>
          <a:xfrm>
            <a:off x="8686800" y="33528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154C21D8-8F6E-4639-8CFC-0AF6DB00EC1F}"/>
              </a:ext>
            </a:extLst>
          </p:cNvPr>
          <p:cNvSpPr>
            <a:spLocks noGrp="1"/>
          </p:cNvSpPr>
          <p:nvPr/>
        </p:nvSpPr>
        <p:spPr>
          <a:xfrm>
            <a:off x="9734550" y="3352800"/>
            <a:ext cx="647700" cy="0"/>
          </a:xfrm>
          <a:prstGeom prst="line">
            <a:avLst/>
          </a:prstGeom>
          <a:noFill/>
          <a:ln w="19050">
            <a:solidFill>
              <a:srgbClr val="03C75A"/>
            </a:solidFill>
            <a:prstDash val="solid"/>
          </a:ln>
        </p:spPr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1293C584-EE03-45CE-B358-795784813995}"/>
              </a:ext>
            </a:extLst>
          </p:cNvPr>
          <p:cNvSpPr>
            <a:spLocks noGrp="1"/>
          </p:cNvSpPr>
          <p:nvPr/>
        </p:nvSpPr>
        <p:spPr>
          <a:xfrm>
            <a:off x="8686800" y="3505200"/>
            <a:ext cx="6477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A73E53A0-94FF-42DB-A991-A9354FD18C83}"/>
              </a:ext>
            </a:extLst>
          </p:cNvPr>
          <p:cNvSpPr>
            <a:spLocks noGrp="1"/>
          </p:cNvSpPr>
          <p:nvPr/>
        </p:nvSpPr>
        <p:spPr>
          <a:xfrm>
            <a:off x="9734550" y="35052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42" name="직선 연결선 41">
            <a:extLst>
              <a:ext uri="{FF2B5EF4-FFF2-40B4-BE49-F238E27FC236}">
                <a16:creationId xmlns:a16="http://schemas.microsoft.com/office/drawing/2014/main" id="{8E1A8C56-C290-40BF-938A-C7F05C0D6EE4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95E84E66-BC7F-4B2E-A3E4-6AC8025260CB}"/>
              </a:ext>
            </a:extLst>
          </p:cNvPr>
          <p:cNvSpPr>
            <a:spLocks noGrp="1"/>
          </p:cNvSpPr>
          <p:nvPr/>
        </p:nvSpPr>
        <p:spPr>
          <a:xfrm>
            <a:off x="973455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C031B67-3B6C-4C9F-ABE3-C2A60E725E25}"/>
              </a:ext>
            </a:extLst>
          </p:cNvPr>
          <p:cNvSpPr>
            <a:spLocks noGrp="1"/>
          </p:cNvSpPr>
          <p:nvPr/>
        </p:nvSpPr>
        <p:spPr>
          <a:xfrm>
            <a:off x="8705850" y="39433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총점 행 없음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162A201-7353-4521-8431-68F6271A6732}"/>
              </a:ext>
            </a:extLst>
          </p:cNvPr>
          <p:cNvSpPr>
            <a:spLocks noGrp="1"/>
          </p:cNvSpPr>
          <p:nvPr/>
        </p:nvSpPr>
        <p:spPr>
          <a:xfrm>
            <a:off x="81343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이미 겹친 1개는 유지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 없는 Option Grid로 재선택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F17D0A7-B6E2-45EC-A100-0FCAC1D26EF8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A-13b-2 상세 TBD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D6F0DF6-3EDB-4A70-824F-F7FADE2E38F0}"/>
              </a:ext>
            </a:extLst>
          </p:cNvPr>
          <p:cNvSpPr>
            <a:spLocks noGrp="1"/>
          </p:cNvSpPr>
          <p:nvPr/>
        </p:nvSpPr>
        <p:spPr>
          <a:xfrm>
            <a:off x="2324100" y="56197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재탐색 필터 제안 화면은 핵심 8장에 포함됐지만 상세 미설계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E002E9E-0ACC-4796-A65C-02FE60D610F4}"/>
              </a:ext>
            </a:extLst>
          </p:cNvPr>
          <p:cNvSpPr>
            <a:spLocks noGrp="1"/>
          </p:cNvSpPr>
          <p:nvPr/>
        </p:nvSpPr>
        <p:spPr>
          <a:xfrm>
            <a:off x="8239648" y="5581650"/>
            <a:ext cx="299985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Hero =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사진·추천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배지보다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문장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23235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6BA915B-95A0-4E0C-8013-57C47FD283B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DATA · CONDITION MODEL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66AA46-CE74-40C2-8C08-E099CBA133A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저장하고, ‘미충족·확인 필요·해당 없음’을 섞지 않는다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E61ECE8-99B7-49BE-A523-A23FE8DBDA1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6041A1-B1A9-4FA8-93E4-1B539E67832E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docs/11-decision-status.md · docs/09-edge-cases.md · decisions/0003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91D1DE-ACD7-453F-9127-009566CD83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862303-006F-436F-A722-04CEE5525597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6F3927-8C01-4886-9357-A6CDBE0B718B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9AAAEC-61DA-4E2A-865A-B5C68234F31F}"/>
              </a:ext>
            </a:extLst>
          </p:cNvPr>
          <p:cNvSpPr>
            <a:spLocks noGrp="1"/>
          </p:cNvSpPr>
          <p:nvPr/>
        </p:nvSpPr>
        <p:spPr>
          <a:xfrm>
            <a:off x="933450" y="22491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8D63BD-C430-4E16-8AEF-D60D4FEBDAF5}"/>
              </a:ext>
            </a:extLst>
          </p:cNvPr>
          <p:cNvSpPr>
            <a:spLocks noGrp="1"/>
          </p:cNvSpPr>
          <p:nvPr/>
        </p:nvSpPr>
        <p:spPr>
          <a:xfrm>
            <a:off x="2076450" y="22396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공통 필수 · 사람마다 상한 가능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9F87B0DE-5986-47B5-B393-D3F91DE568E9}"/>
              </a:ext>
            </a:extLst>
          </p:cNvPr>
          <p:cNvSpPr>
            <a:spLocks noGrp="1"/>
          </p:cNvSpPr>
          <p:nvPr/>
        </p:nvSpPr>
        <p:spPr>
          <a:xfrm>
            <a:off x="933450" y="25812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88FF80-7FC5-4506-ACA5-6FF8536B7B95}"/>
              </a:ext>
            </a:extLst>
          </p:cNvPr>
          <p:cNvSpPr>
            <a:spLocks noGrp="1"/>
          </p:cNvSpPr>
          <p:nvPr/>
        </p:nvSpPr>
        <p:spPr>
          <a:xfrm>
            <a:off x="933450" y="27730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016F0F-D393-42B5-98E6-B443A2EA5105}"/>
              </a:ext>
            </a:extLst>
          </p:cNvPr>
          <p:cNvSpPr>
            <a:spLocks noGrp="1"/>
          </p:cNvSpPr>
          <p:nvPr/>
        </p:nvSpPr>
        <p:spPr>
          <a:xfrm>
            <a:off x="2076450" y="27635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여부 후 해당자만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2E942FE-55E1-49DB-B3FD-77590B9CEFA8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A0E42E-515D-4AAB-BFFD-BA0F42655690}"/>
              </a:ext>
            </a:extLst>
          </p:cNvPr>
          <p:cNvSpPr>
            <a:spLocks noGrp="1"/>
          </p:cNvSpPr>
          <p:nvPr/>
        </p:nvSpPr>
        <p:spPr>
          <a:xfrm>
            <a:off x="933450" y="329692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추가 필수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BB4B14-4A97-4B22-9480-3F0B454C17D4}"/>
              </a:ext>
            </a:extLst>
          </p:cNvPr>
          <p:cNvSpPr>
            <a:spLocks noGrp="1"/>
          </p:cNvSpPr>
          <p:nvPr/>
        </p:nvSpPr>
        <p:spPr>
          <a:xfrm>
            <a:off x="2076450" y="328739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0~4개 · 사용자 선택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5D8ED991-16E5-44B8-A1AB-6ACEDF5615A9}"/>
              </a:ext>
            </a:extLst>
          </p:cNvPr>
          <p:cNvSpPr>
            <a:spLocks noGrp="1"/>
          </p:cNvSpPr>
          <p:nvPr/>
        </p:nvSpPr>
        <p:spPr>
          <a:xfrm>
            <a:off x="933450" y="362902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42A7FA-F153-4A62-ACC8-4339D4FE232B}"/>
              </a:ext>
            </a:extLst>
          </p:cNvPr>
          <p:cNvSpPr>
            <a:spLocks noGrp="1"/>
          </p:cNvSpPr>
          <p:nvPr/>
        </p:nvSpPr>
        <p:spPr>
          <a:xfrm>
            <a:off x="933450" y="38207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선호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657D60-6650-4C7A-A75F-D15564F91004}"/>
              </a:ext>
            </a:extLst>
          </p:cNvPr>
          <p:cNvSpPr>
            <a:spLocks noGrp="1"/>
          </p:cNvSpPr>
          <p:nvPr/>
        </p:nvSpPr>
        <p:spPr>
          <a:xfrm>
            <a:off x="2076450" y="381127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자유 문장 0~3개 · 판정 안 함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6FB66794-E607-4910-9D2D-649E2B71B618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7D9CBA-B18E-43CF-BF21-38CB8DEFA886}"/>
              </a:ext>
            </a:extLst>
          </p:cNvPr>
          <p:cNvSpPr>
            <a:spLocks noGrp="1"/>
          </p:cNvSpPr>
          <p:nvPr/>
        </p:nvSpPr>
        <p:spPr>
          <a:xfrm>
            <a:off x="933450" y="43446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B0F047-6DD5-46AC-AD78-BFAEF1590CC8}"/>
              </a:ext>
            </a:extLst>
          </p:cNvPr>
          <p:cNvSpPr>
            <a:spLocks noGrp="1"/>
          </p:cNvSpPr>
          <p:nvPr/>
        </p:nvSpPr>
        <p:spPr>
          <a:xfrm>
            <a:off x="2076450" y="43351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 중개사 질문 · 상한 없음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5F88A8D3-C817-4868-8D0E-ECB1152CEEC8}"/>
              </a:ext>
            </a:extLst>
          </p:cNvPr>
          <p:cNvSpPr>
            <a:spLocks noGrp="1"/>
          </p:cNvSpPr>
          <p:nvPr/>
        </p:nvSpPr>
        <p:spPr>
          <a:xfrm>
            <a:off x="933450" y="46767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F26A3B-A798-4B03-A041-6A78EA44B5A1}"/>
              </a:ext>
            </a:extLst>
          </p:cNvPr>
          <p:cNvSpPr>
            <a:spLocks noGrp="1"/>
          </p:cNvSpPr>
          <p:nvPr/>
        </p:nvSpPr>
        <p:spPr>
          <a:xfrm>
            <a:off x="933450" y="48685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체크리스트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C80383-264C-4135-955E-CCA4E0FE08C2}"/>
              </a:ext>
            </a:extLst>
          </p:cNvPr>
          <p:cNvSpPr>
            <a:spLocks noGrp="1"/>
          </p:cNvSpPr>
          <p:nvPr/>
        </p:nvSpPr>
        <p:spPr>
          <a:xfrm>
            <a:off x="2076450" y="48590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 공통 · 고르지 않음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52024981-9BE2-42BC-87D3-8743CE83D9AB}"/>
              </a:ext>
            </a:extLst>
          </p:cNvPr>
          <p:cNvSpPr>
            <a:spLocks noGrp="1"/>
          </p:cNvSpPr>
          <p:nvPr/>
        </p:nvSpPr>
        <p:spPr>
          <a:xfrm>
            <a:off x="933450" y="52006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59FEF68-58EA-4FE1-A259-DB823B4B9D63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2573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판정 가능한 6개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B3D4F-558D-421E-A890-BFE411F200F9}"/>
              </a:ext>
            </a:extLst>
          </p:cNvPr>
          <p:cNvSpPr>
            <a:spLocks noGrp="1"/>
          </p:cNvSpPr>
          <p:nvPr/>
        </p:nvSpPr>
        <p:spPr>
          <a:xfrm>
            <a:off x="2343150" y="5381625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통근시간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역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도보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전용면적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매물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유형</a:t>
            </a:r>
            <a:endParaRPr sz="11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B7E1D45-2694-429F-A3F6-E3F27A127D07}"/>
              </a:ext>
            </a:extLst>
          </p:cNvPr>
          <p:cNvSpPr>
            <a:spLocks noGrp="1"/>
          </p:cNvSpPr>
          <p:nvPr/>
        </p:nvSpPr>
        <p:spPr>
          <a:xfrm>
            <a:off x="62674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61D58E2-5F31-4500-A643-1B3247816F81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상태는 서로 다른 의미다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CFD1156-8D5B-4B8D-A694-81AF2D320C2B}"/>
              </a:ext>
            </a:extLst>
          </p:cNvPr>
          <p:cNvSpPr>
            <a:spLocks noGrp="1"/>
          </p:cNvSpPr>
          <p:nvPr/>
        </p:nvSpPr>
        <p:spPr>
          <a:xfrm>
            <a:off x="6496050" y="22479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981B6C-6AB1-495D-9857-1ACEAB781263}"/>
              </a:ext>
            </a:extLst>
          </p:cNvPr>
          <p:cNvSpPr>
            <a:spLocks noGrp="1"/>
          </p:cNvSpPr>
          <p:nvPr/>
        </p:nvSpPr>
        <p:spPr>
          <a:xfrm>
            <a:off x="6629400" y="24343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미충족</a:t>
            </a:r>
            <a:endParaRPr sz="1100" b="1" dirty="0">
              <a:solidFill>
                <a:srgbClr val="D9770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AA80DC-2951-4C4C-950F-2DF06CFB5E3A}"/>
              </a:ext>
            </a:extLst>
          </p:cNvPr>
          <p:cNvSpPr>
            <a:spLocks noGrp="1"/>
          </p:cNvSpPr>
          <p:nvPr/>
        </p:nvSpPr>
        <p:spPr>
          <a:xfrm>
            <a:off x="7696200" y="24355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재봤고</a:t>
            </a:r>
            <a:r>
              <a:rPr sz="11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기준에</a:t>
            </a:r>
            <a:r>
              <a:rPr sz="11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못 </a:t>
            </a: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미침</a:t>
            </a:r>
            <a:endParaRPr sz="11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74CAF5C-B78D-4801-A0D4-84A16EF708C4}"/>
              </a:ext>
            </a:extLst>
          </p:cNvPr>
          <p:cNvSpPr>
            <a:spLocks noGrp="1"/>
          </p:cNvSpPr>
          <p:nvPr/>
        </p:nvSpPr>
        <p:spPr>
          <a:xfrm>
            <a:off x="9429750" y="23641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실제값·기준값·미달량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8286FAA-5500-4266-9DF6-B65BF11059FC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BE8E8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1D0B3BD-1903-40F2-BDAC-E0B56AA8AD2A}"/>
              </a:ext>
            </a:extLst>
          </p:cNvPr>
          <p:cNvSpPr>
            <a:spLocks noGrp="1"/>
          </p:cNvSpPr>
          <p:nvPr/>
        </p:nvSpPr>
        <p:spPr>
          <a:xfrm>
            <a:off x="6629400" y="31772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1100" b="1" dirty="0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불가</a:t>
            </a:r>
            <a:endParaRPr sz="1100" b="1" dirty="0">
              <a:solidFill>
                <a:srgbClr val="B43C3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09C0FA-9763-4A8A-93D5-3F507E993AEF}"/>
              </a:ext>
            </a:extLst>
          </p:cNvPr>
          <p:cNvSpPr>
            <a:spLocks noGrp="1"/>
          </p:cNvSpPr>
          <p:nvPr/>
        </p:nvSpPr>
        <p:spPr>
          <a:xfrm>
            <a:off x="7696200" y="31784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경로/데이터 계산 실패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EC14EC8-BB5E-4A16-B182-AC8A5A59CD4B}"/>
              </a:ext>
            </a:extLst>
          </p:cNvPr>
          <p:cNvSpPr>
            <a:spLocks noGrp="1"/>
          </p:cNvSpPr>
          <p:nvPr/>
        </p:nvSpPr>
        <p:spPr>
          <a:xfrm>
            <a:off x="9429750" y="31070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오류 안내 · 미충족 아님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098AE77-45AA-40B6-A4A9-914D547C449E}"/>
              </a:ext>
            </a:extLst>
          </p:cNvPr>
          <p:cNvSpPr>
            <a:spLocks noGrp="1"/>
          </p:cNvSpPr>
          <p:nvPr/>
        </p:nvSpPr>
        <p:spPr>
          <a:xfrm>
            <a:off x="6496050" y="37338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BA088EC-0DBE-4919-A070-D2109B71D2AC}"/>
              </a:ext>
            </a:extLst>
          </p:cNvPr>
          <p:cNvSpPr>
            <a:spLocks noGrp="1"/>
          </p:cNvSpPr>
          <p:nvPr/>
        </p:nvSpPr>
        <p:spPr>
          <a:xfrm>
            <a:off x="6629400" y="39202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D76F29B-BC6A-4664-A6FB-A3DF4DD0E213}"/>
              </a:ext>
            </a:extLst>
          </p:cNvPr>
          <p:cNvSpPr>
            <a:spLocks noGrp="1"/>
          </p:cNvSpPr>
          <p:nvPr/>
        </p:nvSpPr>
        <p:spPr>
          <a:xfrm>
            <a:off x="7696200" y="39214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데이터로 판정 불가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2F5FFB8-62B7-4D44-9B65-9636FA41CE77}"/>
              </a:ext>
            </a:extLst>
          </p:cNvPr>
          <p:cNvSpPr>
            <a:spLocks noGrp="1"/>
          </p:cNvSpPr>
          <p:nvPr/>
        </p:nvSpPr>
        <p:spPr>
          <a:xfrm>
            <a:off x="9429750" y="38500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전 질문 카드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1818214-1B73-4DD9-AF91-3394E267A2A3}"/>
              </a:ext>
            </a:extLst>
          </p:cNvPr>
          <p:cNvSpPr>
            <a:spLocks noGrp="1"/>
          </p:cNvSpPr>
          <p:nvPr/>
        </p:nvSpPr>
        <p:spPr>
          <a:xfrm>
            <a:off x="6496050" y="44767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619066E-44EF-4D6E-9E95-E2802D72942B}"/>
              </a:ext>
            </a:extLst>
          </p:cNvPr>
          <p:cNvSpPr>
            <a:spLocks noGrp="1"/>
          </p:cNvSpPr>
          <p:nvPr/>
        </p:nvSpPr>
        <p:spPr>
          <a:xfrm>
            <a:off x="6629400" y="46631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해당 없음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5802C9E-0667-44A2-813E-244A3E88AE32}"/>
              </a:ext>
            </a:extLst>
          </p:cNvPr>
          <p:cNvSpPr>
            <a:spLocks noGrp="1"/>
          </p:cNvSpPr>
          <p:nvPr/>
        </p:nvSpPr>
        <p:spPr>
          <a:xfrm>
            <a:off x="7696200" y="46643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잴 대상이 없음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B9CFE8-A69A-4285-990B-1328F49DA020}"/>
              </a:ext>
            </a:extLst>
          </p:cNvPr>
          <p:cNvSpPr>
            <a:spLocks noGrp="1"/>
          </p:cNvSpPr>
          <p:nvPr/>
        </p:nvSpPr>
        <p:spPr>
          <a:xfrm>
            <a:off x="9429750" y="45929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행 제거 · 예: 출근 안 함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CE4D8EE-8ABC-4207-9001-95E0A670096D}"/>
              </a:ext>
            </a:extLst>
          </p:cNvPr>
          <p:cNvSpPr>
            <a:spLocks noGrp="1"/>
          </p:cNvSpPr>
          <p:nvPr/>
        </p:nvSpPr>
        <p:spPr>
          <a:xfrm>
            <a:off x="6496050" y="5353050"/>
            <a:ext cx="4762500" cy="266700"/>
          </a:xfrm>
          <a:prstGeom prst="roundRect">
            <a:avLst>
              <a:gd name="adj" fmla="val 25000"/>
            </a:avLst>
          </a:prstGeom>
          <a:solidFill>
            <a:srgbClr val="DFF7EA"/>
          </a:solidFill>
          <a:ln w="0">
            <a:noFill/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66B3CDE-1AC8-4343-8110-864AB6851188}"/>
              </a:ext>
            </a:extLst>
          </p:cNvPr>
          <p:cNvSpPr>
            <a:spLocks noGrp="1"/>
          </p:cNvSpPr>
          <p:nvPr/>
        </p:nvSpPr>
        <p:spPr>
          <a:xfrm>
            <a:off x="6629400" y="5400675"/>
            <a:ext cx="449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안 함 =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정상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경로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통근·교통비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판정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384968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3BFF83D-D231-432A-B2F3-CB7330C5C81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DATA · SYSTEM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4F6DD1-0161-428A-8EB2-D25C864B054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시스템은 매물을 복제하지 않고 ‘읽고, 판정하고, 네이버로 돌려보낸다’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D15EA59-CA07-4B6C-9E9F-BC3818B6FE4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85686C-2730-4FE4-B029-9C988497420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docs/10-data-integration.md · docs/06-cost-model.md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A8E9E4-9807-4279-A6BE-55C04451386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32BB86-EEA5-417D-A013-3E6A6AE6DE45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48F359E-AE4A-4FBE-8420-4B15F7236C57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READ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E27F35-F4EB-4586-B222-3D15DC72764E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12023E-0622-4E73-AC04-06753B5E202E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매물 ID·좌표·가격·면적·유형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주차·역 도보·거래 상태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A85E9D6-7298-4C2A-ADED-C39004B72FA2}"/>
              </a:ext>
            </a:extLst>
          </p:cNvPr>
          <p:cNvSpPr>
            <a:spLocks noGrp="1"/>
          </p:cNvSpPr>
          <p:nvPr/>
        </p:nvSpPr>
        <p:spPr>
          <a:xfrm>
            <a:off x="390525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9F67BD8-974E-4280-9C9E-9E3D5CF857BE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4624095-CC6B-4E66-B22C-C17392869A65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DECIDE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7405F7-AE9A-4BFC-BE8C-F23330904436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결정 레이어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CACA61-AD01-4050-BC9E-23B40B5BF225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조건 · 후보 묶음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판정·미달량·양보 문장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A7E3ED9-61E2-45DF-99DD-869E85500943}"/>
              </a:ext>
            </a:extLst>
          </p:cNvPr>
          <p:cNvSpPr>
            <a:spLocks noGrp="1"/>
          </p:cNvSpPr>
          <p:nvPr/>
        </p:nvSpPr>
        <p:spPr>
          <a:xfrm>
            <a:off x="754380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B682AD8-2801-4ECE-A752-1A4CEB0F38CB}"/>
              </a:ext>
            </a:extLst>
          </p:cNvPr>
          <p:cNvSpPr>
            <a:spLocks noGrp="1"/>
          </p:cNvSpPr>
          <p:nvPr/>
        </p:nvSpPr>
        <p:spPr>
          <a:xfrm>
            <a:off x="80010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A155980-FB2B-4C74-9142-19A162EEE73C}"/>
              </a:ext>
            </a:extLst>
          </p:cNvPr>
          <p:cNvSpPr>
            <a:spLocks noGrp="1"/>
          </p:cNvSpPr>
          <p:nvPr/>
        </p:nvSpPr>
        <p:spPr>
          <a:xfrm>
            <a:off x="81915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RETURN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4959AC-BAD7-40D6-A4CE-9A3ADF4086CA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검색 / 방문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433AFA-BE91-4390-B932-6752631D6A9C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사용자가 필터를 눌러 재탐색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방문·문의 행동으로 복귀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3298BD-9E2D-4A95-8405-CC345D967FDB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임시 조건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C8424A5-7702-4767-B473-597D512099F7}"/>
              </a:ext>
            </a:extLst>
          </p:cNvPr>
          <p:cNvSpPr>
            <a:spLocks noGrp="1"/>
          </p:cNvSpPr>
          <p:nvPr/>
        </p:nvSpPr>
        <p:spPr>
          <a:xfrm>
            <a:off x="2533650" y="41719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초대 코드 연결 · 마지막 접근 +30일 삭제 · 로그인 시 이관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A993480A-4A6E-44F5-A52D-F334B156719E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E6E59B-B522-4E31-AADD-AAB4787FCBC1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계산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F3A201-96A9-4239-9EFA-89C1F36517ED}"/>
              </a:ext>
            </a:extLst>
          </p:cNvPr>
          <p:cNvSpPr>
            <a:spLocks noGrp="1"/>
          </p:cNvSpPr>
          <p:nvPr/>
        </p:nvSpPr>
        <p:spPr>
          <a:xfrm>
            <a:off x="2533650" y="4695825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(출근지, 매물 좌표, 이동수단) 캐시 · 출근 안 함은 호출 제외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2C3A248A-5D48-4075-8133-627DCBE90081}"/>
              </a:ext>
            </a:extLst>
          </p:cNvPr>
          <p:cNvSpPr>
            <a:spLocks noGrp="1"/>
          </p:cNvSpPr>
          <p:nvPr/>
        </p:nvSpPr>
        <p:spPr>
          <a:xfrm>
            <a:off x="800100" y="5095875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30FEACF-5A3C-4773-814F-3CEC7CA8CECC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표시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7AE8B8-BB91-4075-AF3B-BE8B68D221D3}"/>
              </a:ext>
            </a:extLst>
          </p:cNvPr>
          <p:cNvSpPr>
            <a:spLocks noGrp="1"/>
          </p:cNvSpPr>
          <p:nvPr/>
        </p:nvSpPr>
        <p:spPr>
          <a:xfrm>
            <a:off x="2533650" y="521970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기회비용·대출이자·월세·관리비·교통비·초기비용 + 전제·기준일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B0CA3EC6-31B9-4ABE-A209-5FB1426A2E18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253DD6A-14E2-4F0E-A4E6-4B65186BF5B7}"/>
              </a:ext>
            </a:extLst>
          </p:cNvPr>
          <p:cNvSpPr>
            <a:spLocks noGrp="1"/>
          </p:cNvSpPr>
          <p:nvPr/>
        </p:nvSpPr>
        <p:spPr>
          <a:xfrm>
            <a:off x="9105900" y="3871913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내부 의존성 TBD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513D017-C59B-440E-9A96-A85A76FB1978}"/>
              </a:ext>
            </a:extLst>
          </p:cNvPr>
          <p:cNvSpPr>
            <a:spLocks noGrp="1"/>
          </p:cNvSpPr>
          <p:nvPr/>
        </p:nvSpPr>
        <p:spPr>
          <a:xfrm>
            <a:off x="8839200" y="4233863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관심매물 API · 비로그인 열람</a:t>
            </a:r>
          </a:p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검색 count · 필터 파라미터 · 경로 비용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C7DC35-8DA7-4B63-B28B-8FECB24E720B}"/>
              </a:ext>
            </a:extLst>
          </p:cNvPr>
          <p:cNvSpPr>
            <a:spLocks noGrp="1"/>
          </p:cNvSpPr>
          <p:nvPr/>
        </p:nvSpPr>
        <p:spPr>
          <a:xfrm>
            <a:off x="1543050" y="5848350"/>
            <a:ext cx="904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사진·설명·중개사 정보는 판정 데이터로 받지 않음 · 네이버 매물 데이터에 write하지 않음</a:t>
            </a:r>
          </a:p>
        </p:txBody>
      </p:sp>
    </p:spTree>
    <p:extLst>
      <p:ext uri="{BB962C8B-B14F-4D97-AF65-F5344CB8AC3E}">
        <p14:creationId xmlns:p14="http://schemas.microsoft.com/office/powerpoint/2010/main" val="1473021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F2043CB-240E-4452-A1AB-BDE7235A457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7051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PURPOSE / SCOPE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D95E5C-7780-45DF-8A13-7B5A31557B2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PRD 목표는 방문 후보 2개를 ‘근거를 알고’ 정하게 하는 것이다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DDC5099A-B7A4-4542-97DF-B985A2E4B39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40E2E9-1F70-43BF-B5C4-426103E9322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prd_v0.1_20260820_with_AC.md §8·§21·§22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483581-D515-42CB-A55C-549101FDA24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ACB850-1BFA-46D5-9FE9-93037D21C4E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0744200" cy="895350"/>
          </a:xfrm>
          <a:prstGeom prst="roundRect">
            <a:avLst>
              <a:gd name="adj" fmla="val 14894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15A79-DADF-4BED-82F0-89402425393F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PRODUCT GOAL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DC62E1-74F2-4B7B-8086-E7420CADDF08}"/>
              </a:ext>
            </a:extLst>
          </p:cNvPr>
          <p:cNvSpPr>
            <a:spLocks noGrp="1"/>
          </p:cNvSpPr>
          <p:nvPr/>
        </p:nvSpPr>
        <p:spPr>
          <a:xfrm>
            <a:off x="2724150" y="1797713"/>
            <a:ext cx="832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두 사람이 각 매물의 충족·미달·확인 사항을 이해하고, 자기 판단으로 방문 후보 2개를 정한다.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AE04E97-21C6-42BA-B9B9-CBE452278F47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6953250" cy="2590800"/>
          </a:xfrm>
          <a:prstGeom prst="roundRect">
            <a:avLst>
              <a:gd name="adj" fmla="val 58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813C50-24A7-4839-9BE0-2642BC94A293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17716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MVP 단계 1 · 검증 코어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E66A917-AE4B-4409-A968-E307197B4F46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DD021E-B66A-4AF4-89E6-DBA535196924}"/>
              </a:ext>
            </a:extLst>
          </p:cNvPr>
          <p:cNvSpPr>
            <a:spLocks noGrp="1"/>
          </p:cNvSpPr>
          <p:nvPr/>
        </p:nvSpPr>
        <p:spPr>
          <a:xfrm>
            <a:off x="154305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최대 5개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525903B-6DD2-4DEA-A4D5-FAE3A6AB7205}"/>
              </a:ext>
            </a:extLst>
          </p:cNvPr>
          <p:cNvSpPr>
            <a:spLocks noGrp="1"/>
          </p:cNvSpPr>
          <p:nvPr/>
        </p:nvSpPr>
        <p:spPr>
          <a:xfrm>
            <a:off x="417195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C3DDDF-832D-4CCA-BC1C-A5658558A02C}"/>
              </a:ext>
            </a:extLst>
          </p:cNvPr>
          <p:cNvSpPr>
            <a:spLocks noGrp="1"/>
          </p:cNvSpPr>
          <p:nvPr/>
        </p:nvSpPr>
        <p:spPr>
          <a:xfrm>
            <a:off x="476250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필수 + 출근 여부 분기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A016BA5-2564-46AF-ABC1-B117173A2180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53A4B5-9F68-4921-B05C-4A56D8D911E5}"/>
              </a:ext>
            </a:extLst>
          </p:cNvPr>
          <p:cNvSpPr>
            <a:spLocks noGrp="1"/>
          </p:cNvSpPr>
          <p:nvPr/>
        </p:nvSpPr>
        <p:spPr>
          <a:xfrm>
            <a:off x="154305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6313032-F669-4347-B2E8-8173F6DE3A4D}"/>
              </a:ext>
            </a:extLst>
          </p:cNvPr>
          <p:cNvSpPr>
            <a:spLocks noGrp="1"/>
          </p:cNvSpPr>
          <p:nvPr/>
        </p:nvSpPr>
        <p:spPr>
          <a:xfrm>
            <a:off x="417195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940250-7065-468A-882F-562708254F07}"/>
              </a:ext>
            </a:extLst>
          </p:cNvPr>
          <p:cNvSpPr>
            <a:spLocks noGrp="1"/>
          </p:cNvSpPr>
          <p:nvPr/>
        </p:nvSpPr>
        <p:spPr>
          <a:xfrm>
            <a:off x="476250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판정·비용·통근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15D0855-4450-4261-9836-357F46312E2C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4797AE-538E-4CAB-A216-81AC27F374D3}"/>
              </a:ext>
            </a:extLst>
          </p:cNvPr>
          <p:cNvSpPr>
            <a:spLocks noGrp="1"/>
          </p:cNvSpPr>
          <p:nvPr/>
        </p:nvSpPr>
        <p:spPr>
          <a:xfrm>
            <a:off x="154305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문장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387F469-9E53-4535-ADF7-0D10AC8E4A50}"/>
              </a:ext>
            </a:extLst>
          </p:cNvPr>
          <p:cNvSpPr>
            <a:spLocks noGrp="1"/>
          </p:cNvSpPr>
          <p:nvPr/>
        </p:nvSpPr>
        <p:spPr>
          <a:xfrm>
            <a:off x="417195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7D30F8-6C6C-487F-9AB6-0EC2B47C49F1}"/>
              </a:ext>
            </a:extLst>
          </p:cNvPr>
          <p:cNvSpPr>
            <a:spLocks noGrp="1"/>
          </p:cNvSpPr>
          <p:nvPr/>
        </p:nvSpPr>
        <p:spPr>
          <a:xfrm>
            <a:off x="476250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완화·0건 분기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6520017-B4FE-4795-8C35-B92D6C616E33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FT7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8D153B7-0EF1-4E64-B881-8FEFEE0D1466}"/>
              </a:ext>
            </a:extLst>
          </p:cNvPr>
          <p:cNvSpPr>
            <a:spLocks noGrp="1"/>
          </p:cNvSpPr>
          <p:nvPr/>
        </p:nvSpPr>
        <p:spPr>
          <a:xfrm>
            <a:off x="1543050" y="48291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 2개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6EF3EC-1FE9-44BF-A366-45ED7AEC9D1E}"/>
              </a:ext>
            </a:extLst>
          </p:cNvPr>
          <p:cNvSpPr>
            <a:spLocks noGrp="1"/>
          </p:cNvSpPr>
          <p:nvPr/>
        </p:nvSpPr>
        <p:spPr>
          <a:xfrm>
            <a:off x="7981950" y="2819400"/>
            <a:ext cx="3486150" cy="123825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079FE58-85B8-4760-AE15-31C885F6D0F4}"/>
              </a:ext>
            </a:extLst>
          </p:cNvPr>
          <p:cNvSpPr>
            <a:spLocks noGrp="1"/>
          </p:cNvSpPr>
          <p:nvPr/>
        </p:nvSpPr>
        <p:spPr>
          <a:xfrm>
            <a:off x="8191500" y="3009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MVP 단계 2 · 종료점 완성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86988FA-55B6-4A60-8861-4D649F6A16B8}"/>
              </a:ext>
            </a:extLst>
          </p:cNvPr>
          <p:cNvSpPr>
            <a:spLocks noGrp="1"/>
          </p:cNvSpPr>
          <p:nvPr/>
        </p:nvSpPr>
        <p:spPr>
          <a:xfrm>
            <a:off x="8191500" y="35052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FT8  방문 전 중개사 질문</a:t>
            </a:r>
          </a:p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FT9  방문 후 체크리스트·유지/보류/제외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2D097F4-ABDD-4722-8F46-95F42549AFA8}"/>
              </a:ext>
            </a:extLst>
          </p:cNvPr>
          <p:cNvSpPr>
            <a:spLocks noGrp="1"/>
          </p:cNvSpPr>
          <p:nvPr/>
        </p:nvSpPr>
        <p:spPr>
          <a:xfrm>
            <a:off x="7981950" y="4248150"/>
            <a:ext cx="3486150" cy="1162050"/>
          </a:xfrm>
          <a:prstGeom prst="roundRect">
            <a:avLst>
              <a:gd name="adj" fmla="val 13115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D48B7DE-38A2-4AA5-A380-29F1C189F94E}"/>
              </a:ext>
            </a:extLst>
          </p:cNvPr>
          <p:cNvSpPr>
            <a:spLocks noGrp="1"/>
          </p:cNvSpPr>
          <p:nvPr/>
        </p:nvSpPr>
        <p:spPr>
          <a:xfrm>
            <a:off x="8191500" y="4438650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NON-GOALS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A4E946-16F9-4D0F-B213-492984D69C8A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새 매물 DB · 독립 검색 · 자동 추천</a:t>
            </a:r>
          </a:p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종합점수 · AI 최종 선택 · 계약/대출 실행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B1D7D0A-28FB-4285-AB0E-AB129707ABD3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107442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A9726A-59B9-4BBC-900E-8502AEE0F99F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확정 수치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5ED6AE8-42C7-487F-A836-635582D95F78}"/>
              </a:ext>
            </a:extLst>
          </p:cNvPr>
          <p:cNvSpPr>
            <a:spLocks noGrp="1"/>
          </p:cNvSpPr>
          <p:nvPr/>
        </p:nvSpPr>
        <p:spPr>
          <a:xfrm>
            <a:off x="1828800" y="5705475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≤ 5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추가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필수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0~4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선호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0~3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2라운드</a:t>
            </a:r>
          </a:p>
        </p:txBody>
      </p:sp>
    </p:spTree>
    <p:extLst>
      <p:ext uri="{BB962C8B-B14F-4D97-AF65-F5344CB8AC3E}">
        <p14:creationId xmlns:p14="http://schemas.microsoft.com/office/powerpoint/2010/main" val="1050571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FC67B58-D530-453F-9D93-79615202F19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619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FUNCTIONAL REQUIREMENTS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9B40AD-BC6F-48A1-B2AA-F23C80E1701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62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25개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요구사항은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trade-off →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지속’으로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연결된다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CD4BAED-9A4D-47B9-9BA6-94440FDDB2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329975-3C0C-497E-8C22-24DF7176989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prd_v0.1_20260820_with_AC.md §16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0BF635-04B6-49B4-B7E0-8EEC01D1750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0657C4E-CD04-4F0C-B16E-D1CA6DCDE18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1BB264-1C68-4997-90FC-1E361347A426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365E1A-15B4-4058-8503-2BC7FCF6345E}"/>
              </a:ext>
            </a:extLst>
          </p:cNvPr>
          <p:cNvSpPr>
            <a:spLocks noGrp="1"/>
          </p:cNvSpPr>
          <p:nvPr/>
        </p:nvSpPr>
        <p:spPr>
          <a:xfrm>
            <a:off x="13906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참여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A3DBDC-1163-4CDB-86D4-107AE2532FFE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FR-01 · 05~09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680852-299C-4931-94CE-FD8C3384FFF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1~5개 · 링크/코드 · B 맥락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7F0EA27-6AA7-4022-9E74-3994C6443920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9551EBA-6961-4B2B-850B-1C812EBB1916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1ECD588-13EA-412E-A3E0-9A99C942264D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E900EA-32BE-4882-94FD-A169CF7AF606}"/>
              </a:ext>
            </a:extLst>
          </p:cNvPr>
          <p:cNvSpPr>
            <a:spLocks noGrp="1"/>
          </p:cNvSpPr>
          <p:nvPr/>
        </p:nvSpPr>
        <p:spPr>
          <a:xfrm>
            <a:off x="502920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380338-1885-41A9-8B52-218EDB998AF9}"/>
              </a:ext>
            </a:extLst>
          </p:cNvPr>
          <p:cNvSpPr>
            <a:spLocks noGrp="1"/>
          </p:cNvSpPr>
          <p:nvPr/>
        </p:nvSpPr>
        <p:spPr>
          <a:xfrm>
            <a:off x="451485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FR-02~04 · 07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524334-6DFF-4492-9CE2-BBF68D18E1C9}"/>
              </a:ext>
            </a:extLst>
          </p:cNvPr>
          <p:cNvSpPr>
            <a:spLocks noGrp="1"/>
          </p:cNvSpPr>
          <p:nvPr/>
        </p:nvSpPr>
        <p:spPr>
          <a:xfrm>
            <a:off x="451485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필수 · 출근 여부 · 선택 조건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DA39A4D-C188-443D-8DA9-2B57DCCBFFFD}"/>
              </a:ext>
            </a:extLst>
          </p:cNvPr>
          <p:cNvSpPr>
            <a:spLocks noGrp="1"/>
          </p:cNvSpPr>
          <p:nvPr/>
        </p:nvSpPr>
        <p:spPr>
          <a:xfrm>
            <a:off x="765810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5533EBC-67DC-4BA0-B72A-1EBF7E548787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448DCA0-BD51-4B60-99DE-B6D7CD1BEFB7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C82D6F-D47F-4A59-A454-88E5151FE072}"/>
              </a:ext>
            </a:extLst>
          </p:cNvPr>
          <p:cNvSpPr>
            <a:spLocks noGrp="1"/>
          </p:cNvSpPr>
          <p:nvPr/>
        </p:nvSpPr>
        <p:spPr>
          <a:xfrm>
            <a:off x="86677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AA18C61-63F5-4B32-941A-9912BC53E3A9}"/>
              </a:ext>
            </a:extLst>
          </p:cNvPr>
          <p:cNvSpPr>
            <a:spLocks noGrp="1"/>
          </p:cNvSpPr>
          <p:nvPr/>
        </p:nvSpPr>
        <p:spPr>
          <a:xfrm>
            <a:off x="81534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FR-10~11 · 20~21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6EAA0B-447A-4CD4-AB2E-761B0ED59DF8}"/>
              </a:ext>
            </a:extLst>
          </p:cNvPr>
          <p:cNvSpPr>
            <a:spLocks noGrp="1"/>
          </p:cNvSpPr>
          <p:nvPr/>
        </p:nvSpPr>
        <p:spPr>
          <a:xfrm>
            <a:off x="81534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충족/미달/확인 · 오류 분리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470BB91-4DB0-4D70-A0DD-D4E3514A933C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87A43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763166B-055D-4121-BD10-03C10CED1CC9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083C62-3FC3-43EB-BDA0-7C386AE68138}"/>
              </a:ext>
            </a:extLst>
          </p:cNvPr>
          <p:cNvSpPr>
            <a:spLocks noGrp="1"/>
          </p:cNvSpPr>
          <p:nvPr/>
        </p:nvSpPr>
        <p:spPr>
          <a:xfrm>
            <a:off x="13906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trade-off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0D4E9E-DDFD-4BD2-A8BB-7EBF0AF9B9E2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FR-12~14 · 25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37FAB4-288C-4B6A-A189-CFC9270A5041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주체·미달량 · A/B 균형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301B8C70-7E2B-44FE-89DF-476E2323FC21}"/>
              </a:ext>
            </a:extLst>
          </p:cNvPr>
          <p:cNvSpPr>
            <a:spLocks noGrp="1"/>
          </p:cNvSpPr>
          <p:nvPr/>
        </p:nvSpPr>
        <p:spPr>
          <a:xfrm>
            <a:off x="401955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8AA28A8-402C-4A15-BF21-44163498752E}"/>
              </a:ext>
            </a:extLst>
          </p:cNvPr>
          <p:cNvSpPr>
            <a:spLocks noGrp="1"/>
          </p:cNvSpPr>
          <p:nvPr/>
        </p:nvSpPr>
        <p:spPr>
          <a:xfrm>
            <a:off x="432435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452D7C0-607F-4C3E-A187-BC34946C3396}"/>
              </a:ext>
            </a:extLst>
          </p:cNvPr>
          <p:cNvSpPr>
            <a:spLocks noGrp="1"/>
          </p:cNvSpPr>
          <p:nvPr/>
        </p:nvSpPr>
        <p:spPr>
          <a:xfrm>
            <a:off x="449580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5AC898C-A232-4C94-8CD0-BDE04AB34B63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막다른 길·결정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AD817EB-9643-4F7F-9558-49A5C4BE45FC}"/>
              </a:ext>
            </a:extLst>
          </p:cNvPr>
          <p:cNvSpPr>
            <a:spLocks noGrp="1"/>
          </p:cNvSpPr>
          <p:nvPr/>
        </p:nvSpPr>
        <p:spPr>
          <a:xfrm>
            <a:off x="451485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FR-15~17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DA8347-B7E1-4EEB-A532-1733E25AE7B9}"/>
              </a:ext>
            </a:extLst>
          </p:cNvPr>
          <p:cNvSpPr>
            <a:spLocks noGrp="1"/>
          </p:cNvSpPr>
          <p:nvPr/>
        </p:nvSpPr>
        <p:spPr>
          <a:xfrm>
            <a:off x="451485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0건 분기 · 각자 2개 · 최대 2라운드</a:t>
            </a: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0FA1BE66-3DEB-4B0B-8CA0-849CC63D4998}"/>
              </a:ext>
            </a:extLst>
          </p:cNvPr>
          <p:cNvSpPr>
            <a:spLocks noGrp="1"/>
          </p:cNvSpPr>
          <p:nvPr/>
        </p:nvSpPr>
        <p:spPr>
          <a:xfrm>
            <a:off x="765810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5E0B4D2-274C-4E29-AD1B-96DEB9473F6F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786B87"/>
            </a:solidFill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3C61351-6972-4F37-A5A0-17EAF969D106}"/>
              </a:ext>
            </a:extLst>
          </p:cNvPr>
          <p:cNvSpPr>
            <a:spLocks noGrp="1"/>
          </p:cNvSpPr>
          <p:nvPr/>
        </p:nvSpPr>
        <p:spPr>
          <a:xfrm>
            <a:off x="81343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786B8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F3E45E8-B161-45A0-8297-74EBAC6D6891}"/>
              </a:ext>
            </a:extLst>
          </p:cNvPr>
          <p:cNvSpPr>
            <a:spLocks noGrp="1"/>
          </p:cNvSpPr>
          <p:nvPr/>
        </p:nvSpPr>
        <p:spPr>
          <a:xfrm>
            <a:off x="86677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반복과 종료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84F2886-1467-4D8B-9F55-2FCC4610C2E0}"/>
              </a:ext>
            </a:extLst>
          </p:cNvPr>
          <p:cNvSpPr>
            <a:spLocks noGrp="1"/>
          </p:cNvSpPr>
          <p:nvPr/>
        </p:nvSpPr>
        <p:spPr>
          <a:xfrm>
            <a:off x="81534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FR-18~19 · 22~24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9E9CED9-EB3F-4A97-9FE7-2FDFB7A27EA7}"/>
              </a:ext>
            </a:extLst>
          </p:cNvPr>
          <p:cNvSpPr>
            <a:spLocks noGrp="1"/>
          </p:cNvSpPr>
          <p:nvPr/>
        </p:nvSpPr>
        <p:spPr>
          <a:xfrm>
            <a:off x="81534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지속 · 소진 · 질문·방문 기록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6A4BA78-6BE7-465D-92B2-360A533A3C4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610850" cy="381000"/>
          </a:xfrm>
          <a:prstGeom prst="roundRect">
            <a:avLst>
              <a:gd name="adj" fmla="val 20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4ADE47-B193-413F-ADB0-D994C661434E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15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AI는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비교·설명한다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 · 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후보·순위·강제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타협·상대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변경은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사용자가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결정한다</a:t>
            </a:r>
            <a:endParaRPr sz="1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502171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2A743E6-7E34-40A4-B717-BF828506F52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ACCEPTANCE CRITERIA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26C01A-58D0-4E7B-98BF-C0167FC377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56개 AC는 화면 존재보다 ‘판단을 왜곡하지 않는가’를 검수한다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35DF753-3219-4ED3-9DEE-C6E2B71C194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CA5DEB-1702-4DB0-902F-D3BCB9BCDAC3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prd_v0.1_20260820_with_AC.md · AC Summary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6A7510-F416-45CE-8632-E8A04B8EA35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86FD8AE-A28F-4E67-B646-0660229C943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EF1E73-A55F-40F2-AD2E-EDE5AFB39741}"/>
              </a:ext>
            </a:extLst>
          </p:cNvPr>
          <p:cNvSpPr>
            <a:spLocks noGrp="1"/>
          </p:cNvSpPr>
          <p:nvPr/>
        </p:nvSpPr>
        <p:spPr>
          <a:xfrm>
            <a:off x="9906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5D249A-FE31-41FB-8C55-FED491D7B2C0}"/>
              </a:ext>
            </a:extLst>
          </p:cNvPr>
          <p:cNvSpPr>
            <a:spLocks noGrp="1"/>
          </p:cNvSpPr>
          <p:nvPr/>
        </p:nvSpPr>
        <p:spPr>
          <a:xfrm>
            <a:off x="15240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FR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AB1CD2-57CB-4150-A72E-21F39C11EF33}"/>
              </a:ext>
            </a:extLst>
          </p:cNvPr>
          <p:cNvSpPr>
            <a:spLocks noGrp="1"/>
          </p:cNvSpPr>
          <p:nvPr/>
        </p:nvSpPr>
        <p:spPr>
          <a:xfrm>
            <a:off x="25336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40AF9B-122D-4A2D-976B-772220545F94}"/>
              </a:ext>
            </a:extLst>
          </p:cNvPr>
          <p:cNvSpPr>
            <a:spLocks noGrp="1"/>
          </p:cNvSpPr>
          <p:nvPr/>
        </p:nvSpPr>
        <p:spPr>
          <a:xfrm>
            <a:off x="26670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56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1A8A37-3E30-44BC-A856-F7DD81E395A4}"/>
              </a:ext>
            </a:extLst>
          </p:cNvPr>
          <p:cNvSpPr>
            <a:spLocks noGrp="1"/>
          </p:cNvSpPr>
          <p:nvPr/>
        </p:nvSpPr>
        <p:spPr>
          <a:xfrm>
            <a:off x="33337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작성 완료 AC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DC1B13D-F426-4BE6-BA42-B61400012C2B}"/>
              </a:ext>
            </a:extLst>
          </p:cNvPr>
          <p:cNvSpPr>
            <a:spLocks noGrp="1"/>
          </p:cNvSpPr>
          <p:nvPr/>
        </p:nvSpPr>
        <p:spPr>
          <a:xfrm>
            <a:off x="43434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D3FDC1-9726-4A68-B951-F0F7C2E151B1}"/>
              </a:ext>
            </a:extLst>
          </p:cNvPr>
          <p:cNvSpPr>
            <a:spLocks noGrp="1"/>
          </p:cNvSpPr>
          <p:nvPr/>
        </p:nvSpPr>
        <p:spPr>
          <a:xfrm>
            <a:off x="447675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8741BC-C243-45DE-9630-3CBAA055F43B}"/>
              </a:ext>
            </a:extLst>
          </p:cNvPr>
          <p:cNvSpPr>
            <a:spLocks noGrp="1"/>
          </p:cNvSpPr>
          <p:nvPr/>
        </p:nvSpPr>
        <p:spPr>
          <a:xfrm>
            <a:off x="51435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 FR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45C2E13-95D6-454D-B631-E9DBB208B717}"/>
              </a:ext>
            </a:extLst>
          </p:cNvPr>
          <p:cNvSpPr>
            <a:spLocks noGrp="1"/>
          </p:cNvSpPr>
          <p:nvPr/>
        </p:nvSpPr>
        <p:spPr>
          <a:xfrm>
            <a:off x="61531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0ECF4"/>
          </a:solidFill>
          <a:ln w="9525">
            <a:solidFill>
              <a:srgbClr val="786B87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E85169-E6E1-4C80-BF24-F80BF06B2156}"/>
              </a:ext>
            </a:extLst>
          </p:cNvPr>
          <p:cNvSpPr>
            <a:spLocks noGrp="1"/>
          </p:cNvSpPr>
          <p:nvPr/>
        </p:nvSpPr>
        <p:spPr>
          <a:xfrm>
            <a:off x="62865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F27CB3-5D91-44A1-9C66-C12724E088ED}"/>
              </a:ext>
            </a:extLst>
          </p:cNvPr>
          <p:cNvSpPr>
            <a:spLocks noGrp="1"/>
          </p:cNvSpPr>
          <p:nvPr/>
        </p:nvSpPr>
        <p:spPr>
          <a:xfrm>
            <a:off x="69532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일부 TBD FR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0A74275-889C-479C-8FCD-DB9AB7A064AA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일부 TBD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068D4A-6EFC-4B93-91C1-C8A17B70FBA0}"/>
              </a:ext>
            </a:extLst>
          </p:cNvPr>
          <p:cNvSpPr>
            <a:spLocks noGrp="1"/>
          </p:cNvSpPr>
          <p:nvPr/>
        </p:nvSpPr>
        <p:spPr>
          <a:xfrm>
            <a:off x="9163050" y="1752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FR-07 · 08 · 15 · 16 · 23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28BA19A-E4E7-4D8E-9DC3-0FBD429C784C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7EC7D2-1EBA-4691-BCA8-1019B6FB0248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/ 입력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089F8D7-E684-4294-8DA4-C7F3330DEBE2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FR-01~09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3E228B-47C4-4C35-BFCE-5AB865F108CF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후보·초대·조건·로그인·1인 빈 경로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5EB3DBF-AC5E-4563-858F-C662B88BB7F9}"/>
              </a:ext>
            </a:extLst>
          </p:cNvPr>
          <p:cNvSpPr>
            <a:spLocks noGrp="1"/>
          </p:cNvSpPr>
          <p:nvPr/>
        </p:nvSpPr>
        <p:spPr>
          <a:xfrm>
            <a:off x="436245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6DEF0BB-13BA-40D5-BD59-FDFF5050E37F}"/>
              </a:ext>
            </a:extLst>
          </p:cNvPr>
          <p:cNvSpPr>
            <a:spLocks noGrp="1"/>
          </p:cNvSpPr>
          <p:nvPr/>
        </p:nvSpPr>
        <p:spPr>
          <a:xfrm>
            <a:off x="453390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 / trade-off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F53F816-3EA5-416A-AABA-A7FC9599AC09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FR-10~16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E681100-2058-4EDA-A3A0-9E66EBF73DE9}"/>
              </a:ext>
            </a:extLst>
          </p:cNvPr>
          <p:cNvSpPr>
            <a:spLocks noGrp="1"/>
          </p:cNvSpPr>
          <p:nvPr/>
        </p:nvSpPr>
        <p:spPr>
          <a:xfrm>
            <a:off x="453390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판정·양보·완화·0건 분기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72E4184-E233-4F52-89DC-77B8AFB89C11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7B05465-AD8F-465C-B3FB-32006A2FF5E9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/ 운영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9D5B6E6-186C-487C-B879-46FD4E2C5CD4}"/>
              </a:ext>
            </a:extLst>
          </p:cNvPr>
          <p:cNvSpPr>
            <a:spLocks noGrp="1"/>
          </p:cNvSpPr>
          <p:nvPr/>
        </p:nvSpPr>
        <p:spPr>
          <a:xfrm>
            <a:off x="101536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FR-17~25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80ABEE-D7BA-4FC4-BC3C-877CECE00548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2개·지속·소진·질문·가드레일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45E7844-7B7A-48E4-974C-35C74B1C2B0F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대표 Guardrail AC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FBF9463-DBD9-4DE5-ADE3-72E514F20B4A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AC-02-03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B14999-A245-4429-BE44-4BD85EA11064}"/>
              </a:ext>
            </a:extLst>
          </p:cNvPr>
          <p:cNvSpPr>
            <a:spLocks noGrp="1"/>
          </p:cNvSpPr>
          <p:nvPr/>
        </p:nvSpPr>
        <p:spPr>
          <a:xfrm>
            <a:off x="1847850" y="44672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출근지·이동수단 미요구 · 통근 제외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BC43665-923B-4159-B472-4FEF730846C3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AC-10-02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E1F699-9D7B-44F5-A5CE-AFC882C08010}"/>
              </a:ext>
            </a:extLst>
          </p:cNvPr>
          <p:cNvSpPr>
            <a:spLocks noGrp="1"/>
          </p:cNvSpPr>
          <p:nvPr/>
        </p:nvSpPr>
        <p:spPr>
          <a:xfrm>
            <a:off x="1847850" y="478155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사람별·조건별 판정 · 공동 총점 미생성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435098C-D66F-4C66-A5D3-99A10B3337CD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AC-17-03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772714-805A-4E75-8023-052C16BD74AE}"/>
              </a:ext>
            </a:extLst>
          </p:cNvPr>
          <p:cNvSpPr>
            <a:spLocks noGrp="1"/>
          </p:cNvSpPr>
          <p:nvPr/>
        </p:nvSpPr>
        <p:spPr>
          <a:xfrm>
            <a:off x="1847850" y="509587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0개/2라운드 불일치 → 분할 · 투표·자동선택 금지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813C7F4-86D9-4798-ADE4-8F650EAA20AE}"/>
              </a:ext>
            </a:extLst>
          </p:cNvPr>
          <p:cNvSpPr>
            <a:spLocks noGrp="1"/>
          </p:cNvSpPr>
          <p:nvPr/>
        </p:nvSpPr>
        <p:spPr>
          <a:xfrm>
            <a:off x="723900" y="540067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AC-20-03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260634A-2B91-47AA-9F06-5B7D2B864B0F}"/>
              </a:ext>
            </a:extLst>
          </p:cNvPr>
          <p:cNvSpPr>
            <a:spLocks noGrp="1"/>
          </p:cNvSpPr>
          <p:nvPr/>
        </p:nvSpPr>
        <p:spPr>
          <a:xfrm>
            <a:off x="1847850" y="541020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해당 없음 · 비교표 통근 행 제거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E225189-B983-4BDE-A497-9224144ADEEC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AC-25-02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4983D95-6D97-48B5-AB40-C2706AFC4BB6}"/>
              </a:ext>
            </a:extLst>
          </p:cNvPr>
          <p:cNvSpPr>
            <a:spLocks noGrp="1"/>
          </p:cNvSpPr>
          <p:nvPr/>
        </p:nvSpPr>
        <p:spPr>
          <a:xfrm>
            <a:off x="1847850" y="57245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적합도·추천 배지·AI 최종 선택 미표시</a:t>
            </a:r>
          </a:p>
        </p:txBody>
      </p:sp>
    </p:spTree>
    <p:extLst>
      <p:ext uri="{BB962C8B-B14F-4D97-AF65-F5344CB8AC3E}">
        <p14:creationId xmlns:p14="http://schemas.microsoft.com/office/powerpoint/2010/main" val="2093500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B57E146-8EAF-4F37-87E5-CCED95C9197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505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VALIDATION · KPI / GUARDRAIL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103EA5-3CF4-45DC-9847-F03350FB614E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3853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21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빠른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계약’이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참여부터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결정까지의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검증으로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측정한다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84A1887-C5E4-4E38-87E8-89A6695ADDB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E4FC30-2621-4B2F-9C6C-92584C6DF7F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docs/02-hypotheses.md · docs/11-decision-status.md · PRD §23~§24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C4558C-24E4-4663-9EBD-86F4F5B20F0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D6E05D7-2109-49C9-870A-6A5DDB01C9F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838200"/>
          </a:xfrm>
          <a:prstGeom prst="roundRect">
            <a:avLst>
              <a:gd name="adj" fmla="val 1590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15830B-1A39-4349-A825-D198C951F6DD}"/>
              </a:ext>
            </a:extLst>
          </p:cNvPr>
          <p:cNvSpPr>
            <a:spLocks noGrp="1"/>
          </p:cNvSpPr>
          <p:nvPr/>
        </p:nvSpPr>
        <p:spPr>
          <a:xfrm>
            <a:off x="933450" y="1881187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NORTH STAR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8E4BF1-F1EE-43BF-8242-E42BA321F9D9}"/>
              </a:ext>
            </a:extLst>
          </p:cNvPr>
          <p:cNvSpPr>
            <a:spLocks noGrp="1"/>
          </p:cNvSpPr>
          <p:nvPr/>
        </p:nvSpPr>
        <p:spPr>
          <a:xfrm>
            <a:off x="2476500" y="1804987"/>
            <a:ext cx="699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발송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건 중 7일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안에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갈 집 2개’가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정해진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비율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67D72E3-769B-404A-9F10-C095D1353866}"/>
              </a:ext>
            </a:extLst>
          </p:cNvPr>
          <p:cNvSpPr>
            <a:spLocks noGrp="1"/>
          </p:cNvSpPr>
          <p:nvPr/>
        </p:nvSpPr>
        <p:spPr>
          <a:xfrm>
            <a:off x="9715500" y="18859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목표값 TBD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723069-61C6-4ECF-9192-FDB92A16CDD9}"/>
              </a:ext>
            </a:extLst>
          </p:cNvPr>
          <p:cNvSpPr>
            <a:spLocks noGrp="1"/>
          </p:cNvSpPr>
          <p:nvPr/>
        </p:nvSpPr>
        <p:spPr>
          <a:xfrm>
            <a:off x="8382000" y="213360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7일 적정성도 첫 측정 후 조정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6C30E94-B077-40AD-83DE-3121D2AFC5D8}"/>
              </a:ext>
            </a:extLst>
          </p:cNvPr>
          <p:cNvSpPr>
            <a:spLocks noGrp="1"/>
          </p:cNvSpPr>
          <p:nvPr/>
        </p:nvSpPr>
        <p:spPr>
          <a:xfrm>
            <a:off x="7048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4801B2B-CEF1-4CD0-BCCB-3D8BEADC412D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38670C-6E78-467E-901A-8EFB66937E03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진입 → 조건 입력 → 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83342F-8970-43BC-8E70-69432EA2A6E1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측정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AE8769C-13DC-43F3-B1D8-92F097C06A05}"/>
              </a:ext>
            </a:extLst>
          </p:cNvPr>
          <p:cNvSpPr>
            <a:spLocks noGrp="1"/>
          </p:cNvSpPr>
          <p:nvPr/>
        </p:nvSpPr>
        <p:spPr>
          <a:xfrm>
            <a:off x="31051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0A5F9C6-4EEB-45B3-8F24-FCAD5E3E3A5A}"/>
              </a:ext>
            </a:extLst>
          </p:cNvPr>
          <p:cNvSpPr>
            <a:spLocks noGrp="1"/>
          </p:cNvSpPr>
          <p:nvPr/>
        </p:nvSpPr>
        <p:spPr>
          <a:xfrm>
            <a:off x="33909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0A54170-3795-476A-BE1E-8E5027EA542D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H2-b-2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CC89E6-5C48-4B36-93CD-4BF816FB3FEA}"/>
              </a:ext>
            </a:extLst>
          </p:cNvPr>
          <p:cNvSpPr>
            <a:spLocks noGrp="1"/>
          </p:cNvSpPr>
          <p:nvPr/>
        </p:nvSpPr>
        <p:spPr>
          <a:xfrm>
            <a:off x="35623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 경험 + 원인 분리 인터뷰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80276A-EE3D-4169-AB91-EE3242F71119}"/>
              </a:ext>
            </a:extLst>
          </p:cNvPr>
          <p:cNvSpPr>
            <a:spLocks noGrp="1"/>
          </p:cNvSpPr>
          <p:nvPr/>
        </p:nvSpPr>
        <p:spPr>
          <a:xfrm>
            <a:off x="35623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급소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ADFD5EB8-6AEA-4EDA-92AB-B49CD0D6B6F8}"/>
              </a:ext>
            </a:extLst>
          </p:cNvPr>
          <p:cNvSpPr>
            <a:spLocks noGrp="1"/>
          </p:cNvSpPr>
          <p:nvPr/>
        </p:nvSpPr>
        <p:spPr>
          <a:xfrm>
            <a:off x="579120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A860368-4C39-4728-B67D-A883CD43A6D9}"/>
              </a:ext>
            </a:extLst>
          </p:cNvPr>
          <p:cNvSpPr>
            <a:spLocks noGrp="1"/>
          </p:cNvSpPr>
          <p:nvPr/>
        </p:nvSpPr>
        <p:spPr>
          <a:xfrm>
            <a:off x="60769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1260B92-ACF5-4F01-8DF4-2153EB923068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PROTOTYPE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5FF11AF-8761-46A5-9B8A-4AE0A2C691B2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단계 1 코어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DC2F92-E8F6-404A-A123-51895864FA8C}"/>
              </a:ext>
            </a:extLst>
          </p:cNvPr>
          <p:cNvSpPr>
            <a:spLocks noGrp="1"/>
          </p:cNvSpPr>
          <p:nvPr/>
        </p:nvSpPr>
        <p:spPr>
          <a:xfrm>
            <a:off x="62484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전제 통과 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88D44209-BD64-401D-81E9-7EB8F3D4A65E}"/>
              </a:ext>
            </a:extLst>
          </p:cNvPr>
          <p:cNvSpPr>
            <a:spLocks noGrp="1"/>
          </p:cNvSpPr>
          <p:nvPr/>
        </p:nvSpPr>
        <p:spPr>
          <a:xfrm>
            <a:off x="84772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870F2F7-AEB7-48D8-AF54-D55E842D06D4}"/>
              </a:ext>
            </a:extLst>
          </p:cNvPr>
          <p:cNvSpPr>
            <a:spLocks noGrp="1"/>
          </p:cNvSpPr>
          <p:nvPr/>
        </p:nvSpPr>
        <p:spPr>
          <a:xfrm>
            <a:off x="87630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1DCD59D-AE11-4EBA-A904-EDE5DDFE7287}"/>
              </a:ext>
            </a:extLst>
          </p:cNvPr>
          <p:cNvSpPr>
            <a:spLocks noGrp="1"/>
          </p:cNvSpPr>
          <p:nvPr/>
        </p:nvSpPr>
        <p:spPr>
          <a:xfrm>
            <a:off x="893445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H3/H4/H5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2048AC-FDB7-41CB-A050-661F8A878D03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입력·신뢰·지속성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04EF31-A41C-4871-A4CF-E2BCF24974DC}"/>
              </a:ext>
            </a:extLst>
          </p:cNvPr>
          <p:cNvSpPr>
            <a:spLocks noGrp="1"/>
          </p:cNvSpPr>
          <p:nvPr/>
        </p:nvSpPr>
        <p:spPr>
          <a:xfrm>
            <a:off x="89344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제품 검증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1A03639-3074-47E8-AF85-02E867476A61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0744200" cy="99060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F9932C-D413-48F1-B498-7B4309FDE308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GUARDRAIL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5FD32C4-C824-4313-B5CF-397FFFA09EDB}"/>
              </a:ext>
            </a:extLst>
          </p:cNvPr>
          <p:cNvSpPr>
            <a:spLocks noGrp="1"/>
          </p:cNvSpPr>
          <p:nvPr/>
        </p:nvSpPr>
        <p:spPr>
          <a:xfrm>
            <a:off x="23241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없음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27A1340-95B3-43B3-BC4F-88D6CF113C1C}"/>
              </a:ext>
            </a:extLst>
          </p:cNvPr>
          <p:cNvSpPr>
            <a:spLocks noGrp="1"/>
          </p:cNvSpPr>
          <p:nvPr/>
        </p:nvSpPr>
        <p:spPr>
          <a:xfrm>
            <a:off x="40195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AI 최종 선택 없음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90A39B2-5668-40DE-BCCE-FE566349B86D}"/>
              </a:ext>
            </a:extLst>
          </p:cNvPr>
          <p:cNvSpPr>
            <a:spLocks noGrp="1"/>
          </p:cNvSpPr>
          <p:nvPr/>
        </p:nvSpPr>
        <p:spPr>
          <a:xfrm>
            <a:off x="57150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A/B 동일 비중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A1FCB03-6A17-44D5-A405-AF28DB8AB2A4}"/>
              </a:ext>
            </a:extLst>
          </p:cNvPr>
          <p:cNvSpPr>
            <a:spLocks noGrp="1"/>
          </p:cNvSpPr>
          <p:nvPr/>
        </p:nvSpPr>
        <p:spPr>
          <a:xfrm>
            <a:off x="74104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오류 ≠ 미충족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584FAE0-7E96-4066-AF6A-AD4CA5CA9F33}"/>
              </a:ext>
            </a:extLst>
          </p:cNvPr>
          <p:cNvSpPr>
            <a:spLocks noGrp="1"/>
          </p:cNvSpPr>
          <p:nvPr/>
        </p:nvSpPr>
        <p:spPr>
          <a:xfrm>
            <a:off x="91059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동의 없는 조건 변경 없음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29A233F-735B-4040-8F3D-586E8F419838}"/>
              </a:ext>
            </a:extLst>
          </p:cNvPr>
          <p:cNvSpPr>
            <a:spLocks noGrp="1"/>
          </p:cNvSpPr>
          <p:nvPr/>
        </p:nvSpPr>
        <p:spPr>
          <a:xfrm>
            <a:off x="1619250" y="592455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성공지표로 쓰지 않음  ·  결정 시간 단축 · 갈등 감소 · 계약 전환 상승 · 탐색 기간 감소</a:t>
            </a:r>
          </a:p>
        </p:txBody>
      </p:sp>
    </p:spTree>
    <p:extLst>
      <p:ext uri="{BB962C8B-B14F-4D97-AF65-F5344CB8AC3E}">
        <p14:creationId xmlns:p14="http://schemas.microsoft.com/office/powerpoint/2010/main" val="1862840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RISKS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큰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리스크는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기능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부족이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오지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않거나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다른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가능성’이다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F64B0E-8C71-4E9F-BC36-8445C1297D3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 §25~§26 · docs/02-hypotheses.md · docs/09-edge-cases.md · docs/10-data-integration.md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초대에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들어오지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않음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H1 </a:t>
            </a:r>
            <a:r>
              <a:rPr sz="10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</a:t>
            </a: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측정</a:t>
            </a: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1인 빈 </a:t>
            </a:r>
            <a:r>
              <a:rPr sz="10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경로</a:t>
            </a:r>
            <a:endParaRPr sz="10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충돌이 지연의 주원인이 아님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원인 분리 인터뷰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입력 부담 · 비용 계산 신뢰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점진적 공개 · 모든 숫자 옆 전제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내부 API·비로그인 정책 불가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확인 전제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소진 · 분할 수용성 · 관계 데이터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지속 · 사용성 검증 · 출시 전 정책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리스크 우선순위 = 화면 완성도보다 제품 전제와 문제 인과의 불확실성</a:t>
            </a:r>
          </a:p>
        </p:txBody>
      </p:sp>
    </p:spTree>
    <p:extLst>
      <p:ext uri="{BB962C8B-B14F-4D97-AF65-F5344CB8AC3E}">
        <p14:creationId xmlns:p14="http://schemas.microsoft.com/office/powerpoint/2010/main" val="1149490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BE289BC-9286-4090-8A16-16777AAF37C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LIMITS · NEXT DECISION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677300-5EC8-4461-BC15-E594D1AA44F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05863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지금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확정할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것은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방향이고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다음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H1·H2-b-2가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만든다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A552DE8-E7C8-4946-8E00-6F115D2A2D8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592693-157C-44B8-BF30-9AC19A1B7A9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_00_READ_FIRST.md · docs/11-decision-status.md · docs/02-hypotheses.md · docs/03-evidence-log.md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FFD680-860D-480E-B171-7326167BE8F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7D63869-B747-492B-AC55-4A810AD428B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A2CE159-DA3A-474A-9922-C2DF0F24598B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12CEB59-7FDD-4C59-8F88-2233B664B65B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0DC018-4A61-4D01-B0C5-8E15BB50DD46}"/>
              </a:ext>
            </a:extLst>
          </p:cNvPr>
          <p:cNvSpPr>
            <a:spLocks noGrp="1"/>
          </p:cNvSpPr>
          <p:nvPr/>
        </p:nvSpPr>
        <p:spPr>
          <a:xfrm>
            <a:off x="10858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2인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A7A8325-E247-42F7-A8EF-B909FABF0420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35D6CD-6D99-4474-927C-A7CBD9008CCF}"/>
              </a:ext>
            </a:extLst>
          </p:cNvPr>
          <p:cNvSpPr>
            <a:spLocks noGrp="1"/>
          </p:cNvSpPr>
          <p:nvPr/>
        </p:nvSpPr>
        <p:spPr>
          <a:xfrm>
            <a:off x="10858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 · 합산 없음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3DA6C13-6E07-46A6-94C5-7FBEEE0215EE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62C683-CF68-40D5-99FD-8F6053D5CC41}"/>
              </a:ext>
            </a:extLst>
          </p:cNvPr>
          <p:cNvSpPr>
            <a:spLocks noGrp="1"/>
          </p:cNvSpPr>
          <p:nvPr/>
        </p:nvSpPr>
        <p:spPr>
          <a:xfrm>
            <a:off x="1085850" y="3540997"/>
            <a:ext cx="28531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AI는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설명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2개는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사용자가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선택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2824E06-56E1-4AA1-B2B8-1C693F53A4B9}"/>
              </a:ext>
            </a:extLst>
          </p:cNvPr>
          <p:cNvSpPr>
            <a:spLocks noGrp="1"/>
          </p:cNvSpPr>
          <p:nvPr/>
        </p:nvSpPr>
        <p:spPr>
          <a:xfrm>
            <a:off x="432435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3D350E3-9502-40D3-91DB-FFF6CF53FAC7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1104900" cy="2667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미검증 / 한계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C6C57D-FBBD-4F8E-B1F0-733BD6FBD7C5}"/>
              </a:ext>
            </a:extLst>
          </p:cNvPr>
          <p:cNvSpPr>
            <a:spLocks noGrp="1"/>
          </p:cNvSpPr>
          <p:nvPr/>
        </p:nvSpPr>
        <p:spPr>
          <a:xfrm>
            <a:off x="4552950" y="24003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CDE737-D159-4550-B4F6-DE842179A292}"/>
              </a:ext>
            </a:extLst>
          </p:cNvPr>
          <p:cNvSpPr>
            <a:spLocks noGrp="1"/>
          </p:cNvSpPr>
          <p:nvPr/>
        </p:nvSpPr>
        <p:spPr>
          <a:xfrm>
            <a:off x="472440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H2-b-2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직접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근거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미발견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CFFA7CF-E07C-4380-8253-E271690836AA}"/>
              </a:ext>
            </a:extLst>
          </p:cNvPr>
          <p:cNvSpPr>
            <a:spLocks noGrp="1"/>
          </p:cNvSpPr>
          <p:nvPr/>
        </p:nvSpPr>
        <p:spPr>
          <a:xfrm>
            <a:off x="4552950" y="306705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917510-2092-469B-BF4C-8398F3823FDD}"/>
              </a:ext>
            </a:extLst>
          </p:cNvPr>
          <p:cNvSpPr>
            <a:spLocks noGrp="1"/>
          </p:cNvSpPr>
          <p:nvPr/>
        </p:nvSpPr>
        <p:spPr>
          <a:xfrm>
            <a:off x="472440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Zillow는 미국·2020·매매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4205068-8E38-4220-AF61-B3BE8E76BA1B}"/>
              </a:ext>
            </a:extLst>
          </p:cNvPr>
          <p:cNvSpPr>
            <a:spLocks noGrp="1"/>
          </p:cNvSpPr>
          <p:nvPr/>
        </p:nvSpPr>
        <p:spPr>
          <a:xfrm>
            <a:off x="4552950" y="37338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D69704-EC0C-4101-B074-6BCD3DF82CF5}"/>
              </a:ext>
            </a:extLst>
          </p:cNvPr>
          <p:cNvSpPr>
            <a:spLocks noGrp="1"/>
          </p:cNvSpPr>
          <p:nvPr/>
        </p:nvSpPr>
        <p:spPr>
          <a:xfrm>
            <a:off x="472440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국내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수락·효과·내부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API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미확인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11B3EA4-260B-4B37-AD4F-F65AC10B7C99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7CB167D-291A-4B2E-936E-9893BB3CAAE5}"/>
              </a:ext>
            </a:extLst>
          </p:cNvPr>
          <p:cNvSpPr>
            <a:spLocks noGrp="1"/>
          </p:cNvSpPr>
          <p:nvPr/>
        </p:nvSpPr>
        <p:spPr>
          <a:xfrm>
            <a:off x="81534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결정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CD11817-0B57-4CE4-97CC-97FA486E1DC9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0E9BDC-AB54-460B-A8AF-034EDD28A465}"/>
              </a:ext>
            </a:extLst>
          </p:cNvPr>
          <p:cNvSpPr>
            <a:spLocks noGrp="1"/>
          </p:cNvSpPr>
          <p:nvPr/>
        </p:nvSpPr>
        <p:spPr>
          <a:xfrm>
            <a:off x="83629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1. H1 3단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깔때기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28A94A6-BBE8-466C-ADFC-F03A093ECE5B}"/>
              </a:ext>
            </a:extLst>
          </p:cNvPr>
          <p:cNvSpPr>
            <a:spLocks noGrp="1"/>
          </p:cNvSpPr>
          <p:nvPr/>
        </p:nvSpPr>
        <p:spPr>
          <a:xfrm>
            <a:off x="81915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21B83B9-51EC-4CC2-AC79-413265BC2914}"/>
              </a:ext>
            </a:extLst>
          </p:cNvPr>
          <p:cNvSpPr>
            <a:spLocks noGrp="1"/>
          </p:cNvSpPr>
          <p:nvPr/>
        </p:nvSpPr>
        <p:spPr>
          <a:xfrm>
            <a:off x="83629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2. H2-b-2 원인 분리 인터뷰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2110148-CF72-4DE8-BE85-56134A38D3F7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4E9A13-4AC6-465A-8DE8-E8D52F3C18DE}"/>
              </a:ext>
            </a:extLst>
          </p:cNvPr>
          <p:cNvSpPr>
            <a:spLocks noGrp="1"/>
          </p:cNvSpPr>
          <p:nvPr/>
        </p:nvSpPr>
        <p:spPr>
          <a:xfrm>
            <a:off x="836295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3. 통과 시 단계 1 프로토타입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3443E5D-B9CA-4E22-95D1-89FFCCF31CCB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610850" cy="666750"/>
          </a:xfrm>
          <a:prstGeom prst="roundRect">
            <a:avLst>
              <a:gd name="adj" fmla="val 17143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2231F9-FA65-4CEE-BFB2-7F86CE1DE9C1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1003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더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많이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만들기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전에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 2인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참여와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인과부터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확인한다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통과하면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설명하는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MVP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1로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간다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481BD0-0670-409A-8E1E-7E440CFA2A77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원본 링크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774F57C-06B0-42B0-AB02-EB5DC7CC475D}"/>
              </a:ext>
            </a:extLst>
          </p:cNvPr>
          <p:cNvSpPr>
            <a:spLocks noGrp="1"/>
          </p:cNvSpPr>
          <p:nvPr/>
        </p:nvSpPr>
        <p:spPr>
          <a:xfrm>
            <a:off x="1695450" y="55435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IPDAS  https://journals.sagepub.com/doi/full/10.1177/0272989X211021397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41C8FA8-0F90-4501-8629-00F679E4D29F}"/>
              </a:ext>
            </a:extLst>
          </p:cNvPr>
          <p:cNvSpPr>
            <a:spLocks noGrp="1"/>
          </p:cNvSpPr>
          <p:nvPr/>
        </p:nvSpPr>
        <p:spPr>
          <a:xfrm>
            <a:off x="6724650" y="554355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Grid  https://www.ncbi.nlm.nih.gov/pmc/articles/PMC3986464/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579C722-C80A-44EA-A9ED-533C98B62B4F}"/>
              </a:ext>
            </a:extLst>
          </p:cNvPr>
          <p:cNvSpPr>
            <a:spLocks noGrp="1"/>
          </p:cNvSpPr>
          <p:nvPr/>
        </p:nvSpPr>
        <p:spPr>
          <a:xfrm>
            <a:off x="1695450" y="58483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Handoff · decisions · evidence · hypotheses · trade-off patterns · screen design · VP · AC </a:t>
            </a:r>
            <a:r>
              <a:rPr sz="8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포함</a:t>
            </a:r>
            <a:r>
              <a:rPr sz="8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PRD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1B66189-77A8-4641-B577-3949157C58AD}"/>
              </a:ext>
            </a:extLst>
          </p:cNvPr>
          <p:cNvSpPr>
            <a:spLocks noGrp="1"/>
          </p:cNvSpPr>
          <p:nvPr/>
        </p:nvSpPr>
        <p:spPr>
          <a:xfrm>
            <a:off x="1905000" y="6115050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8045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5800</Words>
  <Application>Microsoft Office PowerPoint</Application>
  <DocSecurity>0</DocSecurity>
  <PresentationFormat>와이드스크린</PresentationFormat>
  <Paragraphs>972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수빈 박</cp:lastModifiedBy>
  <cp:revision>16</cp:revision>
  <dcterms:created xsi:type="dcterms:W3CDTF">2026-08-20T07:13:26Z</dcterms:created>
  <dcterms:modified xsi:type="dcterms:W3CDTF">2026-08-20T08:41:05Z</dcterms:modified>
</cp:coreProperties>
</file>