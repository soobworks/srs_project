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8"/>
    <p:sldId id="285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354" autoAdjust="0"/>
  </p:normalViewPr>
  <p:slideViewPr>
    <p:cSldViewPr snapToGrid="0">
      <p:cViewPr varScale="1">
        <p:scale>
          <a:sx n="75" d="100"/>
          <a:sy n="75" d="100"/>
        </p:scale>
        <p:origin x="9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38" Type="http://schemas.openxmlformats.org/officeDocument/2006/relationships/slide" Target="slides/slide3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수빈 박" userId="ce32221d53103a11" providerId="LiveId" clId="{02494E6E-0340-47F7-B897-6DA0D2D16AC8}"/>
    <pc:docChg chg="undo custSel modSld">
      <pc:chgData name="수빈 박" userId="ce32221d53103a11" providerId="LiveId" clId="{02494E6E-0340-47F7-B897-6DA0D2D16AC8}" dt="2026-08-20T08:56:29.394" v="65" actId="1036"/>
      <pc:docMkLst>
        <pc:docMk/>
      </pc:docMkLst>
      <pc:sldChg chg="modSp mod">
        <pc:chgData name="수빈 박" userId="ce32221d53103a11" providerId="LiveId" clId="{02494E6E-0340-47F7-B897-6DA0D2D16AC8}" dt="2026-08-20T08:34:48.295" v="15" actId="1036"/>
        <pc:sldMkLst>
          <pc:docMk/>
          <pc:sldMk cId="224337355" sldId="258"/>
        </pc:sldMkLst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8" creationId="{3A2372AE-E98A-4964-9688-4DA7526E0B83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1" creationId="{A025E531-00B4-4376-A2CF-AFF5FE32CD64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4" creationId="{FCF11419-E3A6-4B4A-B516-24C75B89F600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17" creationId="{C146F86A-DCF2-4BB8-9E04-193F6426C6DC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20" creationId="{9330B098-B7C1-4B8B-8CCE-CC02E11D631A}"/>
          </ac:spMkLst>
        </pc:spChg>
        <pc:spChg chg="mod">
          <ac:chgData name="수빈 박" userId="ce32221d53103a11" providerId="LiveId" clId="{02494E6E-0340-47F7-B897-6DA0D2D16AC8}" dt="2026-08-20T08:33:31.424" v="3" actId="1037"/>
          <ac:spMkLst>
            <pc:docMk/>
            <pc:sldMk cId="224337355" sldId="258"/>
            <ac:spMk id="23" creationId="{325A13A4-10B2-476E-BB1D-C05F91DF4D55}"/>
          </ac:spMkLst>
        </pc:spChg>
        <pc:spChg chg="mod">
          <ac:chgData name="수빈 박" userId="ce32221d53103a11" providerId="LiveId" clId="{02494E6E-0340-47F7-B897-6DA0D2D16AC8}" dt="2026-08-20T08:34:48.295" v="15" actId="1036"/>
          <ac:spMkLst>
            <pc:docMk/>
            <pc:sldMk cId="224337355" sldId="258"/>
            <ac:spMk id="25" creationId="{C6EC3C2C-B938-4D24-868A-DDFBB140E100}"/>
          </ac:spMkLst>
        </pc:spChg>
        <pc:spChg chg="mod">
          <ac:chgData name="수빈 박" userId="ce32221d53103a11" providerId="LiveId" clId="{02494E6E-0340-47F7-B897-6DA0D2D16AC8}" dt="2026-08-20T08:34:40.918" v="14" actId="1036"/>
          <ac:spMkLst>
            <pc:docMk/>
            <pc:sldMk cId="224337355" sldId="258"/>
            <ac:spMk id="27" creationId="{DF51171B-86FD-425D-90EF-36A47DD3288E}"/>
          </ac:spMkLst>
        </pc:spChg>
        <pc:spChg chg="mod">
          <ac:chgData name="수빈 박" userId="ce32221d53103a11" providerId="LiveId" clId="{02494E6E-0340-47F7-B897-6DA0D2D16AC8}" dt="2026-08-20T08:34:20.402" v="10" actId="1036"/>
          <ac:spMkLst>
            <pc:docMk/>
            <pc:sldMk cId="224337355" sldId="258"/>
            <ac:spMk id="30" creationId="{C738C398-1948-43C7-AF09-674AF20048B4}"/>
          </ac:spMkLst>
        </pc:spChg>
        <pc:spChg chg="mod">
          <ac:chgData name="수빈 박" userId="ce32221d53103a11" providerId="LiveId" clId="{02494E6E-0340-47F7-B897-6DA0D2D16AC8}" dt="2026-08-20T08:34:36.168" v="13" actId="1036"/>
          <ac:spMkLst>
            <pc:docMk/>
            <pc:sldMk cId="224337355" sldId="258"/>
            <ac:spMk id="33" creationId="{2624091C-61F9-48A3-A5AC-D301280DD614}"/>
          </ac:spMkLst>
        </pc:spChg>
      </pc:sldChg>
      <pc:sldChg chg="modSp mod">
        <pc:chgData name="수빈 박" userId="ce32221d53103a11" providerId="LiveId" clId="{02494E6E-0340-47F7-B897-6DA0D2D16AC8}" dt="2026-08-20T08:56:29.394" v="65" actId="1036"/>
        <pc:sldMkLst>
          <pc:docMk/>
          <pc:sldMk cId="1495419320" sldId="260"/>
        </pc:sldMkLst>
        <pc:spChg chg="mod">
          <ac:chgData name="수빈 박" userId="ce32221d53103a11" providerId="LiveId" clId="{02494E6E-0340-47F7-B897-6DA0D2D16AC8}" dt="2026-08-20T08:56:29.394" v="65" actId="1036"/>
          <ac:spMkLst>
            <pc:docMk/>
            <pc:sldMk cId="1495419320" sldId="260"/>
            <ac:spMk id="38" creationId="{0A92E8F6-8312-4E4A-AA0C-4A6402BC2494}"/>
          </ac:spMkLst>
        </pc:spChg>
        <pc:spChg chg="mod">
          <ac:chgData name="수빈 박" userId="ce32221d53103a11" providerId="LiveId" clId="{02494E6E-0340-47F7-B897-6DA0D2D16AC8}" dt="2026-08-20T08:56:29.394" v="65" actId="1036"/>
          <ac:spMkLst>
            <pc:docMk/>
            <pc:sldMk cId="1495419320" sldId="260"/>
            <ac:spMk id="39" creationId="{604BD844-2C37-49F0-9A59-1ABF27B52676}"/>
          </ac:spMkLst>
        </pc:spChg>
      </pc:sldChg>
      <pc:sldChg chg="modSp mod">
        <pc:chgData name="수빈 박" userId="ce32221d53103a11" providerId="LiveId" clId="{02494E6E-0340-47F7-B897-6DA0D2D16AC8}" dt="2026-08-20T08:35:40.746" v="27" actId="1035"/>
        <pc:sldMkLst>
          <pc:docMk/>
          <pc:sldMk cId="1343870297" sldId="262"/>
        </pc:sldMkLst>
        <pc:spChg chg="mod">
          <ac:chgData name="수빈 박" userId="ce32221d53103a11" providerId="LiveId" clId="{02494E6E-0340-47F7-B897-6DA0D2D16AC8}" dt="2026-08-20T08:35:29.275" v="23" actId="1035"/>
          <ac:spMkLst>
            <pc:docMk/>
            <pc:sldMk cId="1343870297" sldId="262"/>
            <ac:spMk id="29" creationId="{D3CCCAEB-D118-4734-A444-B49ECD86085B}"/>
          </ac:spMkLst>
        </pc:spChg>
        <pc:spChg chg="mod">
          <ac:chgData name="수빈 박" userId="ce32221d53103a11" providerId="LiveId" clId="{02494E6E-0340-47F7-B897-6DA0D2D16AC8}" dt="2026-08-20T08:35:35.676" v="26" actId="1035"/>
          <ac:spMkLst>
            <pc:docMk/>
            <pc:sldMk cId="1343870297" sldId="262"/>
            <ac:spMk id="30" creationId="{3768235F-F969-4B42-BB35-2B0DAE6440E7}"/>
          </ac:spMkLst>
        </pc:spChg>
        <pc:spChg chg="mod">
          <ac:chgData name="수빈 박" userId="ce32221d53103a11" providerId="LiveId" clId="{02494E6E-0340-47F7-B897-6DA0D2D16AC8}" dt="2026-08-20T08:35:40.746" v="27" actId="1035"/>
          <ac:spMkLst>
            <pc:docMk/>
            <pc:sldMk cId="1343870297" sldId="262"/>
            <ac:spMk id="31" creationId="{03B6B004-4B2B-43DA-A6E7-2BA2FE5EB603}"/>
          </ac:spMkLst>
        </pc:spChg>
      </pc:sldChg>
      <pc:sldChg chg="modSp mod">
        <pc:chgData name="수빈 박" userId="ce32221d53103a11" providerId="LiveId" clId="{02494E6E-0340-47F7-B897-6DA0D2D16AC8}" dt="2026-08-20T08:37:06.641" v="44" actId="1035"/>
        <pc:sldMkLst>
          <pc:docMk/>
          <pc:sldMk cId="1081108234" sldId="268"/>
        </pc:sldMkLst>
        <pc:spChg chg="mod">
          <ac:chgData name="수빈 박" userId="ce32221d53103a11" providerId="LiveId" clId="{02494E6E-0340-47F7-B897-6DA0D2D16AC8}" dt="2026-08-20T08:37:01.374" v="40" actId="1035"/>
          <ac:spMkLst>
            <pc:docMk/>
            <pc:sldMk cId="1081108234" sldId="268"/>
            <ac:spMk id="16" creationId="{D1BA81A6-D5D2-4035-AC06-C7FE252D643D}"/>
          </ac:spMkLst>
        </pc:spChg>
        <pc:spChg chg="mod">
          <ac:chgData name="수빈 박" userId="ce32221d53103a11" providerId="LiveId" clId="{02494E6E-0340-47F7-B897-6DA0D2D16AC8}" dt="2026-08-20T08:36:58.344" v="38" actId="1035"/>
          <ac:spMkLst>
            <pc:docMk/>
            <pc:sldMk cId="1081108234" sldId="268"/>
            <ac:spMk id="18" creationId="{77207C8E-BF8D-42DC-8BC6-759FCCD6E045}"/>
          </ac:spMkLst>
        </pc:spChg>
        <pc:spChg chg="mod">
          <ac:chgData name="수빈 박" userId="ce32221d53103a11" providerId="LiveId" clId="{02494E6E-0340-47F7-B897-6DA0D2D16AC8}" dt="2026-08-20T08:37:06.641" v="44" actId="1035"/>
          <ac:spMkLst>
            <pc:docMk/>
            <pc:sldMk cId="1081108234" sldId="268"/>
            <ac:spMk id="19" creationId="{42049BD9-7B58-46C2-BA89-21A96590E0F3}"/>
          </ac:spMkLst>
        </pc:spChg>
        <pc:spChg chg="mod">
          <ac:chgData name="수빈 박" userId="ce32221d53103a11" providerId="LiveId" clId="{02494E6E-0340-47F7-B897-6DA0D2D16AC8}" dt="2026-08-20T08:36:34.625" v="28" actId="1036"/>
          <ac:spMkLst>
            <pc:docMk/>
            <pc:sldMk cId="1081108234" sldId="268"/>
            <ac:spMk id="23" creationId="{7E9E73DC-FC0A-43C5-8FA8-0FA2A0596B99}"/>
          </ac:spMkLst>
        </pc:spChg>
      </pc:sldChg>
      <pc:sldChg chg="modSp mod">
        <pc:chgData name="수빈 박" userId="ce32221d53103a11" providerId="LiveId" clId="{02494E6E-0340-47F7-B897-6DA0D2D16AC8}" dt="2026-08-20T08:37:22.259" v="45" actId="1036"/>
        <pc:sldMkLst>
          <pc:docMk/>
          <pc:sldMk cId="1709083599" sldId="270"/>
        </pc:sldMkLst>
        <pc:spChg chg="mod">
          <ac:chgData name="수빈 박" userId="ce32221d53103a11" providerId="LiveId" clId="{02494E6E-0340-47F7-B897-6DA0D2D16AC8}" dt="2026-08-20T08:37:22.259" v="45" actId="1036"/>
          <ac:spMkLst>
            <pc:docMk/>
            <pc:sldMk cId="1709083599" sldId="270"/>
            <ac:spMk id="44" creationId="{4F47EFA9-1743-45A0-86C2-FCBB1D5CA033}"/>
          </ac:spMkLst>
        </pc:spChg>
      </pc:sldChg>
      <pc:sldChg chg="modSp mod">
        <pc:chgData name="수빈 박" userId="ce32221d53103a11" providerId="LiveId" clId="{02494E6E-0340-47F7-B897-6DA0D2D16AC8}" dt="2026-08-20T08:38:09.262" v="53" actId="1036"/>
        <pc:sldMkLst>
          <pc:docMk/>
          <pc:sldMk cId="649107641" sldId="272"/>
        </pc:sldMkLst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0" creationId="{7238A72C-9D80-4501-B0D5-528AA2A6C0D3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1" creationId="{E91216E0-8748-4017-8392-5ED4240BB015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2" creationId="{C78D979D-F7C4-48A1-AC7F-0959076083F3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3" creationId="{DAC276E5-6F5F-416A-A228-07FE54DA411D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4" creationId="{CBFCAB63-F745-43FE-8905-C2925F139094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5" creationId="{91B4D608-5523-44A7-8E24-C4CBCBBA7CF2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6" creationId="{F5B051B7-448F-490A-BD1F-02E458E85A97}"/>
          </ac:spMkLst>
        </pc:spChg>
        <pc:spChg chg="mod">
          <ac:chgData name="수빈 박" userId="ce32221d53103a11" providerId="LiveId" clId="{02494E6E-0340-47F7-B897-6DA0D2D16AC8}" dt="2026-08-20T08:38:09.262" v="53" actId="1036"/>
          <ac:spMkLst>
            <pc:docMk/>
            <pc:sldMk cId="649107641" sldId="272"/>
            <ac:spMk id="17" creationId="{09CBBE08-89B1-48FF-ADCF-39D022C401E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19" creationId="{B5034B31-ECDF-4E02-82B5-AA60FEEE8A6E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0" creationId="{AF2B5541-04C2-4BA0-AF40-B95391240CCE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1" creationId="{0B68262A-953E-4A40-98C7-B5E18E37BDE7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2" creationId="{BA2BDBC9-5729-471E-B202-75D1D60B566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3" creationId="{B70BE8F1-A706-42EC-930D-BB56CE651484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4" creationId="{3F3ED5CE-4210-4E40-B5C2-20B6FA8E40CC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5" creationId="{47D84580-4334-4766-A631-1676366036F2}"/>
          </ac:spMkLst>
        </pc:spChg>
        <pc:spChg chg="mod">
          <ac:chgData name="수빈 박" userId="ce32221d53103a11" providerId="LiveId" clId="{02494E6E-0340-47F7-B897-6DA0D2D16AC8}" dt="2026-08-20T08:37:46.271" v="49" actId="1036"/>
          <ac:spMkLst>
            <pc:docMk/>
            <pc:sldMk cId="649107641" sldId="272"/>
            <ac:spMk id="26" creationId="{A79D43E8-289A-4F85-946E-6627547C95F4}"/>
          </ac:spMkLst>
        </pc:spChg>
      </pc:sldChg>
      <pc:sldChg chg="modSp mod">
        <pc:chgData name="수빈 박" userId="ce32221d53103a11" providerId="LiveId" clId="{02494E6E-0340-47F7-B897-6DA0D2D16AC8}" dt="2026-08-20T08:40:05.963" v="60" actId="1036"/>
        <pc:sldMkLst>
          <pc:docMk/>
          <pc:sldMk cId="1384968217" sldId="278"/>
        </pc:sldMkLst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8" creationId="{709AAAEC-61DA-4E2A-865A-B5C68234F31F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9" creationId="{A58D63BD-C430-4E16-8AEF-D60D4FEBDAF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1" creationId="{BC88FF80-7FC5-4506-ACA5-6FF8536B7B9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2" creationId="{87016F0F-D393-42B5-98E6-B443A2EA5105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4" creationId="{1DA0E42E-515D-4AAB-BFFD-BA0F42655690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5" creationId="{D2BB4B14-4A97-4B22-9480-3F0B454C17D4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7" creationId="{1342A7FA-F153-4A62-ACC8-4339D4FE232B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18" creationId="{EB657D60-6650-4C7A-A75F-D15564F91004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0" creationId="{C07D9CBA-B18E-43CF-BF21-38CB8DEFA886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1" creationId="{8DB0F047-6DD5-46AC-AD78-BFAEF1590CC8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3" creationId="{DEF26A3B-A798-4B03-A041-6A78EA44B5A1}"/>
          </ac:spMkLst>
        </pc:spChg>
        <pc:spChg chg="mod">
          <ac:chgData name="수빈 박" userId="ce32221d53103a11" providerId="LiveId" clId="{02494E6E-0340-47F7-B897-6DA0D2D16AC8}" dt="2026-08-20T08:40:05.963" v="60" actId="1036"/>
          <ac:spMkLst>
            <pc:docMk/>
            <pc:sldMk cId="1384968217" sldId="278"/>
            <ac:spMk id="24" creationId="{89C80383-264C-4135-955E-CCA4E0FE08C2}"/>
          </ac:spMkLst>
        </pc:spChg>
        <pc:spChg chg="mod">
          <ac:chgData name="수빈 박" userId="ce32221d53103a11" providerId="LiveId" clId="{02494E6E-0340-47F7-B897-6DA0D2D16AC8}" dt="2026-08-20T08:39:32.142" v="58" actId="1036"/>
          <ac:spMkLst>
            <pc:docMk/>
            <pc:sldMk cId="1384968217" sldId="278"/>
            <ac:spMk id="31" creationId="{13981B6C-6AB1-495D-9857-1ACEAB781263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2" creationId="{00AA80DC-2951-4C4C-950F-2DF06CFB5E3A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3" creationId="{374CAF5C-B78D-4801-A0D4-84A16EF708C4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35" creationId="{C1D0B3BD-1903-40F2-BDAC-E0B56AA8AD2A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6" creationId="{3E09C0FA-9763-4A8A-93D5-3F507E993AEF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37" creationId="{6EC14EC8-BB5E-4A16-B182-AC8A5A59CD4B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39" creationId="{2BA088EC-0DBE-4919-A070-D2109B71D2AC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0" creationId="{2D76F29B-BC6A-4664-A6FB-A3DF4DD0E213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1" creationId="{82F5FFB8-62B7-4D44-9B65-9636FA41CE77}"/>
          </ac:spMkLst>
        </pc:spChg>
        <pc:spChg chg="mod">
          <ac:chgData name="수빈 박" userId="ce32221d53103a11" providerId="LiveId" clId="{02494E6E-0340-47F7-B897-6DA0D2D16AC8}" dt="2026-08-20T08:39:30.051" v="57" actId="1036"/>
          <ac:spMkLst>
            <pc:docMk/>
            <pc:sldMk cId="1384968217" sldId="278"/>
            <ac:spMk id="43" creationId="{7619066E-44EF-4D6E-9E95-E2802D72942B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4" creationId="{85802C9E-0667-44A2-813E-244A3E88AE32}"/>
          </ac:spMkLst>
        </pc:spChg>
        <pc:spChg chg="mod">
          <ac:chgData name="수빈 박" userId="ce32221d53103a11" providerId="LiveId" clId="{02494E6E-0340-47F7-B897-6DA0D2D16AC8}" dt="2026-08-20T08:39:18.068" v="56" actId="1036"/>
          <ac:spMkLst>
            <pc:docMk/>
            <pc:sldMk cId="1384968217" sldId="278"/>
            <ac:spMk id="45" creationId="{3DB9CFE8-A69A-4285-990B-1328F49DA020}"/>
          </ac:spMkLst>
        </pc:spChg>
      </pc:sldChg>
      <pc:sldChg chg="modSp mod">
        <pc:chgData name="수빈 박" userId="ce32221d53103a11" providerId="LiveId" clId="{02494E6E-0340-47F7-B897-6DA0D2D16AC8}" dt="2026-08-20T08:41:01.663" v="64" actId="1035"/>
        <pc:sldMkLst>
          <pc:docMk/>
          <pc:sldMk cId="1502171489" sldId="281"/>
        </pc:sldMkLst>
        <pc:spChg chg="mod">
          <ac:chgData name="수빈 박" userId="ce32221d53103a11" providerId="LiveId" clId="{02494E6E-0340-47F7-B897-6DA0D2D16AC8}" dt="2026-08-20T08:41:01.663" v="64" actId="1035"/>
          <ac:spMkLst>
            <pc:docMk/>
            <pc:sldMk cId="1502171489" sldId="281"/>
            <ac:spMk id="41" creationId="{5E4ADE47-B193-413F-ADB0-D994C661434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발표</a:t>
            </a:r>
            <a:r>
              <a:rPr dirty="0"/>
              <a:t> </a:t>
            </a:r>
            <a:r>
              <a:rPr dirty="0" err="1"/>
              <a:t>포인트</a:t>
            </a:r>
            <a:r>
              <a:rPr dirty="0"/>
              <a:t>: </a:t>
            </a:r>
            <a:r>
              <a:rPr dirty="0" err="1"/>
              <a:t>출발점은</a:t>
            </a:r>
            <a:r>
              <a:rPr dirty="0"/>
              <a:t> </a:t>
            </a:r>
            <a:r>
              <a:rPr dirty="0" err="1"/>
              <a:t>검색이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이미</a:t>
            </a:r>
            <a:r>
              <a:rPr dirty="0"/>
              <a:t> </a:t>
            </a:r>
            <a:r>
              <a:rPr dirty="0" err="1"/>
              <a:t>저장한</a:t>
            </a:r>
            <a:r>
              <a:rPr dirty="0"/>
              <a:t> </a:t>
            </a:r>
            <a:r>
              <a:rPr dirty="0" err="1"/>
              <a:t>관심매물이고</a:t>
            </a:r>
            <a:r>
              <a:rPr dirty="0"/>
              <a:t>, </a:t>
            </a:r>
            <a:r>
              <a:rPr dirty="0" err="1"/>
              <a:t>결과는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1개가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둘이</a:t>
            </a:r>
            <a:r>
              <a:rPr dirty="0"/>
              <a:t> </a:t>
            </a:r>
            <a:r>
              <a:rPr dirty="0" err="1"/>
              <a:t>정한</a:t>
            </a:r>
            <a:r>
              <a:rPr dirty="0"/>
              <a:t> </a:t>
            </a:r>
            <a:r>
              <a:rPr dirty="0" err="1"/>
              <a:t>방문</a:t>
            </a:r>
            <a:r>
              <a:rPr dirty="0"/>
              <a:t> </a:t>
            </a:r>
            <a:r>
              <a:rPr dirty="0" err="1"/>
              <a:t>후보</a:t>
            </a:r>
            <a:r>
              <a:rPr dirty="0"/>
              <a:t> 2개다.</a:t>
            </a:r>
          </a:p>
          <a:p>
            <a:r>
              <a:rPr dirty="0" err="1"/>
              <a:t>과장</a:t>
            </a:r>
            <a:r>
              <a:rPr dirty="0"/>
              <a:t> </a:t>
            </a:r>
            <a:r>
              <a:rPr dirty="0" err="1"/>
              <a:t>금지</a:t>
            </a:r>
            <a:r>
              <a:rPr dirty="0"/>
              <a:t>: 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최적의</a:t>
            </a:r>
            <a:r>
              <a:rPr dirty="0"/>
              <a:t> </a:t>
            </a:r>
            <a:r>
              <a:rPr dirty="0" err="1"/>
              <a:t>집을</a:t>
            </a:r>
            <a:r>
              <a:rPr dirty="0"/>
              <a:t> </a:t>
            </a:r>
            <a:r>
              <a:rPr dirty="0" err="1"/>
              <a:t>고른다거나</a:t>
            </a:r>
            <a:r>
              <a:rPr dirty="0"/>
              <a:t> </a:t>
            </a:r>
            <a:r>
              <a:rPr dirty="0" err="1"/>
              <a:t>결정</a:t>
            </a:r>
            <a:r>
              <a:rPr dirty="0"/>
              <a:t> </a:t>
            </a:r>
            <a:r>
              <a:rPr dirty="0" err="1"/>
              <a:t>시간을</a:t>
            </a:r>
            <a:r>
              <a:rPr dirty="0"/>
              <a:t> </a:t>
            </a:r>
            <a:r>
              <a:rPr dirty="0" err="1"/>
              <a:t>단축한다고</a:t>
            </a:r>
            <a:r>
              <a:rPr dirty="0"/>
              <a:t> </a:t>
            </a:r>
            <a:r>
              <a:rPr dirty="0" err="1"/>
              <a:t>말하지</a:t>
            </a:r>
            <a:r>
              <a:rPr dirty="0"/>
              <a:t> </a:t>
            </a:r>
            <a:r>
              <a:rPr dirty="0" err="1"/>
              <a:t>않는다</a:t>
            </a:r>
            <a:r>
              <a:rPr dirty="0"/>
              <a:t>.</a:t>
            </a:r>
          </a:p>
          <a:p>
            <a:r>
              <a:rPr dirty="0"/>
              <a:t>[Sources]</a:t>
            </a:r>
          </a:p>
          <a:p>
            <a:r>
              <a:rPr dirty="0"/>
              <a:t>Handoff ZIP: docs/11-decision-status.md</a:t>
            </a:r>
          </a:p>
          <a:p>
            <a:r>
              <a:rPr dirty="0"/>
              <a:t>Local artifact: value-proposition_20260820.md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뒤의 28장이 이 다섯 문장의 근거와 한계를 차례로 해명한다.</a:t>
            </a:r>
          </a:p>
          <a:p>
            <a:r>
              <a:t>과장 금지: 시장성과 제품 효과가 이미 검증됐다고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주거 형태 무관은 제품 정의, 전·월세 2인은 초기 시장 범위다.</a:t>
            </a:r>
          </a:p>
          <a:p>
            <a:r>
              <a:t>과장 금지: 전체 부동산 거래 시장을 TAM으로 보거나 계약·대출까지 통합한다고 확장하지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경쟁자는 부동산 앱만이 아니라 이미 쓰는 카톡 공유 + 지도 확인 + 메모 비교다.</a:t>
            </a:r>
          </a:p>
          <a:p>
            <a:r>
              <a:t>과장 금지: 카톡보다 빠르다거나 반응 속도를 실측 결과처럼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docs/04-benchmarks.md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SAM은 전체 공동 주거 시장이 아니라 공개 통계로 계산 가능한 하한이며 SOM은 시나리오다.</a:t>
            </a:r>
          </a:p>
          <a:p>
            <a:r>
              <a:t>과장 금지: 54.6만 쌍이 실제 고객이거나 최소 20만 명을 확보할 수 있다고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docs/03-evidence-log.md F13~F17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기회는 네이버의 강점인 저장과 문의 사이에서 공동 비교·결정이 빠지는 구간이다.</a:t>
            </a:r>
          </a:p>
          <a:p>
            <a:r>
              <a:t>과장 금지: 관심매물 방치 비중이나 외부 도구 사용률을 확정 사실로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docs/07-cjm-opportunity-score.md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데이터가 충분해도 B가 들어오지 않으면 공동 의사결정 기능은 성립하지 않는다.</a:t>
            </a:r>
          </a:p>
          <a:p>
            <a:r>
              <a:t>과장 금지: 네이버이기 때문에 초대 수락률이 높을 것이라고 가정하지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Handoff ZIP: docs/09-edge-cases.md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예비부부·신혼부부는 제품 전체 정의가 아니라 가설을 선명하게 볼 첫 검증 집단이다.</a:t>
            </a:r>
          </a:p>
          <a:p>
            <a:r>
              <a:t>과장 금지: 주 고객이 신혼부부로 확정됐거나 룸메이트가 확장 시장이라고 말하지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docs/02-hypotheses.md</a:t>
            </a:r>
          </a:p>
          <a:p>
            <a:r>
              <a:t>Handoff ZIP: docs/03-evidence-log.md I12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비대칭은 진입 경로와 기기에만 있고 결정 권한에는 없어야 한다.</a:t>
            </a:r>
          </a:p>
          <a:p>
            <a:r>
              <a:t>과장 금지: 자료에 없는 나이·직업·소득을 인터뷰 페르소나처럼 만들지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핵심 Job은 매물을 더 모으는 것이 아니라 각 후보의 대가를 이해하고 방문 후보를 정하는 것이다.</a:t>
            </a:r>
          </a:p>
          <a:p>
            <a:r>
              <a:t>과장 금지: 모든 커플이 동일 여정을 겪거나 이 기능이 관계 갈등을 줄인다고 말하지 않는다.</a:t>
            </a:r>
          </a:p>
          <a:p>
            <a:r>
              <a:t>[Sources]</a:t>
            </a:r>
          </a:p>
          <a:p>
            <a:r>
              <a:t>Handoff ZIP: docs/07-cjm-opportunity-score.md</a:t>
            </a:r>
          </a:p>
          <a:p>
            <a:r>
              <a:t>Local artifact: value-proposition_20260820.md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정성적으로 상대 우선순위는 세울 수 있지만 Opportunity Score 숫자는 지어내지 않는다.</a:t>
            </a:r>
          </a:p>
          <a:p>
            <a:r>
              <a:t>과장 금지: 의견 교환이 가장 불만족한 단계로 검증됐거나 OS가 특정 점수라고 말하지 않는다.</a:t>
            </a:r>
          </a:p>
          <a:p>
            <a:r>
              <a:t>[Sources]</a:t>
            </a:r>
          </a:p>
          <a:p>
            <a:r>
              <a:t>Handoff ZIP: docs/07-cjm-opportunity-score.md</a:t>
            </a:r>
          </a:p>
          <a:p>
            <a:r>
              <a:t>Handoff ZIP: docs/01-team-brief.md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이 페이지는 문제를 약하게 만드는 것이 아니라 정확히 무엇을 검증해야 하는지 좁힌다.</a:t>
            </a:r>
          </a:p>
          <a:p>
            <a:r>
              <a:t>과장 금지: 77%를 결정 지연 비율로 바꾸거나 국내 전·월세에 그대로 일반화하지 않는다.</a:t>
            </a:r>
          </a:p>
          <a:p>
            <a:r>
              <a:t>[Sources]</a:t>
            </a:r>
          </a:p>
          <a:p>
            <a:r>
              <a:t>Handoff ZIP: docs/03-evidence-log.md F1</a:t>
            </a:r>
          </a:p>
          <a:p>
            <a:r>
              <a:t>Handoff ZIP: docs/03-evidence-log.md F26</a:t>
            </a:r>
          </a:p>
          <a:p>
            <a:r>
              <a:t>Handoff ZIP: docs/02-hypotheses.md H2-b-2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공유 폴더만 만들면 정보의 문제만 해결한다. 차별점은 사람 간 조건 차이를 합산 없이 드러내는 것이다.</a:t>
            </a:r>
          </a:p>
          <a:p>
            <a:r>
              <a:t>과장 금지: 조건 차이가 결정 지연의 원인으로 입증됐다고 말하지 않는다.</a:t>
            </a:r>
          </a:p>
          <a:p>
            <a:r>
              <a:t>[Sources]</a:t>
            </a:r>
          </a:p>
          <a:p>
            <a:r>
              <a:t>Handoff ZIP: docs/01-team-brief.md</a:t>
            </a:r>
          </a:p>
          <a:p>
            <a:r>
              <a:t>Handoff ZIP: docs/02-hypotheses.md</a:t>
            </a:r>
          </a:p>
          <a:p>
            <a:r>
              <a:t>Local artifact: prd_v0.1_20260820_with_AC.md §6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TwoKeys는 가장 가까운 선행 사례지만 선행 서비스의 존재가 우리 수요 증거는 아니다.</a:t>
            </a:r>
          </a:p>
          <a:p>
            <a:r>
              <a:t>과장 금지: TwoKeys 성공·세계 최초·국내 앱 전부 1인용이라고 말하지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docs/03-evidence-log.md F2</a:t>
            </a:r>
          </a:p>
          <a:p>
            <a:r>
              <a:t>Handoff ZIP: docs/03-evidence-log.md F27~F28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사례 나열이 아니라 초대·입력·비교·수렴의 작동 메커니즘을 분해한다.</a:t>
            </a:r>
          </a:p>
          <a:p>
            <a:r>
              <a:t>과장 금지: 결혼준비 앱에서 초대가 검증됐으니 우리도 작동한다고 결론 내리지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docs/02-hypotheses.md</a:t>
            </a:r>
          </a:p>
          <a:p>
            <a:r>
              <a:t>Handoff ZIP: docs/03-evidence-log.md F3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IPDAS는 제품 효과의 직접 근거가 아니라 균형 제시 설계의 참조 근거다.</a:t>
            </a:r>
          </a:p>
          <a:p>
            <a:r>
              <a:t>과장 금지: 의료에서의 균형 인식 수치를 주거 제품 효과로 그대로 전이하지 않는다.</a:t>
            </a:r>
          </a:p>
          <a:p>
            <a:r>
              <a:t>[Sources]</a:t>
            </a:r>
          </a:p>
          <a:p>
            <a:r>
              <a:t>https://journals.sagepub.com/doi/full/10.1177/0272989X211021397</a:t>
            </a:r>
          </a:p>
          <a:p>
            <a:r>
              <a:t>https://www.ncbi.nlm.nih.gov/pmc/articles/PMC3986464/</a:t>
            </a:r>
          </a:p>
          <a:p>
            <a:r>
              <a:t>Handoff ZIP: docs/05-tradeoff-patterns.md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유지할 것은 낮은 참여 마찰과 균형 비교이며, 단일 최적해 구조는 두 사람의 선택으로 변형한다.</a:t>
            </a:r>
          </a:p>
          <a:p>
            <a:r>
              <a:t>과장 금지: 선행 사례가 있으므로 구현·사용성 리스크가 없다고 말하지 않는다.</a:t>
            </a:r>
          </a:p>
          <a:p>
            <a:r>
              <a:t>[Sources]</a:t>
            </a:r>
          </a:p>
          <a:p>
            <a:r>
              <a:t>Handoff ZIP: docs/04-benchmarks.md</a:t>
            </a:r>
          </a:p>
          <a:p>
            <a:r>
              <a:t>Handoff ZIP: docs/05-tradeoff-patterns.md</a:t>
            </a:r>
          </a:p>
          <a:p>
            <a:r>
              <a:t>Handoff ZIP: decisions/0001-no-total-score.md</a:t>
            </a:r>
          </a:p>
          <a:p>
            <a:r>
              <a:t>Handoff ZIP: decisions/0003-conditions-belong-to-people.md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총점을 안 쓰는 것은 계산 능력이 부족해서가 아니라 제품의 질문이 최고가 아니라 납득이기 때문이다.</a:t>
            </a:r>
          </a:p>
          <a:p>
            <a:r>
              <a:t>과장 금지: 총점 방식이 항상 잘못됐거나 분할이 더 공정하다고 검증됐다고 말하지 않는다.</a:t>
            </a:r>
          </a:p>
          <a:p>
            <a:r>
              <a:t>[Sources]</a:t>
            </a:r>
          </a:p>
          <a:p>
            <a:r>
              <a:t>Handoff ZIP: decisions/0001-no-total-score.md</a:t>
            </a:r>
          </a:p>
          <a:p>
            <a:r>
              <a:t>Handoff ZIP: decisions/0004-agreement-by-split.md</a:t>
            </a:r>
          </a:p>
          <a:p>
            <a:r>
              <a:t>Handoff ZIP: docs/05-tradeoff-patterns.md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동사는 추천한다가 아니라 확인하고 함께 결정하도록 돕는다다.</a:t>
            </a:r>
          </a:p>
          <a:p>
            <a:r>
              <a:t>과장 금지: 확정 VP에 더 빠르게·갈등 없이·최적이라는 미검증 효과를 추가하지 않는다.</a:t>
            </a:r>
          </a:p>
          <a:p>
            <a:r>
              <a:t>[Sources]</a:t>
            </a:r>
          </a:p>
          <a:p>
            <a:r>
              <a:t>Local artifact: value-proposition_20260820.md</a:t>
            </a:r>
          </a:p>
          <a:p>
            <a:r>
              <a:t>Local artifact: prd_v0.1_20260820_with_AC.md §7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조건 완화는 후보를 새로 추천하지 않고 현재 후보의 판정 변화를 미리 보는 기능이다.</a:t>
            </a:r>
          </a:p>
          <a:p>
            <a:r>
              <a:t>과장 금지: 두 라운드면 반드시 합의되거나 출근지가 모든 사용자에게 필수라고 말하지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docs/08-screen-design.md</a:t>
            </a:r>
          </a:p>
          <a:p>
            <a:r>
              <a:t>Handoff ZIP: decisions/0003-conditions-belong-to-people.md</a:t>
            </a:r>
          </a:p>
          <a:p>
            <a:r>
              <a:t>Handoff ZIP: decisions/0004-agreement-by-split.md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A와 B의 입력 순서는 같고, B는 입력 전에 후보와 초대 맥락을 먼저 본다.</a:t>
            </a:r>
          </a:p>
          <a:p>
            <a:r>
              <a:t>과장 금지: B가 비로그인으로 모든 기능을 쓸 수 있다고 확정하지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docs/10-data-integration.md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화면의 Hero는 누가 무엇을 얼마나 감수하는지 읽히는 문장이다.</a:t>
            </a:r>
          </a:p>
          <a:p>
            <a:r>
              <a:t>과장 금지: A-13b-2를 완성 화면처럼 제시하거나 사진을 핵심 판정 근거로 강조하지 않는다.</a:t>
            </a:r>
          </a:p>
          <a:p>
            <a:r>
              <a:t>[Sources]</a:t>
            </a:r>
          </a:p>
          <a:p>
            <a:r>
              <a:t>Handoff ZIP: docs/08-screen-design.md</a:t>
            </a:r>
          </a:p>
          <a:p>
            <a:r>
              <a:t>Handoff ZIP: docs/05-tradeoff-patterns.md</a:t>
            </a:r>
          </a:p>
          <a:p>
            <a:r>
              <a:t>Local artifact: prd_v0.1_20260820_with_AC.md §17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출근 안 함은 입력 누락·계산 실패가 아니라 정상 경로이며 비교표에서 통근 행을 뺀다.</a:t>
            </a:r>
          </a:p>
          <a:p>
            <a:r>
              <a:t>과장 금지: 확인 필요와 방문 후 체크리스트를 같은 상태로 설명하지 않는다.</a:t>
            </a:r>
          </a:p>
          <a:p>
            <a:r>
              <a:t>[Sources]</a:t>
            </a:r>
          </a:p>
          <a:p>
            <a:r>
              <a:t>Handoff ZIP: docs/11-decision-status.md</a:t>
            </a:r>
          </a:p>
          <a:p>
            <a:r>
              <a:t>Handoff ZIP: docs/09-edge-cases.md</a:t>
            </a:r>
          </a:p>
          <a:p>
            <a:r>
              <a:t>Handoff ZIP: decisions/0003-conditions-belong-to-people.md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별도 앱에서 링크를 파싱하거나 매물 DB를 만드는 안이 아니라 네이버 내부 기능이라는 전제다.</a:t>
            </a:r>
          </a:p>
          <a:p>
            <a:r>
              <a:t>과장 금지: 내부 API가 모두 있고 비용 계산이 실제 상환액을 정확히 예측한다고 말하지 않는다.</a:t>
            </a:r>
          </a:p>
          <a:p>
            <a:r>
              <a:t>[Sources]</a:t>
            </a:r>
          </a:p>
          <a:p>
            <a:r>
              <a:t>Handoff ZIP: docs/10-data-integration.md</a:t>
            </a:r>
          </a:p>
          <a:p>
            <a:r>
              <a:t>Handoff ZIP: docs/06-cost-model.md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단계 1은 핵심 가치와 급소 가설을 검증하고 단계 2는 방문 이후 기록까지 여정을 완성한다.</a:t>
            </a:r>
          </a:p>
          <a:p>
            <a:r>
              <a:t>과장 금지: 계약·대출까지 해결하거나 AI가 정답을 고른다고 범위를 확장하지 않는다.</a:t>
            </a:r>
          </a:p>
          <a:p>
            <a:r>
              <a:t>[Sources]</a:t>
            </a:r>
          </a:p>
          <a:p>
            <a:r>
              <a:t>Local artifact: prd_v0.1_20260820_with_AC.md §8</a:t>
            </a:r>
          </a:p>
          <a:p>
            <a:r>
              <a:t>Local artifact: prd_v0.1_20260820_with_AC.md §21~§22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FR은 화면 목록이 아니라 사용자 선택권을 보존하는 하나의 시나리오로 읽혀야 한다.</a:t>
            </a:r>
          </a:p>
          <a:p>
            <a:r>
              <a:t>과장 금지: AI가 공정한 타협안을 제안하거나 상대 조건을 자동 적용한다고 말하지 않는다.</a:t>
            </a:r>
          </a:p>
          <a:p>
            <a:r>
              <a:t>[Sources]</a:t>
            </a:r>
          </a:p>
          <a:p>
            <a:r>
              <a:t>Local artifact: prd_v0.1_20260820_with_AC.md §16</a:t>
            </a:r>
          </a:p>
          <a:p>
            <a:r>
              <a:t>Handoff ZIP: docs/11-decision-status.md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AC는 기능·정합성 최소 완료 조건이며 특히 입력 분기·총점 금지·분할·오류 구분을 추적한다.</a:t>
            </a:r>
          </a:p>
          <a:p>
            <a:r>
              <a:t>과장 금지: AC가 사용자 만족·갈등 감소·사업 성과를 보장한다고 말하지 않는다.</a:t>
            </a:r>
          </a:p>
          <a:p>
            <a:r>
              <a:t>[Sources]</a:t>
            </a:r>
          </a:p>
          <a:p>
            <a:r>
              <a:t>Local artifact: prd_v0.1_20260820_with_AC.md</a:t>
            </a:r>
          </a:p>
          <a:p>
            <a:r>
              <a:t>Local artifact: prd_v0.1_20260820_with_AC.md Acceptance Criteria Summary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H1과 H2-b-2가 무너지면 기능 개선보다 2인 전제나 Problem Statement를 재검토한다.</a:t>
            </a:r>
          </a:p>
          <a:p>
            <a:r>
              <a:t>과장 금지: 근거 없는 전환율 목표를 만들거나 North Star를 결정시간 단축률로 바꾸지 않는다.</a:t>
            </a:r>
          </a:p>
          <a:p>
            <a:r>
              <a:t>[Sources]</a:t>
            </a:r>
          </a:p>
          <a:p>
            <a:r>
              <a:t>Handoff ZIP: docs/02-hypotheses.md</a:t>
            </a:r>
          </a:p>
          <a:p>
            <a:r>
              <a:t>Handoff ZIP: docs/11-decision-status.md</a:t>
            </a:r>
          </a:p>
          <a:p>
            <a:r>
              <a:t>Local artifact: prd_v0.1_20260820_with_AC.md §23~§24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가장 먼저 줄여야 할 위험은 화면 완성도가 아니라 B 참여와 문제 인과다.</a:t>
            </a:r>
          </a:p>
          <a:p>
            <a:r>
              <a:t>과장 금지: 위험이 설계로 모두 해결됐거나 내부 API가 가능하다고 가정하지 않는다.</a:t>
            </a:r>
          </a:p>
          <a:p>
            <a:r>
              <a:t>[Sources]</a:t>
            </a:r>
          </a:p>
          <a:p>
            <a:r>
              <a:t>Local artifact: prd_v0.1_20260820_with_AC.md §25~§26</a:t>
            </a:r>
          </a:p>
          <a:p>
            <a:r>
              <a:t>Handoff ZIP: docs/02-hypotheses.md</a:t>
            </a:r>
          </a:p>
          <a:p>
            <a:r>
              <a:t>Handoff ZIP: docs/09-edge-cases.md</a:t>
            </a:r>
          </a:p>
          <a:p>
            <a:r>
              <a:t>Handoff ZIP: docs/10-data-integration.md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포인트: 성과는 제품 성공 선언이 아니라 어디까지 만들 가치가 있는지 판정할 다음 실험이 명확해진 것이다.</a:t>
            </a:r>
          </a:p>
          <a:p>
            <a:r>
              <a:t>과장 금지: 시장 검증 완료·MVP 개발 확정·H2-b-2 정성 확인 완료라고 말하지 않는다.</a:t>
            </a:r>
          </a:p>
          <a:p>
            <a:r>
              <a:t>[Sources]</a:t>
            </a:r>
          </a:p>
          <a:p>
            <a:r>
              <a:t>Handoff ZIP: _00_READ_FIRST.md</a:t>
            </a:r>
          </a:p>
          <a:p>
            <a:r>
              <a:t>Handoff ZIP: docs/11-decision-status.md</a:t>
            </a:r>
          </a:p>
          <a:p>
            <a:r>
              <a:t>Handoff ZIP: docs/02-hypotheses.md</a:t>
            </a:r>
          </a:p>
          <a:p>
            <a:r>
              <a:t>Handoff ZIP: docs/03-evidence-log.md</a:t>
            </a:r>
          </a:p>
          <a:p>
            <a:r>
              <a:t>https://journals.sagepub.com/doi/full/10.1177/0272989X211021397</a:t>
            </a:r>
          </a:p>
          <a:p>
            <a:r>
              <a:t>https://www.ncbi.nlm.nih.gov/pmc/articles/PMC3986464/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ns2:creationId id="{83F6A77D-296A-4A64-82BA-F6CCBAB5F5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사각형: 둥근 모서리 1">
            <a:extLst>
              <a:ext uri="{FF2B5EF4-FFF2-40B4-BE49-F238E27FC236}">
                <ns2:creationId id="{E739E4D9-51E7-4CFB-A575-1D0F957C8A0B}"/>
              </a:ext>
            </a:extLst>
          </p:cNvPr>
          <p:cNvSpPr>
            <a:spLocks noGrp="1"/>
          </p:cNvSpPr>
          <p:nvPr/>
        </p:nvSpPr>
        <p:spPr>
          <a:xfrm>
            <a:off x="704850" y="495300"/>
            <a:ext cx="20764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네이버 부동산 신규 기능 제안</a:t>
            </a:r>
          </a:p>
        </p:txBody>
      </p:sp>
      <p:sp>
        <p:nvSpPr>
          <p:cNvPr id="3" name="직사각형 2">
            <a:extLst>
              <a:ext uri="{FF2B5EF4-FFF2-40B4-BE49-F238E27FC236}">
                <ns2:creationId id="{28541FE7-2FAF-4FC2-AE33-32115BB3F6FF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6810375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관심매물 이후,</a:t>
            </a:r>
          </a:p>
          <a:p>
            <a:pPr algn="l">
              <a:def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3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둘이 납득하는 결정까지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0E96319C-0F9F-4D1B-91C2-1F2293723A4C}"/>
              </a:ext>
            </a:extLst>
          </p:cNvPr>
          <p:cNvSpPr>
            <a:spLocks noGrp="1"/>
          </p:cNvSpPr>
          <p:nvPr/>
        </p:nvSpPr>
        <p:spPr>
          <a:xfrm>
            <a:off x="733425" y="29146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각자의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조건과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지점을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보고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보러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갈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집을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정합니다</a:t>
            </a:r>
            <a:r>
              <a:rPr sz="165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6D3AA8F5-44C3-4F1C-ABCE-5042EC7262FD}"/>
              </a:ext>
            </a:extLst>
          </p:cNvPr>
          <p:cNvSpPr>
            <a:spLocks noGrp="1"/>
          </p:cNvSpPr>
          <p:nvPr/>
        </p:nvSpPr>
        <p:spPr>
          <a:xfrm>
            <a:off x="742950" y="355282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같이 보기 · 네이버 부동산 공동 의사결정 기능 역기획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CB5C81A5-C6D4-4E6C-AE7F-EDDF4A578AF9}"/>
              </a:ext>
            </a:extLst>
          </p:cNvPr>
          <p:cNvSpPr>
            <a:spLocks noGrp="1"/>
          </p:cNvSpPr>
          <p:nvPr/>
        </p:nvSpPr>
        <p:spPr>
          <a:xfrm>
            <a:off x="76676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2809EFB6-55A2-4CC3-8EC0-6131EA3C9B9A}"/>
              </a:ext>
            </a:extLst>
          </p:cNvPr>
          <p:cNvSpPr>
            <a:spLocks noGrp="1"/>
          </p:cNvSpPr>
          <p:nvPr/>
        </p:nvSpPr>
        <p:spPr>
          <a:xfrm>
            <a:off x="77438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선 연결선 7">
            <a:extLst>
              <a:ext uri="{FF2B5EF4-FFF2-40B4-BE49-F238E27FC236}">
                <ns2:creationId id="{206791F5-501B-4CDF-B989-7A52F82BEACF}"/>
              </a:ext>
            </a:extLst>
          </p:cNvPr>
          <p:cNvSpPr>
            <a:spLocks noGrp="1"/>
          </p:cNvSpPr>
          <p:nvPr/>
        </p:nvSpPr>
        <p:spPr>
          <a:xfrm>
            <a:off x="77533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선 연결선 8">
            <a:extLst>
              <a:ext uri="{FF2B5EF4-FFF2-40B4-BE49-F238E27FC236}">
                <ns2:creationId id="{25C5E4A2-6572-4815-A146-846993F87A5A}"/>
              </a:ext>
            </a:extLst>
          </p:cNvPr>
          <p:cNvSpPr>
            <a:spLocks noGrp="1"/>
          </p:cNvSpPr>
          <p:nvPr/>
        </p:nvSpPr>
        <p:spPr>
          <a:xfrm>
            <a:off x="77533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ns2:creationId id="{BD388B03-60D9-43CA-A8CA-9C5EA0BC4B49}"/>
              </a:ext>
            </a:extLst>
          </p:cNvPr>
          <p:cNvSpPr>
            <a:spLocks noGrp="1"/>
          </p:cNvSpPr>
          <p:nvPr/>
        </p:nvSpPr>
        <p:spPr>
          <a:xfrm>
            <a:off x="8334375" y="13716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ns2:creationId id="{9C175D35-6DEE-4B94-8C9A-9583FB1B2863}"/>
              </a:ext>
            </a:extLst>
          </p:cNvPr>
          <p:cNvSpPr>
            <a:spLocks noGrp="1"/>
          </p:cNvSpPr>
          <p:nvPr/>
        </p:nvSpPr>
        <p:spPr>
          <a:xfrm>
            <a:off x="8410575" y="14668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선 연결선 11">
            <a:extLst>
              <a:ext uri="{FF2B5EF4-FFF2-40B4-BE49-F238E27FC236}">
                <ns2:creationId id="{C1726EB4-B6FF-471C-98E0-B38BAA35AC0E}"/>
              </a:ext>
            </a:extLst>
          </p:cNvPr>
          <p:cNvSpPr>
            <a:spLocks noGrp="1"/>
          </p:cNvSpPr>
          <p:nvPr/>
        </p:nvSpPr>
        <p:spPr>
          <a:xfrm>
            <a:off x="8420100" y="17716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선 연결선 12">
            <a:extLst>
              <a:ext uri="{FF2B5EF4-FFF2-40B4-BE49-F238E27FC236}">
                <ns2:creationId id="{159F331D-634B-435F-8E22-510B47CD8FAA}"/>
              </a:ext>
            </a:extLst>
          </p:cNvPr>
          <p:cNvSpPr>
            <a:spLocks noGrp="1"/>
          </p:cNvSpPr>
          <p:nvPr/>
        </p:nvSpPr>
        <p:spPr>
          <a:xfrm>
            <a:off x="8420100" y="18669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사각형: 둥근 모서리 13">
            <a:extLst>
              <a:ext uri="{FF2B5EF4-FFF2-40B4-BE49-F238E27FC236}">
                <ns2:creationId id="{5A377A34-BD35-4966-B03E-34F6906119FA}"/>
              </a:ext>
            </a:extLst>
          </p:cNvPr>
          <p:cNvSpPr>
            <a:spLocks noGrp="1"/>
          </p:cNvSpPr>
          <p:nvPr/>
        </p:nvSpPr>
        <p:spPr>
          <a:xfrm>
            <a:off x="90011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ns2:creationId id="{A3485D58-E804-47C3-AC5C-32F3FC8AD263}"/>
              </a:ext>
            </a:extLst>
          </p:cNvPr>
          <p:cNvSpPr>
            <a:spLocks noGrp="1"/>
          </p:cNvSpPr>
          <p:nvPr/>
        </p:nvSpPr>
        <p:spPr>
          <a:xfrm>
            <a:off x="90773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선 연결선 15">
            <a:extLst>
              <a:ext uri="{FF2B5EF4-FFF2-40B4-BE49-F238E27FC236}">
                <ns2:creationId id="{014BED4A-5A1E-4319-AEE6-9C46C4F5D2F2}"/>
              </a:ext>
            </a:extLst>
          </p:cNvPr>
          <p:cNvSpPr>
            <a:spLocks noGrp="1"/>
          </p:cNvSpPr>
          <p:nvPr/>
        </p:nvSpPr>
        <p:spPr>
          <a:xfrm>
            <a:off x="90868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선 연결선 16">
            <a:extLst>
              <a:ext uri="{FF2B5EF4-FFF2-40B4-BE49-F238E27FC236}">
                <ns2:creationId id="{DBB2B551-D794-4AFA-8F40-5C01ACFF9E95}"/>
              </a:ext>
            </a:extLst>
          </p:cNvPr>
          <p:cNvSpPr>
            <a:spLocks noGrp="1"/>
          </p:cNvSpPr>
          <p:nvPr/>
        </p:nvSpPr>
        <p:spPr>
          <a:xfrm>
            <a:off x="90868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ns2:creationId id="{4B6D71C7-F2DF-41F4-AE3F-6433B25E8E4A}"/>
              </a:ext>
            </a:extLst>
          </p:cNvPr>
          <p:cNvSpPr>
            <a:spLocks noGrp="1"/>
          </p:cNvSpPr>
          <p:nvPr/>
        </p:nvSpPr>
        <p:spPr>
          <a:xfrm>
            <a:off x="9667875" y="13716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ns2:creationId id="{050B5DA6-EA89-4999-8F38-28090CD81C6B}"/>
              </a:ext>
            </a:extLst>
          </p:cNvPr>
          <p:cNvSpPr>
            <a:spLocks noGrp="1"/>
          </p:cNvSpPr>
          <p:nvPr/>
        </p:nvSpPr>
        <p:spPr>
          <a:xfrm>
            <a:off x="9744075" y="14668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선 연결선 19">
            <a:extLst>
              <a:ext uri="{FF2B5EF4-FFF2-40B4-BE49-F238E27FC236}">
                <ns2:creationId id="{F867A908-BDD2-43CD-8FDC-56EB100BBE69}"/>
              </a:ext>
            </a:extLst>
          </p:cNvPr>
          <p:cNvSpPr>
            <a:spLocks noGrp="1"/>
          </p:cNvSpPr>
          <p:nvPr/>
        </p:nvSpPr>
        <p:spPr>
          <a:xfrm>
            <a:off x="9753600" y="17716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선 연결선 20">
            <a:extLst>
              <a:ext uri="{FF2B5EF4-FFF2-40B4-BE49-F238E27FC236}">
                <ns2:creationId id="{2FC604CD-3D02-406F-8CFF-397EF56C9CEF}"/>
              </a:ext>
            </a:extLst>
          </p:cNvPr>
          <p:cNvSpPr>
            <a:spLocks noGrp="1"/>
          </p:cNvSpPr>
          <p:nvPr/>
        </p:nvSpPr>
        <p:spPr>
          <a:xfrm>
            <a:off x="9753600" y="18669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ns2:creationId id="{7F0623F2-3493-4590-8F34-12A81869D2E7}"/>
              </a:ext>
            </a:extLst>
          </p:cNvPr>
          <p:cNvSpPr>
            <a:spLocks noGrp="1"/>
          </p:cNvSpPr>
          <p:nvPr/>
        </p:nvSpPr>
        <p:spPr>
          <a:xfrm>
            <a:off x="10334625" y="1181100"/>
            <a:ext cx="552450" cy="7429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사각형: 둥근 모서리 22">
            <a:extLst>
              <a:ext uri="{FF2B5EF4-FFF2-40B4-BE49-F238E27FC236}">
                <ns2:creationId id="{B0488852-4AEB-45A8-AA4D-FE8DE92ACAC8}"/>
              </a:ext>
            </a:extLst>
          </p:cNvPr>
          <p:cNvSpPr>
            <a:spLocks noGrp="1"/>
          </p:cNvSpPr>
          <p:nvPr/>
        </p:nvSpPr>
        <p:spPr>
          <a:xfrm>
            <a:off x="10410825" y="1276350"/>
            <a:ext cx="400050" cy="228600"/>
          </a:xfrm>
          <a:prstGeom prst="roundRect">
            <a:avLst>
              <a:gd name="adj" fmla="val 16667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선 연결선 23">
            <a:extLst>
              <a:ext uri="{FF2B5EF4-FFF2-40B4-BE49-F238E27FC236}">
                <ns2:creationId id="{9F7E2790-628A-4A8C-A791-1AF5FF44450A}"/>
              </a:ext>
            </a:extLst>
          </p:cNvPr>
          <p:cNvSpPr>
            <a:spLocks noGrp="1"/>
          </p:cNvSpPr>
          <p:nvPr/>
        </p:nvSpPr>
        <p:spPr>
          <a:xfrm>
            <a:off x="10420350" y="1581150"/>
            <a:ext cx="36195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선 연결선 24">
            <a:extLst>
              <a:ext uri="{FF2B5EF4-FFF2-40B4-BE49-F238E27FC236}">
                <ns2:creationId id="{D3B6100B-DB99-4857-BA86-2165BBBAB171}"/>
              </a:ext>
            </a:extLst>
          </p:cNvPr>
          <p:cNvSpPr>
            <a:spLocks noGrp="1"/>
          </p:cNvSpPr>
          <p:nvPr/>
        </p:nvSpPr>
        <p:spPr>
          <a:xfrm>
            <a:off x="10420350" y="1676400"/>
            <a:ext cx="266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화살표: 오른쪽 25">
            <a:extLst>
              <a:ext uri="{FF2B5EF4-FFF2-40B4-BE49-F238E27FC236}">
                <ns2:creationId id="{A7FD7666-DB52-464F-82D1-75609D24A3D4}"/>
              </a:ext>
            </a:extLst>
          </p:cNvPr>
          <p:cNvSpPr>
            <a:spLocks noGrp="1"/>
          </p:cNvSpPr>
          <p:nvPr/>
        </p:nvSpPr>
        <p:spPr>
          <a:xfrm>
            <a:off x="8763000" y="2343150"/>
            <a:ext cx="7239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ns2:creationId id="{76DF76A8-A6B2-4A58-8A5A-42A12C31D593}"/>
              </a:ext>
            </a:extLst>
          </p:cNvPr>
          <p:cNvSpPr>
            <a:spLocks noGrp="1"/>
          </p:cNvSpPr>
          <p:nvPr/>
        </p:nvSpPr>
        <p:spPr>
          <a:xfrm>
            <a:off x="8096250" y="2781300"/>
            <a:ext cx="2476500" cy="167640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사각형: 둥근 모서리 27">
            <a:extLst>
              <a:ext uri="{FF2B5EF4-FFF2-40B4-BE49-F238E27FC236}">
                <ns2:creationId id="{18882AFD-17A0-4F6B-BB96-EB6BAA7B566F}"/>
              </a:ext>
            </a:extLst>
          </p:cNvPr>
          <p:cNvSpPr>
            <a:spLocks noGrp="1"/>
          </p:cNvSpPr>
          <p:nvPr/>
        </p:nvSpPr>
        <p:spPr>
          <a:xfrm>
            <a:off x="8839200" y="2914650"/>
            <a:ext cx="1000125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 fontScale="98262"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 차이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E13924A0-9BC6-408C-B068-9683BB6B995E}"/>
              </a:ext>
            </a:extLst>
          </p:cNvPr>
          <p:cNvSpPr>
            <a:spLocks noGrp="1"/>
          </p:cNvSpPr>
          <p:nvPr/>
        </p:nvSpPr>
        <p:spPr>
          <a:xfrm>
            <a:off x="8334375" y="32956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FC51C4AD-8E4C-46E2-A289-22F5D45EE88F}"/>
              </a:ext>
            </a:extLst>
          </p:cNvPr>
          <p:cNvSpPr>
            <a:spLocks noGrp="1"/>
          </p:cNvSpPr>
          <p:nvPr/>
        </p:nvSpPr>
        <p:spPr>
          <a:xfrm>
            <a:off x="8743950" y="329565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충족 · 통근 +13분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86603C41-8ECC-4636-8FFD-B32678250269}"/>
              </a:ext>
            </a:extLst>
          </p:cNvPr>
          <p:cNvSpPr>
            <a:spLocks noGrp="1"/>
          </p:cNvSpPr>
          <p:nvPr/>
        </p:nvSpPr>
        <p:spPr>
          <a:xfrm>
            <a:off x="8334375" y="36957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2" name="직사각형 31">
            <a:extLst>
              <a:ext uri="{FF2B5EF4-FFF2-40B4-BE49-F238E27FC236}">
                <ns2:creationId id="{A88D3FA9-29F8-4D0D-8BAB-83A2B8A7DEB8}"/>
              </a:ext>
            </a:extLst>
          </p:cNvPr>
          <p:cNvSpPr>
            <a:spLocks noGrp="1"/>
          </p:cNvSpPr>
          <p:nvPr/>
        </p:nvSpPr>
        <p:spPr>
          <a:xfrm>
            <a:off x="8743950" y="369570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면적 충족 · 주차 확인</a:t>
            </a:r>
          </a:p>
        </p:txBody>
      </p:sp>
      <p:sp>
        <p:nvSpPr>
          <p:cNvPr id="33" name="직선 연결선 32">
            <a:extLst>
              <a:ext uri="{FF2B5EF4-FFF2-40B4-BE49-F238E27FC236}">
                <ns2:creationId id="{5C5139DB-BE76-45E1-8D71-2881D161FF2D}"/>
              </a:ext>
            </a:extLst>
          </p:cNvPr>
          <p:cNvSpPr>
            <a:spLocks noGrp="1"/>
          </p:cNvSpPr>
          <p:nvPr/>
        </p:nvSpPr>
        <p:spPr>
          <a:xfrm>
            <a:off x="8324850" y="4076700"/>
            <a:ext cx="2000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ns2:creationId id="{DF803D5D-4460-4A7E-8F74-98A75B8974BB}"/>
              </a:ext>
            </a:extLst>
          </p:cNvPr>
          <p:cNvSpPr>
            <a:spLocks noGrp="1"/>
          </p:cNvSpPr>
          <p:nvPr/>
        </p:nvSpPr>
        <p:spPr>
          <a:xfrm>
            <a:off x="8477250" y="41719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총점 없이 대가를 설명</a:t>
            </a:r>
          </a:p>
        </p:txBody>
      </p:sp>
      <p:sp>
        <p:nvSpPr>
          <p:cNvPr id="35" name="화살표: 오른쪽 34">
            <a:extLst>
              <a:ext uri="{FF2B5EF4-FFF2-40B4-BE49-F238E27FC236}">
                <ns2:creationId id="{DD401108-3D08-4F17-A8D2-5BDB6FF6617C}"/>
              </a:ext>
            </a:extLst>
          </p:cNvPr>
          <p:cNvSpPr>
            <a:spLocks noGrp="1"/>
          </p:cNvSpPr>
          <p:nvPr/>
        </p:nvSpPr>
        <p:spPr>
          <a:xfrm>
            <a:off x="8763000" y="4686300"/>
            <a:ext cx="7239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사각형: 둥근 모서리 35">
            <a:extLst>
              <a:ext uri="{FF2B5EF4-FFF2-40B4-BE49-F238E27FC236}">
                <ns2:creationId id="{FFB23C1E-D159-4050-8CAB-87E6FE7DA13C}"/>
              </a:ext>
            </a:extLst>
          </p:cNvPr>
          <p:cNvSpPr>
            <a:spLocks noGrp="1"/>
          </p:cNvSpPr>
          <p:nvPr/>
        </p:nvSpPr>
        <p:spPr>
          <a:xfrm>
            <a:off x="8239125" y="5143500"/>
            <a:ext cx="1123950" cy="666750"/>
          </a:xfrm>
          <a:prstGeom prst="roundRect">
            <a:avLst>
              <a:gd name="adj" fmla="val 17143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보러 갈 집 1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ns2:creationId id="{8250F9AF-A051-4452-9074-0C361888A13E}"/>
              </a:ext>
            </a:extLst>
          </p:cNvPr>
          <p:cNvSpPr>
            <a:spLocks noGrp="1"/>
          </p:cNvSpPr>
          <p:nvPr/>
        </p:nvSpPr>
        <p:spPr>
          <a:xfrm>
            <a:off x="9477375" y="5143500"/>
            <a:ext cx="11239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보러 갈 집 2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666962A7-2A93-4791-86BB-E8C4BDB43CEF}"/>
              </a:ext>
            </a:extLst>
          </p:cNvPr>
          <p:cNvSpPr>
            <a:spLocks noGrp="1"/>
          </p:cNvSpPr>
          <p:nvPr/>
        </p:nvSpPr>
        <p:spPr>
          <a:xfrm>
            <a:off x="742950" y="61912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2026년 8월 · 4조</a:t>
            </a:r>
          </a:p>
        </p:txBody>
      </p:sp>
      <p:sp>
        <p:nvSpPr>
          <p:cNvPr id="39" name="직사각형 38">
            <a:extLst>
              <a:ext uri="{FF2B5EF4-FFF2-40B4-BE49-F238E27FC236}">
                <ns2:creationId id="{83429A3B-25DE-4CCB-8039-FE21BA4BA016}"/>
              </a:ext>
            </a:extLst>
          </p:cNvPr>
          <p:cNvSpPr>
            <a:spLocks noGrp="1"/>
          </p:cNvSpPr>
          <p:nvPr/>
        </p:nvSpPr>
        <p:spPr>
          <a:xfrm>
            <a:off x="10953750" y="61912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</p:spTree>
    <p:extLst>
      <p:ext uri="{BB962C8B-B14F-4D97-AF65-F5344CB8AC3E}">
        <ns3:creationId val="625008486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사각형: 둥근 모서리 50">
            <a:extLst>
              <a:ext uri="{FF2B5EF4-FFF2-40B4-BE49-F238E27FC236}">
                <ns2:creationId id="{0493CD62-5F46-4ECB-8E95-CECD1805C20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2479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Executive Summary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A0AD42D8-9B01-4E21-87B0-D1CA2A9DCCB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저장 다음부터가 저희 자리입니다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9B1EC0ED-D528-4477-84E4-ECE99BF04A49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ns2:creationId id="{EC50D03D-E149-4716-902B-8010560340E5}"/>
              </a:ext>
            </a:extLst>
          </p:cNvPr>
          <p:cNvSpPr>
            <a:spLocks noGrp="1"/>
          </p:cNvSpPr>
          <p:nvPr/>
        </p:nvSpPr>
        <p:spPr>
          <a:xfrm>
            <a:off x="647700" y="6390000"/>
            <a:ext cx="9858375" cy="43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핵심 지표 — 초대를 보낸 것 중 7일 안에 보러 갈 집 2개가 정해진 비율 (목표값은 처음 재본 뒤에 정합니다)</a:t>
            </a:r>
          </a:p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확인 = 공개 자료로 검증됨   ·   추론 = 팀의 해석, 아직 안 재봄   ·   가설 = 이번에 검증할 것   ·   미정 = 아직 안 정함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B2950A92-9BC2-45E1-8C65-BB10EB8D331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D3268CC6-8D4B-4785-ADAB-A1B6E03DD1BB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A2803BAD-E41D-4A12-9B36-D40D592F5ECE}"/>
              </a:ext>
            </a:extLst>
          </p:cNvPr>
          <p:cNvSpPr>
            <a:spLocks noGrp="1"/>
          </p:cNvSpPr>
          <p:nvPr/>
        </p:nvSpPr>
        <p:spPr>
          <a:xfrm>
            <a:off x="85725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523EDD1E-B28E-4A42-9B6E-32FC43300B8F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시장</a:t>
            </a:r>
            <a:endParaRPr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ns2:creationId id="{F3DABB1F-CFD0-48B1-AA7F-D0A30B409451}"/>
              </a:ext>
            </a:extLst>
          </p:cNvPr>
          <p:cNvSpPr>
            <a:spLocks noGrp="1"/>
          </p:cNvSpPr>
          <p:nvPr/>
        </p:nvSpPr>
        <p:spPr>
          <a:xfrm>
            <a:off x="85725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매물 링크 공유가 진짜 경쟁자</a:t>
            </a:r>
          </a:p>
        </p:txBody>
      </p:sp>
      <p:sp>
        <p:nvSpPr>
          <p:cNvPr id="10" name="직선 연결선 9">
            <a:extLst>
              <a:ext uri="{FF2B5EF4-FFF2-40B4-BE49-F238E27FC236}">
                <ns2:creationId id="{14B3E253-76B8-4878-8900-B25A41FF7558}"/>
              </a:ext>
            </a:extLst>
          </p:cNvPr>
          <p:cNvSpPr>
            <a:spLocks noGrp="1"/>
          </p:cNvSpPr>
          <p:nvPr/>
        </p:nvSpPr>
        <p:spPr>
          <a:xfrm>
            <a:off x="85725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ns2:creationId id="{687A1420-5537-4405-9832-753859A38C41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탐색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위에</a:t>
            </a:r>
            <a:r>
              <a:rPr sz="105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붙는다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ns2:creationId id="{238D50DC-F7D4-413E-88B4-1B79A0BB026C}"/>
              </a:ext>
            </a:extLst>
          </p:cNvPr>
          <p:cNvSpPr>
            <a:spLocks noGrp="1"/>
          </p:cNvSpPr>
          <p:nvPr/>
        </p:nvSpPr>
        <p:spPr>
          <a:xfrm>
            <a:off x="263842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ns2:creationId id="{675421B6-CBF4-443F-B123-8FFEC1D8670D}"/>
              </a:ext>
            </a:extLst>
          </p:cNvPr>
          <p:cNvSpPr>
            <a:spLocks noGrp="1"/>
          </p:cNvSpPr>
          <p:nvPr/>
        </p:nvSpPr>
        <p:spPr>
          <a:xfrm>
            <a:off x="287655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ns2:creationId id="{771E60E5-2575-46FC-BDCE-B3E948DBE6FF}"/>
              </a:ext>
            </a:extLst>
          </p:cNvPr>
          <p:cNvSpPr>
            <a:spLocks noGrp="1"/>
          </p:cNvSpPr>
          <p:nvPr/>
        </p:nvSpPr>
        <p:spPr>
          <a:xfrm>
            <a:off x="304800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CF311851-786A-4FB7-AEF0-580DD1BCF6B1}"/>
              </a:ext>
            </a:extLst>
          </p:cNvPr>
          <p:cNvSpPr>
            <a:spLocks noGrp="1"/>
          </p:cNvSpPr>
          <p:nvPr/>
        </p:nvSpPr>
        <p:spPr>
          <a:xfrm>
            <a:off x="304800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고객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05E7583F-D1EB-4AB3-A79D-CA4200EAD7B0}"/>
              </a:ext>
            </a:extLst>
          </p:cNvPr>
          <p:cNvSpPr>
            <a:spLocks noGrp="1"/>
          </p:cNvSpPr>
          <p:nvPr/>
        </p:nvSpPr>
        <p:spPr>
          <a:xfrm>
            <a:off x="304800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고르는 2인</a:t>
            </a:r>
          </a:p>
        </p:txBody>
      </p:sp>
      <p:sp>
        <p:nvSpPr>
          <p:cNvPr id="17" name="직선 연결선 16">
            <a:extLst>
              <a:ext uri="{FF2B5EF4-FFF2-40B4-BE49-F238E27FC236}">
                <ns2:creationId id="{F7236D7C-35D5-4192-9955-3C0183963BDF}"/>
              </a:ext>
            </a:extLst>
          </p:cNvPr>
          <p:cNvSpPr>
            <a:spLocks noGrp="1"/>
          </p:cNvSpPr>
          <p:nvPr/>
        </p:nvSpPr>
        <p:spPr>
          <a:xfrm>
            <a:off x="304800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ns2:creationId id="{0A8CF824-72A0-418D-A063-40DEA214CAEF}"/>
              </a:ext>
            </a:extLst>
          </p:cNvPr>
          <p:cNvSpPr>
            <a:spLocks noGrp="1"/>
          </p:cNvSpPr>
          <p:nvPr/>
        </p:nvSpPr>
        <p:spPr>
          <a:xfrm>
            <a:off x="304800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조건과 우선순위가 다르다</a:t>
            </a:r>
          </a:p>
        </p:txBody>
      </p:sp>
      <p:sp>
        <p:nvSpPr>
          <p:cNvPr id="19" name="화살표: 오른쪽 18">
            <a:extLst>
              <a:ext uri="{FF2B5EF4-FFF2-40B4-BE49-F238E27FC236}">
                <ns2:creationId id="{8642B453-BED8-4FE6-8FEB-5D105FDDDD5D}"/>
              </a:ext>
            </a:extLst>
          </p:cNvPr>
          <p:cNvSpPr>
            <a:spLocks noGrp="1"/>
          </p:cNvSpPr>
          <p:nvPr/>
        </p:nvSpPr>
        <p:spPr>
          <a:xfrm>
            <a:off x="482917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사각형: 둥근 모서리 19">
            <a:extLst>
              <a:ext uri="{FF2B5EF4-FFF2-40B4-BE49-F238E27FC236}">
                <ns2:creationId id="{7E2E45B1-C07C-435F-8B5F-3956C1965F3E}"/>
              </a:ext>
            </a:extLst>
          </p:cNvPr>
          <p:cNvSpPr>
            <a:spLocks noGrp="1"/>
          </p:cNvSpPr>
          <p:nvPr/>
        </p:nvSpPr>
        <p:spPr>
          <a:xfrm>
            <a:off x="506730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ns2:creationId id="{F458FA34-EAC4-4FD9-8177-73458D08003A}"/>
              </a:ext>
            </a:extLst>
          </p:cNvPr>
          <p:cNvSpPr>
            <a:spLocks noGrp="1"/>
          </p:cNvSpPr>
          <p:nvPr/>
        </p:nvSpPr>
        <p:spPr>
          <a:xfrm>
            <a:off x="523875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2" name="직사각형 21">
            <a:extLst>
              <a:ext uri="{FF2B5EF4-FFF2-40B4-BE49-F238E27FC236}">
                <ns2:creationId id="{67060D50-D49A-45A8-A80D-757CE17E77BC}"/>
              </a:ext>
            </a:extLst>
          </p:cNvPr>
          <p:cNvSpPr>
            <a:spLocks noGrp="1"/>
          </p:cNvSpPr>
          <p:nvPr/>
        </p:nvSpPr>
        <p:spPr>
          <a:xfrm>
            <a:off x="523875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7C08AFDA-4FCA-40D3-837D-31712CDB51AF}"/>
              </a:ext>
            </a:extLst>
          </p:cNvPr>
          <p:cNvSpPr>
            <a:spLocks noGrp="1"/>
          </p:cNvSpPr>
          <p:nvPr/>
        </p:nvSpPr>
        <p:spPr>
          <a:xfrm>
            <a:off x="523875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충돌은 확인 · 원인인지는 아직</a:t>
            </a:r>
          </a:p>
        </p:txBody>
      </p:sp>
      <p:sp>
        <p:nvSpPr>
          <p:cNvPr id="24" name="직선 연결선 23">
            <a:extLst>
              <a:ext uri="{FF2B5EF4-FFF2-40B4-BE49-F238E27FC236}">
                <ns2:creationId id="{888BDFDA-5CD4-4259-B202-BDA33CBCC6E9}"/>
              </a:ext>
            </a:extLst>
          </p:cNvPr>
          <p:cNvSpPr>
            <a:spLocks noGrp="1"/>
          </p:cNvSpPr>
          <p:nvPr/>
        </p:nvSpPr>
        <p:spPr>
          <a:xfrm>
            <a:off x="523875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0E6C80DE-E0ED-4A5A-9B72-F9283E44BFC5}"/>
              </a:ext>
            </a:extLst>
          </p:cNvPr>
          <p:cNvSpPr>
            <a:spLocks noGrp="1"/>
          </p:cNvSpPr>
          <p:nvPr/>
        </p:nvSpPr>
        <p:spPr>
          <a:xfrm>
            <a:off x="523875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원인 검증이 가장 중요</a:t>
            </a:r>
          </a:p>
        </p:txBody>
      </p:sp>
      <p:sp>
        <p:nvSpPr>
          <p:cNvPr id="26" name="화살표: 오른쪽 25">
            <a:extLst>
              <a:ext uri="{FF2B5EF4-FFF2-40B4-BE49-F238E27FC236}">
                <ns2:creationId id="{96F485E6-A1AB-4D5E-AB68-2C562CB9AE7B}"/>
              </a:ext>
            </a:extLst>
          </p:cNvPr>
          <p:cNvSpPr>
            <a:spLocks noGrp="1"/>
          </p:cNvSpPr>
          <p:nvPr/>
        </p:nvSpPr>
        <p:spPr>
          <a:xfrm>
            <a:off x="701992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ns2:creationId id="{3C857B7C-DDA4-4E49-8EAD-ABCD3D83AB86}"/>
              </a:ext>
            </a:extLst>
          </p:cNvPr>
          <p:cNvSpPr>
            <a:spLocks noGrp="1"/>
          </p:cNvSpPr>
          <p:nvPr/>
        </p:nvSpPr>
        <p:spPr>
          <a:xfrm>
            <a:off x="725805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ns2:creationId id="{5DE79971-5D67-49A5-B6CB-38D56AEF1E92}"/>
              </a:ext>
            </a:extLst>
          </p:cNvPr>
          <p:cNvSpPr>
            <a:spLocks noGrp="1"/>
          </p:cNvSpPr>
          <p:nvPr/>
        </p:nvSpPr>
        <p:spPr>
          <a:xfrm>
            <a:off x="742950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2158198B-C6A0-4D97-9BF4-C396ADBECF2E}"/>
              </a:ext>
            </a:extLst>
          </p:cNvPr>
          <p:cNvSpPr>
            <a:spLocks noGrp="1"/>
          </p:cNvSpPr>
          <p:nvPr/>
        </p:nvSpPr>
        <p:spPr>
          <a:xfrm>
            <a:off x="742950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해결 방식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5CD4509B-43BA-4143-A2E3-BDA447E246DB}"/>
              </a:ext>
            </a:extLst>
          </p:cNvPr>
          <p:cNvSpPr>
            <a:spLocks noGrp="1"/>
          </p:cNvSpPr>
          <p:nvPr/>
        </p:nvSpPr>
        <p:spPr>
          <a:xfrm>
            <a:off x="742950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충족·미달·양보를 병렬 설명</a:t>
            </a:r>
          </a:p>
        </p:txBody>
      </p:sp>
      <p:sp>
        <p:nvSpPr>
          <p:cNvPr id="31" name="직선 연결선 30">
            <a:extLst>
              <a:ext uri="{FF2B5EF4-FFF2-40B4-BE49-F238E27FC236}">
                <ns2:creationId id="{85CA3743-4E26-42BE-AC43-80F663A456A9}"/>
              </a:ext>
            </a:extLst>
          </p:cNvPr>
          <p:cNvSpPr>
            <a:spLocks noGrp="1"/>
          </p:cNvSpPr>
          <p:nvPr/>
        </p:nvSpPr>
        <p:spPr>
          <a:xfrm>
            <a:off x="742950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ns2:creationId id="{588A67F4-B0C4-418F-9DD9-7001B01337C3}"/>
              </a:ext>
            </a:extLst>
          </p:cNvPr>
          <p:cNvSpPr>
            <a:spLocks noGrp="1"/>
          </p:cNvSpPr>
          <p:nvPr/>
        </p:nvSpPr>
        <p:spPr>
          <a:xfrm>
            <a:off x="742950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총점·자동 추천 없음</a:t>
            </a:r>
          </a:p>
        </p:txBody>
      </p:sp>
      <p:sp>
        <p:nvSpPr>
          <p:cNvPr id="33" name="화살표: 오른쪽 32">
            <a:extLst>
              <a:ext uri="{FF2B5EF4-FFF2-40B4-BE49-F238E27FC236}">
                <ns2:creationId id="{B42B96DD-4519-40E4-A6B4-BE16060DB651}"/>
              </a:ext>
            </a:extLst>
          </p:cNvPr>
          <p:cNvSpPr>
            <a:spLocks noGrp="1"/>
          </p:cNvSpPr>
          <p:nvPr/>
        </p:nvSpPr>
        <p:spPr>
          <a:xfrm>
            <a:off x="9210675" y="2724150"/>
            <a:ext cx="238125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사각형: 둥근 모서리 33">
            <a:extLst>
              <a:ext uri="{FF2B5EF4-FFF2-40B4-BE49-F238E27FC236}">
                <ns2:creationId id="{E5B351D4-0C07-4606-9305-4A76C326EF65}"/>
              </a:ext>
            </a:extLst>
          </p:cNvPr>
          <p:cNvSpPr>
            <a:spLocks noGrp="1"/>
          </p:cNvSpPr>
          <p:nvPr/>
        </p:nvSpPr>
        <p:spPr>
          <a:xfrm>
            <a:off x="9448800" y="1695450"/>
            <a:ext cx="1952625" cy="226695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ns2:creationId id="{9A4A65B3-794B-49C2-8DFC-7301B9F02096}"/>
              </a:ext>
            </a:extLst>
          </p:cNvPr>
          <p:cNvSpPr>
            <a:spLocks noGrp="1"/>
          </p:cNvSpPr>
          <p:nvPr/>
        </p:nvSpPr>
        <p:spPr>
          <a:xfrm>
            <a:off x="9620250" y="18478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6" name="직사각형 35">
            <a:extLst>
              <a:ext uri="{FF2B5EF4-FFF2-40B4-BE49-F238E27FC236}">
                <ns2:creationId id="{34118C2F-A97A-47EF-AF56-DD8AAF9C0A8C}"/>
              </a:ext>
            </a:extLst>
          </p:cNvPr>
          <p:cNvSpPr>
            <a:spLocks noGrp="1"/>
          </p:cNvSpPr>
          <p:nvPr/>
        </p:nvSpPr>
        <p:spPr>
          <a:xfrm>
            <a:off x="9620250" y="21907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끝나는 지점</a:t>
            </a:r>
          </a:p>
        </p:txBody>
      </p:sp>
      <p:sp>
        <p:nvSpPr>
          <p:cNvPr id="37" name="직사각형 36">
            <a:extLst>
              <a:ext uri="{FF2B5EF4-FFF2-40B4-BE49-F238E27FC236}">
                <ns2:creationId id="{A9FD6B20-84F8-4FC0-9A77-04F74739EC19}"/>
              </a:ext>
            </a:extLst>
          </p:cNvPr>
          <p:cNvSpPr>
            <a:spLocks noGrp="1"/>
          </p:cNvSpPr>
          <p:nvPr/>
        </p:nvSpPr>
        <p:spPr>
          <a:xfrm>
            <a:off x="9620250" y="2628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관심매물 5개 → 보러 갈 집 2개</a:t>
            </a:r>
          </a:p>
        </p:txBody>
      </p:sp>
      <p:sp>
        <p:nvSpPr>
          <p:cNvPr id="38" name="직선 연결선 37">
            <a:extLst>
              <a:ext uri="{FF2B5EF4-FFF2-40B4-BE49-F238E27FC236}">
                <ns2:creationId id="{EE56DC4D-CEE0-4BF6-88D4-580B6C76C252}"/>
              </a:ext>
            </a:extLst>
          </p:cNvPr>
          <p:cNvSpPr>
            <a:spLocks noGrp="1"/>
          </p:cNvSpPr>
          <p:nvPr/>
        </p:nvSpPr>
        <p:spPr>
          <a:xfrm>
            <a:off x="9620250" y="3314700"/>
            <a:ext cx="1609725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ns2:creationId id="{D89EC17B-613E-4250-8D23-368E0446894A}"/>
              </a:ext>
            </a:extLst>
          </p:cNvPr>
          <p:cNvSpPr>
            <a:spLocks noGrp="1"/>
          </p:cNvSpPr>
          <p:nvPr/>
        </p:nvSpPr>
        <p:spPr>
          <a:xfrm>
            <a:off x="9620250" y="3476625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둘이 직접 선택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ns2:creationId id="{B1DDF86D-AC65-4388-ACE1-956DB3C7D56A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10820400" cy="1352550"/>
          </a:xfrm>
          <a:prstGeom prst="roundRect">
            <a:avLst>
              <a:gd name="adj" fmla="val 985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ns2:creationId id="{EB9F3724-7C27-42B3-B1D8-C7F204D5DD81}"/>
              </a:ext>
            </a:extLst>
          </p:cNvPr>
          <p:cNvSpPr>
            <a:spLocks noGrp="1"/>
          </p:cNvSpPr>
          <p:nvPr/>
        </p:nvSpPr>
        <p:spPr>
          <a:xfrm>
            <a:off x="914400" y="452437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검증 순서</a:t>
            </a:r>
          </a:p>
        </p:txBody>
      </p:sp>
      <p:sp>
        <p:nvSpPr>
          <p:cNvPr id="42" name="직사각형 41">
            <a:extLst>
              <a:ext uri="{FF2B5EF4-FFF2-40B4-BE49-F238E27FC236}">
                <ns2:creationId id="{F2B244E5-2C24-44E2-8689-9F4F8BB35A45}"/>
              </a:ext>
            </a:extLst>
          </p:cNvPr>
          <p:cNvSpPr>
            <a:spLocks noGrp="1"/>
          </p:cNvSpPr>
          <p:nvPr/>
        </p:nvSpPr>
        <p:spPr>
          <a:xfrm>
            <a:off x="914400" y="4933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초대받은 사람이 오는가</a:t>
            </a:r>
          </a:p>
        </p:txBody>
      </p:sp>
      <p:sp>
        <p:nvSpPr>
          <p:cNvPr id="43" name="화살표: 오른쪽 42">
            <a:extLst>
              <a:ext uri="{FF2B5EF4-FFF2-40B4-BE49-F238E27FC236}">
                <ns2:creationId id="{0D64C369-0626-4163-A388-FBFFCB692232}"/>
              </a:ext>
            </a:extLst>
          </p:cNvPr>
          <p:cNvSpPr>
            <a:spLocks noGrp="1"/>
          </p:cNvSpPr>
          <p:nvPr/>
        </p:nvSpPr>
        <p:spPr>
          <a:xfrm>
            <a:off x="3239023" y="5008058"/>
            <a:ext cx="4572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직사각형 43">
            <a:extLst>
              <a:ext uri="{FF2B5EF4-FFF2-40B4-BE49-F238E27FC236}">
                <ns2:creationId id="{550D0B72-C7D7-4D87-AD38-B7F680383EE3}"/>
              </a:ext>
            </a:extLst>
          </p:cNvPr>
          <p:cNvSpPr>
            <a:spLocks noGrp="1"/>
          </p:cNvSpPr>
          <p:nvPr/>
        </p:nvSpPr>
        <p:spPr>
          <a:xfrm>
            <a:off x="4095750" y="49339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원인이 조건 충돌인지 인터뷰</a:t>
            </a:r>
          </a:p>
        </p:txBody>
      </p:sp>
      <p:sp>
        <p:nvSpPr>
          <p:cNvPr id="45" name="화살표: 오른쪽 44">
            <a:extLst>
              <a:ext uri="{FF2B5EF4-FFF2-40B4-BE49-F238E27FC236}">
                <ns2:creationId id="{6332FB74-1E59-4AA0-828F-2EFDD8169133}"/>
              </a:ext>
            </a:extLst>
          </p:cNvPr>
          <p:cNvSpPr>
            <a:spLocks noGrp="1"/>
          </p:cNvSpPr>
          <p:nvPr/>
        </p:nvSpPr>
        <p:spPr>
          <a:xfrm>
            <a:off x="6686550" y="5008058"/>
            <a:ext cx="4572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직사각형 45">
            <a:extLst>
              <a:ext uri="{FF2B5EF4-FFF2-40B4-BE49-F238E27FC236}">
                <ns2:creationId id="{37C2A830-443C-4FD7-A731-CDF23A1DEFC0}"/>
              </a:ext>
            </a:extLst>
          </p:cNvPr>
          <p:cNvSpPr>
            <a:spLocks noGrp="1"/>
          </p:cNvSpPr>
          <p:nvPr/>
        </p:nvSpPr>
        <p:spPr>
          <a:xfrm>
            <a:off x="7524750" y="4933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1단계 프로토타입</a:t>
            </a:r>
            <a:endParaRPr sz="16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ns2:creationId id="{A7D7F945-494B-4A26-9A13-5C609DA19414}"/>
              </a:ext>
            </a:extLst>
          </p:cNvPr>
          <p:cNvSpPr>
            <a:spLocks noGrp="1"/>
          </p:cNvSpPr>
          <p:nvPr/>
        </p:nvSpPr>
        <p:spPr>
          <a:xfrm>
            <a:off x="9620250" y="4665158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확인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ns2:creationId id="{0CE4458D-BBAF-4EBA-BA2A-334A9B328A71}"/>
              </a:ext>
            </a:extLst>
          </p:cNvPr>
          <p:cNvSpPr>
            <a:spLocks noGrp="1"/>
          </p:cNvSpPr>
          <p:nvPr/>
        </p:nvSpPr>
        <p:spPr>
          <a:xfrm>
            <a:off x="10353675" y="4665158"/>
            <a:ext cx="5905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추론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ns2:creationId id="{A02EE706-F59A-4180-BBFB-A4D74A885A65}"/>
              </a:ext>
            </a:extLst>
          </p:cNvPr>
          <p:cNvSpPr>
            <a:spLocks noGrp="1"/>
          </p:cNvSpPr>
          <p:nvPr/>
        </p:nvSpPr>
        <p:spPr>
          <a:xfrm>
            <a:off x="9620250" y="5008058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가설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ns2:creationId id="{C5AAB9E2-7518-4D7A-BD57-7DD5A0D76B78}"/>
              </a:ext>
            </a:extLst>
          </p:cNvPr>
          <p:cNvSpPr>
            <a:spLocks noGrp="1"/>
          </p:cNvSpPr>
          <p:nvPr/>
        </p:nvSpPr>
        <p:spPr>
          <a:xfrm>
            <a:off x="10687050" y="5008058"/>
            <a:ext cx="5524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 lnSpcReduction="10000"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미정</a:t>
            </a:r>
          </a:p>
        </p:txBody>
      </p:sp>
    </p:spTree>
    <p:extLst>
      <p:ext uri="{BB962C8B-B14F-4D97-AF65-F5344CB8AC3E}">
        <ns3:creationId val="1300967679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사각형: 둥근 모서리 34">
            <a:extLst>
              <a:ext uri="{FF2B5EF4-FFF2-40B4-BE49-F238E27FC236}">
                <ns2:creationId id="{5181D76A-DD87-4540-ACC7-10867A786ED4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시장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A7C62626-E1F0-4588-8540-F5E6B8E2CBA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공유 · 비교 · 결정 — 세 칸이 저희 자리입니다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67FCA43A-78D0-4CDF-B16C-F86D10FDE6AA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6BB520A8-10BA-4A71-89B0-CB0D22B0520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CF3E2739-0255-4C1C-B338-D426A5994014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4667250" cy="323850"/>
          </a:xfrm>
          <a:prstGeom prst="roundRect">
            <a:avLst>
              <a:gd name="adj" fmla="val 4117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대한민국 온라인 주거용 부동산 탐색 · 비교 · 결정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ns2:creationId id="{66E962C8-7BAD-4CBC-BEF6-B468A666D5AC}"/>
              </a:ext>
            </a:extLst>
          </p:cNvPr>
          <p:cNvSpPr>
            <a:spLocks noGrp="1"/>
          </p:cNvSpPr>
          <p:nvPr/>
        </p:nvSpPr>
        <p:spPr>
          <a:xfrm>
            <a:off x="704850" y="2381250"/>
            <a:ext cx="1524000" cy="1047750"/>
          </a:xfrm>
          <a:prstGeom prst="roundRect">
            <a:avLst>
              <a:gd name="adj" fmla="val 9091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ns2:creationId id="{3F400E31-328B-46B9-8689-D282D37C0C37}"/>
              </a:ext>
            </a:extLst>
          </p:cNvPr>
          <p:cNvSpPr>
            <a:spLocks noGrp="1"/>
          </p:cNvSpPr>
          <p:nvPr/>
        </p:nvSpPr>
        <p:spPr>
          <a:xfrm>
            <a:off x="2381250" y="2381250"/>
            <a:ext cx="1381125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ns2:creationId id="{72AB38DE-06E9-4F7F-A464-9025B6B4CBB6}"/>
              </a:ext>
            </a:extLst>
          </p:cNvPr>
          <p:cNvSpPr>
            <a:spLocks noGrp="1"/>
          </p:cNvSpPr>
          <p:nvPr/>
        </p:nvSpPr>
        <p:spPr>
          <a:xfrm>
            <a:off x="3914775" y="2381250"/>
            <a:ext cx="1381125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ns2:creationId id="{EC8CBAA8-8B22-4101-BB04-9DD8834CF07D}"/>
              </a:ext>
            </a:extLst>
          </p:cNvPr>
          <p:cNvSpPr>
            <a:spLocks noGrp="1"/>
          </p:cNvSpPr>
          <p:nvPr/>
        </p:nvSpPr>
        <p:spPr>
          <a:xfrm>
            <a:off x="5448300" y="2381250"/>
            <a:ext cx="1952625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ns2:creationId id="{65161C8F-D3FA-4C91-887D-E9EA06F7012E}"/>
              </a:ext>
            </a:extLst>
          </p:cNvPr>
          <p:cNvSpPr>
            <a:spLocks noGrp="1"/>
          </p:cNvSpPr>
          <p:nvPr/>
        </p:nvSpPr>
        <p:spPr>
          <a:xfrm>
            <a:off x="7553325" y="2381250"/>
            <a:ext cx="1714500" cy="1047750"/>
          </a:xfrm>
          <a:prstGeom prst="roundRect">
            <a:avLst>
              <a:gd name="adj" fmla="val 909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ns2:creationId id="{4C35C62C-578C-43D2-86B1-156A20810AD6}"/>
              </a:ext>
            </a:extLst>
          </p:cNvPr>
          <p:cNvSpPr>
            <a:spLocks noGrp="1"/>
          </p:cNvSpPr>
          <p:nvPr/>
        </p:nvSpPr>
        <p:spPr>
          <a:xfrm>
            <a:off x="9420225" y="2381250"/>
            <a:ext cx="1714500" cy="1047750"/>
          </a:xfrm>
          <a:prstGeom prst="roundRect">
            <a:avLst>
              <a:gd name="adj" fmla="val 9091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ns2:creationId id="{17436D3D-7567-4B90-B77F-8013D92C6A1F}"/>
              </a:ext>
            </a:extLst>
          </p:cNvPr>
          <p:cNvSpPr>
            <a:spLocks noGrp="1"/>
          </p:cNvSpPr>
          <p:nvPr/>
        </p:nvSpPr>
        <p:spPr>
          <a:xfrm>
            <a:off x="2266950" y="3676650"/>
            <a:ext cx="6724650" cy="381000"/>
          </a:xfrm>
          <a:prstGeom prst="roundRect">
            <a:avLst>
              <a:gd name="adj" fmla="val 20000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C6EC3C2C-B938-4D24-868A-DDFBB140E100}"/>
              </a:ext>
            </a:extLst>
          </p:cNvPr>
          <p:cNvSpPr>
            <a:spLocks noGrp="1"/>
          </p:cNvSpPr>
          <p:nvPr/>
        </p:nvSpPr>
        <p:spPr>
          <a:xfrm>
            <a:off x="2419350" y="3770630"/>
            <a:ext cx="6419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시작 지점 · 이미 관심매물을 저장한 뒤 · 전·월세를 함께 구하는 2인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ns2:creationId id="{A38725C3-4908-4BF3-8770-04F88A393936}"/>
              </a:ext>
            </a:extLst>
          </p:cNvPr>
          <p:cNvSpPr>
            <a:spLocks noGrp="1"/>
          </p:cNvSpPr>
          <p:nvPr/>
        </p:nvSpPr>
        <p:spPr>
          <a:xfrm>
            <a:off x="704850" y="4381500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ns2:creationId id="{DF51171B-86FD-425D-90EF-36A47DD3288E}"/>
              </a:ext>
            </a:extLst>
          </p:cNvPr>
          <p:cNvSpPr>
            <a:spLocks noGrp="1"/>
          </p:cNvSpPr>
          <p:nvPr/>
        </p:nvSpPr>
        <p:spPr>
          <a:xfrm>
            <a:off x="895350" y="450977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제품</a:t>
            </a: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정의</a:t>
            </a:r>
            <a:endParaRPr sz="105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직사각형 27">
            <a:extLst>
              <a:ext uri="{FF2B5EF4-FFF2-40B4-BE49-F238E27FC236}">
                <ns2:creationId id="{C42CB0CC-07E3-424B-8E13-CC7854B8764D}"/>
              </a:ext>
            </a:extLst>
          </p:cNvPr>
          <p:cNvSpPr>
            <a:spLocks noGrp="1"/>
          </p:cNvSpPr>
          <p:nvPr/>
        </p:nvSpPr>
        <p:spPr>
          <a:xfrm>
            <a:off x="2095500" y="4476750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함께 살 집을 구하는 2인 · 주거 형태는 제한하지 않음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ns2:creationId id="{24758C85-C208-4374-82D7-95AAF40D1F1E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ns2:creationId id="{C738C398-1948-43C7-AF09-674AF20048B4}"/>
              </a:ext>
            </a:extLst>
          </p:cNvPr>
          <p:cNvSpPr>
            <a:spLocks noGrp="1"/>
          </p:cNvSpPr>
          <p:nvPr/>
        </p:nvSpPr>
        <p:spPr>
          <a:xfrm>
            <a:off x="895350" y="503110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제품</a:t>
            </a:r>
            <a:r>
              <a:rPr sz="105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형태</a:t>
            </a:r>
            <a:endParaRPr sz="1050" b="1" dirty="0">
              <a:solidFill>
                <a:srgbClr val="2563E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직사각형 30">
            <a:extLst>
              <a:ext uri="{FF2B5EF4-FFF2-40B4-BE49-F238E27FC236}">
                <ns2:creationId id="{E64705AE-8114-46BE-A8B5-0E1EBA2885D2}"/>
              </a:ext>
            </a:extLst>
          </p:cNvPr>
          <p:cNvSpPr>
            <a:spLocks noGrp="1"/>
          </p:cNvSpPr>
          <p:nvPr/>
        </p:nvSpPr>
        <p:spPr>
          <a:xfrm>
            <a:off x="2095500" y="5000625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별도 앱이 아니라 네이버 부동산 안의 기능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ns2:creationId id="{D30CD901-5339-41B5-A2C0-C81A8169B0FD}"/>
              </a:ext>
            </a:extLst>
          </p:cNvPr>
          <p:cNvSpPr>
            <a:spLocks noGrp="1"/>
          </p:cNvSpPr>
          <p:nvPr/>
        </p:nvSpPr>
        <p:spPr>
          <a:xfrm>
            <a:off x="704850" y="5429250"/>
            <a:ext cx="10801350" cy="41910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ns2:creationId id="{2624091C-61F9-48A3-A5AC-D301280DD614}"/>
              </a:ext>
            </a:extLst>
          </p:cNvPr>
          <p:cNvSpPr>
            <a:spLocks noGrp="1"/>
          </p:cNvSpPr>
          <p:nvPr/>
        </p:nvSpPr>
        <p:spPr>
          <a:xfrm>
            <a:off x="895350" y="555244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제외</a:t>
            </a:r>
            <a:endParaRPr sz="105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4" name="직사각형 33">
            <a:extLst>
              <a:ext uri="{FF2B5EF4-FFF2-40B4-BE49-F238E27FC236}">
                <ns2:creationId id="{222212E8-1CF4-4CED-B74B-275E41EB3E58}"/>
              </a:ext>
            </a:extLst>
          </p:cNvPr>
          <p:cNvSpPr>
            <a:spLocks noGrp="1"/>
          </p:cNvSpPr>
          <p:nvPr/>
        </p:nvSpPr>
        <p:spPr>
          <a:xfrm>
            <a:off x="2095500" y="5524500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계약 · 등기 · 보증보험 · 대출 · 3인 이상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3A2372AE-E98A-4964-9688-4DA7526E0B83}"/>
              </a:ext>
            </a:extLst>
          </p:cNvPr>
          <p:cNvSpPr>
            <a:spLocks noGrp="1"/>
          </p:cNvSpPr>
          <p:nvPr/>
        </p:nvSpPr>
        <p:spPr>
          <a:xfrm>
            <a:off x="770554" y="2767013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탐색</a:t>
            </a:r>
            <a:endParaRPr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화살표: 오른쪽 8">
            <a:extLst>
              <a:ext uri="{FF2B5EF4-FFF2-40B4-BE49-F238E27FC236}">
                <ns2:creationId id="{4B14F90D-6731-4E19-9AA2-201CAECEC922}"/>
              </a:ext>
            </a:extLst>
          </p:cNvPr>
          <p:cNvSpPr>
            <a:spLocks noGrp="1"/>
          </p:cNvSpPr>
          <p:nvPr/>
        </p:nvSpPr>
        <p:spPr>
          <a:xfrm>
            <a:off x="2239944" y="2833688"/>
            <a:ext cx="17145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1" name="직사각형 10">
            <a:extLst>
              <a:ext uri="{FF2B5EF4-FFF2-40B4-BE49-F238E27FC236}">
                <ns2:creationId id="{A025E531-00B4-4376-A2CF-AFF5FE32CD64}"/>
              </a:ext>
            </a:extLst>
          </p:cNvPr>
          <p:cNvSpPr>
            <a:spLocks noGrp="1"/>
          </p:cNvSpPr>
          <p:nvPr/>
        </p:nvSpPr>
        <p:spPr>
          <a:xfrm>
            <a:off x="2446954" y="2767013"/>
            <a:ext cx="1228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12" name="화살표: 오른쪽 11">
            <a:extLst>
              <a:ext uri="{FF2B5EF4-FFF2-40B4-BE49-F238E27FC236}">
                <ns2:creationId id="{34FAF76D-75D5-4DF4-B149-611A50F0296E}"/>
              </a:ext>
            </a:extLst>
          </p:cNvPr>
          <p:cNvSpPr>
            <a:spLocks noGrp="1"/>
          </p:cNvSpPr>
          <p:nvPr/>
        </p:nvSpPr>
        <p:spPr>
          <a:xfrm>
            <a:off x="377346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4" name="직사각형 13">
            <a:extLst>
              <a:ext uri="{FF2B5EF4-FFF2-40B4-BE49-F238E27FC236}">
                <ns2:creationId id="{FCF11419-E3A6-4B4A-B516-24C75B89F600}"/>
              </a:ext>
            </a:extLst>
          </p:cNvPr>
          <p:cNvSpPr>
            <a:spLocks noGrp="1"/>
          </p:cNvSpPr>
          <p:nvPr/>
        </p:nvSpPr>
        <p:spPr>
          <a:xfrm>
            <a:off x="3980479" y="2767013"/>
            <a:ext cx="1228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</a:t>
            </a:r>
          </a:p>
        </p:txBody>
      </p:sp>
      <p:sp>
        <p:nvSpPr>
          <p:cNvPr id="15" name="화살표: 오른쪽 14">
            <a:extLst>
              <a:ext uri="{FF2B5EF4-FFF2-40B4-BE49-F238E27FC236}">
                <ns2:creationId id="{63D7566D-4744-47F6-9C08-36F9FD018506}"/>
              </a:ext>
            </a:extLst>
          </p:cNvPr>
          <p:cNvSpPr>
            <a:spLocks noGrp="1"/>
          </p:cNvSpPr>
          <p:nvPr/>
        </p:nvSpPr>
        <p:spPr>
          <a:xfrm>
            <a:off x="5306994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ns2:creationId id="{C146F86A-DCF2-4BB8-9E04-193F6426C6DC}"/>
              </a:ext>
            </a:extLst>
          </p:cNvPr>
          <p:cNvSpPr>
            <a:spLocks noGrp="1"/>
          </p:cNvSpPr>
          <p:nvPr/>
        </p:nvSpPr>
        <p:spPr>
          <a:xfrm>
            <a:off x="5514004" y="2767013"/>
            <a:ext cx="18002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 비교</a:t>
            </a:r>
          </a:p>
        </p:txBody>
      </p:sp>
      <p:sp>
        <p:nvSpPr>
          <p:cNvPr id="18" name="화살표: 오른쪽 17">
            <a:extLst>
              <a:ext uri="{FF2B5EF4-FFF2-40B4-BE49-F238E27FC236}">
                <ns2:creationId id="{C8006415-1444-442C-92AE-E810861DFF6F}"/>
              </a:ext>
            </a:extLst>
          </p:cNvPr>
          <p:cNvSpPr>
            <a:spLocks noGrp="1"/>
          </p:cNvSpPr>
          <p:nvPr/>
        </p:nvSpPr>
        <p:spPr>
          <a:xfrm>
            <a:off x="741201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0" name="직사각형 19">
            <a:extLst>
              <a:ext uri="{FF2B5EF4-FFF2-40B4-BE49-F238E27FC236}">
                <ns2:creationId id="{9330B098-B7C1-4B8B-8CCE-CC02E11D631A}"/>
              </a:ext>
            </a:extLst>
          </p:cNvPr>
          <p:cNvSpPr>
            <a:spLocks noGrp="1"/>
          </p:cNvSpPr>
          <p:nvPr/>
        </p:nvSpPr>
        <p:spPr>
          <a:xfrm>
            <a:off x="7619029" y="2767013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결정</a:t>
            </a:r>
          </a:p>
        </p:txBody>
      </p:sp>
      <p:sp>
        <p:nvSpPr>
          <p:cNvPr id="21" name="화살표: 오른쪽 20">
            <a:extLst>
              <a:ext uri="{FF2B5EF4-FFF2-40B4-BE49-F238E27FC236}">
                <ns2:creationId id="{7BACCBAD-1E91-4D70-B800-D8DFB62255FC}"/>
              </a:ext>
            </a:extLst>
          </p:cNvPr>
          <p:cNvSpPr>
            <a:spLocks noGrp="1"/>
          </p:cNvSpPr>
          <p:nvPr/>
        </p:nvSpPr>
        <p:spPr>
          <a:xfrm>
            <a:off x="9278919" y="2833688"/>
            <a:ext cx="1714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ns2:creationId id="{325A13A4-10B2-476E-BB1D-C05F91DF4D55}"/>
              </a:ext>
            </a:extLst>
          </p:cNvPr>
          <p:cNvSpPr>
            <a:spLocks noGrp="1"/>
          </p:cNvSpPr>
          <p:nvPr/>
        </p:nvSpPr>
        <p:spPr>
          <a:xfrm>
            <a:off x="9485929" y="2767013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계약</a:t>
            </a:r>
            <a:r>
              <a:rPr b="1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실행</a:t>
            </a:r>
            <a:endParaRPr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224337355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ns2:creationId id="{F75B3769-8C31-42EE-88DA-BFE31C584156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시장 · Five Forces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4FAC4BF7-994B-4213-90FD-61D65EC79606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진짜 경쟁자는 매물 링크 공유 버튼이다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798455D6-AE7E-424E-A9C2-F63FB219C065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AA377837-9419-40F0-8AA2-1BA923FDC71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DF040BC6-08B2-46BA-A82A-1B9B6A68DD0E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대체재 위협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ns2:creationId id="{FFCFB2B8-D824-4270-82A1-3A3D6958E2A9}"/>
              </a:ext>
            </a:extLst>
          </p:cNvPr>
          <p:cNvSpPr>
            <a:spLocks noGrp="1"/>
          </p:cNvSpPr>
          <p:nvPr/>
        </p:nvSpPr>
        <p:spPr>
          <a:xfrm>
            <a:off x="2571750" y="1676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사각형: 둥근 모서리 7">
            <a:extLst>
              <a:ext uri="{FF2B5EF4-FFF2-40B4-BE49-F238E27FC236}">
                <ns2:creationId id="{56A81915-2DB5-4B8F-B79F-6F432222E47D}"/>
              </a:ext>
            </a:extLst>
          </p:cNvPr>
          <p:cNvSpPr>
            <a:spLocks noGrp="1"/>
          </p:cNvSpPr>
          <p:nvPr/>
        </p:nvSpPr>
        <p:spPr>
          <a:xfrm>
            <a:off x="2571750" y="1676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사각형: 둥근 모서리 8">
            <a:extLst>
              <a:ext uri="{FF2B5EF4-FFF2-40B4-BE49-F238E27FC236}">
                <ns2:creationId id="{B750B21D-8FCB-42F4-A28E-E38F0C864445}"/>
              </a:ext>
            </a:extLst>
          </p:cNvPr>
          <p:cNvSpPr>
            <a:spLocks noGrp="1"/>
          </p:cNvSpPr>
          <p:nvPr/>
        </p:nvSpPr>
        <p:spPr>
          <a:xfrm>
            <a:off x="5953125" y="1600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매우 높음</a:t>
            </a:r>
          </a:p>
        </p:txBody>
      </p:sp>
      <p:sp>
        <p:nvSpPr>
          <p:cNvPr id="10" name="직사각형 9">
            <a:extLst>
              <a:ext uri="{FF2B5EF4-FFF2-40B4-BE49-F238E27FC236}">
                <ns2:creationId id="{AFEAD565-FE55-45A2-8751-3964BA29FC80}"/>
              </a:ext>
            </a:extLst>
          </p:cNvPr>
          <p:cNvSpPr>
            <a:spLocks noGrp="1"/>
          </p:cNvSpPr>
          <p:nvPr/>
        </p:nvSpPr>
        <p:spPr>
          <a:xfrm>
            <a:off x="7048500" y="1609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카톡·지도·엑셀·메모보다 시작이 번거로우면 안 씁니다</a:t>
            </a:r>
          </a:p>
        </p:txBody>
      </p:sp>
      <p:sp>
        <p:nvSpPr>
          <p:cNvPr id="11" name="직선 연결선 10">
            <a:extLst>
              <a:ext uri="{FF2B5EF4-FFF2-40B4-BE49-F238E27FC236}">
                <ns2:creationId id="{1D1E3584-1F37-4C57-9F4F-873D3AE29CE3}"/>
              </a:ext>
            </a:extLst>
          </p:cNvPr>
          <p:cNvSpPr>
            <a:spLocks noGrp="1"/>
          </p:cNvSpPr>
          <p:nvPr/>
        </p:nvSpPr>
        <p:spPr>
          <a:xfrm>
            <a:off x="723900" y="2143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ns2:creationId id="{810AF67B-BA7E-400F-980D-A83D0A48BF05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기존 경쟁 강도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1E45FA62-472E-4B71-BCFE-0E1C4C2ADCE2}"/>
              </a:ext>
            </a:extLst>
          </p:cNvPr>
          <p:cNvSpPr>
            <a:spLocks noGrp="1"/>
          </p:cNvSpPr>
          <p:nvPr/>
        </p:nvSpPr>
        <p:spPr>
          <a:xfrm>
            <a:off x="2571750" y="2438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사각형: 둥근 모서리 13">
            <a:extLst>
              <a:ext uri="{FF2B5EF4-FFF2-40B4-BE49-F238E27FC236}">
                <ns2:creationId id="{C74C67FE-0BBC-4BA1-9BC7-BBB0438D861E}"/>
              </a:ext>
            </a:extLst>
          </p:cNvPr>
          <p:cNvSpPr>
            <a:spLocks noGrp="1"/>
          </p:cNvSpPr>
          <p:nvPr/>
        </p:nvSpPr>
        <p:spPr>
          <a:xfrm>
            <a:off x="2571750" y="2438400"/>
            <a:ext cx="25908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ns2:creationId id="{22D5EE25-C158-4352-BCBA-D9A91FDA9FEE}"/>
              </a:ext>
            </a:extLst>
          </p:cNvPr>
          <p:cNvSpPr>
            <a:spLocks noGrp="1"/>
          </p:cNvSpPr>
          <p:nvPr/>
        </p:nvSpPr>
        <p:spPr>
          <a:xfrm>
            <a:off x="5953125" y="2362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높음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58BD4D12-BB31-4ADC-9255-D9BA36B00C4F}"/>
              </a:ext>
            </a:extLst>
          </p:cNvPr>
          <p:cNvSpPr>
            <a:spLocks noGrp="1"/>
          </p:cNvSpPr>
          <p:nvPr/>
        </p:nvSpPr>
        <p:spPr>
          <a:xfrm>
            <a:off x="7048500" y="2371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검색·지도·매물량 정면 경쟁을 피함</a:t>
            </a:r>
          </a:p>
        </p:txBody>
      </p:sp>
      <p:sp>
        <p:nvSpPr>
          <p:cNvPr id="17" name="직선 연결선 16">
            <a:extLst>
              <a:ext uri="{FF2B5EF4-FFF2-40B4-BE49-F238E27FC236}">
                <ns2:creationId id="{CE70EBA8-AB48-4A53-9E2E-1941E47397C9}"/>
              </a:ext>
            </a:extLst>
          </p:cNvPr>
          <p:cNvSpPr>
            <a:spLocks noGrp="1"/>
          </p:cNvSpPr>
          <p:nvPr/>
        </p:nvSpPr>
        <p:spPr>
          <a:xfrm>
            <a:off x="723900" y="2905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ns2:creationId id="{A8FE45C0-88A6-452B-B82F-134301D87B02}"/>
              </a:ext>
            </a:extLst>
          </p:cNvPr>
          <p:cNvSpPr>
            <a:spLocks noGrp="1"/>
          </p:cNvSpPr>
          <p:nvPr/>
        </p:nvSpPr>
        <p:spPr>
          <a:xfrm>
            <a:off x="723900" y="3162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구매자 교섭력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ns2:creationId id="{48A2FCE4-5D21-467C-AB83-DACE988528F5}"/>
              </a:ext>
            </a:extLst>
          </p:cNvPr>
          <p:cNvSpPr>
            <a:spLocks noGrp="1"/>
          </p:cNvSpPr>
          <p:nvPr/>
        </p:nvSpPr>
        <p:spPr>
          <a:xfrm>
            <a:off x="2571750" y="3200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사각형: 둥근 모서리 19">
            <a:extLst>
              <a:ext uri="{FF2B5EF4-FFF2-40B4-BE49-F238E27FC236}">
                <ns2:creationId id="{72A8B666-E3BF-462E-A1BC-846DFE55B257}"/>
              </a:ext>
            </a:extLst>
          </p:cNvPr>
          <p:cNvSpPr>
            <a:spLocks noGrp="1"/>
          </p:cNvSpPr>
          <p:nvPr/>
        </p:nvSpPr>
        <p:spPr>
          <a:xfrm>
            <a:off x="2571750" y="3200400"/>
            <a:ext cx="25908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사각형: 둥근 모서리 20">
            <a:extLst>
              <a:ext uri="{FF2B5EF4-FFF2-40B4-BE49-F238E27FC236}">
                <ns2:creationId id="{97B535D6-06BE-450E-AC93-923A766A70FD}"/>
              </a:ext>
            </a:extLst>
          </p:cNvPr>
          <p:cNvSpPr>
            <a:spLocks noGrp="1"/>
          </p:cNvSpPr>
          <p:nvPr/>
        </p:nvSpPr>
        <p:spPr>
          <a:xfrm>
            <a:off x="5953125" y="3124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높음</a:t>
            </a:r>
          </a:p>
        </p:txBody>
      </p:sp>
      <p:sp>
        <p:nvSpPr>
          <p:cNvPr id="22" name="직사각형 21">
            <a:extLst>
              <a:ext uri="{FF2B5EF4-FFF2-40B4-BE49-F238E27FC236}">
                <ns2:creationId id="{D7D86384-D309-410D-A4B0-C9DB30000F78}"/>
              </a:ext>
            </a:extLst>
          </p:cNvPr>
          <p:cNvSpPr>
            <a:spLocks noGrp="1"/>
          </p:cNvSpPr>
          <p:nvPr/>
        </p:nvSpPr>
        <p:spPr>
          <a:xfrm>
            <a:off x="7048500" y="3133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가입·초대·조건 입력의 번거로움을 줄임</a:t>
            </a:r>
          </a:p>
        </p:txBody>
      </p:sp>
      <p:sp>
        <p:nvSpPr>
          <p:cNvPr id="23" name="직선 연결선 22">
            <a:extLst>
              <a:ext uri="{FF2B5EF4-FFF2-40B4-BE49-F238E27FC236}">
                <ns2:creationId id="{908E7A56-653D-4E9A-B2B5-7ABAD16DA039}"/>
              </a:ext>
            </a:extLst>
          </p:cNvPr>
          <p:cNvSpPr>
            <a:spLocks noGrp="1"/>
          </p:cNvSpPr>
          <p:nvPr/>
        </p:nvSpPr>
        <p:spPr>
          <a:xfrm>
            <a:off x="723900" y="3667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ns2:creationId id="{2E6D00A6-EFAD-4076-853F-A763626520C4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공급자 교섭력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E1225B8A-C4F5-4787-AB26-0ECF2556078C}"/>
              </a:ext>
            </a:extLst>
          </p:cNvPr>
          <p:cNvSpPr>
            <a:spLocks noGrp="1"/>
          </p:cNvSpPr>
          <p:nvPr/>
        </p:nvSpPr>
        <p:spPr>
          <a:xfrm>
            <a:off x="2571750" y="3962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ns2:creationId id="{0581FEEF-C6E2-4C0F-B594-63211D30D565}"/>
              </a:ext>
            </a:extLst>
          </p:cNvPr>
          <p:cNvSpPr>
            <a:spLocks noGrp="1"/>
          </p:cNvSpPr>
          <p:nvPr/>
        </p:nvSpPr>
        <p:spPr>
          <a:xfrm>
            <a:off x="2571750" y="3962400"/>
            <a:ext cx="226695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ns2:creationId id="{2DAE2066-C077-4130-9C67-B6F23BB42FAC}"/>
              </a:ext>
            </a:extLst>
          </p:cNvPr>
          <p:cNvSpPr>
            <a:spLocks noGrp="1"/>
          </p:cNvSpPr>
          <p:nvPr/>
        </p:nvSpPr>
        <p:spPr>
          <a:xfrm>
            <a:off x="5953125" y="3886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중~높음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80AA2AAE-DC0A-4DEE-ADC5-1C7D0A1B38F4}"/>
              </a:ext>
            </a:extLst>
          </p:cNvPr>
          <p:cNvSpPr>
            <a:spLocks noGrp="1"/>
          </p:cNvSpPr>
          <p:nvPr/>
        </p:nvSpPr>
        <p:spPr>
          <a:xfrm>
            <a:off x="7048500" y="3895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기존 매물 데이터를 읽어 판정</a:t>
            </a:r>
          </a:p>
        </p:txBody>
      </p:sp>
      <p:sp>
        <p:nvSpPr>
          <p:cNvPr id="29" name="직선 연결선 28">
            <a:extLst>
              <a:ext uri="{FF2B5EF4-FFF2-40B4-BE49-F238E27FC236}">
                <ns2:creationId id="{567338C0-A87C-4855-A811-2949C6E00AA7}"/>
              </a:ext>
            </a:extLst>
          </p:cNvPr>
          <p:cNvSpPr>
            <a:spLocks noGrp="1"/>
          </p:cNvSpPr>
          <p:nvPr/>
        </p:nvSpPr>
        <p:spPr>
          <a:xfrm>
            <a:off x="723900" y="4429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ns2:creationId id="{38D92E48-559D-4672-8608-0058019984F6}"/>
              </a:ext>
            </a:extLst>
          </p:cNvPr>
          <p:cNvSpPr>
            <a:spLocks noGrp="1"/>
          </p:cNvSpPr>
          <p:nvPr/>
        </p:nvSpPr>
        <p:spPr>
          <a:xfrm>
            <a:off x="723900" y="468630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신규 진입 위협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ns2:creationId id="{4B8CFB5E-B984-42D1-BEC6-4298FCC8DFCF}"/>
              </a:ext>
            </a:extLst>
          </p:cNvPr>
          <p:cNvSpPr>
            <a:spLocks noGrp="1"/>
          </p:cNvSpPr>
          <p:nvPr/>
        </p:nvSpPr>
        <p:spPr>
          <a:xfrm>
            <a:off x="2571750" y="47244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사각형: 둥근 모서리 31">
            <a:extLst>
              <a:ext uri="{FF2B5EF4-FFF2-40B4-BE49-F238E27FC236}">
                <ns2:creationId id="{1352CC32-6132-41CA-BAB6-19CE04C871AE}"/>
              </a:ext>
            </a:extLst>
          </p:cNvPr>
          <p:cNvSpPr>
            <a:spLocks noGrp="1"/>
          </p:cNvSpPr>
          <p:nvPr/>
        </p:nvSpPr>
        <p:spPr>
          <a:xfrm>
            <a:off x="2571750" y="4724400"/>
            <a:ext cx="194310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ns2:creationId id="{53B321BC-9019-4B75-A9D4-E4734595D62D}"/>
              </a:ext>
            </a:extLst>
          </p:cNvPr>
          <p:cNvSpPr>
            <a:spLocks noGrp="1"/>
          </p:cNvSpPr>
          <p:nvPr/>
        </p:nvSpPr>
        <p:spPr>
          <a:xfrm>
            <a:off x="5953125" y="4648200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중간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B1BBFF16-E16C-437A-B769-536070C07681}"/>
              </a:ext>
            </a:extLst>
          </p:cNvPr>
          <p:cNvSpPr>
            <a:spLocks noGrp="1"/>
          </p:cNvSpPr>
          <p:nvPr/>
        </p:nvSpPr>
        <p:spPr>
          <a:xfrm>
            <a:off x="7048500" y="4657725"/>
            <a:ext cx="417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 내부 기능 전제가 데이터 장벽을 낮춤</a:t>
            </a:r>
          </a:p>
        </p:txBody>
      </p:sp>
      <p:sp>
        <p:nvSpPr>
          <p:cNvPr id="35" name="직선 연결선 34">
            <a:extLst>
              <a:ext uri="{FF2B5EF4-FFF2-40B4-BE49-F238E27FC236}">
                <ns2:creationId id="{79D44D3A-D71E-47ED-AF4A-948558D552AD}"/>
              </a:ext>
            </a:extLst>
          </p:cNvPr>
          <p:cNvSpPr>
            <a:spLocks noGrp="1"/>
          </p:cNvSpPr>
          <p:nvPr/>
        </p:nvSpPr>
        <p:spPr>
          <a:xfrm>
            <a:off x="723900" y="5191125"/>
            <a:ext cx="104965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사각형: 둥근 모서리 35">
            <a:extLst>
              <a:ext uri="{FF2B5EF4-FFF2-40B4-BE49-F238E27FC236}">
                <ns2:creationId id="{62863AC8-BE14-4D35-9A9B-5DB9C7529D37}"/>
              </a:ext>
            </a:extLst>
          </p:cNvPr>
          <p:cNvSpPr>
            <a:spLocks noGrp="1"/>
          </p:cNvSpPr>
          <p:nvPr/>
        </p:nvSpPr>
        <p:spPr>
          <a:xfrm>
            <a:off x="723900" y="5572125"/>
            <a:ext cx="10496550" cy="514350"/>
          </a:xfrm>
          <a:prstGeom prst="roundRect">
            <a:avLst>
              <a:gd name="adj" fmla="val 1851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ns2:creationId id="{E6EF3BAB-CE72-4894-9AD0-030E3D46CC0E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결론</a:t>
            </a:r>
            <a:endParaRPr sz="1050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직사각형 37">
            <a:extLst>
              <a:ext uri="{FF2B5EF4-FFF2-40B4-BE49-F238E27FC236}">
                <ns2:creationId id="{24553BEF-E7AF-4137-92F1-93B3072C537F}"/>
              </a:ext>
            </a:extLst>
          </p:cNvPr>
          <p:cNvSpPr>
            <a:spLocks noGrp="1"/>
          </p:cNvSpPr>
          <p:nvPr/>
        </p:nvSpPr>
        <p:spPr>
          <a:xfrm>
            <a:off x="2190750" y="5667375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매물을 더 잘 찾는 게 아닙니다. 이미 있는 탐색 위에 붙습니다.</a:t>
            </a:r>
          </a:p>
        </p:txBody>
      </p:sp>
    </p:spTree>
    <p:extLst>
      <p:ext uri="{BB962C8B-B14F-4D97-AF65-F5344CB8AC3E}">
        <ns3:creationId val="148099215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ns2:creationId id="{27366E91-3606-44FB-B6DB-C8E8E4D80DB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790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시장 · TAM-SAM-SOM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E7021A16-EA69-49C0-9F22-D3A22FA295D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숫자 세 개, 확실한 정도가 다 다릅니다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A45252D8-BA4B-4AF5-8AB1-22CAE359F65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ns2:creationId id="{1659F18B-EE26-42CE-B8EB-F6F57422541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BAA5A351-ED0E-4F48-876C-CEC73C91FE5A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87630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사각형: 둥근 모서리 6">
            <a:extLst>
              <a:ext uri="{FF2B5EF4-FFF2-40B4-BE49-F238E27FC236}">
                <ns2:creationId id="{47574B72-F892-47CD-9F48-A4937FCF9624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TAM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315CD523-36A9-4B84-8EAC-C9BD748D266E}"/>
              </a:ext>
            </a:extLst>
          </p:cNvPr>
          <p:cNvSpPr>
            <a:spLocks noGrp="1"/>
          </p:cNvSpPr>
          <p:nvPr/>
        </p:nvSpPr>
        <p:spPr>
          <a:xfrm>
            <a:off x="1943100" y="174307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500만~700만 명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6BC01E5E-9AAB-4B92-8052-55A54557AA4E}"/>
              </a:ext>
            </a:extLst>
          </p:cNvPr>
          <p:cNvSpPr>
            <a:spLocks noGrp="1"/>
          </p:cNvSpPr>
          <p:nvPr/>
        </p:nvSpPr>
        <p:spPr>
          <a:xfrm>
            <a:off x="1943100" y="2124337"/>
            <a:ext cx="733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부동산 앱을 쓰는 사람 전체</a:t>
            </a:r>
            <a:endParaRPr sz="10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ns2:creationId id="{13836644-6520-46F2-8579-13F9411B6397}"/>
              </a:ext>
            </a:extLst>
          </p:cNvPr>
          <p:cNvSpPr>
            <a:spLocks noGrp="1"/>
          </p:cNvSpPr>
          <p:nvPr/>
        </p:nvSpPr>
        <p:spPr>
          <a:xfrm>
            <a:off x="1943100" y="2295525"/>
            <a:ext cx="7334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신뢰도 중간 · 앱끼리 중복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ED0CE835-95EB-47B0-BDD7-04182CFAC1D6}"/>
              </a:ext>
            </a:extLst>
          </p:cNvPr>
          <p:cNvSpPr>
            <a:spLocks noGrp="1"/>
          </p:cNvSpPr>
          <p:nvPr/>
        </p:nvSpPr>
        <p:spPr>
          <a:xfrm>
            <a:off x="1800225" y="2838450"/>
            <a:ext cx="6572250" cy="895350"/>
          </a:xfrm>
          <a:prstGeom prst="roundRect">
            <a:avLst>
              <a:gd name="adj" fmla="val 12766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사각형: 둥근 모서리 11">
            <a:extLst>
              <a:ext uri="{FF2B5EF4-FFF2-40B4-BE49-F238E27FC236}">
                <ns2:creationId id="{5457392A-BCC7-4305-AFEE-70A97F6C7EBA}"/>
              </a:ext>
            </a:extLst>
          </p:cNvPr>
          <p:cNvSpPr>
            <a:spLocks noGrp="1"/>
          </p:cNvSpPr>
          <p:nvPr/>
        </p:nvSpPr>
        <p:spPr>
          <a:xfrm>
            <a:off x="1952625" y="2990850"/>
            <a:ext cx="81915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SAM 하한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CD06F913-D175-4394-9219-DFBBA39A7C65}"/>
              </a:ext>
            </a:extLst>
          </p:cNvPr>
          <p:cNvSpPr>
            <a:spLocks noGrp="1"/>
          </p:cNvSpPr>
          <p:nvPr/>
        </p:nvSpPr>
        <p:spPr>
          <a:xfrm>
            <a:off x="3038475" y="294322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54.6만 쌍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55F56E36-0E4C-432C-9C51-C86E88C4867B}"/>
              </a:ext>
            </a:extLst>
          </p:cNvPr>
          <p:cNvSpPr>
            <a:spLocks noGrp="1"/>
          </p:cNvSpPr>
          <p:nvPr/>
        </p:nvSpPr>
        <p:spPr>
          <a:xfrm>
            <a:off x="3038475" y="3324487"/>
            <a:ext cx="514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신혼부부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95.2만 × </a:t>
            </a: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무주택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57.3%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7C9D440F-4362-463A-AAEA-86E6E8FEC3F5}"/>
              </a:ext>
            </a:extLst>
          </p:cNvPr>
          <p:cNvSpPr>
            <a:spLocks noGrp="1"/>
          </p:cNvSpPr>
          <p:nvPr/>
        </p:nvSpPr>
        <p:spPr>
          <a:xfrm>
            <a:off x="3038475" y="3495675"/>
            <a:ext cx="514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신뢰도 높음 · 신혼부부만 넣음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4DB45F67-C669-40EE-9440-78A25628DEE5}"/>
              </a:ext>
            </a:extLst>
          </p:cNvPr>
          <p:cNvSpPr>
            <a:spLocks noGrp="1"/>
          </p:cNvSpPr>
          <p:nvPr/>
        </p:nvSpPr>
        <p:spPr>
          <a:xfrm>
            <a:off x="3038475" y="4038600"/>
            <a:ext cx="4095750" cy="895350"/>
          </a:xfrm>
          <a:prstGeom prst="roundRect">
            <a:avLst>
              <a:gd name="adj" fmla="val 12766"/>
            </a:avLst>
          </a:prstGeom>
          <a:solidFill>
            <a:srgbClr val="FFF2DD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사각형: 둥근 모서리 16">
            <a:extLst>
              <a:ext uri="{FF2B5EF4-FFF2-40B4-BE49-F238E27FC236}">
                <ns2:creationId id="{6317FCBE-EE9C-4C84-8DE8-1AA4AC30692E}"/>
              </a:ext>
            </a:extLst>
          </p:cNvPr>
          <p:cNvSpPr>
            <a:spLocks noGrp="1"/>
          </p:cNvSpPr>
          <p:nvPr/>
        </p:nvSpPr>
        <p:spPr>
          <a:xfrm>
            <a:off x="3190875" y="4191000"/>
            <a:ext cx="11239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SOM · 초기 목표</a:t>
            </a:r>
            <a:endParaRPr sz="10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직사각형 17">
            <a:extLst>
              <a:ext uri="{FF2B5EF4-FFF2-40B4-BE49-F238E27FC236}">
                <ns2:creationId id="{8BED1C5F-895F-4A99-832C-394322A6F60C}"/>
              </a:ext>
            </a:extLst>
          </p:cNvPr>
          <p:cNvSpPr>
            <a:spLocks noGrp="1"/>
          </p:cNvSpPr>
          <p:nvPr/>
        </p:nvSpPr>
        <p:spPr>
          <a:xfrm>
            <a:off x="4424363" y="4143375"/>
            <a:ext cx="270986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6.7만~20.1만 명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62F9F48D-0CA5-4BC0-B3BE-F45EBE0EE0C4}"/>
              </a:ext>
            </a:extLst>
          </p:cNvPr>
          <p:cNvSpPr>
            <a:spLocks noGrp="1"/>
          </p:cNvSpPr>
          <p:nvPr/>
        </p:nvSpPr>
        <p:spPr>
          <a:xfrm>
            <a:off x="4424363" y="451584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MAU 134만 × </a:t>
            </a:r>
            <a:r>
              <a:rPr sz="10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가정</a:t>
            </a:r>
            <a:r>
              <a:rPr sz="10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5/10/15%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FA31474F-5A32-48AB-8418-76053CC4D770}"/>
              </a:ext>
            </a:extLst>
          </p:cNvPr>
          <p:cNvSpPr>
            <a:spLocks noGrp="1"/>
          </p:cNvSpPr>
          <p:nvPr/>
        </p:nvSpPr>
        <p:spPr>
          <a:xfrm>
            <a:off x="4424363" y="4695825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신뢰도 낮음 · 예측 아님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11B43737-9656-47AE-B868-778071602F2F}"/>
              </a:ext>
            </a:extLst>
          </p:cNvPr>
          <p:cNvSpPr>
            <a:spLocks noGrp="1"/>
          </p:cNvSpPr>
          <p:nvPr/>
        </p:nvSpPr>
        <p:spPr>
          <a:xfrm>
            <a:off x="9715500" y="1675719"/>
            <a:ext cx="1762125" cy="3477305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ns2:creationId id="{4844AFB8-7FB5-4E0D-B39E-B8B3230C6039}"/>
              </a:ext>
            </a:extLst>
          </p:cNvPr>
          <p:cNvSpPr>
            <a:spLocks noGrp="1"/>
          </p:cNvSpPr>
          <p:nvPr/>
        </p:nvSpPr>
        <p:spPr>
          <a:xfrm>
            <a:off x="9886950" y="18478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2025 </a:t>
            </a: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모바일</a:t>
            </a: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MAU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DC7A239A-B983-4DA3-8311-DF262E5537D9}"/>
              </a:ext>
            </a:extLst>
          </p:cNvPr>
          <p:cNvSpPr>
            <a:spLocks noGrp="1"/>
          </p:cNvSpPr>
          <p:nvPr/>
        </p:nvSpPr>
        <p:spPr>
          <a:xfrm>
            <a:off x="9886950" y="232342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직방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ns2:creationId id="{FD127680-80D8-4FF9-8306-20601DA585B3}"/>
              </a:ext>
            </a:extLst>
          </p:cNvPr>
          <p:cNvSpPr>
            <a:spLocks noGrp="1"/>
          </p:cNvSpPr>
          <p:nvPr/>
        </p:nvSpPr>
        <p:spPr>
          <a:xfrm>
            <a:off x="9886950" y="2609170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사각형: 둥근 모서리 24">
            <a:extLst>
              <a:ext uri="{FF2B5EF4-FFF2-40B4-BE49-F238E27FC236}">
                <ns2:creationId id="{5619F373-1EC6-4110-B310-21A55265CEDB}"/>
              </a:ext>
            </a:extLst>
          </p:cNvPr>
          <p:cNvSpPr>
            <a:spLocks noGrp="1"/>
          </p:cNvSpPr>
          <p:nvPr/>
        </p:nvSpPr>
        <p:spPr>
          <a:xfrm>
            <a:off x="9886950" y="2609170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직사각형 25">
            <a:extLst>
              <a:ext uri="{FF2B5EF4-FFF2-40B4-BE49-F238E27FC236}">
                <ns2:creationId id="{18A6AA65-75F7-44E3-85B7-43FDDE993CE9}"/>
              </a:ext>
            </a:extLst>
          </p:cNvPr>
          <p:cNvSpPr>
            <a:spLocks noGrp="1"/>
          </p:cNvSpPr>
          <p:nvPr/>
        </p:nvSpPr>
        <p:spPr>
          <a:xfrm>
            <a:off x="10763250" y="232342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229만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CE083E81-2BD0-4552-8FED-8F915FBE44C1}"/>
              </a:ext>
            </a:extLst>
          </p:cNvPr>
          <p:cNvSpPr>
            <a:spLocks noGrp="1"/>
          </p:cNvSpPr>
          <p:nvPr/>
        </p:nvSpPr>
        <p:spPr>
          <a:xfrm>
            <a:off x="9886950" y="3027224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호갱노노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ns2:creationId id="{96D4E8DD-0657-467F-8346-8A3F69429E35}"/>
              </a:ext>
            </a:extLst>
          </p:cNvPr>
          <p:cNvSpPr>
            <a:spLocks noGrp="1"/>
          </p:cNvSpPr>
          <p:nvPr/>
        </p:nvSpPr>
        <p:spPr>
          <a:xfrm>
            <a:off x="9886950" y="3312974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사각형: 둥근 모서리 28">
            <a:extLst>
              <a:ext uri="{FF2B5EF4-FFF2-40B4-BE49-F238E27FC236}">
                <ns2:creationId id="{9F6EAAF0-C8E3-4586-92AD-452EA7110A0D}"/>
              </a:ext>
            </a:extLst>
          </p:cNvPr>
          <p:cNvSpPr>
            <a:spLocks noGrp="1"/>
          </p:cNvSpPr>
          <p:nvPr/>
        </p:nvSpPr>
        <p:spPr>
          <a:xfrm>
            <a:off x="9886950" y="3312974"/>
            <a:ext cx="1027452" cy="11430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직사각형 29">
            <a:extLst>
              <a:ext uri="{FF2B5EF4-FFF2-40B4-BE49-F238E27FC236}">
                <ns2:creationId id="{42B094F3-54CB-48CF-A17A-96A2BEC44629}"/>
              </a:ext>
            </a:extLst>
          </p:cNvPr>
          <p:cNvSpPr>
            <a:spLocks noGrp="1"/>
          </p:cNvSpPr>
          <p:nvPr/>
        </p:nvSpPr>
        <p:spPr>
          <a:xfrm>
            <a:off x="10763250" y="3027224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179만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D6FF307A-1074-4750-8C67-CFC68A074527}"/>
              </a:ext>
            </a:extLst>
          </p:cNvPr>
          <p:cNvSpPr>
            <a:spLocks noGrp="1"/>
          </p:cNvSpPr>
          <p:nvPr/>
        </p:nvSpPr>
        <p:spPr>
          <a:xfrm>
            <a:off x="9886950" y="3731028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ns2:creationId id="{99CAEC81-91FA-435A-8548-5EF437D8C6FE}"/>
              </a:ext>
            </a:extLst>
          </p:cNvPr>
          <p:cNvSpPr>
            <a:spLocks noGrp="1"/>
          </p:cNvSpPr>
          <p:nvPr/>
        </p:nvSpPr>
        <p:spPr>
          <a:xfrm>
            <a:off x="9886950" y="4016778"/>
            <a:ext cx="1314450" cy="1143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사각형: 둥근 모서리 32">
            <a:extLst>
              <a:ext uri="{FF2B5EF4-FFF2-40B4-BE49-F238E27FC236}">
                <ns2:creationId id="{18BA99B0-760A-44BB-8CE0-92746FA5278E}"/>
              </a:ext>
            </a:extLst>
          </p:cNvPr>
          <p:cNvSpPr>
            <a:spLocks noGrp="1"/>
          </p:cNvSpPr>
          <p:nvPr/>
        </p:nvSpPr>
        <p:spPr>
          <a:xfrm>
            <a:off x="9886950" y="4016778"/>
            <a:ext cx="769154" cy="1143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직사각형 33">
            <a:extLst>
              <a:ext uri="{FF2B5EF4-FFF2-40B4-BE49-F238E27FC236}">
                <ns2:creationId id="{28A66C7C-7DCF-44A5-8E23-8B78594B8D91}"/>
              </a:ext>
            </a:extLst>
          </p:cNvPr>
          <p:cNvSpPr>
            <a:spLocks noGrp="1"/>
          </p:cNvSpPr>
          <p:nvPr/>
        </p:nvSpPr>
        <p:spPr>
          <a:xfrm>
            <a:off x="10763250" y="3731028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134만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ns2:creationId id="{33CA58C8-C842-467C-871B-4A0857193891}"/>
              </a:ext>
            </a:extLst>
          </p:cNvPr>
          <p:cNvSpPr>
            <a:spLocks noGrp="1"/>
          </p:cNvSpPr>
          <p:nvPr/>
        </p:nvSpPr>
        <p:spPr>
          <a:xfrm>
            <a:off x="10228602" y="4437289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가정</a:t>
            </a:r>
          </a:p>
        </p:txBody>
      </p:sp>
      <p:sp>
        <p:nvSpPr>
          <p:cNvPr id="36" name="직사각형 35">
            <a:extLst>
              <a:ext uri="{FF2B5EF4-FFF2-40B4-BE49-F238E27FC236}">
                <ns2:creationId id="{8F8410DF-ADBA-467D-A042-C16936DDC83E}"/>
              </a:ext>
            </a:extLst>
          </p:cNvPr>
          <p:cNvSpPr>
            <a:spLocks noGrp="1"/>
          </p:cNvSpPr>
          <p:nvPr/>
        </p:nvSpPr>
        <p:spPr>
          <a:xfrm>
            <a:off x="9715500" y="4751614"/>
            <a:ext cx="1762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SOM은 범위로만 봐 주세요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ns2:creationId id="{A9D49CC3-E2D7-449D-9B0D-88BC0BA0E127}"/>
              </a:ext>
            </a:extLst>
          </p:cNvPr>
          <p:cNvSpPr>
            <a:spLocks noGrp="1"/>
          </p:cNvSpPr>
          <p:nvPr/>
        </p:nvSpPr>
        <p:spPr>
          <a:xfrm>
            <a:off x="704850" y="5334000"/>
            <a:ext cx="10782300" cy="628650"/>
          </a:xfrm>
          <a:prstGeom prst="roundRect">
            <a:avLst>
              <a:gd name="adj" fmla="val 15152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38" name="직사각형 37">
            <a:extLst>
              <a:ext uri="{FF2B5EF4-FFF2-40B4-BE49-F238E27FC236}">
                <ns2:creationId id="{0A92E8F6-8312-4E4A-AA0C-4A6402BC2494}"/>
              </a:ext>
            </a:extLst>
          </p:cNvPr>
          <p:cNvSpPr>
            <a:spLocks noGrp="1"/>
          </p:cNvSpPr>
          <p:nvPr/>
        </p:nvSpPr>
        <p:spPr>
          <a:xfrm>
            <a:off x="876300" y="553593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결론</a:t>
            </a:r>
          </a:p>
        </p:txBody>
      </p:sp>
      <p:sp>
        <p:nvSpPr>
          <p:cNvPr id="39" name="직사각형 38">
            <a:extLst>
              <a:ext uri="{FF2B5EF4-FFF2-40B4-BE49-F238E27FC236}">
                <ns2:creationId id="{604BD844-2C37-49F0-9A59-1ABF27B52676}"/>
              </a:ext>
            </a:extLst>
          </p:cNvPr>
          <p:cNvSpPr>
            <a:spLocks noGrp="1"/>
          </p:cNvSpPr>
          <p:nvPr/>
        </p:nvSpPr>
        <p:spPr>
          <a:xfrm>
            <a:off x="1619250" y="5488305"/>
            <a:ext cx="9601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네이버가 이미 가진 걸로, 아무도 안 하고 있는 자리를 합니다. 숫자마다 확실한 정도는 다릅니다.</a:t>
            </a:r>
          </a:p>
        </p:txBody>
      </p:sp>
    </p:spTree>
    <p:extLst>
      <p:ext uri="{BB962C8B-B14F-4D97-AF65-F5344CB8AC3E}">
        <ns3:creationId val="1495419320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ns2:creationId id="{EB58634C-7915-47DE-89A9-25858811647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0480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네이버 · 가치사슬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B9279769-552F-403B-90FE-A7E000FD68A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저장은 네이버에 남고, 의논은 밖으로 나갑니다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0562F7FB-16A7-4C59-94D5-9D12FF19E985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4AFD97EE-02C0-4810-93C6-BC87F241950C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D123EA28-90F3-49E7-94AC-F4E1E71D9A20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C13402AA-644F-4B67-A564-0536475C1D9D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매물 확보</a:t>
            </a:r>
          </a:p>
        </p:txBody>
      </p:sp>
      <p:sp>
        <p:nvSpPr>
          <p:cNvPr id="8" name="화살표: 오른쪽 7">
            <a:extLst>
              <a:ext uri="{FF2B5EF4-FFF2-40B4-BE49-F238E27FC236}">
                <ns2:creationId id="{E4734EE4-DD14-4FB4-86E7-7E2B4D636CAC}"/>
              </a:ext>
            </a:extLst>
          </p:cNvPr>
          <p:cNvSpPr>
            <a:spLocks noGrp="1"/>
          </p:cNvSpPr>
          <p:nvPr/>
        </p:nvSpPr>
        <p:spPr>
          <a:xfrm>
            <a:off x="16764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9" name="사각형: 둥근 모서리 8">
            <a:extLst>
              <a:ext uri="{FF2B5EF4-FFF2-40B4-BE49-F238E27FC236}">
                <ns2:creationId id="{4D0BD234-3207-494B-8E76-F7F52520E752}"/>
              </a:ext>
            </a:extLst>
          </p:cNvPr>
          <p:cNvSpPr>
            <a:spLocks noGrp="1"/>
          </p:cNvSpPr>
          <p:nvPr/>
        </p:nvSpPr>
        <p:spPr>
          <a:xfrm>
            <a:off x="18288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ns2:creationId id="{C6EB332B-6552-4648-87E6-395C98CBC128}"/>
              </a:ext>
            </a:extLst>
          </p:cNvPr>
          <p:cNvSpPr>
            <a:spLocks noGrp="1"/>
          </p:cNvSpPr>
          <p:nvPr/>
        </p:nvSpPr>
        <p:spPr>
          <a:xfrm>
            <a:off x="18859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정규화</a:t>
            </a:r>
          </a:p>
        </p:txBody>
      </p:sp>
      <p:sp>
        <p:nvSpPr>
          <p:cNvPr id="11" name="화살표: 오른쪽 10">
            <a:extLst>
              <a:ext uri="{FF2B5EF4-FFF2-40B4-BE49-F238E27FC236}">
                <ns2:creationId id="{8A40CB4C-8683-4A8A-AF9B-1AFC9F80FEDA}"/>
              </a:ext>
            </a:extLst>
          </p:cNvPr>
          <p:cNvSpPr>
            <a:spLocks noGrp="1"/>
          </p:cNvSpPr>
          <p:nvPr/>
        </p:nvSpPr>
        <p:spPr>
          <a:xfrm>
            <a:off x="28956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2" name="사각형: 둥근 모서리 11">
            <a:extLst>
              <a:ext uri="{FF2B5EF4-FFF2-40B4-BE49-F238E27FC236}">
                <ns2:creationId id="{471D9CFF-351E-4F3D-83C5-D2209BE1C1DE}"/>
              </a:ext>
            </a:extLst>
          </p:cNvPr>
          <p:cNvSpPr>
            <a:spLocks noGrp="1"/>
          </p:cNvSpPr>
          <p:nvPr/>
        </p:nvSpPr>
        <p:spPr>
          <a:xfrm>
            <a:off x="30480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ns2:creationId id="{E28E6DD5-A2C7-4053-A6DE-FA620CF5D627}"/>
              </a:ext>
            </a:extLst>
          </p:cNvPr>
          <p:cNvSpPr>
            <a:spLocks noGrp="1"/>
          </p:cNvSpPr>
          <p:nvPr/>
        </p:nvSpPr>
        <p:spPr>
          <a:xfrm>
            <a:off x="31051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검색/지도</a:t>
            </a:r>
          </a:p>
        </p:txBody>
      </p:sp>
      <p:sp>
        <p:nvSpPr>
          <p:cNvPr id="14" name="화살표: 오른쪽 13">
            <a:extLst>
              <a:ext uri="{FF2B5EF4-FFF2-40B4-BE49-F238E27FC236}">
                <ns2:creationId id="{2E3D0A70-9B36-4588-B768-C6316A56055D}"/>
              </a:ext>
            </a:extLst>
          </p:cNvPr>
          <p:cNvSpPr>
            <a:spLocks noGrp="1"/>
          </p:cNvSpPr>
          <p:nvPr/>
        </p:nvSpPr>
        <p:spPr>
          <a:xfrm>
            <a:off x="41148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5" name="사각형: 둥근 모서리 14">
            <a:extLst>
              <a:ext uri="{FF2B5EF4-FFF2-40B4-BE49-F238E27FC236}">
                <ns2:creationId id="{7920923F-779A-437E-A220-70615F300C66}"/>
              </a:ext>
            </a:extLst>
          </p:cNvPr>
          <p:cNvSpPr>
            <a:spLocks noGrp="1"/>
          </p:cNvSpPr>
          <p:nvPr/>
        </p:nvSpPr>
        <p:spPr>
          <a:xfrm>
            <a:off x="42672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ns2:creationId id="{10F04346-FCB8-4CF3-AEDE-DF2840519D06}"/>
              </a:ext>
            </a:extLst>
          </p:cNvPr>
          <p:cNvSpPr>
            <a:spLocks noGrp="1"/>
          </p:cNvSpPr>
          <p:nvPr/>
        </p:nvSpPr>
        <p:spPr>
          <a:xfrm>
            <a:off x="43243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상세</a:t>
            </a:r>
          </a:p>
        </p:txBody>
      </p:sp>
      <p:sp>
        <p:nvSpPr>
          <p:cNvPr id="17" name="화살표: 오른쪽 16">
            <a:extLst>
              <a:ext uri="{FF2B5EF4-FFF2-40B4-BE49-F238E27FC236}">
                <ns2:creationId id="{97DA810D-6C67-4506-93E3-0E999DD904C5}"/>
              </a:ext>
            </a:extLst>
          </p:cNvPr>
          <p:cNvSpPr>
            <a:spLocks noGrp="1"/>
          </p:cNvSpPr>
          <p:nvPr/>
        </p:nvSpPr>
        <p:spPr>
          <a:xfrm>
            <a:off x="53340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8" name="사각형: 둥근 모서리 17">
            <a:extLst>
              <a:ext uri="{FF2B5EF4-FFF2-40B4-BE49-F238E27FC236}">
                <ns2:creationId id="{CA75C9CC-384E-4A81-A3ED-9F1A5DCA58B0}"/>
              </a:ext>
            </a:extLst>
          </p:cNvPr>
          <p:cNvSpPr>
            <a:spLocks noGrp="1"/>
          </p:cNvSpPr>
          <p:nvPr/>
        </p:nvSpPr>
        <p:spPr>
          <a:xfrm>
            <a:off x="54864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ns2:creationId id="{935F12C0-6DB7-4139-B2CF-2D85B2464A41}"/>
              </a:ext>
            </a:extLst>
          </p:cNvPr>
          <p:cNvSpPr>
            <a:spLocks noGrp="1"/>
          </p:cNvSpPr>
          <p:nvPr/>
        </p:nvSpPr>
        <p:spPr>
          <a:xfrm>
            <a:off x="55435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</a:t>
            </a:r>
          </a:p>
        </p:txBody>
      </p:sp>
      <p:sp>
        <p:nvSpPr>
          <p:cNvPr id="20" name="화살표: 오른쪽 19">
            <a:extLst>
              <a:ext uri="{FF2B5EF4-FFF2-40B4-BE49-F238E27FC236}">
                <ns2:creationId id="{C5EDC689-D6C4-469C-9147-C1C66A56AB77}"/>
              </a:ext>
            </a:extLst>
          </p:cNvPr>
          <p:cNvSpPr>
            <a:spLocks noGrp="1"/>
          </p:cNvSpPr>
          <p:nvPr/>
        </p:nvSpPr>
        <p:spPr>
          <a:xfrm>
            <a:off x="65532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1" name="사각형: 둥근 모서리 20">
            <a:extLst>
              <a:ext uri="{FF2B5EF4-FFF2-40B4-BE49-F238E27FC236}">
                <ns2:creationId id="{E138C70D-91CF-4C0F-A926-7084C117D752}"/>
              </a:ext>
            </a:extLst>
          </p:cNvPr>
          <p:cNvSpPr>
            <a:spLocks noGrp="1"/>
          </p:cNvSpPr>
          <p:nvPr/>
        </p:nvSpPr>
        <p:spPr>
          <a:xfrm>
            <a:off x="67056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ns2:creationId id="{79C7A395-AAB3-41FE-985C-EA6E12A92DBF}"/>
              </a:ext>
            </a:extLst>
          </p:cNvPr>
          <p:cNvSpPr>
            <a:spLocks noGrp="1"/>
          </p:cNvSpPr>
          <p:nvPr/>
        </p:nvSpPr>
        <p:spPr>
          <a:xfrm>
            <a:off x="67627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공유·비교</a:t>
            </a:r>
          </a:p>
        </p:txBody>
      </p:sp>
      <p:sp>
        <p:nvSpPr>
          <p:cNvPr id="23" name="화살표: 오른쪽 22">
            <a:extLst>
              <a:ext uri="{FF2B5EF4-FFF2-40B4-BE49-F238E27FC236}">
                <ns2:creationId id="{CB8611F1-71EA-40E7-9762-214A7F837962}"/>
              </a:ext>
            </a:extLst>
          </p:cNvPr>
          <p:cNvSpPr>
            <a:spLocks noGrp="1"/>
          </p:cNvSpPr>
          <p:nvPr/>
        </p:nvSpPr>
        <p:spPr>
          <a:xfrm>
            <a:off x="7772400" y="2419350"/>
            <a:ext cx="1524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4" name="사각형: 둥근 모서리 23">
            <a:extLst>
              <a:ext uri="{FF2B5EF4-FFF2-40B4-BE49-F238E27FC236}">
                <ns2:creationId id="{3C9F6621-8D78-4AFD-A307-4DB46D9CEAC3}"/>
              </a:ext>
            </a:extLst>
          </p:cNvPr>
          <p:cNvSpPr>
            <a:spLocks noGrp="1"/>
          </p:cNvSpPr>
          <p:nvPr/>
        </p:nvSpPr>
        <p:spPr>
          <a:xfrm>
            <a:off x="79248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A0057131-CC35-42C0-8EE6-AECC433E8F77}"/>
              </a:ext>
            </a:extLst>
          </p:cNvPr>
          <p:cNvSpPr>
            <a:spLocks noGrp="1"/>
          </p:cNvSpPr>
          <p:nvPr/>
        </p:nvSpPr>
        <p:spPr>
          <a:xfrm>
            <a:off x="79819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방문 후보</a:t>
            </a:r>
          </a:p>
        </p:txBody>
      </p:sp>
      <p:sp>
        <p:nvSpPr>
          <p:cNvPr id="26" name="화살표: 오른쪽 25">
            <a:extLst>
              <a:ext uri="{FF2B5EF4-FFF2-40B4-BE49-F238E27FC236}">
                <ns2:creationId id="{43C5AD66-666E-434D-90B6-D02D6DF7168A}"/>
              </a:ext>
            </a:extLst>
          </p:cNvPr>
          <p:cNvSpPr>
            <a:spLocks noGrp="1"/>
          </p:cNvSpPr>
          <p:nvPr/>
        </p:nvSpPr>
        <p:spPr>
          <a:xfrm>
            <a:off x="8991600" y="2419350"/>
            <a:ext cx="1524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7" name="사각형: 둥근 모서리 26">
            <a:extLst>
              <a:ext uri="{FF2B5EF4-FFF2-40B4-BE49-F238E27FC236}">
                <ns2:creationId id="{B91A16AD-915F-42D3-9D40-D9D9C8879527}"/>
              </a:ext>
            </a:extLst>
          </p:cNvPr>
          <p:cNvSpPr>
            <a:spLocks noGrp="1"/>
          </p:cNvSpPr>
          <p:nvPr/>
        </p:nvSpPr>
        <p:spPr>
          <a:xfrm>
            <a:off x="91440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ns2:creationId id="{44E4EB26-886A-485E-9F24-535D1C52B7C2}"/>
              </a:ext>
            </a:extLst>
          </p:cNvPr>
          <p:cNvSpPr>
            <a:spLocks noGrp="1"/>
          </p:cNvSpPr>
          <p:nvPr/>
        </p:nvSpPr>
        <p:spPr>
          <a:xfrm>
            <a:off x="92011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문의/방문</a:t>
            </a:r>
          </a:p>
        </p:txBody>
      </p:sp>
      <p:sp>
        <p:nvSpPr>
          <p:cNvPr id="29" name="화살표: 오른쪽 28">
            <a:extLst>
              <a:ext uri="{FF2B5EF4-FFF2-40B4-BE49-F238E27FC236}">
                <ns2:creationId id="{99737D9F-EECF-4923-9A6E-E36199ADEBB8}"/>
              </a:ext>
            </a:extLst>
          </p:cNvPr>
          <p:cNvSpPr>
            <a:spLocks noGrp="1"/>
          </p:cNvSpPr>
          <p:nvPr/>
        </p:nvSpPr>
        <p:spPr>
          <a:xfrm>
            <a:off x="10210800" y="2419350"/>
            <a:ext cx="152400" cy="1714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30" name="사각형: 둥근 모서리 29">
            <a:extLst>
              <a:ext uri="{FF2B5EF4-FFF2-40B4-BE49-F238E27FC236}">
                <ns2:creationId id="{C5E7712F-923A-4489-8707-1CFD81E6EC12}"/>
              </a:ext>
            </a:extLst>
          </p:cNvPr>
          <p:cNvSpPr>
            <a:spLocks noGrp="1"/>
          </p:cNvSpPr>
          <p:nvPr/>
        </p:nvSpPr>
        <p:spPr>
          <a:xfrm>
            <a:off x="10363200" y="2143125"/>
            <a:ext cx="1066800" cy="742950"/>
          </a:xfrm>
          <a:prstGeom prst="roundRect">
            <a:avLst>
              <a:gd name="adj" fmla="val 11538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F3DB473C-B3B0-424B-80B1-666004E172F3}"/>
              </a:ext>
            </a:extLst>
          </p:cNvPr>
          <p:cNvSpPr>
            <a:spLocks noGrp="1"/>
          </p:cNvSpPr>
          <p:nvPr/>
        </p:nvSpPr>
        <p:spPr>
          <a:xfrm>
            <a:off x="10420350" y="23622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금융/계약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ns2:creationId id="{0260C2D2-F9A6-478C-A51B-6AA8EFA7BE60}"/>
              </a:ext>
            </a:extLst>
          </p:cNvPr>
          <p:cNvSpPr>
            <a:spLocks noGrp="1"/>
          </p:cNvSpPr>
          <p:nvPr/>
        </p:nvSpPr>
        <p:spPr>
          <a:xfrm>
            <a:off x="6622490" y="1619250"/>
            <a:ext cx="2464360" cy="1581150"/>
          </a:xfrm>
          <a:prstGeom prst="roundRect">
            <a:avLst>
              <a:gd name="adj" fmla="val 8434"/>
            </a:avLst>
          </a:prstGeom>
          <a:noFill/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ns2:creationId id="{295DD627-483A-44C6-B2CB-87A09C4644C3}"/>
              </a:ext>
            </a:extLst>
          </p:cNvPr>
          <p:cNvSpPr>
            <a:spLocks noGrp="1"/>
          </p:cNvSpPr>
          <p:nvPr/>
        </p:nvSpPr>
        <p:spPr>
          <a:xfrm>
            <a:off x="7067550" y="1743075"/>
            <a:ext cx="1562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빈 자리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A8A158D4-5DFC-4BED-9DFE-D64011A809B5}"/>
              </a:ext>
            </a:extLst>
          </p:cNvPr>
          <p:cNvSpPr>
            <a:spLocks noGrp="1"/>
          </p:cNvSpPr>
          <p:nvPr/>
        </p:nvSpPr>
        <p:spPr>
          <a:xfrm>
            <a:off x="857250" y="36004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 이후</a:t>
            </a:r>
          </a:p>
        </p:txBody>
      </p:sp>
      <p:sp>
        <p:nvSpPr>
          <p:cNvPr id="35" name="직사각형 34">
            <a:extLst>
              <a:ext uri="{FF2B5EF4-FFF2-40B4-BE49-F238E27FC236}">
                <ns2:creationId id="{02A71B7B-6A63-49CA-900E-D78BC88EF0C4}"/>
              </a:ext>
            </a:extLst>
          </p:cNvPr>
          <p:cNvSpPr>
            <a:spLocks noGrp="1"/>
          </p:cNvSpPr>
          <p:nvPr/>
        </p:nvSpPr>
        <p:spPr>
          <a:xfrm>
            <a:off x="857250" y="4029075"/>
            <a:ext cx="723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저장한 집은 네이버에 남는데, 둘이 맞추는 과정은 밖에서 돕니다 — 저희 관찰입니다</a:t>
            </a:r>
            <a:endParaRPr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ns2:creationId id="{84B92112-FC36-4D44-8E8E-9EA66736E008}"/>
              </a:ext>
            </a:extLst>
          </p:cNvPr>
          <p:cNvSpPr>
            <a:spLocks noGrp="1"/>
          </p:cNvSpPr>
          <p:nvPr/>
        </p:nvSpPr>
        <p:spPr>
          <a:xfrm>
            <a:off x="857250" y="4857750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추론</a:t>
            </a:r>
          </a:p>
        </p:txBody>
      </p:sp>
      <p:sp>
        <p:nvSpPr>
          <p:cNvPr id="37" name="직사각형 36">
            <a:extLst>
              <a:ext uri="{FF2B5EF4-FFF2-40B4-BE49-F238E27FC236}">
                <ns2:creationId id="{7980D8B6-40AC-4E18-8F1A-1371790A06BB}"/>
              </a:ext>
            </a:extLst>
          </p:cNvPr>
          <p:cNvSpPr>
            <a:spLocks noGrp="1"/>
          </p:cNvSpPr>
          <p:nvPr/>
        </p:nvSpPr>
        <p:spPr>
          <a:xfrm>
            <a:off x="1676400" y="48672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네이버 내부 데이터로 확인한 건 아닙니다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ns2:creationId id="{DACB67D7-85BF-419A-BCDE-469606DBB847}"/>
              </a:ext>
            </a:extLst>
          </p:cNvPr>
          <p:cNvSpPr>
            <a:spLocks noGrp="1"/>
          </p:cNvSpPr>
          <p:nvPr/>
        </p:nvSpPr>
        <p:spPr>
          <a:xfrm>
            <a:off x="8401050" y="3667125"/>
            <a:ext cx="3028950" cy="1619250"/>
          </a:xfrm>
          <a:prstGeom prst="roundRect">
            <a:avLst>
              <a:gd name="adj" fmla="val 8235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ns2:creationId id="{DEBAEF06-432A-4AC7-B664-182E23F1AA64}"/>
              </a:ext>
            </a:extLst>
          </p:cNvPr>
          <p:cNvSpPr>
            <a:spLocks noGrp="1"/>
          </p:cNvSpPr>
          <p:nvPr/>
        </p:nvSpPr>
        <p:spPr>
          <a:xfrm>
            <a:off x="8629650" y="38862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제품 범위</a:t>
            </a:r>
          </a:p>
        </p:txBody>
      </p:sp>
      <p:sp>
        <p:nvSpPr>
          <p:cNvPr id="40" name="직사각형 39">
            <a:extLst>
              <a:ext uri="{FF2B5EF4-FFF2-40B4-BE49-F238E27FC236}">
                <ns2:creationId id="{61E6F48D-2DA8-4C59-8EBC-D65F9E69C97F}"/>
              </a:ext>
            </a:extLst>
          </p:cNvPr>
          <p:cNvSpPr>
            <a:spLocks noGrp="1"/>
          </p:cNvSpPr>
          <p:nvPr/>
        </p:nvSpPr>
        <p:spPr>
          <a:xfrm>
            <a:off x="8629650" y="4162425"/>
            <a:ext cx="2686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새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매물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DB ·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검색을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만들지</a:t>
            </a:r>
            <a:r>
              <a:rPr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않는다</a:t>
            </a:r>
            <a:endParaRPr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직사각형 40">
            <a:extLst>
              <a:ext uri="{FF2B5EF4-FFF2-40B4-BE49-F238E27FC236}">
                <ns2:creationId id="{5EB5480B-4603-4CF9-82DF-5E65F2007A83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저장된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관심매물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최대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5개에</a:t>
            </a:r>
          </a:p>
          <a:p>
            <a:pPr algn="l">
              <a:defRPr sz="1050" b="0">
                <a:solidFill>
                  <a:srgbClr val="C7D5C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사람별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조건을</a:t>
            </a:r>
            <a:r>
              <a:rPr sz="1200" b="0" dirty="0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C7D5CC"/>
                </a:solidFill>
                <a:latin typeface="Noto Sans KR"/>
                <a:ea typeface="Noto Sans KR"/>
                <a:cs typeface="Noto Sans KR"/>
              </a:rPr>
              <a:t>적용한다</a:t>
            </a:r>
            <a:endParaRPr sz="1200" b="0" dirty="0">
              <a:solidFill>
                <a:srgbClr val="C7D5CC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604713707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ns2:creationId id="{EAB50883-FB30-4CE3-8E4F-BD07E800C26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기업 · KSF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E0918705-28B8-4533-B8D7-4D04850141F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초대받은 사람이 들어올까요?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3F590BB0-3EBA-48EF-8841-19DC91F8CA0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ns2:creationId id="{E6A1E61C-67E4-45D9-8B6A-E1894F69BF49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카톡에 이렇게 뜹니다 —  “OO님이 같이 보기에 초대했어요”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68D297A4-3EF3-461F-A39E-B4D33DFDB73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51061F67-6A3D-41FC-AE6C-E47E0A3AD9B4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네이버가 가진 것</a:t>
            </a:r>
          </a:p>
        </p:txBody>
      </p:sp>
      <p:sp>
        <p:nvSpPr>
          <p:cNvPr id="7" name="직사각형 6">
            <a:extLst>
              <a:ext uri="{FF2B5EF4-FFF2-40B4-BE49-F238E27FC236}">
                <ns2:creationId id="{37780406-ED5D-4512-B872-ED303A9DBD3F}"/>
              </a:ext>
            </a:extLst>
          </p:cNvPr>
          <p:cNvSpPr>
            <a:spLocks noGrp="1"/>
          </p:cNvSpPr>
          <p:nvPr/>
        </p:nvSpPr>
        <p:spPr>
          <a:xfrm>
            <a:off x="6229350" y="1581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이 기능의 성공 조건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ns2:creationId id="{ECC5BCCB-8D25-4825-B252-CCEE6FAF77CC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9" name="직사각형 8">
            <a:extLst>
              <a:ext uri="{FF2B5EF4-FFF2-40B4-BE49-F238E27FC236}">
                <ns2:creationId id="{F520FF4D-E663-4683-B66D-80352A70CCB7}"/>
              </a:ext>
            </a:extLst>
          </p:cNvPr>
          <p:cNvSpPr>
            <a:spLocks noGrp="1"/>
          </p:cNvSpPr>
          <p:nvPr/>
        </p:nvSpPr>
        <p:spPr>
          <a:xfrm>
            <a:off x="914400" y="21526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풍부하고 신선한 매물 데이터</a:t>
            </a:r>
          </a:p>
        </p:txBody>
      </p:sp>
      <p:sp>
        <p:nvSpPr>
          <p:cNvPr id="10" name="화살표: 오른쪽 9">
            <a:extLst>
              <a:ext uri="{FF2B5EF4-FFF2-40B4-BE49-F238E27FC236}">
                <ns2:creationId id="{C788622F-3FF1-497F-91DD-64E0DA1AF10B}"/>
              </a:ext>
            </a:extLst>
          </p:cNvPr>
          <p:cNvSpPr>
            <a:spLocks noGrp="1"/>
          </p:cNvSpPr>
          <p:nvPr/>
        </p:nvSpPr>
        <p:spPr>
          <a:xfrm>
            <a:off x="5086350" y="218122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1" name="사각형: 둥근 모서리 10">
            <a:extLst>
              <a:ext uri="{FF2B5EF4-FFF2-40B4-BE49-F238E27FC236}">
                <ns2:creationId id="{BDB90FE9-E16F-4AA4-B316-9CEEB1041DC6}"/>
              </a:ext>
            </a:extLst>
          </p:cNvPr>
          <p:cNvSpPr>
            <a:spLocks noGrp="1"/>
          </p:cNvSpPr>
          <p:nvPr/>
        </p:nvSpPr>
        <p:spPr>
          <a:xfrm>
            <a:off x="6229350" y="200025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2" name="직사각형 11">
            <a:extLst>
              <a:ext uri="{FF2B5EF4-FFF2-40B4-BE49-F238E27FC236}">
                <ns2:creationId id="{495556D4-2246-4AA4-86A2-A1E4FF74BDC4}"/>
              </a:ext>
            </a:extLst>
          </p:cNvPr>
          <p:cNvSpPr>
            <a:spLocks noGrp="1"/>
          </p:cNvSpPr>
          <p:nvPr/>
        </p:nvSpPr>
        <p:spPr>
          <a:xfrm>
            <a:off x="6438900" y="21431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매물이 바뀌어도 조건이 남는 후보 관리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10F4C28A-213C-489F-B648-82A3E98CF16F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4" name="직사각형 13">
            <a:extLst>
              <a:ext uri="{FF2B5EF4-FFF2-40B4-BE49-F238E27FC236}">
                <ns2:creationId id="{5262421B-FF17-444A-A896-9707D7A4BCBD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지도·필터·검색 속도</a:t>
            </a:r>
          </a:p>
        </p:txBody>
      </p:sp>
      <p:sp>
        <p:nvSpPr>
          <p:cNvPr id="15" name="화살표: 오른쪽 14">
            <a:extLst>
              <a:ext uri="{FF2B5EF4-FFF2-40B4-BE49-F238E27FC236}">
                <ns2:creationId id="{DE90FC6D-0BB3-4429-8E4B-DAAD11739F31}"/>
              </a:ext>
            </a:extLst>
          </p:cNvPr>
          <p:cNvSpPr>
            <a:spLocks noGrp="1"/>
          </p:cNvSpPr>
          <p:nvPr/>
        </p:nvSpPr>
        <p:spPr>
          <a:xfrm>
            <a:off x="5086350" y="296227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6" name="사각형: 둥근 모서리 15">
            <a:extLst>
              <a:ext uri="{FF2B5EF4-FFF2-40B4-BE49-F238E27FC236}">
                <ns2:creationId id="{7F229EE3-3C98-45A3-9064-A0AF3B124792}"/>
              </a:ext>
            </a:extLst>
          </p:cNvPr>
          <p:cNvSpPr>
            <a:spLocks noGrp="1"/>
          </p:cNvSpPr>
          <p:nvPr/>
        </p:nvSpPr>
        <p:spPr>
          <a:xfrm>
            <a:off x="6229350" y="278130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7" name="직사각형 16">
            <a:extLst>
              <a:ext uri="{FF2B5EF4-FFF2-40B4-BE49-F238E27FC236}">
                <ns2:creationId id="{064F1BB1-1950-4459-B459-DA617AB80180}"/>
              </a:ext>
            </a:extLst>
          </p:cNvPr>
          <p:cNvSpPr>
            <a:spLocks noGrp="1"/>
          </p:cNvSpPr>
          <p:nvPr/>
        </p:nvSpPr>
        <p:spPr>
          <a:xfrm>
            <a:off x="6438900" y="29241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링크 하나로 들어오고, 입력은 두 개만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ns2:creationId id="{CB919679-29CB-4957-92CF-780E0E28150E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ns2:creationId id="{7606D9C6-191A-48AD-8399-944901A3E902}"/>
              </a:ext>
            </a:extLst>
          </p:cNvPr>
          <p:cNvSpPr>
            <a:spLocks noGrp="1"/>
          </p:cNvSpPr>
          <p:nvPr/>
        </p:nvSpPr>
        <p:spPr>
          <a:xfrm>
            <a:off x="914400" y="37147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로그인 사용자·관심매물</a:t>
            </a:r>
          </a:p>
        </p:txBody>
      </p:sp>
      <p:sp>
        <p:nvSpPr>
          <p:cNvPr id="20" name="화살표: 오른쪽 19">
            <a:extLst>
              <a:ext uri="{FF2B5EF4-FFF2-40B4-BE49-F238E27FC236}">
                <ns2:creationId id="{8AD24D8C-08B4-408B-8114-832435E20A7E}"/>
              </a:ext>
            </a:extLst>
          </p:cNvPr>
          <p:cNvSpPr>
            <a:spLocks noGrp="1"/>
          </p:cNvSpPr>
          <p:nvPr/>
        </p:nvSpPr>
        <p:spPr>
          <a:xfrm>
            <a:off x="5086350" y="374332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1" name="사각형: 둥근 모서리 20">
            <a:extLst>
              <a:ext uri="{FF2B5EF4-FFF2-40B4-BE49-F238E27FC236}">
                <ns2:creationId id="{1E315899-187F-4F25-9AC7-3253866DBC0A}"/>
              </a:ext>
            </a:extLst>
          </p:cNvPr>
          <p:cNvSpPr>
            <a:spLocks noGrp="1"/>
          </p:cNvSpPr>
          <p:nvPr/>
        </p:nvSpPr>
        <p:spPr>
          <a:xfrm>
            <a:off x="6229350" y="356235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ns2:creationId id="{0D438294-0380-46C0-8576-A683E3256E06}"/>
              </a:ext>
            </a:extLst>
          </p:cNvPr>
          <p:cNvSpPr>
            <a:spLocks noGrp="1"/>
          </p:cNvSpPr>
          <p:nvPr/>
        </p:nvSpPr>
        <p:spPr>
          <a:xfrm>
            <a:off x="6438900" y="37052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두 사람 조건을 같은 비중으로 설명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ns2:creationId id="{582B5B15-DE6F-4A95-8D6F-7697824C262F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409575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4" name="직사각형 23">
            <a:extLst>
              <a:ext uri="{FF2B5EF4-FFF2-40B4-BE49-F238E27FC236}">
                <ns2:creationId id="{35990895-357E-4CDA-B9A9-6A2B8020C2A9}"/>
              </a:ext>
            </a:extLst>
          </p:cNvPr>
          <p:cNvSpPr>
            <a:spLocks noGrp="1"/>
          </p:cNvSpPr>
          <p:nvPr/>
        </p:nvSpPr>
        <p:spPr>
          <a:xfrm>
            <a:off x="914400" y="44958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문의·방문·금융 생태계</a:t>
            </a:r>
          </a:p>
        </p:txBody>
      </p:sp>
      <p:sp>
        <p:nvSpPr>
          <p:cNvPr id="25" name="화살표: 오른쪽 24">
            <a:extLst>
              <a:ext uri="{FF2B5EF4-FFF2-40B4-BE49-F238E27FC236}">
                <ns2:creationId id="{EB5E1206-08AF-4DBB-B02E-D146A409A8A3}"/>
              </a:ext>
            </a:extLst>
          </p:cNvPr>
          <p:cNvSpPr>
            <a:spLocks noGrp="1"/>
          </p:cNvSpPr>
          <p:nvPr/>
        </p:nvSpPr>
        <p:spPr>
          <a:xfrm>
            <a:off x="5086350" y="4524375"/>
            <a:ext cx="876300" cy="1905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6" name="사각형: 둥근 모서리 25">
            <a:extLst>
              <a:ext uri="{FF2B5EF4-FFF2-40B4-BE49-F238E27FC236}">
                <ns2:creationId id="{6891E6E3-C89C-4C52-9B4E-25ACDC19AED0}"/>
              </a:ext>
            </a:extLst>
          </p:cNvPr>
          <p:cNvSpPr>
            <a:spLocks noGrp="1"/>
          </p:cNvSpPr>
          <p:nvPr/>
        </p:nvSpPr>
        <p:spPr>
          <a:xfrm>
            <a:off x="6229350" y="4343400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7" name="직사각형 26">
            <a:extLst>
              <a:ext uri="{FF2B5EF4-FFF2-40B4-BE49-F238E27FC236}">
                <ns2:creationId id="{6150BAED-5487-4E74-9BB2-BA1C6831E085}"/>
              </a:ext>
            </a:extLst>
          </p:cNvPr>
          <p:cNvSpPr>
            <a:spLocks noGrp="1"/>
          </p:cNvSpPr>
          <p:nvPr/>
        </p:nvSpPr>
        <p:spPr>
          <a:xfrm>
            <a:off x="6438900" y="44862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정하고 나면 원래 하던 문의·방문으로 돌아감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ns2:creationId id="{3E5B2A39-5556-4798-9313-E44EB5AD2CBC}"/>
              </a:ext>
            </a:extLst>
          </p:cNvPr>
          <p:cNvSpPr>
            <a:spLocks noGrp="1"/>
          </p:cNvSpPr>
          <p:nvPr/>
        </p:nvSpPr>
        <p:spPr>
          <a:xfrm>
            <a:off x="723900" y="5334000"/>
            <a:ext cx="10534650" cy="685800"/>
          </a:xfrm>
          <a:prstGeom prst="roundRect">
            <a:avLst>
              <a:gd name="adj" fmla="val 16667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ns2:creationId id="{D3CCCAEB-D118-4734-A444-B49ECD86085B}"/>
              </a:ext>
            </a:extLst>
          </p:cNvPr>
          <p:cNvSpPr>
            <a:spLocks noGrp="1"/>
          </p:cNvSpPr>
          <p:nvPr/>
        </p:nvSpPr>
        <p:spPr>
          <a:xfrm>
            <a:off x="895350" y="5563870"/>
            <a:ext cx="8382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여기가 급소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3768235F-F969-4B42-BB35-2B0DAE6440E7}"/>
              </a:ext>
            </a:extLst>
          </p:cNvPr>
          <p:cNvSpPr>
            <a:spLocks noGrp="1"/>
          </p:cNvSpPr>
          <p:nvPr/>
        </p:nvSpPr>
        <p:spPr>
          <a:xfrm>
            <a:off x="1981200" y="5488305"/>
            <a:ext cx="628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초대받은 사람이 링크를 열고, 자기 조건까지 입력하는가?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03B6B004-4B2B-43DA-A6E7-2BA2FE5EB603}"/>
              </a:ext>
            </a:extLst>
          </p:cNvPr>
          <p:cNvSpPr>
            <a:spLocks noGrp="1"/>
          </p:cNvSpPr>
          <p:nvPr/>
        </p:nvSpPr>
        <p:spPr>
          <a:xfrm>
            <a:off x="8286750" y="5496560"/>
            <a:ext cx="2724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혼자서도 막히진 않게 했습니다. 다만 그걸 기본으로 삼진 않습니다.</a:t>
            </a:r>
          </a:p>
        </p:txBody>
      </p:sp>
    </p:spTree>
    <p:extLst>
      <p:ext uri="{BB962C8B-B14F-4D97-AF65-F5344CB8AC3E}">
        <ns3:creationId val="1343870297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27">
            <a:extLst>
              <a:ext uri="{FF2B5EF4-FFF2-40B4-BE49-F238E27FC236}">
                <ns2:creationId id="{1218B7D7-69FD-44D8-908A-F15F812AE29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고객 · 세그먼트 맵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AA245F55-AC11-4FEA-A2F1-F149A001F05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처음 검증은 예비부부·신혼부부로 좁혔습니다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A8582DED-50F9-410A-AA0D-5C5181CC3FAC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CC27DF6A-1D28-441F-BCFD-677C36A797B8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C390C326-0A4E-4121-936A-2F787F614C34}"/>
              </a:ext>
            </a:extLst>
          </p:cNvPr>
          <p:cNvSpPr>
            <a:spLocks noGrp="1"/>
          </p:cNvSpPr>
          <p:nvPr/>
        </p:nvSpPr>
        <p:spPr>
          <a:xfrm>
            <a:off x="762000" y="1581150"/>
            <a:ext cx="9715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 사용자</a:t>
            </a:r>
          </a:p>
        </p:txBody>
      </p:sp>
      <p:sp>
        <p:nvSpPr>
          <p:cNvPr id="7" name="직사각형 6">
            <a:extLst>
              <a:ext uri="{FF2B5EF4-FFF2-40B4-BE49-F238E27FC236}">
                <ns2:creationId id="{341A37CA-54A3-4960-B202-DB68FDD2BA59}"/>
              </a:ext>
            </a:extLst>
          </p:cNvPr>
          <p:cNvSpPr>
            <a:spLocks noGrp="1"/>
          </p:cNvSpPr>
          <p:nvPr/>
        </p:nvSpPr>
        <p:spPr>
          <a:xfrm>
            <a:off x="1905000" y="1552575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함께 살 집을 구하는 2인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ns2:creationId id="{13D88F36-E8D0-4E92-8AF8-27F585EA4DAC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5845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선 연결선 8">
            <a:extLst>
              <a:ext uri="{FF2B5EF4-FFF2-40B4-BE49-F238E27FC236}">
                <ns2:creationId id="{AC32D514-4943-47C7-BC7B-6108728D1AA6}"/>
              </a:ext>
            </a:extLst>
          </p:cNvPr>
          <p:cNvSpPr>
            <a:spLocks noGrp="1"/>
          </p:cNvSpPr>
          <p:nvPr/>
        </p:nvSpPr>
        <p:spPr>
          <a:xfrm>
            <a:off x="1619250" y="2800350"/>
            <a:ext cx="8096250" cy="0"/>
          </a:xfrm>
          <a:prstGeom prst="line">
            <a:avLst/>
          </a:prstGeom>
          <a:noFill/>
          <a:ln w="476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ns2:creationId id="{55A8CB68-30A6-40BE-A5BE-7918E5A5A644}"/>
              </a:ext>
            </a:extLst>
          </p:cNvPr>
          <p:cNvSpPr>
            <a:spLocks noGrp="1"/>
          </p:cNvSpPr>
          <p:nvPr/>
        </p:nvSpPr>
        <p:spPr>
          <a:xfrm>
            <a:off x="1619250" y="2733675"/>
            <a:ext cx="3714750" cy="1333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타원 10">
            <a:extLst>
              <a:ext uri="{FF2B5EF4-FFF2-40B4-BE49-F238E27FC236}">
                <ns2:creationId id="{21DB47B1-B947-46ED-BA20-5D8893C87998}"/>
              </a:ext>
            </a:extLst>
          </p:cNvPr>
          <p:cNvSpPr>
            <a:spLocks noGrp="1"/>
          </p:cNvSpPr>
          <p:nvPr/>
        </p:nvSpPr>
        <p:spPr>
          <a:xfrm>
            <a:off x="1790700" y="2667000"/>
            <a:ext cx="266700" cy="2667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타원 11">
            <a:extLst>
              <a:ext uri="{FF2B5EF4-FFF2-40B4-BE49-F238E27FC236}">
                <ns2:creationId id="{80794005-23DA-4E31-93DD-531165BB4AE7}"/>
              </a:ext>
            </a:extLst>
          </p:cNvPr>
          <p:cNvSpPr>
            <a:spLocks noGrp="1"/>
          </p:cNvSpPr>
          <p:nvPr/>
        </p:nvSpPr>
        <p:spPr>
          <a:xfrm>
            <a:off x="9334500" y="2667000"/>
            <a:ext cx="266700" cy="2667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ns2:creationId id="{EE86C17A-BB4A-4C37-B4B8-9DE7D1783972}"/>
              </a:ext>
            </a:extLst>
          </p:cNvPr>
          <p:cNvSpPr>
            <a:spLocks noGrp="1"/>
          </p:cNvSpPr>
          <p:nvPr/>
        </p:nvSpPr>
        <p:spPr>
          <a:xfrm>
            <a:off x="1381125" y="30099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둘 다 적극적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B73ED8C9-161D-4D9B-B293-2B8659A59155}"/>
              </a:ext>
            </a:extLst>
          </p:cNvPr>
          <p:cNvSpPr>
            <a:spLocks noGrp="1"/>
          </p:cNvSpPr>
          <p:nvPr/>
        </p:nvSpPr>
        <p:spPr>
          <a:xfrm>
            <a:off x="8810625" y="30099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그보다는 덜함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ns2:creationId id="{8D240577-F6B4-4487-A016-88D3DFDAE15A}"/>
              </a:ext>
            </a:extLst>
          </p:cNvPr>
          <p:cNvSpPr>
            <a:spLocks noGrp="1"/>
          </p:cNvSpPr>
          <p:nvPr/>
        </p:nvSpPr>
        <p:spPr>
          <a:xfrm>
            <a:off x="1952625" y="2362200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1차 검증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D862141E-18A8-4828-B91E-D1D18550CFB3}"/>
              </a:ext>
            </a:extLst>
          </p:cNvPr>
          <p:cNvSpPr>
            <a:spLocks noGrp="1"/>
          </p:cNvSpPr>
          <p:nvPr/>
        </p:nvSpPr>
        <p:spPr>
          <a:xfrm>
            <a:off x="3048000" y="2371725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예비부부·신혼부부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ns2:creationId id="{AA7B37E8-7E39-4343-B9E2-B82786752239}"/>
              </a:ext>
            </a:extLst>
          </p:cNvPr>
          <p:cNvSpPr>
            <a:spLocks noGrp="1"/>
          </p:cNvSpPr>
          <p:nvPr/>
        </p:nvSpPr>
        <p:spPr>
          <a:xfrm>
            <a:off x="7524750" y="2362200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2차 검증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72AD94AB-9461-462D-AEDA-980FDB706852}"/>
              </a:ext>
            </a:extLst>
          </p:cNvPr>
          <p:cNvSpPr>
            <a:spLocks noGrp="1"/>
          </p:cNvSpPr>
          <p:nvPr/>
        </p:nvSpPr>
        <p:spPr>
          <a:xfrm>
            <a:off x="8524875" y="23717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친구·룸메이트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ns2:creationId id="{8EE2709E-6588-4C54-8912-773C7D4249A9}"/>
              </a:ext>
            </a:extLst>
          </p:cNvPr>
          <p:cNvSpPr>
            <a:spLocks noGrp="1"/>
          </p:cNvSpPr>
          <p:nvPr/>
        </p:nvSpPr>
        <p:spPr>
          <a:xfrm>
            <a:off x="762000" y="37909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0" name="직사각형 19">
            <a:extLst>
              <a:ext uri="{FF2B5EF4-FFF2-40B4-BE49-F238E27FC236}">
                <ns2:creationId id="{B389AA4D-5EBF-4A9D-A38B-E1DE20943AB3}"/>
              </a:ext>
            </a:extLst>
          </p:cNvPr>
          <p:cNvSpPr>
            <a:spLocks noGrp="1"/>
          </p:cNvSpPr>
          <p:nvPr/>
        </p:nvSpPr>
        <p:spPr>
          <a:xfrm>
            <a:off x="952500" y="39338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초기 시장</a:t>
            </a:r>
          </a:p>
        </p:txBody>
      </p:sp>
      <p:sp>
        <p:nvSpPr>
          <p:cNvPr id="21" name="직사각형 20">
            <a:extLst>
              <a:ext uri="{FF2B5EF4-FFF2-40B4-BE49-F238E27FC236}">
                <ns2:creationId id="{8730C855-CBA0-4507-ADD3-ACFC1224CFE4}"/>
              </a:ext>
            </a:extLst>
          </p:cNvPr>
          <p:cNvSpPr>
            <a:spLocks noGrp="1"/>
          </p:cNvSpPr>
          <p:nvPr/>
        </p:nvSpPr>
        <p:spPr>
          <a:xfrm>
            <a:off x="2286000" y="39052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전·월세 공동 주거 탐색자 2인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ns2:creationId id="{EB6FB9CD-624E-46E1-BE42-1DCDB7527815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3" name="직사각형 22">
            <a:extLst>
              <a:ext uri="{FF2B5EF4-FFF2-40B4-BE49-F238E27FC236}">
                <ns2:creationId id="{9A8AF525-BEB3-4233-AE04-F93699ED592C}"/>
              </a:ext>
            </a:extLst>
          </p:cNvPr>
          <p:cNvSpPr>
            <a:spLocks noGrp="1"/>
          </p:cNvSpPr>
          <p:nvPr/>
        </p:nvSpPr>
        <p:spPr>
          <a:xfrm>
            <a:off x="952500" y="46196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검증 대상 조건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203F2808-B111-4277-BFA2-C69E2699D08C}"/>
              </a:ext>
            </a:extLst>
          </p:cNvPr>
          <p:cNvSpPr>
            <a:spLocks noGrp="1"/>
          </p:cNvSpPr>
          <p:nvPr/>
        </p:nvSpPr>
        <p:spPr>
          <a:xfrm>
            <a:off x="2286000" y="45910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둘 다 실제로 각자 의견을 내는 관계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A3DBA85C-2CEB-4D7B-9478-FB88F647D788}"/>
              </a:ext>
            </a:extLst>
          </p:cNvPr>
          <p:cNvSpPr>
            <a:spLocks noGrp="1"/>
          </p:cNvSpPr>
          <p:nvPr/>
        </p:nvSpPr>
        <p:spPr>
          <a:xfrm>
            <a:off x="762000" y="5162550"/>
            <a:ext cx="10458450" cy="514350"/>
          </a:xfrm>
          <a:prstGeom prst="roundRect">
            <a:avLst>
              <a:gd name="adj" fmla="val 1851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6" name="직사각형 25">
            <a:extLst>
              <a:ext uri="{FF2B5EF4-FFF2-40B4-BE49-F238E27FC236}">
                <ns2:creationId id="{86704E0F-E848-49C2-80FB-0E9FA45303C9}"/>
              </a:ext>
            </a:extLst>
          </p:cNvPr>
          <p:cNvSpPr>
            <a:spLocks noGrp="1"/>
          </p:cNvSpPr>
          <p:nvPr/>
        </p:nvSpPr>
        <p:spPr>
          <a:xfrm>
            <a:off x="952500" y="53054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현재 제외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4761C859-F7A1-4C2B-9732-8A71F24EEE46}"/>
              </a:ext>
            </a:extLst>
          </p:cNvPr>
          <p:cNvSpPr>
            <a:spLocks noGrp="1"/>
          </p:cNvSpPr>
          <p:nvPr/>
        </p:nvSpPr>
        <p:spPr>
          <a:xfrm>
            <a:off x="2286000" y="52768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3인 이상 · 부모–자녀 · 한 사람이 정하고 다른 사람은 동의만 하는 관계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02F3F1D4-9510-44D3-B3FC-D9F7ECCF281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가상 페르소나는 만들지 않았습니다 — 나이·직업·소득을 조사한 적이 없어서, 지어내는 대신 관계 유형으로 나눴습니다</a:t>
            </a:r>
          </a:p>
        </p:txBody>
      </p:sp>
    </p:spTree>
    <p:extLst>
      <p:ext uri="{BB962C8B-B14F-4D97-AF65-F5344CB8AC3E}">
        <ns3:creationId val="888504193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43">
            <a:extLst>
              <a:ext uri="{FF2B5EF4-FFF2-40B4-BE49-F238E27FC236}">
                <ns2:creationId id="{A75354A4-2908-4C50-B14E-8E5D0FE415A9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고객 · 두 사람의 역할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1D37357F-9B0C-490F-AD3D-ED14978D9F30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기기만 다르고, 권한은 같습니다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AA6FADEA-D8F8-40F5-BB53-2F236BAE25CB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ns2:creationId id="{34A2F7FB-39B7-4B68-B497-26844A74F9A5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A = 먼저 시작해 초대하는 사람      ·      B = 링크를 받고 들어오는 사람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E12EC3FD-5767-465E-82AB-5B6DDE92D0F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1B9C1C28-E766-4046-8D89-93BD704AAF1C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504825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C320F882-6C26-450D-B916-AD16B257AC32}"/>
              </a:ext>
            </a:extLst>
          </p:cNvPr>
          <p:cNvSpPr>
            <a:spLocks noGrp="1"/>
          </p:cNvSpPr>
          <p:nvPr/>
        </p:nvSpPr>
        <p:spPr>
          <a:xfrm>
            <a:off x="6419850" y="1562100"/>
            <a:ext cx="504825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사각형: 둥근 모서리 7">
            <a:extLst>
              <a:ext uri="{FF2B5EF4-FFF2-40B4-BE49-F238E27FC236}">
                <ns2:creationId id="{2B7EC124-4E4D-4ECE-80E2-C53B9D690475}"/>
              </a:ext>
            </a:extLst>
          </p:cNvPr>
          <p:cNvSpPr>
            <a:spLocks noGrp="1"/>
          </p:cNvSpPr>
          <p:nvPr/>
        </p:nvSpPr>
        <p:spPr>
          <a:xfrm>
            <a:off x="933450" y="1752600"/>
            <a:ext cx="1733550" cy="26670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A · 초대 · PC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ns2:creationId id="{C26E6F00-5BE9-4220-B21B-9EA078727B53}"/>
              </a:ext>
            </a:extLst>
          </p:cNvPr>
          <p:cNvSpPr>
            <a:spLocks noGrp="1"/>
          </p:cNvSpPr>
          <p:nvPr/>
        </p:nvSpPr>
        <p:spPr>
          <a:xfrm>
            <a:off x="6629400" y="1752600"/>
            <a:ext cx="175260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B · 참여 · 모바일</a:t>
            </a:r>
          </a:p>
        </p:txBody>
      </p:sp>
      <p:sp>
        <p:nvSpPr>
          <p:cNvPr id="10" name="직사각형 9">
            <a:extLst>
              <a:ext uri="{FF2B5EF4-FFF2-40B4-BE49-F238E27FC236}">
                <ns2:creationId id="{0082A878-8381-4210-B7D2-77623AA47A6E}"/>
              </a:ext>
            </a:extLst>
          </p:cNvPr>
          <p:cNvSpPr>
            <a:spLocks noGrp="1"/>
          </p:cNvSpPr>
          <p:nvPr/>
        </p:nvSpPr>
        <p:spPr>
          <a:xfrm>
            <a:off x="933450" y="22669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시작</a:t>
            </a:r>
            <a:endParaRPr sz="140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직사각형 10">
            <a:extLst>
              <a:ext uri="{FF2B5EF4-FFF2-40B4-BE49-F238E27FC236}">
                <ns2:creationId id="{264E4BA5-98CD-4237-B4E8-236CE2AE4CA4}"/>
              </a:ext>
            </a:extLst>
          </p:cNvPr>
          <p:cNvSpPr>
            <a:spLocks noGrp="1"/>
          </p:cNvSpPr>
          <p:nvPr/>
        </p:nvSpPr>
        <p:spPr>
          <a:xfrm>
            <a:off x="1905000" y="22479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탐색·저장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중</a:t>
            </a:r>
          </a:p>
        </p:txBody>
      </p:sp>
      <p:sp>
        <p:nvSpPr>
          <p:cNvPr id="12" name="직선 연결선 11">
            <a:extLst>
              <a:ext uri="{FF2B5EF4-FFF2-40B4-BE49-F238E27FC236}">
                <ns2:creationId id="{3096259B-2C26-4408-B41D-5D3E97BD24D7}"/>
              </a:ext>
            </a:extLst>
          </p:cNvPr>
          <p:cNvSpPr>
            <a:spLocks noGrp="1"/>
          </p:cNvSpPr>
          <p:nvPr/>
        </p:nvSpPr>
        <p:spPr>
          <a:xfrm>
            <a:off x="933450" y="26098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ns2:creationId id="{DD7ED7CB-7093-4D88-BC16-B7BDBD6EB4D5}"/>
              </a:ext>
            </a:extLst>
          </p:cNvPr>
          <p:cNvSpPr>
            <a:spLocks noGrp="1"/>
          </p:cNvSpPr>
          <p:nvPr/>
        </p:nvSpPr>
        <p:spPr>
          <a:xfrm>
            <a:off x="933450" y="286702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첫 행동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6C5AACA1-EB6A-49ED-9EF8-38AA295802D2}"/>
              </a:ext>
            </a:extLst>
          </p:cNvPr>
          <p:cNvSpPr>
            <a:spLocks noGrp="1"/>
          </p:cNvSpPr>
          <p:nvPr/>
        </p:nvSpPr>
        <p:spPr>
          <a:xfrm>
            <a:off x="1905000" y="28479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중 최대 5개 선택</a:t>
            </a:r>
          </a:p>
        </p:txBody>
      </p:sp>
      <p:sp>
        <p:nvSpPr>
          <p:cNvPr id="15" name="직선 연결선 14">
            <a:extLst>
              <a:ext uri="{FF2B5EF4-FFF2-40B4-BE49-F238E27FC236}">
                <ns2:creationId id="{D4AEDD30-9588-43D1-9815-6920AA416EAD}"/>
              </a:ext>
            </a:extLst>
          </p:cNvPr>
          <p:cNvSpPr>
            <a:spLocks noGrp="1"/>
          </p:cNvSpPr>
          <p:nvPr/>
        </p:nvSpPr>
        <p:spPr>
          <a:xfrm>
            <a:off x="933450" y="320992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ns2:creationId id="{2A4A77D3-DFE4-4DE0-9FF6-72ACA60F4BFD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17" name="직사각형 16">
            <a:extLst>
              <a:ext uri="{FF2B5EF4-FFF2-40B4-BE49-F238E27FC236}">
                <ns2:creationId id="{EC7DF403-E853-48A5-B46F-81566677D4F1}"/>
              </a:ext>
            </a:extLst>
          </p:cNvPr>
          <p:cNvSpPr>
            <a:spLocks noGrp="1"/>
          </p:cNvSpPr>
          <p:nvPr/>
        </p:nvSpPr>
        <p:spPr>
          <a:xfrm>
            <a:off x="1905000" y="34480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18" name="직선 연결선 17">
            <a:extLst>
              <a:ext uri="{FF2B5EF4-FFF2-40B4-BE49-F238E27FC236}">
                <ns2:creationId id="{EB458917-2FCC-425F-AC54-16A98370477C}"/>
              </a:ext>
            </a:extLst>
          </p:cNvPr>
          <p:cNvSpPr>
            <a:spLocks noGrp="1"/>
          </p:cNvSpPr>
          <p:nvPr/>
        </p:nvSpPr>
        <p:spPr>
          <a:xfrm>
            <a:off x="933450" y="381000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ns2:creationId id="{258466F7-DBD2-415F-9345-1CEFCE56C1C5}"/>
              </a:ext>
            </a:extLst>
          </p:cNvPr>
          <p:cNvSpPr>
            <a:spLocks noGrp="1"/>
          </p:cNvSpPr>
          <p:nvPr/>
        </p:nvSpPr>
        <p:spPr>
          <a:xfrm>
            <a:off x="933450" y="406717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필요 이유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E3415486-C740-495C-A91B-ECE5E1234DCB}"/>
              </a:ext>
            </a:extLst>
          </p:cNvPr>
          <p:cNvSpPr>
            <a:spLocks noGrp="1"/>
          </p:cNvSpPr>
          <p:nvPr/>
        </p:nvSpPr>
        <p:spPr>
          <a:xfrm>
            <a:off x="1905000" y="404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후보를 혼자 설명하지 않고 비교 시작</a:t>
            </a:r>
          </a:p>
        </p:txBody>
      </p:sp>
      <p:sp>
        <p:nvSpPr>
          <p:cNvPr id="21" name="직선 연결선 20">
            <a:extLst>
              <a:ext uri="{FF2B5EF4-FFF2-40B4-BE49-F238E27FC236}">
                <ns2:creationId id="{5ED9BFAA-AD03-4A81-995A-F6DD3ED83F1D}"/>
              </a:ext>
            </a:extLst>
          </p:cNvPr>
          <p:cNvSpPr>
            <a:spLocks noGrp="1"/>
          </p:cNvSpPr>
          <p:nvPr/>
        </p:nvSpPr>
        <p:spPr>
          <a:xfrm>
            <a:off x="933450" y="441007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ns2:creationId id="{8E280EBF-5592-4789-B119-4B7CC9CC8174}"/>
              </a:ext>
            </a:extLst>
          </p:cNvPr>
          <p:cNvSpPr>
            <a:spLocks noGrp="1"/>
          </p:cNvSpPr>
          <p:nvPr/>
        </p:nvSpPr>
        <p:spPr>
          <a:xfrm>
            <a:off x="933450" y="46672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결정 권한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15F2F0D6-C55C-4F75-811E-879DF9E0A1A7}"/>
              </a:ext>
            </a:extLst>
          </p:cNvPr>
          <p:cNvSpPr>
            <a:spLocks noGrp="1"/>
          </p:cNvSpPr>
          <p:nvPr/>
        </p:nvSpPr>
        <p:spPr>
          <a:xfrm>
            <a:off x="1905000" y="46482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방문 후보 2개 선택</a:t>
            </a:r>
          </a:p>
        </p:txBody>
      </p:sp>
      <p:sp>
        <p:nvSpPr>
          <p:cNvPr id="24" name="직선 연결선 23">
            <a:extLst>
              <a:ext uri="{FF2B5EF4-FFF2-40B4-BE49-F238E27FC236}">
                <ns2:creationId id="{BAAC8A43-DB2D-485A-B83A-6621F3F63DA4}"/>
              </a:ext>
            </a:extLst>
          </p:cNvPr>
          <p:cNvSpPr>
            <a:spLocks noGrp="1"/>
          </p:cNvSpPr>
          <p:nvPr/>
        </p:nvSpPr>
        <p:spPr>
          <a:xfrm>
            <a:off x="933450" y="50101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74067A7E-0164-4FB8-8161-AFBCF73A78BD}"/>
              </a:ext>
            </a:extLst>
          </p:cNvPr>
          <p:cNvSpPr>
            <a:spLocks noGrp="1"/>
          </p:cNvSpPr>
          <p:nvPr/>
        </p:nvSpPr>
        <p:spPr>
          <a:xfrm>
            <a:off x="6629400" y="22669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시작</a:t>
            </a:r>
          </a:p>
        </p:txBody>
      </p:sp>
      <p:sp>
        <p:nvSpPr>
          <p:cNvPr id="26" name="직사각형 25">
            <a:extLst>
              <a:ext uri="{FF2B5EF4-FFF2-40B4-BE49-F238E27FC236}">
                <ns2:creationId id="{6D005095-8C27-42E9-9DC7-05F7DDDBB3D4}"/>
              </a:ext>
            </a:extLst>
          </p:cNvPr>
          <p:cNvSpPr>
            <a:spLocks noGrp="1"/>
          </p:cNvSpPr>
          <p:nvPr/>
        </p:nvSpPr>
        <p:spPr>
          <a:xfrm>
            <a:off x="7600950" y="22479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카카오톡으로 받은 링크를 엶</a:t>
            </a:r>
          </a:p>
        </p:txBody>
      </p:sp>
      <p:sp>
        <p:nvSpPr>
          <p:cNvPr id="27" name="직선 연결선 26">
            <a:extLst>
              <a:ext uri="{FF2B5EF4-FFF2-40B4-BE49-F238E27FC236}">
                <ns2:creationId id="{6635DEB9-71D1-497A-A661-3909844F871E}"/>
              </a:ext>
            </a:extLst>
          </p:cNvPr>
          <p:cNvSpPr>
            <a:spLocks noGrp="1"/>
          </p:cNvSpPr>
          <p:nvPr/>
        </p:nvSpPr>
        <p:spPr>
          <a:xfrm>
            <a:off x="6629400" y="26098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ns2:creationId id="{8F21E0D9-1E50-4F0D-B12B-5CA3ED0352D9}"/>
              </a:ext>
            </a:extLst>
          </p:cNvPr>
          <p:cNvSpPr>
            <a:spLocks noGrp="1"/>
          </p:cNvSpPr>
          <p:nvPr/>
        </p:nvSpPr>
        <p:spPr>
          <a:xfrm>
            <a:off x="6629400" y="286702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첫 행동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D46AEB53-AF99-4D35-A5DE-9475CF52BD40}"/>
              </a:ext>
            </a:extLst>
          </p:cNvPr>
          <p:cNvSpPr>
            <a:spLocks noGrp="1"/>
          </p:cNvSpPr>
          <p:nvPr/>
        </p:nvSpPr>
        <p:spPr>
          <a:xfrm>
            <a:off x="7600950" y="284797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집들과 A의 조건을 먼저 확인</a:t>
            </a:r>
          </a:p>
        </p:txBody>
      </p:sp>
      <p:sp>
        <p:nvSpPr>
          <p:cNvPr id="30" name="직선 연결선 29">
            <a:extLst>
              <a:ext uri="{FF2B5EF4-FFF2-40B4-BE49-F238E27FC236}">
                <ns2:creationId id="{AB6179FF-E509-45D9-A181-282DD13B6113}"/>
              </a:ext>
            </a:extLst>
          </p:cNvPr>
          <p:cNvSpPr>
            <a:spLocks noGrp="1"/>
          </p:cNvSpPr>
          <p:nvPr/>
        </p:nvSpPr>
        <p:spPr>
          <a:xfrm>
            <a:off x="6629400" y="320992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33ACFFEC-E393-4E41-B9DC-C94FA06DAFD9}"/>
              </a:ext>
            </a:extLst>
          </p:cNvPr>
          <p:cNvSpPr>
            <a:spLocks noGrp="1"/>
          </p:cNvSpPr>
          <p:nvPr/>
        </p:nvSpPr>
        <p:spPr>
          <a:xfrm>
            <a:off x="6629400" y="34671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32" name="직사각형 31">
            <a:extLst>
              <a:ext uri="{FF2B5EF4-FFF2-40B4-BE49-F238E27FC236}">
                <ns2:creationId id="{DD6AF3F7-B031-4FA4-9E96-C03F66B45A24}"/>
              </a:ext>
            </a:extLst>
          </p:cNvPr>
          <p:cNvSpPr>
            <a:spLocks noGrp="1"/>
          </p:cNvSpPr>
          <p:nvPr/>
        </p:nvSpPr>
        <p:spPr>
          <a:xfrm>
            <a:off x="7600950" y="34480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33" name="직선 연결선 32">
            <a:extLst>
              <a:ext uri="{FF2B5EF4-FFF2-40B4-BE49-F238E27FC236}">
                <ns2:creationId id="{6B596F6B-17F3-4989-82D9-B56D2A218EBF}"/>
              </a:ext>
            </a:extLst>
          </p:cNvPr>
          <p:cNvSpPr>
            <a:spLocks noGrp="1"/>
          </p:cNvSpPr>
          <p:nvPr/>
        </p:nvSpPr>
        <p:spPr>
          <a:xfrm>
            <a:off x="6629400" y="381000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ns2:creationId id="{9FF2132D-0137-401B-9EC9-357F5477E9B4}"/>
              </a:ext>
            </a:extLst>
          </p:cNvPr>
          <p:cNvSpPr>
            <a:spLocks noGrp="1"/>
          </p:cNvSpPr>
          <p:nvPr/>
        </p:nvSpPr>
        <p:spPr>
          <a:xfrm>
            <a:off x="6629400" y="4067175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필요 이유</a:t>
            </a:r>
          </a:p>
        </p:txBody>
      </p:sp>
      <p:sp>
        <p:nvSpPr>
          <p:cNvPr id="35" name="직사각형 34">
            <a:extLst>
              <a:ext uri="{FF2B5EF4-FFF2-40B4-BE49-F238E27FC236}">
                <ns2:creationId id="{E6A21B01-14C5-407E-8073-B6B53E8E9BFE}"/>
              </a:ext>
            </a:extLst>
          </p:cNvPr>
          <p:cNvSpPr>
            <a:spLocks noGrp="1"/>
          </p:cNvSpPr>
          <p:nvPr/>
        </p:nvSpPr>
        <p:spPr>
          <a:xfrm>
            <a:off x="7600950" y="40481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왜 불렀는지 알고 조금만 입력</a:t>
            </a:r>
          </a:p>
        </p:txBody>
      </p:sp>
      <p:sp>
        <p:nvSpPr>
          <p:cNvPr id="36" name="직선 연결선 35">
            <a:extLst>
              <a:ext uri="{FF2B5EF4-FFF2-40B4-BE49-F238E27FC236}">
                <ns2:creationId id="{F06AAC49-7E5F-4ABA-941E-F706BA32C488}"/>
              </a:ext>
            </a:extLst>
          </p:cNvPr>
          <p:cNvSpPr>
            <a:spLocks noGrp="1"/>
          </p:cNvSpPr>
          <p:nvPr/>
        </p:nvSpPr>
        <p:spPr>
          <a:xfrm>
            <a:off x="6629400" y="4410075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ns2:creationId id="{6A4B44A9-F092-4A3C-A210-75ED2E71AF89}"/>
              </a:ext>
            </a:extLst>
          </p:cNvPr>
          <p:cNvSpPr>
            <a:spLocks noGrp="1"/>
          </p:cNvSpPr>
          <p:nvPr/>
        </p:nvSpPr>
        <p:spPr>
          <a:xfrm>
            <a:off x="6629400" y="46672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결정 권한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C550EEA8-12B2-49BC-9F79-F43C6D99E3B9}"/>
              </a:ext>
            </a:extLst>
          </p:cNvPr>
          <p:cNvSpPr>
            <a:spLocks noGrp="1"/>
          </p:cNvSpPr>
          <p:nvPr/>
        </p:nvSpPr>
        <p:spPr>
          <a:xfrm>
            <a:off x="7600950" y="46482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자기 방문 후보 2개 선택</a:t>
            </a:r>
          </a:p>
        </p:txBody>
      </p:sp>
      <p:sp>
        <p:nvSpPr>
          <p:cNvPr id="39" name="직선 연결선 38">
            <a:extLst>
              <a:ext uri="{FF2B5EF4-FFF2-40B4-BE49-F238E27FC236}">
                <ns2:creationId id="{F5DB91F1-BE8B-4086-96AC-163D903F6709}"/>
              </a:ext>
            </a:extLst>
          </p:cNvPr>
          <p:cNvSpPr>
            <a:spLocks noGrp="1"/>
          </p:cNvSpPr>
          <p:nvPr/>
        </p:nvSpPr>
        <p:spPr>
          <a:xfrm>
            <a:off x="6629400" y="5010150"/>
            <a:ext cx="45529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화살표: 오른쪽 39">
            <a:extLst>
              <a:ext uri="{FF2B5EF4-FFF2-40B4-BE49-F238E27FC236}">
                <ns2:creationId id="{8109D5F3-3D5D-4DE8-B54D-CCE5C8AAB9EE}"/>
              </a:ext>
            </a:extLst>
          </p:cNvPr>
          <p:cNvSpPr>
            <a:spLocks noGrp="1"/>
          </p:cNvSpPr>
          <p:nvPr/>
        </p:nvSpPr>
        <p:spPr>
          <a:xfrm>
            <a:off x="5810250" y="3371850"/>
            <a:ext cx="55245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ns2:creationId id="{71D35E49-4DB5-4FE6-A51F-32BA08B5766D}"/>
              </a:ext>
            </a:extLst>
          </p:cNvPr>
          <p:cNvSpPr>
            <a:spLocks noGrp="1"/>
          </p:cNvSpPr>
          <p:nvPr/>
        </p:nvSpPr>
        <p:spPr>
          <a:xfrm>
            <a:off x="5734050" y="3676650"/>
            <a:ext cx="723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권한은 같다</a:t>
            </a:r>
            <a:endParaRPr sz="105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ns2:creationId id="{060F216A-22FB-4450-8AEC-F0B4CA196576}"/>
              </a:ext>
            </a:extLst>
          </p:cNvPr>
          <p:cNvSpPr>
            <a:spLocks noGrp="1"/>
          </p:cNvSpPr>
          <p:nvPr/>
        </p:nvSpPr>
        <p:spPr>
          <a:xfrm>
            <a:off x="723900" y="5829300"/>
            <a:ext cx="10744200" cy="323850"/>
          </a:xfrm>
          <a:prstGeom prst="roundRect">
            <a:avLst>
              <a:gd name="adj" fmla="val 2352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ns2:creationId id="{CDF5640C-C078-42F3-9FDC-59F6D76BDC72}"/>
              </a:ext>
            </a:extLst>
          </p:cNvPr>
          <p:cNvSpPr>
            <a:spLocks noGrp="1"/>
          </p:cNvSpPr>
          <p:nvPr/>
        </p:nvSpPr>
        <p:spPr>
          <a:xfrm>
            <a:off x="895350" y="5895975"/>
            <a:ext cx="1040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 lnSpcReduction="10000"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A가 B의 조건을 대신 바꾸지 않는다 · 진입 맥락과 기기는 달라도 결정 비중은 같다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190836191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사각형: 둥근 모서리 48">
            <a:extLst>
              <a:ext uri="{FF2B5EF4-FFF2-40B4-BE49-F238E27FC236}">
                <ns2:creationId id="{37E38600-8751-4065-A9F6-25C83D1285EE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162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고객 · 여정지도 · JTBD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AA18E7FF-5341-49F6-9885-93DE8F470C6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85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362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 하나 정하는 데 앱을 일곱 번 오갑니다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58FACDA7-F7D1-45DA-963F-172A03A60C5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FAF91A76-68C1-467A-AEB9-53B27E57A999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6" name="타원 5">
            <a:extLst>
              <a:ext uri="{FF2B5EF4-FFF2-40B4-BE49-F238E27FC236}">
                <ns2:creationId id="{26E29614-FB4D-4EA7-A115-491BA94EDB4E}"/>
              </a:ext>
            </a:extLst>
          </p:cNvPr>
          <p:cNvSpPr>
            <a:spLocks noGrp="1"/>
          </p:cNvSpPr>
          <p:nvPr/>
        </p:nvSpPr>
        <p:spPr>
          <a:xfrm>
            <a:off x="11239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선 연결선 6">
            <a:extLst>
              <a:ext uri="{FF2B5EF4-FFF2-40B4-BE49-F238E27FC236}">
                <ns2:creationId id="{AD9C33A4-FDE2-48DD-A108-EC7B542FD223}"/>
              </a:ext>
            </a:extLst>
          </p:cNvPr>
          <p:cNvSpPr>
            <a:spLocks noGrp="1"/>
          </p:cNvSpPr>
          <p:nvPr/>
        </p:nvSpPr>
        <p:spPr>
          <a:xfrm>
            <a:off x="12954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ns2:creationId id="{4648E4BA-894D-4959-8B14-AB134DA6A0C3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ns2:creationId id="{F590398E-EFE8-42CA-A3D4-96AA046D559E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10" name="타원 9">
            <a:extLst>
              <a:ext uri="{FF2B5EF4-FFF2-40B4-BE49-F238E27FC236}">
                <ns2:creationId id="{E7E81449-8DDF-4A09-A283-CF5B3DA13D5A}"/>
              </a:ext>
            </a:extLst>
          </p:cNvPr>
          <p:cNvSpPr>
            <a:spLocks noGrp="1"/>
          </p:cNvSpPr>
          <p:nvPr/>
        </p:nvSpPr>
        <p:spPr>
          <a:xfrm>
            <a:off x="25146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선 연결선 10">
            <a:extLst>
              <a:ext uri="{FF2B5EF4-FFF2-40B4-BE49-F238E27FC236}">
                <ns2:creationId id="{879898E6-90CF-4A7D-9A25-BCF693488A88}"/>
              </a:ext>
            </a:extLst>
          </p:cNvPr>
          <p:cNvSpPr>
            <a:spLocks noGrp="1"/>
          </p:cNvSpPr>
          <p:nvPr/>
        </p:nvSpPr>
        <p:spPr>
          <a:xfrm>
            <a:off x="268605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ns2:creationId id="{7F6DB321-B83A-431D-8713-B2B733521921}"/>
              </a:ext>
            </a:extLst>
          </p:cNvPr>
          <p:cNvSpPr>
            <a:spLocks noGrp="1"/>
          </p:cNvSpPr>
          <p:nvPr/>
        </p:nvSpPr>
        <p:spPr>
          <a:xfrm>
            <a:off x="20193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99CBDC07-0D77-475F-8A95-F23D09288E53}"/>
              </a:ext>
            </a:extLst>
          </p:cNvPr>
          <p:cNvSpPr>
            <a:spLocks noGrp="1"/>
          </p:cNvSpPr>
          <p:nvPr/>
        </p:nvSpPr>
        <p:spPr>
          <a:xfrm>
            <a:off x="21717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카톡</a:t>
            </a:r>
          </a:p>
        </p:txBody>
      </p:sp>
      <p:sp>
        <p:nvSpPr>
          <p:cNvPr id="14" name="타원 13">
            <a:extLst>
              <a:ext uri="{FF2B5EF4-FFF2-40B4-BE49-F238E27FC236}">
                <ns2:creationId id="{075B3FEA-19C4-4A1A-8DB6-0E639E6280AF}"/>
              </a:ext>
            </a:extLst>
          </p:cNvPr>
          <p:cNvSpPr>
            <a:spLocks noGrp="1"/>
          </p:cNvSpPr>
          <p:nvPr/>
        </p:nvSpPr>
        <p:spPr>
          <a:xfrm>
            <a:off x="39052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직선 연결선 14">
            <a:extLst>
              <a:ext uri="{FF2B5EF4-FFF2-40B4-BE49-F238E27FC236}">
                <ns2:creationId id="{A2336E9A-78AB-48CF-BC7A-B07FB976CFAA}"/>
              </a:ext>
            </a:extLst>
          </p:cNvPr>
          <p:cNvSpPr>
            <a:spLocks noGrp="1"/>
          </p:cNvSpPr>
          <p:nvPr/>
        </p:nvSpPr>
        <p:spPr>
          <a:xfrm>
            <a:off x="40767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ns2:creationId id="{78A59A90-E3A2-4D56-9C37-8D279522E6BE}"/>
              </a:ext>
            </a:extLst>
          </p:cNvPr>
          <p:cNvSpPr>
            <a:spLocks noGrp="1"/>
          </p:cNvSpPr>
          <p:nvPr/>
        </p:nvSpPr>
        <p:spPr>
          <a:xfrm>
            <a:off x="34099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 열기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ns2:creationId id="{BACE9670-9F3D-45FC-B354-30B9F016B244}"/>
              </a:ext>
            </a:extLst>
          </p:cNvPr>
          <p:cNvSpPr>
            <a:spLocks noGrp="1"/>
          </p:cNvSpPr>
          <p:nvPr/>
        </p:nvSpPr>
        <p:spPr>
          <a:xfrm>
            <a:off x="35623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18" name="타원 17">
            <a:extLst>
              <a:ext uri="{FF2B5EF4-FFF2-40B4-BE49-F238E27FC236}">
                <ns2:creationId id="{EF43696C-97C6-4C9E-B834-9536A9ABDE3E}"/>
              </a:ext>
            </a:extLst>
          </p:cNvPr>
          <p:cNvSpPr>
            <a:spLocks noGrp="1"/>
          </p:cNvSpPr>
          <p:nvPr/>
        </p:nvSpPr>
        <p:spPr>
          <a:xfrm>
            <a:off x="52959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선 연결선 18">
            <a:extLst>
              <a:ext uri="{FF2B5EF4-FFF2-40B4-BE49-F238E27FC236}">
                <ns2:creationId id="{B89A3018-0723-4917-B0D4-E81BE819DB16}"/>
              </a:ext>
            </a:extLst>
          </p:cNvPr>
          <p:cNvSpPr>
            <a:spLocks noGrp="1"/>
          </p:cNvSpPr>
          <p:nvPr/>
        </p:nvSpPr>
        <p:spPr>
          <a:xfrm>
            <a:off x="546735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ns2:creationId id="{F4B7F701-0254-45D1-B3B3-6EF982550FC2}"/>
              </a:ext>
            </a:extLst>
          </p:cNvPr>
          <p:cNvSpPr>
            <a:spLocks noGrp="1"/>
          </p:cNvSpPr>
          <p:nvPr/>
        </p:nvSpPr>
        <p:spPr>
          <a:xfrm>
            <a:off x="48006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확인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BAFE7820-F24F-4F6E-8893-F3373071674D}"/>
              </a:ext>
            </a:extLst>
          </p:cNvPr>
          <p:cNvSpPr>
            <a:spLocks noGrp="1"/>
          </p:cNvSpPr>
          <p:nvPr/>
        </p:nvSpPr>
        <p:spPr>
          <a:xfrm>
            <a:off x="49530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지도</a:t>
            </a:r>
          </a:p>
        </p:txBody>
      </p:sp>
      <p:sp>
        <p:nvSpPr>
          <p:cNvPr id="22" name="타원 21">
            <a:extLst>
              <a:ext uri="{FF2B5EF4-FFF2-40B4-BE49-F238E27FC236}">
                <ns2:creationId id="{B1A8A2EA-E849-498B-B307-F32F4AEDC229}"/>
              </a:ext>
            </a:extLst>
          </p:cNvPr>
          <p:cNvSpPr>
            <a:spLocks noGrp="1"/>
          </p:cNvSpPr>
          <p:nvPr/>
        </p:nvSpPr>
        <p:spPr>
          <a:xfrm>
            <a:off x="66865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선 연결선 22">
            <a:extLst>
              <a:ext uri="{FF2B5EF4-FFF2-40B4-BE49-F238E27FC236}">
                <ns2:creationId id="{ABEA76D1-0D66-4DC4-9AD2-147E99AC7D7F}"/>
              </a:ext>
            </a:extLst>
          </p:cNvPr>
          <p:cNvSpPr>
            <a:spLocks noGrp="1"/>
          </p:cNvSpPr>
          <p:nvPr/>
        </p:nvSpPr>
        <p:spPr>
          <a:xfrm>
            <a:off x="68580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ns2:creationId id="{E707035A-5F54-452D-9982-368774F97B9C}"/>
              </a:ext>
            </a:extLst>
          </p:cNvPr>
          <p:cNvSpPr>
            <a:spLocks noGrp="1"/>
          </p:cNvSpPr>
          <p:nvPr/>
        </p:nvSpPr>
        <p:spPr>
          <a:xfrm>
            <a:off x="61912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계산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DFCE27A8-70C0-4277-9189-BB6A6F7750B9}"/>
              </a:ext>
            </a:extLst>
          </p:cNvPr>
          <p:cNvSpPr>
            <a:spLocks noGrp="1"/>
          </p:cNvSpPr>
          <p:nvPr/>
        </p:nvSpPr>
        <p:spPr>
          <a:xfrm>
            <a:off x="63436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계산기</a:t>
            </a:r>
          </a:p>
        </p:txBody>
      </p:sp>
      <p:sp>
        <p:nvSpPr>
          <p:cNvPr id="26" name="타원 25">
            <a:extLst>
              <a:ext uri="{FF2B5EF4-FFF2-40B4-BE49-F238E27FC236}">
                <ns2:creationId id="{C9E51D01-5BC1-400A-9227-837C0AEA26A3}"/>
              </a:ext>
            </a:extLst>
          </p:cNvPr>
          <p:cNvSpPr>
            <a:spLocks noGrp="1"/>
          </p:cNvSpPr>
          <p:nvPr/>
        </p:nvSpPr>
        <p:spPr>
          <a:xfrm>
            <a:off x="8077200" y="2209800"/>
            <a:ext cx="171450" cy="1714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선 연결선 26">
            <a:extLst>
              <a:ext uri="{FF2B5EF4-FFF2-40B4-BE49-F238E27FC236}">
                <ns2:creationId id="{711D748F-79F1-4197-9C4D-52DD9FF7BAFA}"/>
              </a:ext>
            </a:extLst>
          </p:cNvPr>
          <p:cNvSpPr>
            <a:spLocks noGrp="1"/>
          </p:cNvSpPr>
          <p:nvPr/>
        </p:nvSpPr>
        <p:spPr>
          <a:xfrm>
            <a:off x="8248650" y="2295525"/>
            <a:ext cx="1219200" cy="0"/>
          </a:xfrm>
          <a:prstGeom prst="line">
            <a:avLst/>
          </a:prstGeom>
          <a:noFill/>
          <a:ln w="19050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ns2:creationId id="{61B71336-248B-49E5-8668-2005812FE2D4}"/>
              </a:ext>
            </a:extLst>
          </p:cNvPr>
          <p:cNvSpPr>
            <a:spLocks noGrp="1"/>
          </p:cNvSpPr>
          <p:nvPr/>
        </p:nvSpPr>
        <p:spPr>
          <a:xfrm>
            <a:off x="75819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의견 교환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ns2:creationId id="{87D04D48-18E9-46F4-8E18-3FE31C87FD42}"/>
              </a:ext>
            </a:extLst>
          </p:cNvPr>
          <p:cNvSpPr>
            <a:spLocks noGrp="1"/>
          </p:cNvSpPr>
          <p:nvPr/>
        </p:nvSpPr>
        <p:spPr>
          <a:xfrm>
            <a:off x="77343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카톡</a:t>
            </a:r>
          </a:p>
        </p:txBody>
      </p:sp>
      <p:sp>
        <p:nvSpPr>
          <p:cNvPr id="30" name="타원 29">
            <a:extLst>
              <a:ext uri="{FF2B5EF4-FFF2-40B4-BE49-F238E27FC236}">
                <ns2:creationId id="{4C8EFA0C-2595-4408-8A10-38A3A2122B77}"/>
              </a:ext>
            </a:extLst>
          </p:cNvPr>
          <p:cNvSpPr>
            <a:spLocks noGrp="1"/>
          </p:cNvSpPr>
          <p:nvPr/>
        </p:nvSpPr>
        <p:spPr>
          <a:xfrm>
            <a:off x="946785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선 연결선 30">
            <a:extLst>
              <a:ext uri="{FF2B5EF4-FFF2-40B4-BE49-F238E27FC236}">
                <ns2:creationId id="{1B6BB4C9-7B7F-47E3-AA87-B1BAAC54CD33}"/>
              </a:ext>
            </a:extLst>
          </p:cNvPr>
          <p:cNvSpPr>
            <a:spLocks noGrp="1"/>
          </p:cNvSpPr>
          <p:nvPr/>
        </p:nvSpPr>
        <p:spPr>
          <a:xfrm>
            <a:off x="9639300" y="2295525"/>
            <a:ext cx="12192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ns2:creationId id="{6E23B766-C64D-49CF-AB94-FBAFEE02E4D1}"/>
              </a:ext>
            </a:extLst>
          </p:cNvPr>
          <p:cNvSpPr>
            <a:spLocks noGrp="1"/>
          </p:cNvSpPr>
          <p:nvPr/>
        </p:nvSpPr>
        <p:spPr>
          <a:xfrm>
            <a:off x="897255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ns2:creationId id="{8E79551B-B2C7-4228-ADB7-D5E6BABB5CFE}"/>
              </a:ext>
            </a:extLst>
          </p:cNvPr>
          <p:cNvSpPr>
            <a:spLocks noGrp="1"/>
          </p:cNvSpPr>
          <p:nvPr/>
        </p:nvSpPr>
        <p:spPr>
          <a:xfrm>
            <a:off x="912495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34" name="타원 33">
            <a:extLst>
              <a:ext uri="{FF2B5EF4-FFF2-40B4-BE49-F238E27FC236}">
                <ns2:creationId id="{227D3852-8D5F-491E-9B35-1569156B2016}"/>
              </a:ext>
            </a:extLst>
          </p:cNvPr>
          <p:cNvSpPr>
            <a:spLocks noGrp="1"/>
          </p:cNvSpPr>
          <p:nvPr/>
        </p:nvSpPr>
        <p:spPr>
          <a:xfrm>
            <a:off x="10858500" y="2209800"/>
            <a:ext cx="171450" cy="1714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ns2:creationId id="{8488CCB6-6595-4248-967D-607455EFCB81}"/>
              </a:ext>
            </a:extLst>
          </p:cNvPr>
          <p:cNvSpPr>
            <a:spLocks noGrp="1"/>
          </p:cNvSpPr>
          <p:nvPr/>
        </p:nvSpPr>
        <p:spPr>
          <a:xfrm>
            <a:off x="10363200" y="1676400"/>
            <a:ext cx="1066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재검색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ns2:creationId id="{A8EE2DE1-298B-44CA-9D8D-2A65D78ADAF4}"/>
              </a:ext>
            </a:extLst>
          </p:cNvPr>
          <p:cNvSpPr>
            <a:spLocks noGrp="1"/>
          </p:cNvSpPr>
          <p:nvPr/>
        </p:nvSpPr>
        <p:spPr>
          <a:xfrm>
            <a:off x="10515600" y="257175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네이버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ns2:creationId id="{65423F00-3322-441A-A9E6-5FE5494F1BC7}"/>
              </a:ext>
            </a:extLst>
          </p:cNvPr>
          <p:cNvSpPr>
            <a:spLocks noGrp="1"/>
          </p:cNvSpPr>
          <p:nvPr/>
        </p:nvSpPr>
        <p:spPr>
          <a:xfrm>
            <a:off x="695325" y="31242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추론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3AB9D689-00FC-413C-A327-481F108E2AD2}"/>
              </a:ext>
            </a:extLst>
          </p:cNvPr>
          <p:cNvSpPr>
            <a:spLocks noGrp="1"/>
          </p:cNvSpPr>
          <p:nvPr/>
        </p:nvSpPr>
        <p:spPr>
          <a:xfrm>
            <a:off x="1752600" y="312420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초대받은 사람이 맥락을 모르는 것, 의견 기준이 정리 안 된 것 — 둘 다 아직 안 재봤습니다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ns2:creationId id="{1F085F63-6B75-472C-BE5D-D1B130872AEE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10820400" cy="1905000"/>
          </a:xfrm>
          <a:prstGeom prst="roundRect">
            <a:avLst>
              <a:gd name="adj" fmla="val 800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직사각형 39">
            <a:extLst>
              <a:ext uri="{FF2B5EF4-FFF2-40B4-BE49-F238E27FC236}">
                <ns2:creationId id="{5B5FDC12-D162-4B90-90B6-D9DF3CD63E77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JTBD · 진짜 하려는 일</a:t>
            </a:r>
          </a:p>
        </p:txBody>
      </p:sp>
      <p:sp>
        <p:nvSpPr>
          <p:cNvPr id="41" name="직사각형 40">
            <a:extLst>
              <a:ext uri="{FF2B5EF4-FFF2-40B4-BE49-F238E27FC236}">
                <ns2:creationId id="{249E62A2-1E65-4794-B7D9-FCC7854C4F14}"/>
              </a:ext>
            </a:extLst>
          </p:cNvPr>
          <p:cNvSpPr>
            <a:spLocks noGrp="1"/>
          </p:cNvSpPr>
          <p:nvPr/>
        </p:nvSpPr>
        <p:spPr>
          <a:xfrm>
            <a:off x="914400" y="4324350"/>
            <a:ext cx="10363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이미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저장한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관심매물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중,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감수할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조건을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알고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이번에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보러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갈 집 두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곳을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정한다</a:t>
            </a:r>
            <a:r>
              <a:rPr sz="2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42" name="직사각형 41">
            <a:extLst>
              <a:ext uri="{FF2B5EF4-FFF2-40B4-BE49-F238E27FC236}">
                <ns2:creationId id="{5374DEE6-27D9-4E97-9793-7493BA31040D}"/>
              </a:ext>
            </a:extLst>
          </p:cNvPr>
          <p:cNvSpPr>
            <a:spLocks noGrp="1"/>
          </p:cNvSpPr>
          <p:nvPr/>
        </p:nvSpPr>
        <p:spPr>
          <a:xfrm>
            <a:off x="1104900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결과</a:t>
            </a:r>
          </a:p>
        </p:txBody>
      </p:sp>
      <p:sp>
        <p:nvSpPr>
          <p:cNvPr id="43" name="직사각형 42">
            <a:extLst>
              <a:ext uri="{FF2B5EF4-FFF2-40B4-BE49-F238E27FC236}">
                <ns2:creationId id="{73A16659-A092-4359-B350-15BA23695BA1}"/>
              </a:ext>
            </a:extLst>
          </p:cNvPr>
          <p:cNvSpPr>
            <a:spLocks noGrp="1"/>
          </p:cNvSpPr>
          <p:nvPr/>
        </p:nvSpPr>
        <p:spPr>
          <a:xfrm>
            <a:off x="209550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보러 갈 집 2개</a:t>
            </a:r>
          </a:p>
        </p:txBody>
      </p:sp>
      <p:sp>
        <p:nvSpPr>
          <p:cNvPr id="44" name="직사각형 43">
            <a:extLst>
              <a:ext uri="{FF2B5EF4-FFF2-40B4-BE49-F238E27FC236}">
                <ns2:creationId id="{4EACD91D-C051-4D1A-BD7D-17E2F469BD2F}"/>
              </a:ext>
            </a:extLst>
          </p:cNvPr>
          <p:cNvSpPr>
            <a:spLocks noGrp="1"/>
          </p:cNvSpPr>
          <p:nvPr/>
        </p:nvSpPr>
        <p:spPr>
          <a:xfrm>
            <a:off x="4486275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판단</a:t>
            </a:r>
          </a:p>
        </p:txBody>
      </p:sp>
      <p:sp>
        <p:nvSpPr>
          <p:cNvPr id="45" name="직사각형 44">
            <a:extLst>
              <a:ext uri="{FF2B5EF4-FFF2-40B4-BE49-F238E27FC236}">
                <ns2:creationId id="{D5B8982E-0112-40F9-BD2F-692246BEAADE}"/>
              </a:ext>
            </a:extLst>
          </p:cNvPr>
          <p:cNvSpPr>
            <a:spLocks noGrp="1"/>
          </p:cNvSpPr>
          <p:nvPr/>
        </p:nvSpPr>
        <p:spPr>
          <a:xfrm>
            <a:off x="529590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무엇을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얼마나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감수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6" name="직사각형 45">
            <a:extLst>
              <a:ext uri="{FF2B5EF4-FFF2-40B4-BE49-F238E27FC236}">
                <ns2:creationId id="{3D6D6AAA-FBF9-44C2-8112-11BD7A38A277}"/>
              </a:ext>
            </a:extLst>
          </p:cNvPr>
          <p:cNvSpPr>
            <a:spLocks noGrp="1"/>
          </p:cNvSpPr>
          <p:nvPr/>
        </p:nvSpPr>
        <p:spPr>
          <a:xfrm>
            <a:off x="7867650" y="5067300"/>
            <a:ext cx="933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관계</a:t>
            </a:r>
          </a:p>
        </p:txBody>
      </p:sp>
      <p:sp>
        <p:nvSpPr>
          <p:cNvPr id="47" name="직사각형 46">
            <a:extLst>
              <a:ext uri="{FF2B5EF4-FFF2-40B4-BE49-F238E27FC236}">
                <ns2:creationId id="{AB38E168-F31D-4772-8FF8-80885375E6FA}"/>
              </a:ext>
            </a:extLst>
          </p:cNvPr>
          <p:cNvSpPr>
            <a:spLocks noGrp="1"/>
          </p:cNvSpPr>
          <p:nvPr/>
        </p:nvSpPr>
        <p:spPr>
          <a:xfrm>
            <a:off x="8858250" y="50387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각자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기준을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비중으로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8" name="직사각형 47">
            <a:extLst>
              <a:ext uri="{FF2B5EF4-FFF2-40B4-BE49-F238E27FC236}">
                <ns2:creationId id="{3568D738-CDB4-4E11-8DC9-388182203C6E}"/>
              </a:ext>
            </a:extLst>
          </p:cNvPr>
          <p:cNvSpPr>
            <a:spLocks noGrp="1"/>
          </p:cNvSpPr>
          <p:nvPr/>
        </p:nvSpPr>
        <p:spPr>
          <a:xfrm>
            <a:off x="1809750" y="58102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납득 = 내가 무엇을 감수하는지 알고도 방문 후보로 동의할 수 있는 상태</a:t>
            </a:r>
          </a:p>
        </p:txBody>
      </p:sp>
    </p:spTree>
    <p:extLst>
      <p:ext uri="{BB962C8B-B14F-4D97-AF65-F5344CB8AC3E}">
        <ns3:creationId val="681026862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ns2:creationId id="{3CADC45C-7D01-4C0C-A216-E78AB2328BC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시장기회 · 기회점수(OS)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F37BCF11-8D72-40C9-B73D-D38EE6CE268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가장 아픈 곳은 둘이 의논할 때입니다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7D621105-7920-4022-8A8D-E002C873CE43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E0F41C5D-0C8D-4182-9E20-8AD7CB8A2A21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B5C20C2C-17EC-4AAA-B160-8AD7E08AA013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0DBEFD84-9416-49A3-9F6A-5FB2CDF00BB0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8" name="화살표: 오른쪽 7">
            <a:extLst>
              <a:ext uri="{FF2B5EF4-FFF2-40B4-BE49-F238E27FC236}">
                <ns2:creationId id="{4FE85A80-9FB3-4B37-8925-EA0DB78DC452}"/>
              </a:ext>
            </a:extLst>
          </p:cNvPr>
          <p:cNvSpPr>
            <a:spLocks noGrp="1"/>
          </p:cNvSpPr>
          <p:nvPr/>
        </p:nvSpPr>
        <p:spPr>
          <a:xfrm>
            <a:off x="21907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9" name="사각형: 둥근 모서리 8">
            <a:extLst>
              <a:ext uri="{FF2B5EF4-FFF2-40B4-BE49-F238E27FC236}">
                <ns2:creationId id="{6ED410A4-D931-47C8-B87B-6047708757ED}"/>
              </a:ext>
            </a:extLst>
          </p:cNvPr>
          <p:cNvSpPr>
            <a:spLocks noGrp="1"/>
          </p:cNvSpPr>
          <p:nvPr/>
        </p:nvSpPr>
        <p:spPr>
          <a:xfrm>
            <a:off x="24765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ns2:creationId id="{F753B334-19CF-43EF-9489-F783EA4C2F06}"/>
              </a:ext>
            </a:extLst>
          </p:cNvPr>
          <p:cNvSpPr>
            <a:spLocks noGrp="1"/>
          </p:cNvSpPr>
          <p:nvPr/>
        </p:nvSpPr>
        <p:spPr>
          <a:xfrm>
            <a:off x="25717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확인</a:t>
            </a:r>
          </a:p>
        </p:txBody>
      </p:sp>
      <p:sp>
        <p:nvSpPr>
          <p:cNvPr id="11" name="화살표: 오른쪽 10">
            <a:extLst>
              <a:ext uri="{FF2B5EF4-FFF2-40B4-BE49-F238E27FC236}">
                <ns2:creationId id="{0456253D-8086-4DE7-8A3B-972F2083AC88}"/>
              </a:ext>
            </a:extLst>
          </p:cNvPr>
          <p:cNvSpPr>
            <a:spLocks noGrp="1"/>
          </p:cNvSpPr>
          <p:nvPr/>
        </p:nvSpPr>
        <p:spPr>
          <a:xfrm>
            <a:off x="39433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2" name="사각형: 둥근 모서리 11">
            <a:extLst>
              <a:ext uri="{FF2B5EF4-FFF2-40B4-BE49-F238E27FC236}">
                <ns2:creationId id="{49F6964C-3090-4A6C-B921-DD23B24848A1}"/>
              </a:ext>
            </a:extLst>
          </p:cNvPr>
          <p:cNvSpPr>
            <a:spLocks noGrp="1"/>
          </p:cNvSpPr>
          <p:nvPr/>
        </p:nvSpPr>
        <p:spPr>
          <a:xfrm>
            <a:off x="42291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ns2:creationId id="{85402601-639B-4698-B5B5-8A75CEBC695B}"/>
              </a:ext>
            </a:extLst>
          </p:cNvPr>
          <p:cNvSpPr>
            <a:spLocks noGrp="1"/>
          </p:cNvSpPr>
          <p:nvPr/>
        </p:nvSpPr>
        <p:spPr>
          <a:xfrm>
            <a:off x="43243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계산</a:t>
            </a:r>
          </a:p>
        </p:txBody>
      </p:sp>
      <p:sp>
        <p:nvSpPr>
          <p:cNvPr id="14" name="화살표: 오른쪽 13">
            <a:extLst>
              <a:ext uri="{FF2B5EF4-FFF2-40B4-BE49-F238E27FC236}">
                <ns2:creationId id="{B1C17211-8981-453C-B460-FA25CC4DF463}"/>
              </a:ext>
            </a:extLst>
          </p:cNvPr>
          <p:cNvSpPr>
            <a:spLocks noGrp="1"/>
          </p:cNvSpPr>
          <p:nvPr/>
        </p:nvSpPr>
        <p:spPr>
          <a:xfrm>
            <a:off x="56959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5" name="사각형: 둥근 모서리 14">
            <a:extLst>
              <a:ext uri="{FF2B5EF4-FFF2-40B4-BE49-F238E27FC236}">
                <ns2:creationId id="{CF7F9B26-DC61-4317-B1D1-8C9B1545B40D}"/>
              </a:ext>
            </a:extLst>
          </p:cNvPr>
          <p:cNvSpPr>
            <a:spLocks noGrp="1"/>
          </p:cNvSpPr>
          <p:nvPr/>
        </p:nvSpPr>
        <p:spPr>
          <a:xfrm>
            <a:off x="5981700" y="1724025"/>
            <a:ext cx="1466850" cy="914400"/>
          </a:xfrm>
          <a:prstGeom prst="roundRect">
            <a:avLst>
              <a:gd name="adj" fmla="val 10417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ns2:creationId id="{4A01EA35-A444-4FE1-8E0A-4409D4D6FA97}"/>
              </a:ext>
            </a:extLst>
          </p:cNvPr>
          <p:cNvSpPr>
            <a:spLocks noGrp="1"/>
          </p:cNvSpPr>
          <p:nvPr/>
        </p:nvSpPr>
        <p:spPr>
          <a:xfrm>
            <a:off x="6076950" y="2028825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의견</a:t>
            </a:r>
            <a:r>
              <a:rPr sz="16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교환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ns2:creationId id="{85319C83-D9FB-40C6-B5B2-6AF260586230}"/>
              </a:ext>
            </a:extLst>
          </p:cNvPr>
          <p:cNvSpPr>
            <a:spLocks noGrp="1"/>
          </p:cNvSpPr>
          <p:nvPr/>
        </p:nvSpPr>
        <p:spPr>
          <a:xfrm>
            <a:off x="7448550" y="2076450"/>
            <a:ext cx="28575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8" name="사각형: 둥근 모서리 17">
            <a:extLst>
              <a:ext uri="{FF2B5EF4-FFF2-40B4-BE49-F238E27FC236}">
                <ns2:creationId id="{E784010D-B677-4C7F-BF37-DBE6032AC700}"/>
              </a:ext>
            </a:extLst>
          </p:cNvPr>
          <p:cNvSpPr>
            <a:spLocks noGrp="1"/>
          </p:cNvSpPr>
          <p:nvPr/>
        </p:nvSpPr>
        <p:spPr>
          <a:xfrm>
            <a:off x="77343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ns2:creationId id="{C86D2297-BFCE-44D5-AB4D-C523F3BBC1DF}"/>
              </a:ext>
            </a:extLst>
          </p:cNvPr>
          <p:cNvSpPr>
            <a:spLocks noGrp="1"/>
          </p:cNvSpPr>
          <p:nvPr/>
        </p:nvSpPr>
        <p:spPr>
          <a:xfrm>
            <a:off x="78295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메모</a:t>
            </a:r>
          </a:p>
        </p:txBody>
      </p:sp>
      <p:sp>
        <p:nvSpPr>
          <p:cNvPr id="20" name="화살표: 오른쪽 19">
            <a:extLst>
              <a:ext uri="{FF2B5EF4-FFF2-40B4-BE49-F238E27FC236}">
                <ns2:creationId id="{14CC79CE-B9F5-4FD1-B0A9-D3E2A4FE78C5}"/>
              </a:ext>
            </a:extLst>
          </p:cNvPr>
          <p:cNvSpPr>
            <a:spLocks noGrp="1"/>
          </p:cNvSpPr>
          <p:nvPr/>
        </p:nvSpPr>
        <p:spPr>
          <a:xfrm>
            <a:off x="9201150" y="2076450"/>
            <a:ext cx="285750" cy="15240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1" name="사각형: 둥근 모서리 20">
            <a:extLst>
              <a:ext uri="{FF2B5EF4-FFF2-40B4-BE49-F238E27FC236}">
                <ns2:creationId id="{E42CB275-99A3-4B6C-B90A-84C4DBC534AD}"/>
              </a:ext>
            </a:extLst>
          </p:cNvPr>
          <p:cNvSpPr>
            <a:spLocks noGrp="1"/>
          </p:cNvSpPr>
          <p:nvPr/>
        </p:nvSpPr>
        <p:spPr>
          <a:xfrm>
            <a:off x="9486900" y="1809750"/>
            <a:ext cx="14668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ns2:creationId id="{81EAEA88-7CBC-4B36-8E2A-04AF0DB8DE31}"/>
              </a:ext>
            </a:extLst>
          </p:cNvPr>
          <p:cNvSpPr>
            <a:spLocks noGrp="1"/>
          </p:cNvSpPr>
          <p:nvPr/>
        </p:nvSpPr>
        <p:spPr>
          <a:xfrm>
            <a:off x="9582150" y="20002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재검색</a:t>
            </a:r>
          </a:p>
        </p:txBody>
      </p:sp>
      <p:sp>
        <p:nvSpPr>
          <p:cNvPr id="23" name="화살표: 오른쪽 22">
            <a:extLst>
              <a:ext uri="{FF2B5EF4-FFF2-40B4-BE49-F238E27FC236}">
                <ns2:creationId id="{1620480F-9B8B-49B4-B8C8-3705F7F0F34C}"/>
              </a:ext>
            </a:extLst>
          </p:cNvPr>
          <p:cNvSpPr>
            <a:spLocks noGrp="1"/>
          </p:cNvSpPr>
          <p:nvPr/>
        </p:nvSpPr>
        <p:spPr>
          <a:xfrm rot="5400000">
            <a:off x="6528916" y="2759634"/>
            <a:ext cx="372417" cy="671983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ns2:creationId id="{27C82907-29A7-4D14-B3F0-0271D2E40D26}"/>
              </a:ext>
            </a:extLst>
          </p:cNvPr>
          <p:cNvSpPr>
            <a:spLocks noGrp="1"/>
          </p:cNvSpPr>
          <p:nvPr/>
        </p:nvSpPr>
        <p:spPr>
          <a:xfrm>
            <a:off x="4286250" y="3467100"/>
            <a:ext cx="5105400" cy="1790700"/>
          </a:xfrm>
          <a:prstGeom prst="roundRect">
            <a:avLst>
              <a:gd name="adj" fmla="val 8511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58654E97-66DE-46B5-A7AE-15497382C052}"/>
              </a:ext>
            </a:extLst>
          </p:cNvPr>
          <p:cNvSpPr>
            <a:spLocks noGrp="1"/>
          </p:cNvSpPr>
          <p:nvPr/>
        </p:nvSpPr>
        <p:spPr>
          <a:xfrm>
            <a:off x="4552950" y="36576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왜 여기가 먼저인가</a:t>
            </a:r>
          </a:p>
        </p:txBody>
      </p:sp>
      <p:sp>
        <p:nvSpPr>
          <p:cNvPr id="26" name="타원 25">
            <a:extLst>
              <a:ext uri="{FF2B5EF4-FFF2-40B4-BE49-F238E27FC236}">
                <ns2:creationId id="{9B769384-F45A-4294-8ED9-10B7822E203F}"/>
              </a:ext>
            </a:extLst>
          </p:cNvPr>
          <p:cNvSpPr>
            <a:spLocks noGrp="1"/>
          </p:cNvSpPr>
          <p:nvPr/>
        </p:nvSpPr>
        <p:spPr>
          <a:xfrm>
            <a:off x="4572000" y="41148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ns2:creationId id="{F46A7F42-4DFE-4B95-9B86-19C1238AE6EF}"/>
              </a:ext>
            </a:extLst>
          </p:cNvPr>
          <p:cNvSpPr>
            <a:spLocks noGrp="1"/>
          </p:cNvSpPr>
          <p:nvPr/>
        </p:nvSpPr>
        <p:spPr>
          <a:xfrm>
            <a:off x="4743450" y="3990975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다른 도구로 대신할 수 없는, 사람 사이의 문제</a:t>
            </a:r>
            <a:endParaRPr sz="1400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타원 27">
            <a:extLst>
              <a:ext uri="{FF2B5EF4-FFF2-40B4-BE49-F238E27FC236}">
                <ns2:creationId id="{FCCFB3F3-0DA7-40E5-BD70-8C8098E592CD}"/>
              </a:ext>
            </a:extLst>
          </p:cNvPr>
          <p:cNvSpPr>
            <a:spLocks noGrp="1"/>
          </p:cNvSpPr>
          <p:nvPr/>
        </p:nvSpPr>
        <p:spPr>
          <a:xfrm>
            <a:off x="4572000" y="4467225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ns2:creationId id="{4CE8C50A-AB87-48E1-AD5B-452BF15C0A72}"/>
              </a:ext>
            </a:extLst>
          </p:cNvPr>
          <p:cNvSpPr>
            <a:spLocks noGrp="1"/>
          </p:cNvSpPr>
          <p:nvPr/>
        </p:nvSpPr>
        <p:spPr>
          <a:xfrm>
            <a:off x="4743450" y="4343400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“그냥 별로”가 선택 근거로 이어지지 않습니다 [추론]</a:t>
            </a:r>
          </a:p>
        </p:txBody>
      </p:sp>
      <p:sp>
        <p:nvSpPr>
          <p:cNvPr id="30" name="타원 29">
            <a:extLst>
              <a:ext uri="{FF2B5EF4-FFF2-40B4-BE49-F238E27FC236}">
                <ns2:creationId id="{B4CC57B3-F37A-4C93-A7D7-E4147D6BF908}"/>
              </a:ext>
            </a:extLst>
          </p:cNvPr>
          <p:cNvSpPr>
            <a:spLocks noGrp="1"/>
          </p:cNvSpPr>
          <p:nvPr/>
        </p:nvSpPr>
        <p:spPr>
          <a:xfrm>
            <a:off x="4572000" y="481965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E7E525E2-70A7-48B4-B164-B43FB02A42AC}"/>
              </a:ext>
            </a:extLst>
          </p:cNvPr>
          <p:cNvSpPr>
            <a:spLocks noGrp="1"/>
          </p:cNvSpPr>
          <p:nvPr/>
        </p:nvSpPr>
        <p:spPr>
          <a:xfrm>
            <a:off x="4743450" y="4695825"/>
            <a:ext cx="455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여기서 막히면 앞에서 비교한 게 다 무효가 됩니다 [추론]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ns2:creationId id="{317179AB-B886-44D6-AF87-6D6B578AF3D2}"/>
              </a:ext>
            </a:extLst>
          </p:cNvPr>
          <p:cNvSpPr>
            <a:spLocks noGrp="1"/>
          </p:cNvSpPr>
          <p:nvPr/>
        </p:nvSpPr>
        <p:spPr>
          <a:xfrm>
            <a:off x="723900" y="3467100"/>
            <a:ext cx="3143250" cy="179070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ns2:creationId id="{F51AB8B2-204D-40D3-B67A-90D606C90F5B}"/>
              </a:ext>
            </a:extLst>
          </p:cNvPr>
          <p:cNvSpPr>
            <a:spLocks noGrp="1"/>
          </p:cNvSpPr>
          <p:nvPr/>
        </p:nvSpPr>
        <p:spPr>
          <a:xfrm>
            <a:off x="933450" y="3686175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기회점수(OS)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59EC0983-FE00-45C8-9BC3-47A8DAD36D29}"/>
              </a:ext>
            </a:extLst>
          </p:cNvPr>
          <p:cNvSpPr>
            <a:spLocks noGrp="1"/>
          </p:cNvSpPr>
          <p:nvPr/>
        </p:nvSpPr>
        <p:spPr>
          <a:xfrm>
            <a:off x="933450" y="4095750"/>
            <a:ext cx="2914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중요도·만족도 원자료가</a:t>
            </a:r>
          </a:p>
          <a:p>
            <a:pPr algn="l">
              <a:defRPr sz="13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없어 계산하지 않았습니다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ns2:creationId id="{16390492-B588-46F1-A708-1A66B311E311}"/>
              </a:ext>
            </a:extLst>
          </p:cNvPr>
          <p:cNvSpPr>
            <a:spLocks noGrp="1"/>
          </p:cNvSpPr>
          <p:nvPr/>
        </p:nvSpPr>
        <p:spPr>
          <a:xfrm>
            <a:off x="933450" y="4777366"/>
            <a:ext cx="895350" cy="2667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미측정</a:t>
            </a:r>
          </a:p>
        </p:txBody>
      </p:sp>
      <p:sp>
        <p:nvSpPr>
          <p:cNvPr id="36" name="직사각형 35">
            <a:extLst>
              <a:ext uri="{FF2B5EF4-FFF2-40B4-BE49-F238E27FC236}">
                <ns2:creationId id="{8EABDD4A-D484-466F-B6DD-B391E43AB2F6}"/>
              </a:ext>
            </a:extLst>
          </p:cNvPr>
          <p:cNvSpPr>
            <a:spLocks noGrp="1"/>
          </p:cNvSpPr>
          <p:nvPr/>
        </p:nvSpPr>
        <p:spPr>
          <a:xfrm>
            <a:off x="1962150" y="4777366"/>
            <a:ext cx="1695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중요도·만족도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원자료</a:t>
            </a:r>
            <a:r>
              <a:rPr sz="11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없음</a:t>
            </a:r>
            <a:endParaRPr sz="11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ns2:creationId id="{EA49020E-C890-4328-BDCB-86229642369B}"/>
              </a:ext>
            </a:extLst>
          </p:cNvPr>
          <p:cNvSpPr>
            <a:spLocks noGrp="1"/>
          </p:cNvSpPr>
          <p:nvPr/>
        </p:nvSpPr>
        <p:spPr>
          <a:xfrm>
            <a:off x="10001250" y="3619500"/>
            <a:ext cx="9334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수치 미정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57BC2BF7-2965-4BE7-A672-6C6CE96F1AFD}"/>
              </a:ext>
            </a:extLst>
          </p:cNvPr>
          <p:cNvSpPr>
            <a:spLocks noGrp="1"/>
          </p:cNvSpPr>
          <p:nvPr/>
        </p:nvSpPr>
        <p:spPr>
          <a:xfrm>
            <a:off x="9582150" y="4057650"/>
            <a:ext cx="17716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  <a:def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조사한 뒤에</a:t>
            </a:r>
            <a:endParaRPr sz="1400" b="1" dirty="0">
              <a:solidFill>
                <a:srgbClr val="786B87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lnSpc>
                <a:spcPct val="150000"/>
              </a:lnSpc>
              <a:defRPr sz="10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다시 판단합니다</a:t>
            </a:r>
            <a:endParaRPr sz="1400" b="1" dirty="0">
              <a:solidFill>
                <a:srgbClr val="786B8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1885542310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ns2:creationId id="{249F2BA1-E2ED-4EF9-A5BE-AD7292B816D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근거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871E665E-3D10-47DB-A3DF-EFEA3E74990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충돌은 확인했습니다. 그게 원인인지는 못 찾았습니다.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B230C1C7-61BF-47BD-A13F-FD6032AA0A11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13DC004D-49ED-49B5-8464-8628DD1EC68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181BC484-4D12-4EDA-9E71-35A2DE7498E0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ECCCE6F1-4AF2-4D8F-9F19-0F03F3DF7547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A6F03016-7662-45A8-BB87-E7733638AE47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반복 비교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F1B184BA-C584-49F8-8916-16E75851CC79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2838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2.5개월 · 4.1곳</a:t>
            </a:r>
          </a:p>
        </p:txBody>
      </p:sp>
      <p:sp>
        <p:nvSpPr>
          <p:cNvPr id="10" name="직사각형 9">
            <a:extLst>
              <a:ext uri="{FF2B5EF4-FFF2-40B4-BE49-F238E27FC236}">
                <ns2:creationId id="{DF6C290F-20E5-435E-B864-D16812EC02C3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당근부동산 2026 · n=971 · 전세</a:t>
            </a:r>
          </a:p>
        </p:txBody>
      </p:sp>
      <p:sp>
        <p:nvSpPr>
          <p:cNvPr id="11" name="직사각형 10">
            <a:extLst>
              <a:ext uri="{FF2B5EF4-FFF2-40B4-BE49-F238E27FC236}">
                <ns2:creationId id="{1078C864-CEDE-4B67-8E2C-6317DEDD9539}"/>
              </a:ext>
            </a:extLst>
          </p:cNvPr>
          <p:cNvSpPr>
            <a:spLocks noGrp="1"/>
          </p:cNvSpPr>
          <p:nvPr/>
        </p:nvSpPr>
        <p:spPr>
          <a:xfrm>
            <a:off x="87630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2인 여부 미측정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ns2:creationId id="{1E970D86-0F58-4878-BF77-54AF35AAAACF}"/>
              </a:ext>
            </a:extLst>
          </p:cNvPr>
          <p:cNvSpPr>
            <a:spLocks noGrp="1"/>
          </p:cNvSpPr>
          <p:nvPr/>
        </p:nvSpPr>
        <p:spPr>
          <a:xfrm>
            <a:off x="417195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ns2:creationId id="{47253DE6-1DD3-44E9-AF0C-E01A12DA109C}"/>
              </a:ext>
            </a:extLst>
          </p:cNvPr>
          <p:cNvSpPr>
            <a:spLocks noGrp="1"/>
          </p:cNvSpPr>
          <p:nvPr/>
        </p:nvSpPr>
        <p:spPr>
          <a:xfrm>
            <a:off x="436245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2A51E919-25EC-490E-89DC-15626FE0E58D}"/>
              </a:ext>
            </a:extLst>
          </p:cNvPr>
          <p:cNvSpPr>
            <a:spLocks noGrp="1"/>
          </p:cNvSpPr>
          <p:nvPr/>
        </p:nvSpPr>
        <p:spPr>
          <a:xfrm>
            <a:off x="436245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파트너 조건 충돌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B420C338-50DA-420C-83E3-F39F3F29CA62}"/>
              </a:ext>
            </a:extLst>
          </p:cNvPr>
          <p:cNvSpPr>
            <a:spLocks noGrp="1"/>
          </p:cNvSpPr>
          <p:nvPr/>
        </p:nvSpPr>
        <p:spPr>
          <a:xfrm>
            <a:off x="4362450" y="2628900"/>
            <a:ext cx="2838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 dirty="0">
                <a:solidFill>
                  <a:srgbClr val="03C75A"/>
                </a:solidFill>
                <a:latin typeface="Noto Sans KR"/>
                <a:ea typeface="Noto Sans KR"/>
                <a:cs typeface="Noto Sans KR"/>
              </a:rPr>
              <a:t>77%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8002B158-A303-4B4B-811D-A7F5A56E70CE}"/>
              </a:ext>
            </a:extLst>
          </p:cNvPr>
          <p:cNvSpPr>
            <a:spLocks noGrp="1"/>
          </p:cNvSpPr>
          <p:nvPr/>
        </p:nvSpPr>
        <p:spPr>
          <a:xfrm>
            <a:off x="436245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Zillow 2020 · 파트너와 구매 중 다툼</a:t>
            </a:r>
          </a:p>
        </p:txBody>
      </p:sp>
      <p:sp>
        <p:nvSpPr>
          <p:cNvPr id="17" name="직사각형 16">
            <a:extLst>
              <a:ext uri="{FF2B5EF4-FFF2-40B4-BE49-F238E27FC236}">
                <ns2:creationId id="{891E8991-D1E5-41E5-8B52-9CBBFD3379B1}"/>
              </a:ext>
            </a:extLst>
          </p:cNvPr>
          <p:cNvSpPr>
            <a:spLocks noGrp="1"/>
          </p:cNvSpPr>
          <p:nvPr/>
        </p:nvSpPr>
        <p:spPr>
          <a:xfrm>
            <a:off x="436245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미국·매매 · 표본 크기 미확인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ns2:creationId id="{2870DF56-D82A-4E1B-83FA-3E12808DE49C}"/>
              </a:ext>
            </a:extLst>
          </p:cNvPr>
          <p:cNvSpPr>
            <a:spLocks noGrp="1"/>
          </p:cNvSpPr>
          <p:nvPr/>
        </p:nvSpPr>
        <p:spPr>
          <a:xfrm>
            <a:off x="7658100" y="1657350"/>
            <a:ext cx="3219450" cy="2305050"/>
          </a:xfrm>
          <a:prstGeom prst="roundRect">
            <a:avLst>
              <a:gd name="adj" fmla="val 578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ns2:creationId id="{D0499D17-48CD-46C3-979C-B9C149616270}"/>
              </a:ext>
            </a:extLst>
          </p:cNvPr>
          <p:cNvSpPr>
            <a:spLocks noGrp="1"/>
          </p:cNvSpPr>
          <p:nvPr/>
        </p:nvSpPr>
        <p:spPr>
          <a:xfrm>
            <a:off x="7848600" y="1847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형태만 확인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87659FAA-EB9A-40AB-8885-664079D00E85}"/>
              </a:ext>
            </a:extLst>
          </p:cNvPr>
          <p:cNvSpPr>
            <a:spLocks noGrp="1"/>
          </p:cNvSpPr>
          <p:nvPr/>
        </p:nvSpPr>
        <p:spPr>
          <a:xfrm>
            <a:off x="7848600" y="222885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함께 쓰는 도구가 있다</a:t>
            </a:r>
          </a:p>
        </p:txBody>
      </p:sp>
      <p:sp>
        <p:nvSpPr>
          <p:cNvPr id="21" name="직사각형 20">
            <a:extLst>
              <a:ext uri="{FF2B5EF4-FFF2-40B4-BE49-F238E27FC236}">
                <ns2:creationId id="{1AB4339B-9317-4A6F-B07B-E8F8212E190D}"/>
              </a:ext>
            </a:extLst>
          </p:cNvPr>
          <p:cNvSpPr>
            <a:spLocks noGrp="1"/>
          </p:cNvSpPr>
          <p:nvPr/>
        </p:nvSpPr>
        <p:spPr>
          <a:xfrm>
            <a:off x="7848599" y="2628900"/>
            <a:ext cx="3105151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22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초대</a:t>
            </a:r>
            <a:r>
              <a:rPr sz="220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 앱 3종 · </a:t>
            </a:r>
            <a:r>
              <a:rPr sz="22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TwoKeys</a:t>
            </a:r>
            <a:endParaRPr sz="2200" b="1" dirty="0">
              <a:solidFill>
                <a:srgbClr val="2563E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직사각형 21">
            <a:extLst>
              <a:ext uri="{FF2B5EF4-FFF2-40B4-BE49-F238E27FC236}">
                <ns2:creationId id="{3B600220-F145-46B4-94A1-4DCD20D53906}"/>
              </a:ext>
            </a:extLst>
          </p:cNvPr>
          <p:cNvSpPr>
            <a:spLocks noGrp="1"/>
          </p:cNvSpPr>
          <p:nvPr/>
        </p:nvSpPr>
        <p:spPr>
          <a:xfrm>
            <a:off x="7848600" y="31813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이런 형태가 있다는 것만 확인됨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573B8EB6-1C25-4BFE-910C-21B36DF91B79}"/>
              </a:ext>
            </a:extLst>
          </p:cNvPr>
          <p:cNvSpPr>
            <a:spLocks noGrp="1"/>
          </p:cNvSpPr>
          <p:nvPr/>
        </p:nvSpPr>
        <p:spPr>
          <a:xfrm>
            <a:off x="7848600" y="3657600"/>
            <a:ext cx="2838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수락률·성과 비공개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ns2:creationId id="{8B504837-11DE-46B6-91CB-3B0F7A49013C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4381500" cy="1123950"/>
          </a:xfrm>
          <a:prstGeom prst="roundRect">
            <a:avLst>
              <a:gd name="adj" fmla="val 1016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591CCC59-00BB-48A3-B83B-AE4A27F1310F}"/>
              </a:ext>
            </a:extLst>
          </p:cNvPr>
          <p:cNvSpPr>
            <a:spLocks noGrp="1"/>
          </p:cNvSpPr>
          <p:nvPr/>
        </p:nvSpPr>
        <p:spPr>
          <a:xfrm>
            <a:off x="933450" y="4552950"/>
            <a:ext cx="3905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조건이 부딪힌다</a:t>
            </a:r>
            <a:endParaRPr sz="2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직사각형 25">
            <a:extLst>
              <a:ext uri="{FF2B5EF4-FFF2-40B4-BE49-F238E27FC236}">
                <ns2:creationId id="{92101A77-5286-4EFD-AB67-1BB43358BD97}"/>
              </a:ext>
            </a:extLst>
          </p:cNvPr>
          <p:cNvSpPr>
            <a:spLocks noGrp="1"/>
          </p:cNvSpPr>
          <p:nvPr/>
        </p:nvSpPr>
        <p:spPr>
          <a:xfrm>
            <a:off x="933450" y="504825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[확인]</a:t>
            </a:r>
          </a:p>
        </p:txBody>
      </p:sp>
      <p:sp>
        <p:nvSpPr>
          <p:cNvPr id="27" name="직선 연결선 26">
            <a:extLst>
              <a:ext uri="{FF2B5EF4-FFF2-40B4-BE49-F238E27FC236}">
                <ns2:creationId id="{380D588E-9519-4F7F-AE69-5E12EB9B163C}"/>
              </a:ext>
            </a:extLst>
          </p:cNvPr>
          <p:cNvSpPr>
            <a:spLocks noGrp="1"/>
          </p:cNvSpPr>
          <p:nvPr/>
        </p:nvSpPr>
        <p:spPr>
          <a:xfrm>
            <a:off x="5219700" y="4886325"/>
            <a:ext cx="1657350" cy="0"/>
          </a:xfrm>
          <a:prstGeom prst="line">
            <a:avLst/>
          </a:prstGeom>
          <a:noFill/>
          <a:ln w="28575">
            <a:solidFill>
              <a:srgbClr val="C2415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ns2:creationId id="{6ED125D9-EB54-4C96-933A-4881D2F86C99}"/>
              </a:ext>
            </a:extLst>
          </p:cNvPr>
          <p:cNvSpPr>
            <a:spLocks noGrp="1"/>
          </p:cNvSpPr>
          <p:nvPr/>
        </p:nvSpPr>
        <p:spPr>
          <a:xfrm>
            <a:off x="5848350" y="4562475"/>
            <a:ext cx="47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≠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ns2:creationId id="{AD786A80-6BE8-418A-B2FA-79196E2F9102}"/>
              </a:ext>
            </a:extLst>
          </p:cNvPr>
          <p:cNvSpPr>
            <a:spLocks noGrp="1"/>
          </p:cNvSpPr>
          <p:nvPr/>
        </p:nvSpPr>
        <p:spPr>
          <a:xfrm>
            <a:off x="7029450" y="4333875"/>
            <a:ext cx="4476750" cy="1123950"/>
          </a:xfrm>
          <a:prstGeom prst="roundRect">
            <a:avLst>
              <a:gd name="adj" fmla="val 10169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사각형: 둥근 모서리 29">
            <a:extLst>
              <a:ext uri="{FF2B5EF4-FFF2-40B4-BE49-F238E27FC236}">
                <ns2:creationId id="{EF7CF0F5-2567-45D7-A439-E00A87B0602B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dirty="0" err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>미검증</a:t>
            </a:r>
            <a:endParaRPr sz="900" b="1" dirty="0">
              <a:solidFill>
                <a:srgbClr val="C2415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직사각형 30">
            <a:extLst>
              <a:ext uri="{FF2B5EF4-FFF2-40B4-BE49-F238E27FC236}">
                <ns2:creationId id="{4ED2ACFA-651B-40B7-8255-60F9682558FA}"/>
              </a:ext>
            </a:extLst>
          </p:cNvPr>
          <p:cNvSpPr>
            <a:spLocks noGrp="1"/>
          </p:cNvSpPr>
          <p:nvPr/>
        </p:nvSpPr>
        <p:spPr>
          <a:xfrm>
            <a:off x="8096250" y="4505325"/>
            <a:ext cx="3105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그래서 결정이 늦어진다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직사각형 31">
            <a:extLst>
              <a:ext uri="{FF2B5EF4-FFF2-40B4-BE49-F238E27FC236}">
                <ns2:creationId id="{79DB5A3D-A42D-42EF-9F98-9FE812989453}"/>
              </a:ext>
            </a:extLst>
          </p:cNvPr>
          <p:cNvSpPr>
            <a:spLocks noGrp="1"/>
          </p:cNvSpPr>
          <p:nvPr/>
        </p:nvSpPr>
        <p:spPr>
          <a:xfrm>
            <a:off x="7239000" y="5105400"/>
            <a:ext cx="396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직접 근거를 못 찾음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D1C29985-4B43-46A1-B635-59D676FEE19C}"/>
              </a:ext>
            </a:extLst>
          </p:cNvPr>
          <p:cNvSpPr>
            <a:spLocks noGrp="1"/>
          </p:cNvSpPr>
          <p:nvPr/>
        </p:nvSpPr>
        <p:spPr>
          <a:xfrm>
            <a:off x="2476500" y="578167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반대 신호 — Zillow 응답자의 60%는 “결국 별문제 아니었다”고 답했습니다</a:t>
            </a:r>
          </a:p>
        </p:txBody>
      </p:sp>
    </p:spTree>
    <p:extLst>
      <p:ext uri="{BB962C8B-B14F-4D97-AF65-F5344CB8AC3E}">
        <ns3:creationId val="903037401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ns2:creationId id="{1B89F2A5-5212-4C5B-811A-9AEFFA169B6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1049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Problem Statement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82E00254-6B31-4916-9E61-0F98CC4D9F41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21940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96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정보를 모으는 문제가 아니라, 둘의 기준이 다른 문제입니다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598948CF-E560-4B28-B899-D364CD9AB13E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E7F0A061-BC14-48F9-8ADB-E87000A76AAF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3D79B808-EDE4-4F64-A34E-F2A732060AB6}"/>
              </a:ext>
            </a:extLst>
          </p:cNvPr>
          <p:cNvSpPr>
            <a:spLocks noGrp="1"/>
          </p:cNvSpPr>
          <p:nvPr/>
        </p:nvSpPr>
        <p:spPr>
          <a:xfrm>
            <a:off x="742950" y="1771650"/>
            <a:ext cx="4095750" cy="1447800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F7EE7456-B018-4427-BB04-404215B395F9}"/>
              </a:ext>
            </a:extLst>
          </p:cNvPr>
          <p:cNvSpPr>
            <a:spLocks noGrp="1"/>
          </p:cNvSpPr>
          <p:nvPr/>
        </p:nvSpPr>
        <p:spPr>
          <a:xfrm>
            <a:off x="933450" y="1952625"/>
            <a:ext cx="971550" cy="24765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정보의 문제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66EA0599-4728-4184-AFB3-A48C7F21E74D}"/>
              </a:ext>
            </a:extLst>
          </p:cNvPr>
          <p:cNvSpPr>
            <a:spLocks noGrp="1"/>
          </p:cNvSpPr>
          <p:nvPr/>
        </p:nvSpPr>
        <p:spPr>
          <a:xfrm>
            <a:off x="933450" y="2371725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정보 분산 → 수동 비교 → 의사결정 비용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ns2:creationId id="{967623F9-A8C6-4092-A875-D99901FB2ADA}"/>
              </a:ext>
            </a:extLst>
          </p:cNvPr>
          <p:cNvSpPr>
            <a:spLocks noGrp="1"/>
          </p:cNvSpPr>
          <p:nvPr/>
        </p:nvSpPr>
        <p:spPr>
          <a:xfrm>
            <a:off x="933450" y="28384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혼자 구해도 생김 · 기록·공유 도구가 일부 해결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D9831E42-6BF9-4BAD-B84C-8A6443B17EB1}"/>
              </a:ext>
            </a:extLst>
          </p:cNvPr>
          <p:cNvSpPr>
            <a:spLocks noGrp="1"/>
          </p:cNvSpPr>
          <p:nvPr/>
        </p:nvSpPr>
        <p:spPr>
          <a:xfrm>
            <a:off x="742950" y="3543300"/>
            <a:ext cx="4095750" cy="1447800"/>
          </a:xfrm>
          <a:prstGeom prst="roundRect">
            <a:avLst>
              <a:gd name="adj" fmla="val 921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ns2:creationId id="{F1A83332-02D2-4EE7-9FB5-E19D3A6C6CD8}"/>
              </a:ext>
            </a:extLst>
          </p:cNvPr>
          <p:cNvSpPr>
            <a:spLocks noGrp="1"/>
          </p:cNvSpPr>
          <p:nvPr/>
        </p:nvSpPr>
        <p:spPr>
          <a:xfrm>
            <a:off x="933450" y="3724275"/>
            <a:ext cx="16383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사람의 문제 · 제품 범위</a:t>
            </a:r>
          </a:p>
        </p:txBody>
      </p:sp>
      <p:sp>
        <p:nvSpPr>
          <p:cNvPr id="12" name="직사각형 11">
            <a:extLst>
              <a:ext uri="{FF2B5EF4-FFF2-40B4-BE49-F238E27FC236}">
                <ns2:creationId id="{8C7D2986-BF62-4D41-ADF5-F64852256DA9}"/>
              </a:ext>
            </a:extLst>
          </p:cNvPr>
          <p:cNvSpPr>
            <a:spLocks noGrp="1"/>
          </p:cNvSpPr>
          <p:nvPr/>
        </p:nvSpPr>
        <p:spPr>
          <a:xfrm>
            <a:off x="933450" y="4143375"/>
            <a:ext cx="3829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각자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충돌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누가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무엇을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감수하는지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불명확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직사각형 12">
            <a:extLst>
              <a:ext uri="{FF2B5EF4-FFF2-40B4-BE49-F238E27FC236}">
                <ns2:creationId id="{6E7ECF58-81EA-40C6-B9FA-9546FF3C9FD7}"/>
              </a:ext>
            </a:extLst>
          </p:cNvPr>
          <p:cNvSpPr>
            <a:spLocks noGrp="1"/>
          </p:cNvSpPr>
          <p:nvPr/>
        </p:nvSpPr>
        <p:spPr>
          <a:xfrm>
            <a:off x="933450" y="46672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둘이 함께 정할 때만 생기는 문제</a:t>
            </a:r>
          </a:p>
        </p:txBody>
      </p:sp>
      <p:sp>
        <p:nvSpPr>
          <p:cNvPr id="14" name="화살표: 오른쪽 13">
            <a:extLst>
              <a:ext uri="{FF2B5EF4-FFF2-40B4-BE49-F238E27FC236}">
                <ns2:creationId id="{51F006E3-3031-4DFA-891C-E5F8104E9BFE}"/>
              </a:ext>
            </a:extLst>
          </p:cNvPr>
          <p:cNvSpPr>
            <a:spLocks noGrp="1"/>
          </p:cNvSpPr>
          <p:nvPr/>
        </p:nvSpPr>
        <p:spPr>
          <a:xfrm>
            <a:off x="5029200" y="2447925"/>
            <a:ext cx="819150" cy="209550"/>
          </a:xfrm>
          <a:prstGeom prst="rightArrow">
            <a:avLst/>
          </a:prstGeom>
          <a:solidFill>
            <a:srgbClr val="D8E2DA"/>
          </a:solidFill>
          <a:ln w="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화살표: 오른쪽 14">
            <a:extLst>
              <a:ext uri="{FF2B5EF4-FFF2-40B4-BE49-F238E27FC236}">
                <ns2:creationId id="{25D7BE29-1B6A-4D12-B020-BE0CC56C8BD9}"/>
              </a:ext>
            </a:extLst>
          </p:cNvPr>
          <p:cNvSpPr>
            <a:spLocks noGrp="1"/>
          </p:cNvSpPr>
          <p:nvPr/>
        </p:nvSpPr>
        <p:spPr>
          <a:xfrm>
            <a:off x="5029200" y="4219575"/>
            <a:ext cx="81915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ns2:creationId id="{D1BA81A6-D5D2-4035-AC06-C7FE252D643D}"/>
              </a:ext>
            </a:extLst>
          </p:cNvPr>
          <p:cNvSpPr>
            <a:spLocks noGrp="1"/>
          </p:cNvSpPr>
          <p:nvPr/>
        </p:nvSpPr>
        <p:spPr>
          <a:xfrm>
            <a:off x="6115050" y="2124075"/>
            <a:ext cx="5181600" cy="2552700"/>
          </a:xfrm>
          <a:prstGeom prst="roundRect">
            <a:avLst>
              <a:gd name="adj" fmla="val 597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ns2:creationId id="{AB59B0D8-D2C2-482F-97C2-EF4FF1B388AB}"/>
              </a:ext>
            </a:extLst>
          </p:cNvPr>
          <p:cNvSpPr>
            <a:spLocks noGrp="1"/>
          </p:cNvSpPr>
          <p:nvPr/>
        </p:nvSpPr>
        <p:spPr>
          <a:xfrm>
            <a:off x="6343650" y="2333625"/>
            <a:ext cx="12573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추론 · 가설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77207C8E-BF8D-42DC-8BC6-759FCCD6E045}"/>
              </a:ext>
            </a:extLst>
          </p:cNvPr>
          <p:cNvSpPr>
            <a:spLocks noGrp="1"/>
          </p:cNvSpPr>
          <p:nvPr/>
        </p:nvSpPr>
        <p:spPr>
          <a:xfrm>
            <a:off x="6343650" y="2712085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두 갈래가 만나는 곳</a:t>
            </a:r>
            <a:endParaRPr sz="1200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직사각형 18">
            <a:extLst>
              <a:ext uri="{FF2B5EF4-FFF2-40B4-BE49-F238E27FC236}">
                <ns2:creationId id="{42049BD9-7B58-46C2-BA89-21A96590E0F3}"/>
              </a:ext>
            </a:extLst>
          </p:cNvPr>
          <p:cNvSpPr>
            <a:spLocks noGrp="1"/>
          </p:cNvSpPr>
          <p:nvPr/>
        </p:nvSpPr>
        <p:spPr>
          <a:xfrm>
            <a:off x="6343650" y="3032125"/>
            <a:ext cx="4610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마지막 후보를 정할 때</a:t>
            </a:r>
            <a:endParaRPr sz="3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드는 품</a:t>
            </a:r>
            <a:endParaRPr sz="3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직사각형 19">
            <a:extLst>
              <a:ext uri="{FF2B5EF4-FFF2-40B4-BE49-F238E27FC236}">
                <ns2:creationId id="{39119A2B-614B-45CB-9314-0E30177F6E69}"/>
              </a:ext>
            </a:extLst>
          </p:cNvPr>
          <p:cNvSpPr>
            <a:spLocks noGrp="1"/>
          </p:cNvSpPr>
          <p:nvPr/>
        </p:nvSpPr>
        <p:spPr>
          <a:xfrm>
            <a:off x="6438900" y="4219575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>반복 비교 [확인]  ·  조건 충돌 [확인]  ·  결정 지연 [미검증]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932AC9A9-C1C3-45D7-864A-5DFE6F6A82C2}"/>
              </a:ext>
            </a:extLst>
          </p:cNvPr>
          <p:cNvSpPr>
            <a:spLocks noGrp="1"/>
          </p:cNvSpPr>
          <p:nvPr/>
        </p:nvSpPr>
        <p:spPr>
          <a:xfrm>
            <a:off x="742950" y="5372100"/>
            <a:ext cx="10553700" cy="647700"/>
          </a:xfrm>
          <a:prstGeom prst="roundRect">
            <a:avLst>
              <a:gd name="adj" fmla="val 14706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ns2:creationId id="{8EAE0627-C8FE-4C4D-924C-9940C3AABAC8}"/>
              </a:ext>
            </a:extLst>
          </p:cNvPr>
          <p:cNvSpPr>
            <a:spLocks noGrp="1"/>
          </p:cNvSpPr>
          <p:nvPr/>
        </p:nvSpPr>
        <p:spPr>
          <a:xfrm>
            <a:off x="933450" y="5582696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우리가 답할 질문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7E9E73DC-FC0A-43C5-8FA8-0FA2A0596B99}"/>
              </a:ext>
            </a:extLst>
          </p:cNvPr>
          <p:cNvSpPr>
            <a:spLocks noGrp="1"/>
          </p:cNvSpPr>
          <p:nvPr/>
        </p:nvSpPr>
        <p:spPr>
          <a:xfrm>
            <a:off x="2190750" y="5507131"/>
            <a:ext cx="885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“우리 둘에게 가장 좋은 집은?”이 아니라  “무엇을 감수하고도 납득할 수 있는 집은?”</a:t>
            </a:r>
          </a:p>
        </p:txBody>
      </p:sp>
    </p:spTree>
    <p:extLst>
      <p:ext uri="{BB962C8B-B14F-4D97-AF65-F5344CB8AC3E}">
        <ns3:creationId val="1081108234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사각형: 둥근 모서리 45">
            <a:extLst>
              <a:ext uri="{FF2B5EF4-FFF2-40B4-BE49-F238E27FC236}">
                <ns2:creationId id="{3264D966-0F79-43E7-BC1C-E21E94DDD09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933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벤치마크 · 같은 분야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97EA357A-E109-40F1-B0BB-A25459F576F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1128968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12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저장도 평가도 있는데, 누가 양보하는지는 없습니다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BE43666B-0C8F-4227-B53E-752CD99F3CC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D805D20D-8B76-4C53-BF70-044369312EE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A358E84E-A0C4-482D-A2F1-3D5ECB3B4BC4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7" name="타원 6">
            <a:extLst>
              <a:ext uri="{FF2B5EF4-FFF2-40B4-BE49-F238E27FC236}">
                <ns2:creationId id="{AA00DBD7-1315-4024-8347-F52F9E311D8C}"/>
              </a:ext>
            </a:extLst>
          </p:cNvPr>
          <p:cNvSpPr>
            <a:spLocks noGrp="1"/>
          </p:cNvSpPr>
          <p:nvPr/>
        </p:nvSpPr>
        <p:spPr>
          <a:xfrm>
            <a:off x="1762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선 연결선 7">
            <a:extLst>
              <a:ext uri="{FF2B5EF4-FFF2-40B4-BE49-F238E27FC236}">
                <ns2:creationId id="{D34E09C6-6E69-4889-A3B8-02DE3DC6D94A}"/>
              </a:ext>
            </a:extLst>
          </p:cNvPr>
          <p:cNvSpPr>
            <a:spLocks noGrp="1"/>
          </p:cNvSpPr>
          <p:nvPr/>
        </p:nvSpPr>
        <p:spPr>
          <a:xfrm>
            <a:off x="1943099" y="2171700"/>
            <a:ext cx="2486025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ns2:creationId id="{C0EBEA48-11DE-40CF-BB2D-3E247D0FA176}"/>
              </a:ext>
            </a:extLst>
          </p:cNvPr>
          <p:cNvSpPr>
            <a:spLocks noGrp="1"/>
          </p:cNvSpPr>
          <p:nvPr/>
        </p:nvSpPr>
        <p:spPr>
          <a:xfrm>
            <a:off x="3467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개인 평가</a:t>
            </a:r>
          </a:p>
        </p:txBody>
      </p:sp>
      <p:sp>
        <p:nvSpPr>
          <p:cNvPr id="10" name="타원 9">
            <a:extLst>
              <a:ext uri="{FF2B5EF4-FFF2-40B4-BE49-F238E27FC236}">
                <ns2:creationId id="{98A53298-5CAF-4437-BBA6-06EA53F51549}"/>
              </a:ext>
            </a:extLst>
          </p:cNvPr>
          <p:cNvSpPr>
            <a:spLocks noGrp="1"/>
          </p:cNvSpPr>
          <p:nvPr/>
        </p:nvSpPr>
        <p:spPr>
          <a:xfrm>
            <a:off x="4429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선 연결선 10">
            <a:extLst>
              <a:ext uri="{FF2B5EF4-FFF2-40B4-BE49-F238E27FC236}">
                <ns2:creationId id="{756070E2-CB40-4981-A892-ECAEAD786E00}"/>
              </a:ext>
            </a:extLst>
          </p:cNvPr>
          <p:cNvSpPr>
            <a:spLocks noGrp="1"/>
          </p:cNvSpPr>
          <p:nvPr/>
        </p:nvSpPr>
        <p:spPr>
          <a:xfrm>
            <a:off x="4610099" y="2171700"/>
            <a:ext cx="2486025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ns2:creationId id="{495E11A7-DA69-45FC-994F-FAB541DB1187}"/>
              </a:ext>
            </a:extLst>
          </p:cNvPr>
          <p:cNvSpPr>
            <a:spLocks noGrp="1"/>
          </p:cNvSpPr>
          <p:nvPr/>
        </p:nvSpPr>
        <p:spPr>
          <a:xfrm>
            <a:off x="6134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평가</a:t>
            </a:r>
          </a:p>
        </p:txBody>
      </p:sp>
      <p:sp>
        <p:nvSpPr>
          <p:cNvPr id="13" name="타원 12">
            <a:extLst>
              <a:ext uri="{FF2B5EF4-FFF2-40B4-BE49-F238E27FC236}">
                <ns2:creationId id="{249EEC6E-C340-42C8-BEB4-9939AA4CFF4E}"/>
              </a:ext>
            </a:extLst>
          </p:cNvPr>
          <p:cNvSpPr>
            <a:spLocks noGrp="1"/>
          </p:cNvSpPr>
          <p:nvPr/>
        </p:nvSpPr>
        <p:spPr>
          <a:xfrm>
            <a:off x="7096125" y="2076450"/>
            <a:ext cx="190500" cy="190500"/>
          </a:xfrm>
          <a:prstGeom prst="ellipse">
            <a:avLst/>
          </a:prstGeom>
          <a:solidFill>
            <a:srgbClr val="6170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선 연결선 13">
            <a:extLst>
              <a:ext uri="{FF2B5EF4-FFF2-40B4-BE49-F238E27FC236}">
                <ns2:creationId id="{87EB3715-2BC2-47F1-90E9-9A9C227738A2}"/>
              </a:ext>
            </a:extLst>
          </p:cNvPr>
          <p:cNvSpPr>
            <a:spLocks noGrp="1"/>
          </p:cNvSpPr>
          <p:nvPr/>
        </p:nvSpPr>
        <p:spPr>
          <a:xfrm>
            <a:off x="7277100" y="2171700"/>
            <a:ext cx="2286000" cy="0"/>
          </a:xfrm>
          <a:prstGeom prst="line">
            <a:avLst/>
          </a:prstGeom>
          <a:noFill/>
          <a:ln w="2857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ns2:creationId id="{7486FD61-41E3-48B0-939E-B068DF93055E}"/>
              </a:ext>
            </a:extLst>
          </p:cNvPr>
          <p:cNvSpPr>
            <a:spLocks noGrp="1"/>
          </p:cNvSpPr>
          <p:nvPr/>
        </p:nvSpPr>
        <p:spPr>
          <a:xfrm>
            <a:off x="8801100" y="16192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양보 설명</a:t>
            </a:r>
          </a:p>
        </p:txBody>
      </p:sp>
      <p:sp>
        <p:nvSpPr>
          <p:cNvPr id="16" name="타원 15">
            <a:extLst>
              <a:ext uri="{FF2B5EF4-FFF2-40B4-BE49-F238E27FC236}">
                <ns2:creationId id="{96EA7456-5E3F-48ED-B49D-A429F56A3978}"/>
              </a:ext>
            </a:extLst>
          </p:cNvPr>
          <p:cNvSpPr>
            <a:spLocks noGrp="1"/>
          </p:cNvSpPr>
          <p:nvPr/>
        </p:nvSpPr>
        <p:spPr>
          <a:xfrm>
            <a:off x="9763125" y="2076450"/>
            <a:ext cx="190500" cy="1905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ns2:creationId id="{9B9AC300-FDD3-4AF5-A90F-1893569C7A1F}"/>
              </a:ext>
            </a:extLst>
          </p:cNvPr>
          <p:cNvSpPr>
            <a:spLocks noGrp="1"/>
          </p:cNvSpPr>
          <p:nvPr/>
        </p:nvSpPr>
        <p:spPr>
          <a:xfrm>
            <a:off x="8629650" y="1390650"/>
            <a:ext cx="2343150" cy="1257300"/>
          </a:xfrm>
          <a:prstGeom prst="roundRect">
            <a:avLst>
              <a:gd name="adj" fmla="val 10606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ns2:creationId id="{3E080688-30CD-4EA1-8934-E792B785A439}"/>
              </a:ext>
            </a:extLst>
          </p:cNvPr>
          <p:cNvSpPr>
            <a:spLocks noGrp="1"/>
          </p:cNvSpPr>
          <p:nvPr/>
        </p:nvSpPr>
        <p:spPr>
          <a:xfrm>
            <a:off x="8858250" y="1562100"/>
            <a:ext cx="1885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저희가 볼 자리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730616A7-BC6C-4674-98DF-BCA9DB738E37}"/>
              </a:ext>
            </a:extLst>
          </p:cNvPr>
          <p:cNvSpPr>
            <a:spLocks noGrp="1"/>
          </p:cNvSpPr>
          <p:nvPr/>
        </p:nvSpPr>
        <p:spPr>
          <a:xfrm>
            <a:off x="8858250" y="1885950"/>
            <a:ext cx="1885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점수로 합치지 않고</a:t>
            </a:r>
          </a:p>
          <a:p>
            <a:pPr algn="ctr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누가 양보하는지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7727CC82-4188-4470-B128-271D061CBCA4}"/>
              </a:ext>
            </a:extLst>
          </p:cNvPr>
          <p:cNvSpPr>
            <a:spLocks noGrp="1"/>
          </p:cNvSpPr>
          <p:nvPr/>
        </p:nvSpPr>
        <p:spPr>
          <a:xfrm>
            <a:off x="781050" y="308610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부동산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직사각형 20">
            <a:extLst>
              <a:ext uri="{FF2B5EF4-FFF2-40B4-BE49-F238E27FC236}">
                <ns2:creationId id="{1A681537-BA16-4884-809A-57E7549CCE4A}"/>
              </a:ext>
            </a:extLst>
          </p:cNvPr>
          <p:cNvSpPr>
            <a:spLocks noGrp="1"/>
          </p:cNvSpPr>
          <p:nvPr/>
        </p:nvSpPr>
        <p:spPr>
          <a:xfrm>
            <a:off x="2571750" y="30861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탐색·상세·관심매물</a:t>
            </a:r>
            <a:endParaRPr sz="11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직사각형 21">
            <a:extLst>
              <a:ext uri="{FF2B5EF4-FFF2-40B4-BE49-F238E27FC236}">
                <ns2:creationId id="{8BB7902C-6283-4F7F-AD9F-8C4DF1935180}"/>
              </a:ext>
            </a:extLst>
          </p:cNvPr>
          <p:cNvSpPr>
            <a:spLocks noGrp="1"/>
          </p:cNvSpPr>
          <p:nvPr/>
        </p:nvSpPr>
        <p:spPr>
          <a:xfrm>
            <a:off x="5143500" y="308610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110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후보·데이터</a:t>
            </a:r>
            <a:r>
              <a:rPr sz="1100" b="0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사용</a:t>
            </a:r>
            <a:endParaRPr sz="1100" b="0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3" name="직사각형 22">
            <a:extLst>
              <a:ext uri="{FF2B5EF4-FFF2-40B4-BE49-F238E27FC236}">
                <ns2:creationId id="{1C9C26BE-97EF-4C97-B881-7383485015A7}"/>
              </a:ext>
            </a:extLst>
          </p:cNvPr>
          <p:cNvSpPr>
            <a:spLocks noGrp="1"/>
          </p:cNvSpPr>
          <p:nvPr/>
        </p:nvSpPr>
        <p:spPr>
          <a:xfrm>
            <a:off x="7524750" y="30861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함께 대조하는 건 비어 있음</a:t>
            </a:r>
          </a:p>
        </p:txBody>
      </p:sp>
      <p:sp>
        <p:nvSpPr>
          <p:cNvPr id="25" name="직선 연결선 24">
            <a:extLst>
              <a:ext uri="{FF2B5EF4-FFF2-40B4-BE49-F238E27FC236}">
                <ns2:creationId id="{001FDA89-363B-4929-B789-B6E3CF24B9F7}"/>
              </a:ext>
            </a:extLst>
          </p:cNvPr>
          <p:cNvSpPr>
            <a:spLocks noGrp="1"/>
          </p:cNvSpPr>
          <p:nvPr/>
        </p:nvSpPr>
        <p:spPr>
          <a:xfrm>
            <a:off x="781050" y="353377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6" name="직사각형 25">
            <a:extLst>
              <a:ext uri="{FF2B5EF4-FFF2-40B4-BE49-F238E27FC236}">
                <ns2:creationId id="{3D804CAB-E8AF-4587-94F6-10B55C2260E3}"/>
              </a:ext>
            </a:extLst>
          </p:cNvPr>
          <p:cNvSpPr>
            <a:spLocks noGrp="1"/>
          </p:cNvSpPr>
          <p:nvPr/>
        </p:nvSpPr>
        <p:spPr>
          <a:xfrm>
            <a:off x="781050" y="375285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집노트 등 20개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86A37F60-B828-4C33-84E2-4ACF43651434}"/>
              </a:ext>
            </a:extLst>
          </p:cNvPr>
          <p:cNvSpPr>
            <a:spLocks noGrp="1"/>
          </p:cNvSpPr>
          <p:nvPr/>
        </p:nvSpPr>
        <p:spPr>
          <a:xfrm>
            <a:off x="2571750" y="37528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개인 체크리스트·채점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0080A2F7-3C7C-479B-A381-F3EAB417B0D6}"/>
              </a:ext>
            </a:extLst>
          </p:cNvPr>
          <p:cNvSpPr>
            <a:spLocks noGrp="1"/>
          </p:cNvSpPr>
          <p:nvPr/>
        </p:nvSpPr>
        <p:spPr>
          <a:xfrm>
            <a:off x="5143500" y="375285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입력·현장 기록 참고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0B9ABB8D-F59E-43EB-BF46-AE50133EFFCD}"/>
              </a:ext>
            </a:extLst>
          </p:cNvPr>
          <p:cNvSpPr>
            <a:spLocks noGrp="1"/>
          </p:cNvSpPr>
          <p:nvPr/>
        </p:nvSpPr>
        <p:spPr>
          <a:xfrm>
            <a:off x="7524750" y="37528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거의 다 혼자 쓰고, 점수를 매기고, 한 방향</a:t>
            </a:r>
          </a:p>
        </p:txBody>
      </p:sp>
      <p:sp>
        <p:nvSpPr>
          <p:cNvPr id="31" name="직선 연결선 30">
            <a:extLst>
              <a:ext uri="{FF2B5EF4-FFF2-40B4-BE49-F238E27FC236}">
                <ns2:creationId id="{BE94AE97-5D13-4F71-95C5-1AF9A3706AF9}"/>
              </a:ext>
            </a:extLst>
          </p:cNvPr>
          <p:cNvSpPr>
            <a:spLocks noGrp="1"/>
          </p:cNvSpPr>
          <p:nvPr/>
        </p:nvSpPr>
        <p:spPr>
          <a:xfrm>
            <a:off x="781050" y="420052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2" name="직사각형 31">
            <a:extLst>
              <a:ext uri="{FF2B5EF4-FFF2-40B4-BE49-F238E27FC236}">
                <ns2:creationId id="{814F49D9-9CC8-48D7-B5C8-5627BAF8C007}"/>
              </a:ext>
            </a:extLst>
          </p:cNvPr>
          <p:cNvSpPr>
            <a:spLocks noGrp="1"/>
          </p:cNvSpPr>
          <p:nvPr/>
        </p:nvSpPr>
        <p:spPr>
          <a:xfrm>
            <a:off x="781050" y="441960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주거비 계산기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6AFAD6E1-8047-4643-9E17-E90C5399F507}"/>
              </a:ext>
            </a:extLst>
          </p:cNvPr>
          <p:cNvSpPr>
            <a:spLocks noGrp="1"/>
          </p:cNvSpPr>
          <p:nvPr/>
        </p:nvSpPr>
        <p:spPr>
          <a:xfrm>
            <a:off x="2571750" y="44196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전월세·이자·기회비용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FB1195D2-CCAE-4D6F-A9D4-BF3963CA7E99}"/>
              </a:ext>
            </a:extLst>
          </p:cNvPr>
          <p:cNvSpPr>
            <a:spLocks noGrp="1"/>
          </p:cNvSpPr>
          <p:nvPr/>
        </p:nvSpPr>
        <p:spPr>
          <a:xfrm>
            <a:off x="5143500" y="441960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 보조 재료</a:t>
            </a:r>
          </a:p>
        </p:txBody>
      </p:sp>
      <p:sp>
        <p:nvSpPr>
          <p:cNvPr id="35" name="직사각형 34">
            <a:extLst>
              <a:ext uri="{FF2B5EF4-FFF2-40B4-BE49-F238E27FC236}">
                <ns2:creationId id="{C8221F92-58F7-4C21-8B1E-6153B86290F1}"/>
              </a:ext>
            </a:extLst>
          </p:cNvPr>
          <p:cNvSpPr>
            <a:spLocks noGrp="1"/>
          </p:cNvSpPr>
          <p:nvPr/>
        </p:nvSpPr>
        <p:spPr>
          <a:xfrm>
            <a:off x="7524750" y="44196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공동 결정 기능 아님</a:t>
            </a:r>
          </a:p>
        </p:txBody>
      </p:sp>
      <p:sp>
        <p:nvSpPr>
          <p:cNvPr id="37" name="직선 연결선 36">
            <a:extLst>
              <a:ext uri="{FF2B5EF4-FFF2-40B4-BE49-F238E27FC236}">
                <ns2:creationId id="{1760CA7C-E9B6-4BD6-915E-4255DE6068E5}"/>
              </a:ext>
            </a:extLst>
          </p:cNvPr>
          <p:cNvSpPr>
            <a:spLocks noGrp="1"/>
          </p:cNvSpPr>
          <p:nvPr/>
        </p:nvSpPr>
        <p:spPr>
          <a:xfrm>
            <a:off x="781050" y="486727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8" name="직사각형 37">
            <a:extLst>
              <a:ext uri="{FF2B5EF4-FFF2-40B4-BE49-F238E27FC236}">
                <ns2:creationId id="{983EAAF9-377A-43AB-8EDC-8FC22A1537D2}"/>
              </a:ext>
            </a:extLst>
          </p:cNvPr>
          <p:cNvSpPr>
            <a:spLocks noGrp="1"/>
          </p:cNvSpPr>
          <p:nvPr/>
        </p:nvSpPr>
        <p:spPr>
          <a:xfrm>
            <a:off x="781050" y="508635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TwoKeys</a:t>
            </a:r>
          </a:p>
        </p:txBody>
      </p:sp>
      <p:sp>
        <p:nvSpPr>
          <p:cNvPr id="39" name="직사각형 38">
            <a:extLst>
              <a:ext uri="{FF2B5EF4-FFF2-40B4-BE49-F238E27FC236}">
                <ns2:creationId id="{86ADBAB6-5850-41F7-991C-8072EF89ECCD}"/>
              </a:ext>
            </a:extLst>
          </p:cNvPr>
          <p:cNvSpPr>
            <a:spLocks noGrp="1"/>
          </p:cNvSpPr>
          <p:nvPr/>
        </p:nvSpPr>
        <p:spPr>
          <a:xfrm>
            <a:off x="2571750" y="50863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두 사람이 평가 · 총점 매김</a:t>
            </a:r>
          </a:p>
        </p:txBody>
      </p:sp>
      <p:sp>
        <p:nvSpPr>
          <p:cNvPr id="40" name="직사각형 39">
            <a:extLst>
              <a:ext uri="{FF2B5EF4-FFF2-40B4-BE49-F238E27FC236}">
                <ns2:creationId id="{9F7802E4-363E-40B2-83FF-316FFD12B9C2}"/>
              </a:ext>
            </a:extLst>
          </p:cNvPr>
          <p:cNvSpPr>
            <a:spLocks noGrp="1"/>
          </p:cNvSpPr>
          <p:nvPr/>
        </p:nvSpPr>
        <p:spPr>
          <a:xfrm>
            <a:off x="5143500" y="5086350"/>
            <a:ext cx="2238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함께 평가하는 형태는 있음</a:t>
            </a:r>
          </a:p>
        </p:txBody>
      </p:sp>
      <p:sp>
        <p:nvSpPr>
          <p:cNvPr id="41" name="직사각형 40">
            <a:extLst>
              <a:ext uri="{FF2B5EF4-FFF2-40B4-BE49-F238E27FC236}">
                <ns2:creationId id="{916F7E0A-6A5E-4C89-9E01-8D6203FF46C5}"/>
              </a:ext>
            </a:extLst>
          </p:cNvPr>
          <p:cNvSpPr>
            <a:spLocks noGrp="1"/>
          </p:cNvSpPr>
          <p:nvPr/>
        </p:nvSpPr>
        <p:spPr>
          <a:xfrm>
            <a:off x="7524750" y="50863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조건을 매물에 저장하고 합산</a:t>
            </a:r>
          </a:p>
        </p:txBody>
      </p:sp>
      <p:sp>
        <p:nvSpPr>
          <p:cNvPr id="43" name="직선 연결선 42">
            <a:extLst>
              <a:ext uri="{FF2B5EF4-FFF2-40B4-BE49-F238E27FC236}">
                <ns2:creationId id="{D658D4B3-F68A-47C3-BD75-6E853C131F7B}"/>
              </a:ext>
            </a:extLst>
          </p:cNvPr>
          <p:cNvSpPr>
            <a:spLocks noGrp="1"/>
          </p:cNvSpPr>
          <p:nvPr/>
        </p:nvSpPr>
        <p:spPr>
          <a:xfrm>
            <a:off x="781050" y="5534025"/>
            <a:ext cx="10191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사각형: 둥근 모서리 43">
            <a:extLst>
              <a:ext uri="{FF2B5EF4-FFF2-40B4-BE49-F238E27FC236}">
                <ns2:creationId id="{446F06CE-971E-4F00-B034-8C1D5431AB0F}"/>
              </a:ext>
            </a:extLst>
          </p:cNvPr>
          <p:cNvSpPr>
            <a:spLocks noGrp="1"/>
          </p:cNvSpPr>
          <p:nvPr/>
        </p:nvSpPr>
        <p:spPr>
          <a:xfrm>
            <a:off x="9810750" y="5619750"/>
            <a:ext cx="10477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형태만 확인</a:t>
            </a:r>
          </a:p>
        </p:txBody>
      </p:sp>
      <p:sp>
        <p:nvSpPr>
          <p:cNvPr id="45" name="직사각형 44">
            <a:extLst>
              <a:ext uri="{FF2B5EF4-FFF2-40B4-BE49-F238E27FC236}">
                <ns2:creationId id="{71CD5D55-7A8F-4FC2-8298-5F8191C506F5}"/>
              </a:ext>
            </a:extLst>
          </p:cNvPr>
          <p:cNvSpPr>
            <a:spLocks noGrp="1"/>
          </p:cNvSpPr>
          <p:nvPr/>
        </p:nvSpPr>
        <p:spPr>
          <a:xfrm>
            <a:off x="4953000" y="5638800"/>
            <a:ext cx="462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비슷한 게 있다는 것과, 국내에서 쓰인다는 건 다릅니다</a:t>
            </a:r>
          </a:p>
        </p:txBody>
      </p:sp>
    </p:spTree>
    <p:extLst>
      <p:ext uri="{BB962C8B-B14F-4D97-AF65-F5344CB8AC3E}">
        <ns3:creationId val="1307932784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사각형: 둥근 모서리 44">
            <a:extLst>
              <a:ext uri="{FF2B5EF4-FFF2-40B4-BE49-F238E27FC236}">
                <ns2:creationId id="{3AC950D5-4862-4A85-80FF-1251CE7BDF37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벤치마크 · 인접 분야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B9362F7C-24B1-4CA0-9EF3-27A484FB805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초대 · 입력 · 비교 · 수렴, 네 군데를 뜯어봤습니다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6D105013-172E-4E2C-AB5F-181D799F46DE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1D20A284-4D6F-4B29-9E4D-42EF89B21720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C4660776-CD11-44E9-B1C8-CF83CCA22863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7" name="직사각형 6">
            <a:extLst>
              <a:ext uri="{FF2B5EF4-FFF2-40B4-BE49-F238E27FC236}">
                <ns2:creationId id="{3D92F28F-9A4E-4967-8471-7304E49DA6DC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초대</a:t>
            </a:r>
          </a:p>
        </p:txBody>
      </p:sp>
      <p:sp>
        <p:nvSpPr>
          <p:cNvPr id="8" name="화살표: 오른쪽 7">
            <a:extLst>
              <a:ext uri="{FF2B5EF4-FFF2-40B4-BE49-F238E27FC236}">
                <ns2:creationId id="{B9FE41F2-04DB-45DC-88AC-AAE56AF704C7}"/>
              </a:ext>
            </a:extLst>
          </p:cNvPr>
          <p:cNvSpPr>
            <a:spLocks noGrp="1"/>
          </p:cNvSpPr>
          <p:nvPr/>
        </p:nvSpPr>
        <p:spPr>
          <a:xfrm>
            <a:off x="3143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9" name="사각형: 둥근 모서리 8">
            <a:extLst>
              <a:ext uri="{FF2B5EF4-FFF2-40B4-BE49-F238E27FC236}">
                <ns2:creationId id="{8795F28B-5E5C-4632-9FD9-07F2F88C1C8D}"/>
              </a:ext>
            </a:extLst>
          </p:cNvPr>
          <p:cNvSpPr>
            <a:spLocks noGrp="1"/>
          </p:cNvSpPr>
          <p:nvPr/>
        </p:nvSpPr>
        <p:spPr>
          <a:xfrm>
            <a:off x="3486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0" name="직사각형 9">
            <a:extLst>
              <a:ext uri="{FF2B5EF4-FFF2-40B4-BE49-F238E27FC236}">
                <ns2:creationId id="{A326CB0D-F3C3-4F35-A468-E54FAD535A7C}"/>
              </a:ext>
            </a:extLst>
          </p:cNvPr>
          <p:cNvSpPr>
            <a:spLocks noGrp="1"/>
          </p:cNvSpPr>
          <p:nvPr/>
        </p:nvSpPr>
        <p:spPr>
          <a:xfrm>
            <a:off x="3486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11" name="화살표: 오른쪽 10">
            <a:extLst>
              <a:ext uri="{FF2B5EF4-FFF2-40B4-BE49-F238E27FC236}">
                <ns2:creationId id="{91180C53-95B8-43D5-9FA4-E8091EFBC873}"/>
              </a:ext>
            </a:extLst>
          </p:cNvPr>
          <p:cNvSpPr>
            <a:spLocks noGrp="1"/>
          </p:cNvSpPr>
          <p:nvPr/>
        </p:nvSpPr>
        <p:spPr>
          <a:xfrm>
            <a:off x="5810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2" name="사각형: 둥근 모서리 11">
            <a:extLst>
              <a:ext uri="{FF2B5EF4-FFF2-40B4-BE49-F238E27FC236}">
                <ns2:creationId id="{77A598BC-FFC8-4AB0-8771-0F2AE5A245BF}"/>
              </a:ext>
            </a:extLst>
          </p:cNvPr>
          <p:cNvSpPr>
            <a:spLocks noGrp="1"/>
          </p:cNvSpPr>
          <p:nvPr/>
        </p:nvSpPr>
        <p:spPr>
          <a:xfrm>
            <a:off x="6153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3" name="직사각형 12">
            <a:extLst>
              <a:ext uri="{FF2B5EF4-FFF2-40B4-BE49-F238E27FC236}">
                <ns2:creationId id="{AD155B35-B3DC-47BB-A7FA-D2C475E21419}"/>
              </a:ext>
            </a:extLst>
          </p:cNvPr>
          <p:cNvSpPr>
            <a:spLocks noGrp="1"/>
          </p:cNvSpPr>
          <p:nvPr/>
        </p:nvSpPr>
        <p:spPr>
          <a:xfrm>
            <a:off x="6153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14" name="화살표: 오른쪽 13">
            <a:extLst>
              <a:ext uri="{FF2B5EF4-FFF2-40B4-BE49-F238E27FC236}">
                <ns2:creationId id="{4136A93D-545A-4B77-B473-C538D0466497}"/>
              </a:ext>
            </a:extLst>
          </p:cNvPr>
          <p:cNvSpPr>
            <a:spLocks noGrp="1"/>
          </p:cNvSpPr>
          <p:nvPr/>
        </p:nvSpPr>
        <p:spPr>
          <a:xfrm>
            <a:off x="8477250" y="1819275"/>
            <a:ext cx="3429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5" name="사각형: 둥근 모서리 14">
            <a:extLst>
              <a:ext uri="{FF2B5EF4-FFF2-40B4-BE49-F238E27FC236}">
                <ns2:creationId id="{9D3B34E5-B273-4E44-BB18-2787A70A516E}"/>
              </a:ext>
            </a:extLst>
          </p:cNvPr>
          <p:cNvSpPr>
            <a:spLocks noGrp="1"/>
          </p:cNvSpPr>
          <p:nvPr/>
        </p:nvSpPr>
        <p:spPr>
          <a:xfrm>
            <a:off x="8820150" y="16954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16" name="직사각형 15">
            <a:extLst>
              <a:ext uri="{FF2B5EF4-FFF2-40B4-BE49-F238E27FC236}">
                <ns2:creationId id="{3BB56602-ACEB-43B9-914D-ABB7CB1571F3}"/>
              </a:ext>
            </a:extLst>
          </p:cNvPr>
          <p:cNvSpPr>
            <a:spLocks noGrp="1"/>
          </p:cNvSpPr>
          <p:nvPr/>
        </p:nvSpPr>
        <p:spPr>
          <a:xfrm>
            <a:off x="8820150" y="1790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수렴</a:t>
            </a:r>
          </a:p>
        </p:txBody>
      </p:sp>
      <p:sp>
        <p:nvSpPr>
          <p:cNvPr id="17" name="직사각형 16">
            <a:extLst>
              <a:ext uri="{FF2B5EF4-FFF2-40B4-BE49-F238E27FC236}">
                <ns2:creationId id="{E66B82E6-3B8C-4E61-86BA-D5A3B245D655}"/>
              </a:ext>
            </a:extLst>
          </p:cNvPr>
          <p:cNvSpPr>
            <a:spLocks noGrp="1"/>
          </p:cNvSpPr>
          <p:nvPr/>
        </p:nvSpPr>
        <p:spPr>
          <a:xfrm>
            <a:off x="819150" y="24574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특별시·웨딩노트·MarryNote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A831A1A0-2B12-4922-9CB8-7B580717DECF}"/>
              </a:ext>
            </a:extLst>
          </p:cNvPr>
          <p:cNvSpPr>
            <a:spLocks noGrp="1"/>
          </p:cNvSpPr>
          <p:nvPr/>
        </p:nvSpPr>
        <p:spPr>
          <a:xfrm>
            <a:off x="3619500" y="2457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링크/코드 파트너 연결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5701AB80-81B5-4A07-887A-61C2A570C57B}"/>
              </a:ext>
            </a:extLst>
          </p:cNvPr>
          <p:cNvSpPr>
            <a:spLocks noGrp="1"/>
          </p:cNvSpPr>
          <p:nvPr/>
        </p:nvSpPr>
        <p:spPr>
          <a:xfrm>
            <a:off x="6248400" y="24574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2인 초대가 있다는 것만 확인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95B78AEA-84DB-401D-9816-1436292FD02C}"/>
              </a:ext>
            </a:extLst>
          </p:cNvPr>
          <p:cNvSpPr>
            <a:spLocks noGrp="1"/>
          </p:cNvSpPr>
          <p:nvPr/>
        </p:nvSpPr>
        <p:spPr>
          <a:xfrm>
            <a:off x="8743950" y="24574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수락률 비공개</a:t>
            </a:r>
          </a:p>
        </p:txBody>
      </p:sp>
      <p:sp>
        <p:nvSpPr>
          <p:cNvPr id="21" name="직선 연결선 20">
            <a:extLst>
              <a:ext uri="{FF2B5EF4-FFF2-40B4-BE49-F238E27FC236}">
                <ns2:creationId id="{B8654C60-3372-4E95-9579-394B969F0B2E}"/>
              </a:ext>
            </a:extLst>
          </p:cNvPr>
          <p:cNvSpPr>
            <a:spLocks noGrp="1"/>
          </p:cNvSpPr>
          <p:nvPr/>
        </p:nvSpPr>
        <p:spPr>
          <a:xfrm>
            <a:off x="819150" y="28765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2" name="직사각형 21">
            <a:extLst>
              <a:ext uri="{FF2B5EF4-FFF2-40B4-BE49-F238E27FC236}">
                <ns2:creationId id="{EFAAAA7B-1489-47A7-9DFC-CB0C3AAAFD94}"/>
              </a:ext>
            </a:extLst>
          </p:cNvPr>
          <p:cNvSpPr>
            <a:spLocks noGrp="1"/>
          </p:cNvSpPr>
          <p:nvPr/>
        </p:nvSpPr>
        <p:spPr>
          <a:xfrm>
            <a:off x="819150" y="30670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위밋플레이스·모이삼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400D5D88-2308-4B86-A75D-F172E4F464B7}"/>
              </a:ext>
            </a:extLst>
          </p:cNvPr>
          <p:cNvSpPr>
            <a:spLocks noGrp="1"/>
          </p:cNvSpPr>
          <p:nvPr/>
        </p:nvSpPr>
        <p:spPr>
          <a:xfrm>
            <a:off x="3619500" y="3067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각자 출발지 → 결과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B0A1B91C-309D-4E0A-9AB5-3810F174EB96}"/>
              </a:ext>
            </a:extLst>
          </p:cNvPr>
          <p:cNvSpPr>
            <a:spLocks noGrp="1"/>
          </p:cNvSpPr>
          <p:nvPr/>
        </p:nvSpPr>
        <p:spPr>
          <a:xfrm>
            <a:off x="6248400" y="30670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맥락 먼저, 입력은 조금만</a:t>
            </a:r>
          </a:p>
        </p:txBody>
      </p:sp>
      <p:sp>
        <p:nvSpPr>
          <p:cNvPr id="25" name="직사각형 24">
            <a:extLst>
              <a:ext uri="{FF2B5EF4-FFF2-40B4-BE49-F238E27FC236}">
                <ns2:creationId id="{872F9FBA-06CC-4913-BC93-A2F297EAA015}"/>
              </a:ext>
            </a:extLst>
          </p:cNvPr>
          <p:cNvSpPr>
            <a:spLocks noGrp="1"/>
          </p:cNvSpPr>
          <p:nvPr/>
        </p:nvSpPr>
        <p:spPr>
          <a:xfrm>
            <a:off x="8743950" y="30670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집은 단일 최적점 아님</a:t>
            </a:r>
          </a:p>
        </p:txBody>
      </p:sp>
      <p:sp>
        <p:nvSpPr>
          <p:cNvPr id="26" name="직선 연결선 25">
            <a:extLst>
              <a:ext uri="{FF2B5EF4-FFF2-40B4-BE49-F238E27FC236}">
                <ns2:creationId id="{21C08FE6-DD53-4A4E-AA5C-19873828827B}"/>
              </a:ext>
            </a:extLst>
          </p:cNvPr>
          <p:cNvSpPr>
            <a:spLocks noGrp="1"/>
          </p:cNvSpPr>
          <p:nvPr/>
        </p:nvSpPr>
        <p:spPr>
          <a:xfrm>
            <a:off x="819150" y="34861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27" name="직사각형 26">
            <a:extLst>
              <a:ext uri="{FF2B5EF4-FFF2-40B4-BE49-F238E27FC236}">
                <ns2:creationId id="{1D35661C-F174-4830-B667-38C8E86813DB}"/>
              </a:ext>
            </a:extLst>
          </p:cNvPr>
          <p:cNvSpPr>
            <a:spLocks noGrp="1"/>
          </p:cNvSpPr>
          <p:nvPr/>
        </p:nvSpPr>
        <p:spPr>
          <a:xfrm>
            <a:off x="819150" y="36766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Cozymate·한집친구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0CA1325D-BA00-408A-947A-CD6672ED38AB}"/>
              </a:ext>
            </a:extLst>
          </p:cNvPr>
          <p:cNvSpPr>
            <a:spLocks noGrp="1"/>
          </p:cNvSpPr>
          <p:nvPr/>
        </p:nvSpPr>
        <p:spPr>
          <a:xfrm>
            <a:off x="3619500" y="36766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룸메이트 조건 · 성향 입력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8BAB8013-2666-4970-9CFB-12524789CD99}"/>
              </a:ext>
            </a:extLst>
          </p:cNvPr>
          <p:cNvSpPr>
            <a:spLocks noGrp="1"/>
          </p:cNvSpPr>
          <p:nvPr/>
        </p:nvSpPr>
        <p:spPr>
          <a:xfrm>
            <a:off x="6248400" y="36766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조건 입력 부담을 참고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3327188D-8D6C-4A14-890B-0D9D36C0B28A}"/>
              </a:ext>
            </a:extLst>
          </p:cNvPr>
          <p:cNvSpPr>
            <a:spLocks noGrp="1"/>
          </p:cNvSpPr>
          <p:nvPr/>
        </p:nvSpPr>
        <p:spPr>
          <a:xfrm>
            <a:off x="8743950" y="36766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우리 대조 조건과는 다름</a:t>
            </a:r>
          </a:p>
        </p:txBody>
      </p:sp>
      <p:sp>
        <p:nvSpPr>
          <p:cNvPr id="31" name="직선 연결선 30">
            <a:extLst>
              <a:ext uri="{FF2B5EF4-FFF2-40B4-BE49-F238E27FC236}">
                <ns2:creationId id="{AE5A6BC5-C473-42BE-BBD3-2DD8B322ED86}"/>
              </a:ext>
            </a:extLst>
          </p:cNvPr>
          <p:cNvSpPr>
            <a:spLocks noGrp="1"/>
          </p:cNvSpPr>
          <p:nvPr/>
        </p:nvSpPr>
        <p:spPr>
          <a:xfrm>
            <a:off x="819150" y="40957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2" name="직사각형 31">
            <a:extLst>
              <a:ext uri="{FF2B5EF4-FFF2-40B4-BE49-F238E27FC236}">
                <ns2:creationId id="{E04C65D2-5FFC-4B28-AED4-0917672466A5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바로계산·EZB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0D7AEE07-2763-4615-8DCC-314D89618EC1}"/>
              </a:ext>
            </a:extLst>
          </p:cNvPr>
          <p:cNvSpPr>
            <a:spLocks noGrp="1"/>
          </p:cNvSpPr>
          <p:nvPr/>
        </p:nvSpPr>
        <p:spPr>
          <a:xfrm>
            <a:off x="3619500" y="4286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월·기간 기준 주거비 환산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D1B3F430-7BA5-4756-8A42-279300828977}"/>
              </a:ext>
            </a:extLst>
          </p:cNvPr>
          <p:cNvSpPr>
            <a:spLocks noGrp="1"/>
          </p:cNvSpPr>
          <p:nvPr/>
        </p:nvSpPr>
        <p:spPr>
          <a:xfrm>
            <a:off x="6248400" y="42862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비교 근거 구조화</a:t>
            </a:r>
          </a:p>
        </p:txBody>
      </p:sp>
      <p:sp>
        <p:nvSpPr>
          <p:cNvPr id="35" name="직사각형 34">
            <a:extLst>
              <a:ext uri="{FF2B5EF4-FFF2-40B4-BE49-F238E27FC236}">
                <ns2:creationId id="{7E878635-FC3F-42DC-9FCB-E8B330F8F67B}"/>
              </a:ext>
            </a:extLst>
          </p:cNvPr>
          <p:cNvSpPr>
            <a:spLocks noGrp="1"/>
          </p:cNvSpPr>
          <p:nvPr/>
        </p:nvSpPr>
        <p:spPr>
          <a:xfrm>
            <a:off x="8743950" y="4286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금융 조언 아님</a:t>
            </a:r>
          </a:p>
        </p:txBody>
      </p:sp>
      <p:sp>
        <p:nvSpPr>
          <p:cNvPr id="36" name="직선 연결선 35">
            <a:extLst>
              <a:ext uri="{FF2B5EF4-FFF2-40B4-BE49-F238E27FC236}">
                <ns2:creationId id="{BDCDA3F9-9111-427C-AB06-3CF7779F00DB}"/>
              </a:ext>
            </a:extLst>
          </p:cNvPr>
          <p:cNvSpPr>
            <a:spLocks noGrp="1"/>
          </p:cNvSpPr>
          <p:nvPr/>
        </p:nvSpPr>
        <p:spPr>
          <a:xfrm>
            <a:off x="819150" y="47053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7" name="직사각형 36">
            <a:extLst>
              <a:ext uri="{FF2B5EF4-FFF2-40B4-BE49-F238E27FC236}">
                <ns2:creationId id="{DBC954AA-E002-4DF2-A2F6-7E61CEFBD3BF}"/>
              </a:ext>
            </a:extLst>
          </p:cNvPr>
          <p:cNvSpPr>
            <a:spLocks noGrp="1"/>
          </p:cNvSpPr>
          <p:nvPr/>
        </p:nvSpPr>
        <p:spPr>
          <a:xfrm>
            <a:off x="819150" y="48958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Airbnb·Doodle·Wanderlog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979EC1E7-7425-425B-BE23-2A5A3B6C7908}"/>
              </a:ext>
            </a:extLst>
          </p:cNvPr>
          <p:cNvSpPr>
            <a:spLocks noGrp="1"/>
          </p:cNvSpPr>
          <p:nvPr/>
        </p:nvSpPr>
        <p:spPr>
          <a:xfrm>
            <a:off x="3619500" y="48958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 저장·선호·참여 상태</a:t>
            </a:r>
          </a:p>
        </p:txBody>
      </p:sp>
      <p:sp>
        <p:nvSpPr>
          <p:cNvPr id="39" name="직사각형 38">
            <a:extLst>
              <a:ext uri="{FF2B5EF4-FFF2-40B4-BE49-F238E27FC236}">
                <ns2:creationId id="{453399ED-EE8B-44F4-88E5-2C9AE464855C}"/>
              </a:ext>
            </a:extLst>
          </p:cNvPr>
          <p:cNvSpPr>
            <a:spLocks noGrp="1"/>
          </p:cNvSpPr>
          <p:nvPr/>
        </p:nvSpPr>
        <p:spPr>
          <a:xfrm>
            <a:off x="6248400" y="4895850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 관리와 참여</a:t>
            </a:r>
          </a:p>
        </p:txBody>
      </p:sp>
      <p:sp>
        <p:nvSpPr>
          <p:cNvPr id="40" name="직사각형 39">
            <a:extLst>
              <a:ext uri="{FF2B5EF4-FFF2-40B4-BE49-F238E27FC236}">
                <ns2:creationId id="{AFE226E7-FFD4-4694-A8FA-8FE27C4D5180}"/>
              </a:ext>
            </a:extLst>
          </p:cNvPr>
          <p:cNvSpPr>
            <a:spLocks noGrp="1"/>
          </p:cNvSpPr>
          <p:nvPr/>
        </p:nvSpPr>
        <p:spPr>
          <a:xfrm>
            <a:off x="8743950" y="48958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투표·순위는 그대로 못 가져옴</a:t>
            </a:r>
          </a:p>
        </p:txBody>
      </p:sp>
      <p:sp>
        <p:nvSpPr>
          <p:cNvPr id="41" name="직선 연결선 40">
            <a:extLst>
              <a:ext uri="{FF2B5EF4-FFF2-40B4-BE49-F238E27FC236}">
                <ns2:creationId id="{D98A07A6-7051-402D-8B20-5BD51E351496}"/>
              </a:ext>
            </a:extLst>
          </p:cNvPr>
          <p:cNvSpPr>
            <a:spLocks noGrp="1"/>
          </p:cNvSpPr>
          <p:nvPr/>
        </p:nvSpPr>
        <p:spPr>
          <a:xfrm>
            <a:off x="819150" y="53149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42" name="사각형: 둥근 모서리 41">
            <a:extLst>
              <a:ext uri="{FF2B5EF4-FFF2-40B4-BE49-F238E27FC236}">
                <ns2:creationId id="{491B35D0-9E61-49DA-8340-315B705AC8BC}"/>
              </a:ext>
            </a:extLst>
          </p:cNvPr>
          <p:cNvSpPr>
            <a:spLocks noGrp="1"/>
          </p:cNvSpPr>
          <p:nvPr/>
        </p:nvSpPr>
        <p:spPr>
          <a:xfrm>
            <a:off x="819150" y="5657850"/>
            <a:ext cx="10401300" cy="438150"/>
          </a:xfrm>
          <a:prstGeom prst="roundRect">
            <a:avLst>
              <a:gd name="adj" fmla="val 19565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ns2:creationId id="{26087569-5FB5-46BB-9021-EC9A0B900D1F}"/>
              </a:ext>
            </a:extLst>
          </p:cNvPr>
          <p:cNvSpPr>
            <a:spLocks noGrp="1"/>
          </p:cNvSpPr>
          <p:nvPr/>
        </p:nvSpPr>
        <p:spPr>
          <a:xfrm>
            <a:off x="971550" y="57721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전이 기준</a:t>
            </a:r>
          </a:p>
        </p:txBody>
      </p:sp>
      <p:sp>
        <p:nvSpPr>
          <p:cNvPr id="44" name="직사각형 43">
            <a:extLst>
              <a:ext uri="{FF2B5EF4-FFF2-40B4-BE49-F238E27FC236}">
                <ns2:creationId id="{4F47EFA9-1743-45A0-86C2-FCBB1D5CA033}"/>
              </a:ext>
            </a:extLst>
          </p:cNvPr>
          <p:cNvSpPr>
            <a:spLocks noGrp="1"/>
          </p:cNvSpPr>
          <p:nvPr/>
        </p:nvSpPr>
        <p:spPr>
          <a:xfrm>
            <a:off x="1905000" y="5744210"/>
            <a:ext cx="904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무엇이 번거로웠고 어떻게 줄였는지만 봤습니다. 답을 하나로 좁히는 방식은 안 가져옵니다.</a:t>
            </a:r>
          </a:p>
        </p:txBody>
      </p:sp>
    </p:spTree>
    <p:extLst>
      <p:ext uri="{BB962C8B-B14F-4D97-AF65-F5344CB8AC3E}">
        <ns3:creationId val="1709083599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사각형: 둥근 모서리 57">
            <a:extLst>
              <a:ext uri="{FF2B5EF4-FFF2-40B4-BE49-F238E27FC236}">
                <ns2:creationId id="{AB7D0965-B0A8-4551-9CF9-61F2D8E3B76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276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벤치마크 · 다른 분야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899C8668-E38E-413E-973A-EBC79840411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형식은 의료 분야에서 가져왔습니다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9BF04EE8-5635-4659-A660-53930035124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65519A93-F89C-46E4-89AA-C2A48724C5D5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3B2F94E8-D327-441E-85E4-697B54075251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4857750" cy="37338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3F723E66-8315-4B09-A455-E5D487D9C2DB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Option Grid · 의료 의사결정 비교표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A4C17635-C43F-4259-B34E-6C324E19A1D8}"/>
              </a:ext>
            </a:extLst>
          </p:cNvPr>
          <p:cNvSpPr>
            <a:spLocks noGrp="1"/>
          </p:cNvSpPr>
          <p:nvPr/>
        </p:nvSpPr>
        <p:spPr>
          <a:xfrm>
            <a:off x="933450" y="21717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열 = 선택지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ns2:creationId id="{5D5F2483-95D2-4C90-A3F5-2ED1BF4708CB}"/>
              </a:ext>
            </a:extLst>
          </p:cNvPr>
          <p:cNvSpPr>
            <a:spLocks noGrp="1"/>
          </p:cNvSpPr>
          <p:nvPr/>
        </p:nvSpPr>
        <p:spPr>
          <a:xfrm>
            <a:off x="220980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0" name="직사각형 9">
            <a:extLst>
              <a:ext uri="{FF2B5EF4-FFF2-40B4-BE49-F238E27FC236}">
                <ns2:creationId id="{B307C5DB-C1A2-4B1B-A60F-EA5424CBE0B9}"/>
              </a:ext>
            </a:extLst>
          </p:cNvPr>
          <p:cNvSpPr>
            <a:spLocks noGrp="1"/>
          </p:cNvSpPr>
          <p:nvPr/>
        </p:nvSpPr>
        <p:spPr>
          <a:xfrm>
            <a:off x="220980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선택지 A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96F44210-6422-46D4-BCD7-916CC55F8298}"/>
              </a:ext>
            </a:extLst>
          </p:cNvPr>
          <p:cNvSpPr>
            <a:spLocks noGrp="1"/>
          </p:cNvSpPr>
          <p:nvPr/>
        </p:nvSpPr>
        <p:spPr>
          <a:xfrm>
            <a:off x="356235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2" name="직사각형 11">
            <a:extLst>
              <a:ext uri="{FF2B5EF4-FFF2-40B4-BE49-F238E27FC236}">
                <ns2:creationId id="{837B6166-1C60-46A6-AD4D-3688A2D6DBE2}"/>
              </a:ext>
            </a:extLst>
          </p:cNvPr>
          <p:cNvSpPr>
            <a:spLocks noGrp="1"/>
          </p:cNvSpPr>
          <p:nvPr/>
        </p:nvSpPr>
        <p:spPr>
          <a:xfrm>
            <a:off x="356235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선택지 B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EC134320-9D4D-4E1F-B035-0571F57CA666}"/>
              </a:ext>
            </a:extLst>
          </p:cNvPr>
          <p:cNvSpPr>
            <a:spLocks noGrp="1"/>
          </p:cNvSpPr>
          <p:nvPr/>
        </p:nvSpPr>
        <p:spPr>
          <a:xfrm>
            <a:off x="1047750" y="31623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ns2:creationId id="{CEADF759-A8D6-4827-AD8C-34252D5198E3}"/>
              </a:ext>
            </a:extLst>
          </p:cNvPr>
          <p:cNvSpPr>
            <a:spLocks noGrp="1"/>
          </p:cNvSpPr>
          <p:nvPr/>
        </p:nvSpPr>
        <p:spPr>
          <a:xfrm>
            <a:off x="220980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5" name="사각형: 둥근 모서리 14">
            <a:extLst>
              <a:ext uri="{FF2B5EF4-FFF2-40B4-BE49-F238E27FC236}">
                <ns2:creationId id="{98B0EBE8-1711-4B1F-96CE-82CE4C9B3073}"/>
              </a:ext>
            </a:extLst>
          </p:cNvPr>
          <p:cNvSpPr>
            <a:spLocks noGrp="1"/>
          </p:cNvSpPr>
          <p:nvPr/>
        </p:nvSpPr>
        <p:spPr>
          <a:xfrm>
            <a:off x="356235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6" name="직사각형 15">
            <a:extLst>
              <a:ext uri="{FF2B5EF4-FFF2-40B4-BE49-F238E27FC236}">
                <ns2:creationId id="{1ECB1553-EDA1-44B0-867F-8DFB0928A91C}"/>
              </a:ext>
            </a:extLst>
          </p:cNvPr>
          <p:cNvSpPr>
            <a:spLocks noGrp="1"/>
          </p:cNvSpPr>
          <p:nvPr/>
        </p:nvSpPr>
        <p:spPr>
          <a:xfrm>
            <a:off x="1047750" y="36195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거리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ns2:creationId id="{BC06C898-3506-4393-9356-690969ED454D}"/>
              </a:ext>
            </a:extLst>
          </p:cNvPr>
          <p:cNvSpPr>
            <a:spLocks noGrp="1"/>
          </p:cNvSpPr>
          <p:nvPr/>
        </p:nvSpPr>
        <p:spPr>
          <a:xfrm>
            <a:off x="220980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8" name="사각형: 둥근 모서리 17">
            <a:extLst>
              <a:ext uri="{FF2B5EF4-FFF2-40B4-BE49-F238E27FC236}">
                <ns2:creationId id="{390D2A3C-852B-46AF-90B5-46E65DE2261F}"/>
              </a:ext>
            </a:extLst>
          </p:cNvPr>
          <p:cNvSpPr>
            <a:spLocks noGrp="1"/>
          </p:cNvSpPr>
          <p:nvPr/>
        </p:nvSpPr>
        <p:spPr>
          <a:xfrm>
            <a:off x="356235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19" name="직사각형 18">
            <a:extLst>
              <a:ext uri="{FF2B5EF4-FFF2-40B4-BE49-F238E27FC236}">
                <ns2:creationId id="{4D967B31-7D86-4741-8C82-5FBB2DB9CC14}"/>
              </a:ext>
            </a:extLst>
          </p:cNvPr>
          <p:cNvSpPr>
            <a:spLocks noGrp="1"/>
          </p:cNvSpPr>
          <p:nvPr/>
        </p:nvSpPr>
        <p:spPr>
          <a:xfrm>
            <a:off x="1047750" y="407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ns2:creationId id="{19D9F34A-D9AF-4BA8-9DF2-08D4140A847C}"/>
              </a:ext>
            </a:extLst>
          </p:cNvPr>
          <p:cNvSpPr>
            <a:spLocks noGrp="1"/>
          </p:cNvSpPr>
          <p:nvPr/>
        </p:nvSpPr>
        <p:spPr>
          <a:xfrm>
            <a:off x="220980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21" name="사각형: 둥근 모서리 20">
            <a:extLst>
              <a:ext uri="{FF2B5EF4-FFF2-40B4-BE49-F238E27FC236}">
                <ns2:creationId id="{61BD5D76-AD19-41D9-9E76-442E7B626DF2}"/>
              </a:ext>
            </a:extLst>
          </p:cNvPr>
          <p:cNvSpPr>
            <a:spLocks noGrp="1"/>
          </p:cNvSpPr>
          <p:nvPr/>
        </p:nvSpPr>
        <p:spPr>
          <a:xfrm>
            <a:off x="356235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 anchor="ctr"/>
          <a:lstStyle/>
          <a:p>
            <a:endParaRPr lang="ko-KR" altLang="en-US" sz="3600"/>
          </a:p>
        </p:txBody>
      </p:sp>
      <p:sp>
        <p:nvSpPr>
          <p:cNvPr id="22" name="직사각형 21">
            <a:extLst>
              <a:ext uri="{FF2B5EF4-FFF2-40B4-BE49-F238E27FC236}">
                <ns2:creationId id="{D799169C-5319-4C5B-968E-95D6147262BF}"/>
              </a:ext>
            </a:extLst>
          </p:cNvPr>
          <p:cNvSpPr>
            <a:spLocks noGrp="1"/>
          </p:cNvSpPr>
          <p:nvPr/>
        </p:nvSpPr>
        <p:spPr>
          <a:xfrm>
            <a:off x="1047750" y="45339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ns2:creationId id="{5F8BC1DE-D4DA-4E15-9FF5-FD3EF1119E61}"/>
              </a:ext>
            </a:extLst>
          </p:cNvPr>
          <p:cNvSpPr>
            <a:spLocks noGrp="1"/>
          </p:cNvSpPr>
          <p:nvPr/>
        </p:nvSpPr>
        <p:spPr>
          <a:xfrm>
            <a:off x="220980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ns2:creationId id="{ADC2837E-65D7-4B91-A03F-17149B22F0F2}"/>
              </a:ext>
            </a:extLst>
          </p:cNvPr>
          <p:cNvSpPr>
            <a:spLocks noGrp="1"/>
          </p:cNvSpPr>
          <p:nvPr/>
        </p:nvSpPr>
        <p:spPr>
          <a:xfrm>
            <a:off x="356235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DF48B2E9-FC95-497D-8F19-89886AA7C17D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관련 연구 40건 중 28건이 나란히 놓는 방식</a:t>
            </a:r>
          </a:p>
        </p:txBody>
      </p:sp>
      <p:sp>
        <p:nvSpPr>
          <p:cNvPr id="26" name="직사각형 25">
            <a:extLst>
              <a:ext uri="{FF2B5EF4-FFF2-40B4-BE49-F238E27FC236}">
                <ns2:creationId id="{9C11A011-988F-45D8-BC59-9DF8398A16B9}"/>
              </a:ext>
            </a:extLst>
          </p:cNvPr>
          <p:cNvSpPr>
            <a:spLocks noGrp="1"/>
          </p:cNvSpPr>
          <p:nvPr/>
        </p:nvSpPr>
        <p:spPr>
          <a:xfrm>
            <a:off x="952500" y="5105400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70~96%가 균형 있다고 답함 · 부동산 전이는 추측</a:t>
            </a:r>
          </a:p>
        </p:txBody>
      </p:sp>
      <p:sp>
        <p:nvSpPr>
          <p:cNvPr id="27" name="화살표: 오른쪽 26">
            <a:extLst>
              <a:ext uri="{FF2B5EF4-FFF2-40B4-BE49-F238E27FC236}">
                <ns2:creationId id="{D44F7507-7B0C-493D-9A97-F8F2CCFD89D7}"/>
              </a:ext>
            </a:extLst>
          </p:cNvPr>
          <p:cNvSpPr>
            <a:spLocks noGrp="1"/>
          </p:cNvSpPr>
          <p:nvPr/>
        </p:nvSpPr>
        <p:spPr>
          <a:xfrm>
            <a:off x="5753100" y="3286125"/>
            <a:ext cx="685800" cy="2286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ns2:creationId id="{8849B4C3-758D-42A3-A286-A0B3A2BAE178}"/>
              </a:ext>
            </a:extLst>
          </p:cNvPr>
          <p:cNvSpPr>
            <a:spLocks noGrp="1"/>
          </p:cNvSpPr>
          <p:nvPr/>
        </p:nvSpPr>
        <p:spPr>
          <a:xfrm>
            <a:off x="5715000" y="3667125"/>
            <a:ext cx="781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형식과 균형</a:t>
            </a:r>
          </a:p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원칙만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ns2:creationId id="{80C3EB5B-03E7-4A36-9D7C-2E20C5E76038}"/>
              </a:ext>
            </a:extLst>
          </p:cNvPr>
          <p:cNvSpPr>
            <a:spLocks noGrp="1"/>
          </p:cNvSpPr>
          <p:nvPr/>
        </p:nvSpPr>
        <p:spPr>
          <a:xfrm>
            <a:off x="6629400" y="1619250"/>
            <a:ext cx="4857750" cy="3733800"/>
          </a:xfrm>
          <a:prstGeom prst="roundRect">
            <a:avLst>
              <a:gd name="adj" fmla="val 4082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ns2:creationId id="{39143198-6194-4B8C-ADD6-E1C66ACCF3B2}"/>
              </a:ext>
            </a:extLst>
          </p:cNvPr>
          <p:cNvSpPr>
            <a:spLocks noGrp="1"/>
          </p:cNvSpPr>
          <p:nvPr/>
        </p:nvSpPr>
        <p:spPr>
          <a:xfrm>
            <a:off x="6838950" y="18383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우리가 바꾼 것 · 같이 보기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DD7C1863-3CD1-4517-9283-728994F71D9C}"/>
              </a:ext>
            </a:extLst>
          </p:cNvPr>
          <p:cNvSpPr>
            <a:spLocks noGrp="1"/>
          </p:cNvSpPr>
          <p:nvPr/>
        </p:nvSpPr>
        <p:spPr>
          <a:xfrm>
            <a:off x="6838950" y="21717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열 = 사람 · 행 = 조건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ns2:creationId id="{8E78C86E-BE2E-4903-90D9-6AE4F77166E3}"/>
              </a:ext>
            </a:extLst>
          </p:cNvPr>
          <p:cNvSpPr>
            <a:spLocks noGrp="1"/>
          </p:cNvSpPr>
          <p:nvPr/>
        </p:nvSpPr>
        <p:spPr>
          <a:xfrm>
            <a:off x="811530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3" name="직사각형 32">
            <a:extLst>
              <a:ext uri="{FF2B5EF4-FFF2-40B4-BE49-F238E27FC236}">
                <ns2:creationId id="{4A18DC48-FC7B-404D-9612-58E3CA1B2F89}"/>
              </a:ext>
            </a:extLst>
          </p:cNvPr>
          <p:cNvSpPr>
            <a:spLocks noGrp="1"/>
          </p:cNvSpPr>
          <p:nvPr/>
        </p:nvSpPr>
        <p:spPr>
          <a:xfrm>
            <a:off x="811530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ns2:creationId id="{560B0D39-B34B-48E8-A894-1460A6E5C88F}"/>
              </a:ext>
            </a:extLst>
          </p:cNvPr>
          <p:cNvSpPr>
            <a:spLocks noGrp="1"/>
          </p:cNvSpPr>
          <p:nvPr/>
        </p:nvSpPr>
        <p:spPr>
          <a:xfrm>
            <a:off x="9467850" y="2686050"/>
            <a:ext cx="1257300" cy="323850"/>
          </a:xfrm>
          <a:prstGeom prst="roundRect">
            <a:avLst>
              <a:gd name="adj" fmla="val 14706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5" name="직사각형 34">
            <a:extLst>
              <a:ext uri="{FF2B5EF4-FFF2-40B4-BE49-F238E27FC236}">
                <ns2:creationId id="{5A9AA262-66C9-45DB-998A-78D52BF7C88D}"/>
              </a:ext>
            </a:extLst>
          </p:cNvPr>
          <p:cNvSpPr>
            <a:spLocks noGrp="1"/>
          </p:cNvSpPr>
          <p:nvPr/>
        </p:nvSpPr>
        <p:spPr>
          <a:xfrm>
            <a:off x="9467850" y="2762250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6" name="직사각형 35">
            <a:extLst>
              <a:ext uri="{FF2B5EF4-FFF2-40B4-BE49-F238E27FC236}">
                <ns2:creationId id="{8BE68378-416A-4733-A58E-19B93B1E0045}"/>
              </a:ext>
            </a:extLst>
          </p:cNvPr>
          <p:cNvSpPr>
            <a:spLocks noGrp="1"/>
          </p:cNvSpPr>
          <p:nvPr/>
        </p:nvSpPr>
        <p:spPr>
          <a:xfrm>
            <a:off x="6953250" y="31623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ns2:creationId id="{EA1240F8-4574-42C4-86D4-6C76F9918C7B}"/>
              </a:ext>
            </a:extLst>
          </p:cNvPr>
          <p:cNvSpPr>
            <a:spLocks noGrp="1"/>
          </p:cNvSpPr>
          <p:nvPr/>
        </p:nvSpPr>
        <p:spPr>
          <a:xfrm>
            <a:off x="811530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38" name="직사각형 37">
            <a:extLst>
              <a:ext uri="{FF2B5EF4-FFF2-40B4-BE49-F238E27FC236}">
                <ns2:creationId id="{8BB3FF5B-6FCC-45C7-86A0-7A0F7723E2E7}"/>
              </a:ext>
            </a:extLst>
          </p:cNvPr>
          <p:cNvSpPr>
            <a:spLocks noGrp="1"/>
          </p:cNvSpPr>
          <p:nvPr/>
        </p:nvSpPr>
        <p:spPr>
          <a:xfrm>
            <a:off x="8115300" y="32004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ns2:creationId id="{672816E3-3873-4F52-8C0A-20C427208BAF}"/>
              </a:ext>
            </a:extLst>
          </p:cNvPr>
          <p:cNvSpPr>
            <a:spLocks noGrp="1"/>
          </p:cNvSpPr>
          <p:nvPr/>
        </p:nvSpPr>
        <p:spPr>
          <a:xfrm>
            <a:off x="9467850" y="31242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0" name="직사각형 39">
            <a:extLst>
              <a:ext uri="{FF2B5EF4-FFF2-40B4-BE49-F238E27FC236}">
                <ns2:creationId id="{212853B6-65B8-4E8D-BAB5-4457749A1FA1}"/>
              </a:ext>
            </a:extLst>
          </p:cNvPr>
          <p:cNvSpPr>
            <a:spLocks noGrp="1"/>
          </p:cNvSpPr>
          <p:nvPr/>
        </p:nvSpPr>
        <p:spPr>
          <a:xfrm>
            <a:off x="9467850" y="32004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1" name="직사각형 40">
            <a:extLst>
              <a:ext uri="{FF2B5EF4-FFF2-40B4-BE49-F238E27FC236}">
                <ns2:creationId id="{063069CE-49CC-48E9-8871-E201F2BEC91C}"/>
              </a:ext>
            </a:extLst>
          </p:cNvPr>
          <p:cNvSpPr>
            <a:spLocks noGrp="1"/>
          </p:cNvSpPr>
          <p:nvPr/>
        </p:nvSpPr>
        <p:spPr>
          <a:xfrm>
            <a:off x="6953250" y="36195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ns2:creationId id="{77453F12-1A16-48CF-92FF-23EE76741C80}"/>
              </a:ext>
            </a:extLst>
          </p:cNvPr>
          <p:cNvSpPr>
            <a:spLocks noGrp="1"/>
          </p:cNvSpPr>
          <p:nvPr/>
        </p:nvSpPr>
        <p:spPr>
          <a:xfrm>
            <a:off x="811530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3" name="직사각형 42">
            <a:extLst>
              <a:ext uri="{FF2B5EF4-FFF2-40B4-BE49-F238E27FC236}">
                <ns2:creationId id="{CECC5B92-77EF-43E6-9AAC-5012682834E2}"/>
              </a:ext>
            </a:extLst>
          </p:cNvPr>
          <p:cNvSpPr>
            <a:spLocks noGrp="1"/>
          </p:cNvSpPr>
          <p:nvPr/>
        </p:nvSpPr>
        <p:spPr>
          <a:xfrm>
            <a:off x="8115300" y="36576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+13분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ns2:creationId id="{306F9C2B-674C-4A0A-84D7-96DE5A953480}"/>
              </a:ext>
            </a:extLst>
          </p:cNvPr>
          <p:cNvSpPr>
            <a:spLocks noGrp="1"/>
          </p:cNvSpPr>
          <p:nvPr/>
        </p:nvSpPr>
        <p:spPr>
          <a:xfrm>
            <a:off x="9467850" y="35814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5" name="직사각형 44">
            <a:extLst>
              <a:ext uri="{FF2B5EF4-FFF2-40B4-BE49-F238E27FC236}">
                <ns2:creationId id="{ABA784B8-DF08-425A-BDA8-D5116389E285}"/>
              </a:ext>
            </a:extLst>
          </p:cNvPr>
          <p:cNvSpPr>
            <a:spLocks noGrp="1"/>
          </p:cNvSpPr>
          <p:nvPr/>
        </p:nvSpPr>
        <p:spPr>
          <a:xfrm>
            <a:off x="9467850" y="36576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6" name="직사각형 45">
            <a:extLst>
              <a:ext uri="{FF2B5EF4-FFF2-40B4-BE49-F238E27FC236}">
                <ns2:creationId id="{E5AA7305-D57D-45AE-8447-4F4CA0672BFA}"/>
              </a:ext>
            </a:extLst>
          </p:cNvPr>
          <p:cNvSpPr>
            <a:spLocks noGrp="1"/>
          </p:cNvSpPr>
          <p:nvPr/>
        </p:nvSpPr>
        <p:spPr>
          <a:xfrm>
            <a:off x="6953250" y="40767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ns2:creationId id="{7B21EDAB-3E08-478D-9A17-3DA40E77F146}"/>
              </a:ext>
            </a:extLst>
          </p:cNvPr>
          <p:cNvSpPr>
            <a:spLocks noGrp="1"/>
          </p:cNvSpPr>
          <p:nvPr/>
        </p:nvSpPr>
        <p:spPr>
          <a:xfrm>
            <a:off x="811530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48" name="직사각형 47">
            <a:extLst>
              <a:ext uri="{FF2B5EF4-FFF2-40B4-BE49-F238E27FC236}">
                <ns2:creationId id="{A0E62D6B-B8C7-47C4-ACCA-B7AE927F86DB}"/>
              </a:ext>
            </a:extLst>
          </p:cNvPr>
          <p:cNvSpPr>
            <a:spLocks noGrp="1"/>
          </p:cNvSpPr>
          <p:nvPr/>
        </p:nvSpPr>
        <p:spPr>
          <a:xfrm>
            <a:off x="8115300" y="41148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ns2:creationId id="{054FE4BF-AE38-404E-98FA-DDA189CB40C8}"/>
              </a:ext>
            </a:extLst>
          </p:cNvPr>
          <p:cNvSpPr>
            <a:spLocks noGrp="1"/>
          </p:cNvSpPr>
          <p:nvPr/>
        </p:nvSpPr>
        <p:spPr>
          <a:xfrm>
            <a:off x="9467850" y="40386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0" name="직사각형 49">
            <a:extLst>
              <a:ext uri="{FF2B5EF4-FFF2-40B4-BE49-F238E27FC236}">
                <ns2:creationId id="{AFB8799C-4189-4047-9B78-88BFAA0AD63F}"/>
              </a:ext>
            </a:extLst>
          </p:cNvPr>
          <p:cNvSpPr>
            <a:spLocks noGrp="1"/>
          </p:cNvSpPr>
          <p:nvPr/>
        </p:nvSpPr>
        <p:spPr>
          <a:xfrm>
            <a:off x="9467850" y="41148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충족</a:t>
            </a:r>
          </a:p>
        </p:txBody>
      </p:sp>
      <p:sp>
        <p:nvSpPr>
          <p:cNvPr id="51" name="직사각형 50">
            <a:extLst>
              <a:ext uri="{FF2B5EF4-FFF2-40B4-BE49-F238E27FC236}">
                <ns2:creationId id="{3729BB87-4ED1-4C65-A36B-7911000862F1}"/>
              </a:ext>
            </a:extLst>
          </p:cNvPr>
          <p:cNvSpPr>
            <a:spLocks noGrp="1"/>
          </p:cNvSpPr>
          <p:nvPr/>
        </p:nvSpPr>
        <p:spPr>
          <a:xfrm>
            <a:off x="6953250" y="4533900"/>
            <a:ext cx="933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ns2:creationId id="{BB64F5BB-1CC2-4D3B-9945-534950429555}"/>
              </a:ext>
            </a:extLst>
          </p:cNvPr>
          <p:cNvSpPr>
            <a:spLocks noGrp="1"/>
          </p:cNvSpPr>
          <p:nvPr/>
        </p:nvSpPr>
        <p:spPr>
          <a:xfrm>
            <a:off x="811530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3" name="직사각형 52">
            <a:extLst>
              <a:ext uri="{FF2B5EF4-FFF2-40B4-BE49-F238E27FC236}">
                <ns2:creationId id="{549D0DCD-704F-40D9-B139-13B6CB4A7125}"/>
              </a:ext>
            </a:extLst>
          </p:cNvPr>
          <p:cNvSpPr>
            <a:spLocks noGrp="1"/>
          </p:cNvSpPr>
          <p:nvPr/>
        </p:nvSpPr>
        <p:spPr>
          <a:xfrm>
            <a:off x="8115300" y="45720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ns2:creationId id="{B5B6DD12-BA35-4733-BC9D-288ACA853287}"/>
              </a:ext>
            </a:extLst>
          </p:cNvPr>
          <p:cNvSpPr>
            <a:spLocks noGrp="1"/>
          </p:cNvSpPr>
          <p:nvPr/>
        </p:nvSpPr>
        <p:spPr>
          <a:xfrm>
            <a:off x="9467850" y="4495800"/>
            <a:ext cx="1257300" cy="304800"/>
          </a:xfrm>
          <a:prstGeom prst="roundRect">
            <a:avLst>
              <a:gd name="adj" fmla="val 125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4000"/>
          </a:p>
        </p:txBody>
      </p:sp>
      <p:sp>
        <p:nvSpPr>
          <p:cNvPr id="55" name="직사각형 54">
            <a:extLst>
              <a:ext uri="{FF2B5EF4-FFF2-40B4-BE49-F238E27FC236}">
                <ns2:creationId id="{FEB2D0D8-9C2D-42B6-A2E6-CA2567151E3E}"/>
              </a:ext>
            </a:extLst>
          </p:cNvPr>
          <p:cNvSpPr>
            <a:spLocks noGrp="1"/>
          </p:cNvSpPr>
          <p:nvPr/>
        </p:nvSpPr>
        <p:spPr>
          <a:xfrm>
            <a:off x="9467850" y="45720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ns2:creationId id="{E738F044-29DE-4375-B298-39C1922AD907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0763250" cy="419100"/>
          </a:xfrm>
          <a:prstGeom prst="roundRect">
            <a:avLst>
              <a:gd name="adj" fmla="val 18182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직사각형 56">
            <a:extLst>
              <a:ext uri="{FF2B5EF4-FFF2-40B4-BE49-F238E27FC236}">
                <ns2:creationId id="{3AB9ED2B-2265-4DD4-85D2-DBED3F154FEE}"/>
              </a:ext>
            </a:extLst>
          </p:cNvPr>
          <p:cNvSpPr>
            <a:spLocks noGrp="1"/>
          </p:cNvSpPr>
          <p:nvPr/>
        </p:nvSpPr>
        <p:spPr>
          <a:xfrm>
            <a:off x="952500" y="5715000"/>
            <a:ext cx="10306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총점으로 합치지 않고, 한쪽만 충족을 설명 대상으로 유지한다.</a:t>
            </a:r>
          </a:p>
        </p:txBody>
      </p:sp>
    </p:spTree>
    <p:extLst>
      <p:ext uri="{BB962C8B-B14F-4D97-AF65-F5344CB8AC3E}">
        <ns3:creationId val="843526194"/>
      </p:ext>
    </p:extLst>
  </p:cSld>
  <p:clrMapOvr>
    <a:masterClrMapping/>
  </p:clrMapOvr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사각형: 둥근 모서리 29">
            <a:extLst>
              <a:ext uri="{FF2B5EF4-FFF2-40B4-BE49-F238E27FC236}">
                <ns2:creationId id="{6E19AD0F-07DE-48E6-9104-40E7CD3B7C0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219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전이 가능성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F4E11769-BB9B-4171-86DB-CCA54A34F1DB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9882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318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가져온 것 셋, 바꾼 것 셋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B7EF3BDB-1E38-4BC6-884F-3AB60C9D6BB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24AF509E-946F-428A-A2C7-3D4A773B3274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2B7D6DE0-843F-4A28-8653-37366E2E5600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219700" cy="4095750"/>
          </a:xfrm>
          <a:prstGeom prst="roundRect">
            <a:avLst>
              <a:gd name="adj" fmla="val 3721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7D4B9E5D-E857-43A5-BDF3-6F25FB380526}"/>
              </a:ext>
            </a:extLst>
          </p:cNvPr>
          <p:cNvSpPr>
            <a:spLocks noGrp="1"/>
          </p:cNvSpPr>
          <p:nvPr/>
        </p:nvSpPr>
        <p:spPr>
          <a:xfrm>
            <a:off x="6286500" y="1619250"/>
            <a:ext cx="5219700" cy="4095750"/>
          </a:xfrm>
          <a:prstGeom prst="roundRect">
            <a:avLst>
              <a:gd name="adj" fmla="val 3721"/>
            </a:avLst>
          </a:prstGeom>
          <a:solidFill>
            <a:srgbClr val="E8F0FE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사각형: 둥근 모서리 7">
            <a:extLst>
              <a:ext uri="{FF2B5EF4-FFF2-40B4-BE49-F238E27FC236}">
                <ns2:creationId id="{EC7FA0F6-8CF7-47AE-87ED-9FC956865FBA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72390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그대로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ns2:creationId id="{83B322D4-27AB-4A97-AC82-598593CC2144}"/>
              </a:ext>
            </a:extLst>
          </p:cNvPr>
          <p:cNvSpPr>
            <a:spLocks noGrp="1"/>
          </p:cNvSpPr>
          <p:nvPr/>
        </p:nvSpPr>
        <p:spPr>
          <a:xfrm>
            <a:off x="6515100" y="1828800"/>
            <a:ext cx="7239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바꿈</a:t>
            </a:r>
          </a:p>
        </p:txBody>
      </p:sp>
      <p:sp>
        <p:nvSpPr>
          <p:cNvPr id="10" name="직사각형 9">
            <a:extLst>
              <a:ext uri="{FF2B5EF4-FFF2-40B4-BE49-F238E27FC236}">
                <ns2:creationId id="{7238A72C-9D80-4501-B0D5-528AA2A6C0D3}"/>
              </a:ext>
            </a:extLst>
          </p:cNvPr>
          <p:cNvSpPr>
            <a:spLocks noGrp="1"/>
          </p:cNvSpPr>
          <p:nvPr/>
        </p:nvSpPr>
        <p:spPr>
          <a:xfrm>
            <a:off x="914400" y="255524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링크 기본·코드 보조</a:t>
            </a:r>
            <a:endParaRPr sz="1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직사각형 10">
            <a:extLst>
              <a:ext uri="{FF2B5EF4-FFF2-40B4-BE49-F238E27FC236}">
                <ns2:creationId id="{E91216E0-8748-4017-8392-5ED4240BB015}"/>
              </a:ext>
            </a:extLst>
          </p:cNvPr>
          <p:cNvSpPr>
            <a:spLocks noGrp="1"/>
          </p:cNvSpPr>
          <p:nvPr/>
        </p:nvSpPr>
        <p:spPr>
          <a:xfrm>
            <a:off x="2667000" y="242189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B는 모바일에서 집들을 먼저 본다</a:t>
            </a:r>
            <a:endParaRPr sz="12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직선 연결선 11">
            <a:extLst>
              <a:ext uri="{FF2B5EF4-FFF2-40B4-BE49-F238E27FC236}">
                <ns2:creationId id="{C78D979D-F7C4-48A1-AC7F-0959076083F3}"/>
              </a:ext>
            </a:extLst>
          </p:cNvPr>
          <p:cNvSpPr>
            <a:spLocks noGrp="1"/>
          </p:cNvSpPr>
          <p:nvPr/>
        </p:nvSpPr>
        <p:spPr>
          <a:xfrm>
            <a:off x="914400" y="307911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3" name="직사각형 12">
            <a:extLst>
              <a:ext uri="{FF2B5EF4-FFF2-40B4-BE49-F238E27FC236}">
                <ns2:creationId id="{DAC276E5-6F5F-416A-A228-07FE54DA411D}"/>
              </a:ext>
            </a:extLst>
          </p:cNvPr>
          <p:cNvSpPr>
            <a:spLocks noGrp="1"/>
          </p:cNvSpPr>
          <p:nvPr/>
        </p:nvSpPr>
        <p:spPr>
          <a:xfrm>
            <a:off x="914400" y="33934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나란히 놓기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CBFCAB63-F745-43FE-8905-C2925F139094}"/>
              </a:ext>
            </a:extLst>
          </p:cNvPr>
          <p:cNvSpPr>
            <a:spLocks noGrp="1"/>
          </p:cNvSpPr>
          <p:nvPr/>
        </p:nvSpPr>
        <p:spPr>
          <a:xfrm>
            <a:off x="2667000" y="3260091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두 사람 칸의 크기와 순서를 똑같이</a:t>
            </a:r>
            <a:endParaRPr sz="12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직선 연결선 14">
            <a:extLst>
              <a:ext uri="{FF2B5EF4-FFF2-40B4-BE49-F238E27FC236}">
                <ns2:creationId id="{91B4D608-5523-44A7-8E24-C4CBCBBA7CF2}"/>
              </a:ext>
            </a:extLst>
          </p:cNvPr>
          <p:cNvSpPr>
            <a:spLocks noGrp="1"/>
          </p:cNvSpPr>
          <p:nvPr/>
        </p:nvSpPr>
        <p:spPr>
          <a:xfrm>
            <a:off x="914400" y="403161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6" name="직사각형 15">
            <a:extLst>
              <a:ext uri="{FF2B5EF4-FFF2-40B4-BE49-F238E27FC236}">
                <ns2:creationId id="{F5B051B7-448F-490A-BD1F-02E458E85A97}"/>
              </a:ext>
            </a:extLst>
          </p:cNvPr>
          <p:cNvSpPr>
            <a:spLocks noGrp="1"/>
          </p:cNvSpPr>
          <p:nvPr/>
        </p:nvSpPr>
        <p:spPr>
          <a:xfrm>
            <a:off x="914400" y="43459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물어보는 순서</a:t>
            </a:r>
            <a:endParaRPr sz="14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직사각형 16">
            <a:extLst>
              <a:ext uri="{FF2B5EF4-FFF2-40B4-BE49-F238E27FC236}">
                <ns2:creationId id="{09CBBE08-89B1-48FF-ADCF-39D022C401E2}"/>
              </a:ext>
            </a:extLst>
          </p:cNvPr>
          <p:cNvSpPr>
            <a:spLocks noGrp="1"/>
          </p:cNvSpPr>
          <p:nvPr/>
        </p:nvSpPr>
        <p:spPr>
          <a:xfrm>
            <a:off x="2667000" y="4212591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예산 → 통근 → 꼭 지킬 조건 → 확인 순서 고정</a:t>
            </a:r>
          </a:p>
        </p:txBody>
      </p:sp>
      <p:sp>
        <p:nvSpPr>
          <p:cNvPr id="18" name="직선 연결선 17">
            <a:extLst>
              <a:ext uri="{FF2B5EF4-FFF2-40B4-BE49-F238E27FC236}">
                <ns2:creationId id="{492E8102-5A45-4A9D-B6D7-72893C141004}"/>
              </a:ext>
            </a:extLst>
          </p:cNvPr>
          <p:cNvSpPr>
            <a:spLocks noGrp="1"/>
          </p:cNvSpPr>
          <p:nvPr/>
        </p:nvSpPr>
        <p:spPr>
          <a:xfrm>
            <a:off x="914400" y="4943475"/>
            <a:ext cx="4762500" cy="0"/>
          </a:xfrm>
          <a:prstGeom prst="line">
            <a:avLst/>
          </a:prstGeom>
          <a:noFill/>
          <a:ln w="9525">
            <a:solidFill>
              <a:srgbClr val="BFE7D0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19" name="직사각형 18">
            <a:extLst>
              <a:ext uri="{FF2B5EF4-FFF2-40B4-BE49-F238E27FC236}">
                <ns2:creationId id="{B5034B31-ECDF-4E02-82B5-AA60FEEE8A6E}"/>
              </a:ext>
            </a:extLst>
          </p:cNvPr>
          <p:cNvSpPr>
            <a:spLocks noGrp="1"/>
          </p:cNvSpPr>
          <p:nvPr/>
        </p:nvSpPr>
        <p:spPr>
          <a:xfrm>
            <a:off x="6515100" y="255524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선택지 열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AF2B5541-04C2-4BA0-AF40-B95391240CCE}"/>
              </a:ext>
            </a:extLst>
          </p:cNvPr>
          <p:cNvSpPr>
            <a:spLocks noGrp="1"/>
          </p:cNvSpPr>
          <p:nvPr/>
        </p:nvSpPr>
        <p:spPr>
          <a:xfrm>
            <a:off x="7706139" y="2421890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열은 사람, 행은 조건으로 바꿔 집 하나의 대가를 비교</a:t>
            </a:r>
            <a:endParaRPr sz="1200" b="0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직선 연결선 20">
            <a:extLst>
              <a:ext uri="{FF2B5EF4-FFF2-40B4-BE49-F238E27FC236}">
                <ns2:creationId id="{0B68262A-953E-4A40-98C7-B5E18E37BDE7}"/>
              </a:ext>
            </a:extLst>
          </p:cNvPr>
          <p:cNvSpPr>
            <a:spLocks noGrp="1"/>
          </p:cNvSpPr>
          <p:nvPr/>
        </p:nvSpPr>
        <p:spPr>
          <a:xfrm>
            <a:off x="6515100" y="307911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2" name="직사각형 21">
            <a:extLst>
              <a:ext uri="{FF2B5EF4-FFF2-40B4-BE49-F238E27FC236}">
                <ns2:creationId id="{BA2BDBC9-5729-471E-B202-75D1D60B5662}"/>
              </a:ext>
            </a:extLst>
          </p:cNvPr>
          <p:cNvSpPr>
            <a:spLocks noGrp="1"/>
          </p:cNvSpPr>
          <p:nvPr/>
        </p:nvSpPr>
        <p:spPr>
          <a:xfrm>
            <a:off x="6515100" y="33934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답 하나로 좁히기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B70BE8F1-A706-42EC-930D-BB56CE651484}"/>
              </a:ext>
            </a:extLst>
          </p:cNvPr>
          <p:cNvSpPr>
            <a:spLocks noGrp="1"/>
          </p:cNvSpPr>
          <p:nvPr/>
        </p:nvSpPr>
        <p:spPr>
          <a:xfrm>
            <a:off x="7706139" y="3260091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상태만 설명하고, 보러 갈 집 2개는 사용자가 선택</a:t>
            </a:r>
          </a:p>
        </p:txBody>
      </p:sp>
      <p:sp>
        <p:nvSpPr>
          <p:cNvPr id="24" name="직선 연결선 23">
            <a:extLst>
              <a:ext uri="{FF2B5EF4-FFF2-40B4-BE49-F238E27FC236}">
                <ns2:creationId id="{3F3ED5CE-4210-4E40-B5C2-20B6FA8E40CC}"/>
              </a:ext>
            </a:extLst>
          </p:cNvPr>
          <p:cNvSpPr>
            <a:spLocks noGrp="1"/>
          </p:cNvSpPr>
          <p:nvPr/>
        </p:nvSpPr>
        <p:spPr>
          <a:xfrm>
            <a:off x="6515100" y="403161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5" name="직사각형 24">
            <a:extLst>
              <a:ext uri="{FF2B5EF4-FFF2-40B4-BE49-F238E27FC236}">
                <ns2:creationId id="{47D84580-4334-4766-A631-1676366036F2}"/>
              </a:ext>
            </a:extLst>
          </p:cNvPr>
          <p:cNvSpPr>
            <a:spLocks noGrp="1"/>
          </p:cNvSpPr>
          <p:nvPr/>
        </p:nvSpPr>
        <p:spPr>
          <a:xfrm>
            <a:off x="6515100" y="4345941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 xml:space="preserve">개인 점수 매기기</a:t>
            </a:r>
          </a:p>
        </p:txBody>
      </p:sp>
      <p:sp>
        <p:nvSpPr>
          <p:cNvPr id="26" name="직사각형 25">
            <a:extLst>
              <a:ext uri="{FF2B5EF4-FFF2-40B4-BE49-F238E27FC236}">
                <ns2:creationId id="{A79D43E8-289A-4F85-946E-6627547C95F4}"/>
              </a:ext>
            </a:extLst>
          </p:cNvPr>
          <p:cNvSpPr>
            <a:spLocks noGrp="1"/>
          </p:cNvSpPr>
          <p:nvPr/>
        </p:nvSpPr>
        <p:spPr>
          <a:xfrm>
            <a:off x="7706139" y="4212591"/>
            <a:ext cx="3419061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조건을 사람에게 저장해 새 매물에도 다시 적용</a:t>
            </a:r>
          </a:p>
        </p:txBody>
      </p:sp>
      <p:sp>
        <p:nvSpPr>
          <p:cNvPr id="27" name="직선 연결선 26">
            <a:extLst>
              <a:ext uri="{FF2B5EF4-FFF2-40B4-BE49-F238E27FC236}">
                <ns2:creationId id="{C38A8F6B-FD79-4EA1-9470-867A6C9BFD76}"/>
              </a:ext>
            </a:extLst>
          </p:cNvPr>
          <p:cNvSpPr>
            <a:spLocks noGrp="1"/>
          </p:cNvSpPr>
          <p:nvPr/>
        </p:nvSpPr>
        <p:spPr>
          <a:xfrm>
            <a:off x="6515100" y="4943475"/>
            <a:ext cx="4762500" cy="0"/>
          </a:xfrm>
          <a:prstGeom prst="line">
            <a:avLst/>
          </a:prstGeom>
          <a:noFill/>
          <a:ln w="9525">
            <a:solidFill>
              <a:srgbClr val="C9D9F8"/>
            </a:solidFill>
            <a:prstDash val="solid"/>
          </a:ln>
        </p:spPr>
        <p:txBody>
          <a:bodyPr anchor="ctr"/>
          <a:lstStyle/>
          <a:p>
            <a:endParaRPr lang="ko-KR" altLang="en-US" sz="2400"/>
          </a:p>
        </p:txBody>
      </p:sp>
      <p:sp>
        <p:nvSpPr>
          <p:cNvPr id="28" name="사각형: 둥근 모서리 27">
            <a:extLst>
              <a:ext uri="{FF2B5EF4-FFF2-40B4-BE49-F238E27FC236}">
                <ns2:creationId id="{908D178F-D910-4283-8057-CDA57FAD4242}"/>
              </a:ext>
            </a:extLst>
          </p:cNvPr>
          <p:cNvSpPr>
            <a:spLocks noGrp="1"/>
          </p:cNvSpPr>
          <p:nvPr/>
        </p:nvSpPr>
        <p:spPr>
          <a:xfrm>
            <a:off x="2971800" y="5886450"/>
            <a:ext cx="62484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ns2:creationId id="{77B524BC-9D12-4388-9641-803D43896CFA}"/>
              </a:ext>
            </a:extLst>
          </p:cNvPr>
          <p:cNvSpPr>
            <a:spLocks noGrp="1"/>
          </p:cNvSpPr>
          <p:nvPr/>
        </p:nvSpPr>
        <p:spPr>
          <a:xfrm>
            <a:off x="3143250" y="5962650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화면을 베끼는 게 아니라, 원리를 우리 상황에 맞게 고칩니다</a:t>
            </a:r>
          </a:p>
        </p:txBody>
      </p:sp>
    </p:spTree>
    <p:extLst>
      <p:ext uri="{BB962C8B-B14F-4D97-AF65-F5344CB8AC3E}">
        <ns3:creationId val="649107641"/>
      </p:ext>
    </p:extLst>
  </p:cSld>
  <p:clrMapOvr>
    <a:masterClrMapping/>
  </p:clrMapOvr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ns2:creationId id="{71B007EA-28CD-416C-9D7C-CB867C4EA8DB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362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전이 · 제외 판단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1EB7EE99-0446-4E7A-B927-62CF28C7883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총점 · 순위 · AI 추천, 셋 다 뺐습니다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FF180D27-C58A-4CBB-A2C7-BB90EBDD730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00A0428E-7450-4F1B-9EF8-0517F8B0FE9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018A29A7-0C61-4010-9678-E49DC65592FC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C3A7A279-D27F-4EC4-8B5C-BF1B79545693}"/>
              </a:ext>
            </a:extLst>
          </p:cNvPr>
          <p:cNvSpPr>
            <a:spLocks noGrp="1"/>
          </p:cNvSpPr>
          <p:nvPr/>
        </p:nvSpPr>
        <p:spPr>
          <a:xfrm>
            <a:off x="9144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83점</a:t>
            </a:r>
          </a:p>
        </p:txBody>
      </p:sp>
      <p:sp>
        <p:nvSpPr>
          <p:cNvPr id="8" name="직선 연결선 7">
            <a:extLst>
              <a:ext uri="{FF2B5EF4-FFF2-40B4-BE49-F238E27FC236}">
                <ns2:creationId id="{E9874F14-F3B8-4807-8611-A583786D4A98}"/>
              </a:ext>
            </a:extLst>
          </p:cNvPr>
          <p:cNvSpPr>
            <a:spLocks noGrp="1"/>
          </p:cNvSpPr>
          <p:nvPr/>
        </p:nvSpPr>
        <p:spPr>
          <a:xfrm>
            <a:off x="10096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ns2:creationId id="{1F866260-68BC-4A54-A786-5BAB20DFC2E5}"/>
              </a:ext>
            </a:extLst>
          </p:cNvPr>
          <p:cNvSpPr>
            <a:spLocks noGrp="1"/>
          </p:cNvSpPr>
          <p:nvPr/>
        </p:nvSpPr>
        <p:spPr>
          <a:xfrm>
            <a:off x="9144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공동</a:t>
            </a: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적합도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ns2:creationId id="{8F657A74-05EC-496C-9779-675B617BA09E}"/>
              </a:ext>
            </a:extLst>
          </p:cNvPr>
          <p:cNvSpPr>
            <a:spLocks noGrp="1"/>
          </p:cNvSpPr>
          <p:nvPr/>
        </p:nvSpPr>
        <p:spPr>
          <a:xfrm>
            <a:off x="9144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누가 양보했는지 사라짐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C6AEC967-EC70-4653-80BF-CAED27413B65}"/>
              </a:ext>
            </a:extLst>
          </p:cNvPr>
          <p:cNvSpPr>
            <a:spLocks noGrp="1"/>
          </p:cNvSpPr>
          <p:nvPr/>
        </p:nvSpPr>
        <p:spPr>
          <a:xfrm>
            <a:off x="29908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ns2:creationId id="{1AF157C6-E20A-452B-94E6-CAB5C511BFC9}"/>
              </a:ext>
            </a:extLst>
          </p:cNvPr>
          <p:cNvSpPr>
            <a:spLocks noGrp="1"/>
          </p:cNvSpPr>
          <p:nvPr/>
        </p:nvSpPr>
        <p:spPr>
          <a:xfrm>
            <a:off x="31623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1위</a:t>
            </a:r>
          </a:p>
        </p:txBody>
      </p:sp>
      <p:sp>
        <p:nvSpPr>
          <p:cNvPr id="13" name="직선 연결선 12">
            <a:extLst>
              <a:ext uri="{FF2B5EF4-FFF2-40B4-BE49-F238E27FC236}">
                <ns2:creationId id="{4CA7BA45-AE5E-4C92-9579-3D52E878B56D}"/>
              </a:ext>
            </a:extLst>
          </p:cNvPr>
          <p:cNvSpPr>
            <a:spLocks noGrp="1"/>
          </p:cNvSpPr>
          <p:nvPr/>
        </p:nvSpPr>
        <p:spPr>
          <a:xfrm>
            <a:off x="32575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ns2:creationId id="{879DF851-85EA-4FFE-AE3E-E92EEE88C45E}"/>
              </a:ext>
            </a:extLst>
          </p:cNvPr>
          <p:cNvSpPr>
            <a:spLocks noGrp="1"/>
          </p:cNvSpPr>
          <p:nvPr/>
        </p:nvSpPr>
        <p:spPr>
          <a:xfrm>
            <a:off x="31623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순위를 합산하는 방식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FAAC49D4-8302-43F6-A384-416B844F36EE}"/>
              </a:ext>
            </a:extLst>
          </p:cNvPr>
          <p:cNvSpPr>
            <a:spLocks noGrp="1"/>
          </p:cNvSpPr>
          <p:nvPr/>
        </p:nvSpPr>
        <p:spPr>
          <a:xfrm>
            <a:off x="31623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이기고 지는 구도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AB03BB6B-6F84-425C-A382-788E1B90909A}"/>
              </a:ext>
            </a:extLst>
          </p:cNvPr>
          <p:cNvSpPr>
            <a:spLocks noGrp="1"/>
          </p:cNvSpPr>
          <p:nvPr/>
        </p:nvSpPr>
        <p:spPr>
          <a:xfrm>
            <a:off x="5238750" y="1714500"/>
            <a:ext cx="2000250" cy="1352550"/>
          </a:xfrm>
          <a:prstGeom prst="roundRect">
            <a:avLst>
              <a:gd name="adj" fmla="val 9859"/>
            </a:avLst>
          </a:prstGeom>
          <a:solidFill>
            <a:srgbClr val="FBE8E8"/>
          </a:solidFill>
          <a:ln w="952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ns2:creationId id="{89E6AB50-3C60-4ADA-8683-94166C3A19C5}"/>
              </a:ext>
            </a:extLst>
          </p:cNvPr>
          <p:cNvSpPr>
            <a:spLocks noGrp="1"/>
          </p:cNvSpPr>
          <p:nvPr/>
        </p:nvSpPr>
        <p:spPr>
          <a:xfrm>
            <a:off x="5410200" y="1914525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2800" b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>AI PICK</a:t>
            </a:r>
          </a:p>
        </p:txBody>
      </p:sp>
      <p:sp>
        <p:nvSpPr>
          <p:cNvPr id="18" name="직선 연결선 17">
            <a:extLst>
              <a:ext uri="{FF2B5EF4-FFF2-40B4-BE49-F238E27FC236}">
                <ns2:creationId id="{87333624-E072-491D-840E-32DE105D6820}"/>
              </a:ext>
            </a:extLst>
          </p:cNvPr>
          <p:cNvSpPr>
            <a:spLocks noGrp="1"/>
          </p:cNvSpPr>
          <p:nvPr/>
        </p:nvSpPr>
        <p:spPr>
          <a:xfrm>
            <a:off x="5505450" y="2352675"/>
            <a:ext cx="1466850" cy="0"/>
          </a:xfrm>
          <a:prstGeom prst="line">
            <a:avLst/>
          </a:prstGeom>
          <a:noFill/>
          <a:ln w="28575">
            <a:solidFill>
              <a:srgbClr val="B43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ns2:creationId id="{2B17E916-0B57-4B16-BC73-6B2D2B034654}"/>
              </a:ext>
            </a:extLst>
          </p:cNvPr>
          <p:cNvSpPr>
            <a:spLocks noGrp="1"/>
          </p:cNvSpPr>
          <p:nvPr/>
        </p:nvSpPr>
        <p:spPr>
          <a:xfrm>
            <a:off x="5410200" y="249555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자동 최적 타협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B0F1144F-DCF6-4AA1-826C-79A997D98A55}"/>
              </a:ext>
            </a:extLst>
          </p:cNvPr>
          <p:cNvSpPr>
            <a:spLocks noGrp="1"/>
          </p:cNvSpPr>
          <p:nvPr/>
        </p:nvSpPr>
        <p:spPr>
          <a:xfrm>
            <a:off x="5410200" y="2781300"/>
            <a:ext cx="1657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대신 판단해 버림</a:t>
            </a:r>
          </a:p>
        </p:txBody>
      </p:sp>
      <p:sp>
        <p:nvSpPr>
          <p:cNvPr id="21" name="화살표: 오른쪽 20">
            <a:extLst>
              <a:ext uri="{FF2B5EF4-FFF2-40B4-BE49-F238E27FC236}">
                <ns2:creationId id="{32001A19-A74F-4E94-B22E-0C4F0DBE2CD5}"/>
              </a:ext>
            </a:extLst>
          </p:cNvPr>
          <p:cNvSpPr>
            <a:spLocks noGrp="1"/>
          </p:cNvSpPr>
          <p:nvPr/>
        </p:nvSpPr>
        <p:spPr>
          <a:xfrm>
            <a:off x="7543800" y="2247900"/>
            <a:ext cx="742950" cy="2286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ns2:creationId id="{D76EBD74-1F2A-478F-A1E0-BC943BD22FFD}"/>
              </a:ext>
            </a:extLst>
          </p:cNvPr>
          <p:cNvSpPr>
            <a:spLocks noGrp="1"/>
          </p:cNvSpPr>
          <p:nvPr/>
        </p:nvSpPr>
        <p:spPr>
          <a:xfrm>
            <a:off x="8515350" y="1581150"/>
            <a:ext cx="2971800" cy="1714500"/>
          </a:xfrm>
          <a:prstGeom prst="roundRect">
            <a:avLst>
              <a:gd name="adj" fmla="val 8889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ns2:creationId id="{9E046364-A653-43A9-A98E-FC98C51EEFDB}"/>
              </a:ext>
            </a:extLst>
          </p:cNvPr>
          <p:cNvSpPr>
            <a:spLocks noGrp="1"/>
          </p:cNvSpPr>
          <p:nvPr/>
        </p:nvSpPr>
        <p:spPr>
          <a:xfrm>
            <a:off x="8743950" y="17907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대신 이렇게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5BB13BB2-26D0-41C6-BD7C-182522281533}"/>
              </a:ext>
            </a:extLst>
          </p:cNvPr>
          <p:cNvSpPr>
            <a:spLocks noGrp="1"/>
          </p:cNvSpPr>
          <p:nvPr/>
        </p:nvSpPr>
        <p:spPr>
          <a:xfrm>
            <a:off x="8743950" y="208597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 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충족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+13분</a:t>
            </a:r>
          </a:p>
        </p:txBody>
      </p:sp>
      <p:sp>
        <p:nvSpPr>
          <p:cNvPr id="25" name="직사각형 24">
            <a:extLst>
              <a:ext uri="{FF2B5EF4-FFF2-40B4-BE49-F238E27FC236}">
                <ns2:creationId id="{EE7E65D5-B908-4EF8-A707-A5240A815411}"/>
              </a:ext>
            </a:extLst>
          </p:cNvPr>
          <p:cNvSpPr>
            <a:spLocks noGrp="1"/>
          </p:cNvSpPr>
          <p:nvPr/>
        </p:nvSpPr>
        <p:spPr>
          <a:xfrm>
            <a:off x="8743950" y="2486025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 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충족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주차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확인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직사각형 25">
            <a:extLst>
              <a:ext uri="{FF2B5EF4-FFF2-40B4-BE49-F238E27FC236}">
                <ns2:creationId id="{CA889928-9A58-44BB-90FE-73B0B16BDA8D}"/>
              </a:ext>
            </a:extLst>
          </p:cNvPr>
          <p:cNvSpPr>
            <a:spLocks noGrp="1"/>
          </p:cNvSpPr>
          <p:nvPr/>
        </p:nvSpPr>
        <p:spPr>
          <a:xfrm>
            <a:off x="8743950" y="2867025"/>
            <a:ext cx="2514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실제값 · 기준값 · 미달량</a:t>
            </a:r>
            <a:endParaRPr sz="1050" b="0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7" name="직사각형 26">
            <a:extLst>
              <a:ext uri="{FF2B5EF4-FFF2-40B4-BE49-F238E27FC236}">
                <ns2:creationId id="{A96AFC29-7C52-4813-9B08-09890E4AC406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최소 만족 기준 탈락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C3407ED3-AC99-4A95-975C-99352A9D212E}"/>
              </a:ext>
            </a:extLst>
          </p:cNvPr>
          <p:cNvSpPr>
            <a:spLocks noGrp="1"/>
          </p:cNvSpPr>
          <p:nvPr/>
        </p:nvSpPr>
        <p:spPr>
          <a:xfrm>
            <a:off x="3543300" y="37147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한쪽만 충족을 설명 대상으로 유지</a:t>
            </a:r>
            <a:endParaRPr sz="11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직선 연결선 28">
            <a:extLst>
              <a:ext uri="{FF2B5EF4-FFF2-40B4-BE49-F238E27FC236}">
                <ns2:creationId id="{BF778DCE-5D2E-4FB3-8E6C-2F27A05C095C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ns2:creationId id="{2AFD9441-F9AE-474C-917D-F4CE5A7AF947}"/>
              </a:ext>
            </a:extLst>
          </p:cNvPr>
          <p:cNvSpPr>
            <a:spLocks noGrp="1"/>
          </p:cNvSpPr>
          <p:nvPr/>
        </p:nvSpPr>
        <p:spPr>
          <a:xfrm>
            <a:off x="781050" y="42291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투표·순위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13B6456D-C7EF-4B87-8B12-D71AD4588955}"/>
              </a:ext>
            </a:extLst>
          </p:cNvPr>
          <p:cNvSpPr>
            <a:spLocks noGrp="1"/>
          </p:cNvSpPr>
          <p:nvPr/>
        </p:nvSpPr>
        <p:spPr>
          <a:xfrm>
            <a:off x="3543300" y="422910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각자 2개 선택 → 겹치면 확정, 아니면 각자 하나씩</a:t>
            </a:r>
          </a:p>
        </p:txBody>
      </p:sp>
      <p:sp>
        <p:nvSpPr>
          <p:cNvPr id="32" name="직선 연결선 31">
            <a:extLst>
              <a:ext uri="{FF2B5EF4-FFF2-40B4-BE49-F238E27FC236}">
                <ns2:creationId id="{617FD7EB-3351-4443-9DDC-DFE1F3ACF013}"/>
              </a:ext>
            </a:extLst>
          </p:cNvPr>
          <p:cNvSpPr>
            <a:spLocks noGrp="1"/>
          </p:cNvSpPr>
          <p:nvPr/>
        </p:nvSpPr>
        <p:spPr>
          <a:xfrm>
            <a:off x="781050" y="462915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ns2:creationId id="{6FED440D-3739-41C6-936A-627BB74945B3}"/>
              </a:ext>
            </a:extLst>
          </p:cNvPr>
          <p:cNvSpPr>
            <a:spLocks noGrp="1"/>
          </p:cNvSpPr>
          <p:nvPr/>
        </p:nvSpPr>
        <p:spPr>
          <a:xfrm>
            <a:off x="781050" y="47434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통근 시간대로 지도에서 집을 찾아주는 것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E21B4C9A-A2F9-485A-8829-CF5DAB172817}"/>
              </a:ext>
            </a:extLst>
          </p:cNvPr>
          <p:cNvSpPr>
            <a:spLocks noGrp="1"/>
          </p:cNvSpPr>
          <p:nvPr/>
        </p:nvSpPr>
        <p:spPr>
          <a:xfrm>
            <a:off x="3543300" y="47434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출근지는 대조 조건 중 하나일 뿐</a:t>
            </a:r>
          </a:p>
        </p:txBody>
      </p:sp>
      <p:sp>
        <p:nvSpPr>
          <p:cNvPr id="35" name="직선 연결선 34">
            <a:extLst>
              <a:ext uri="{FF2B5EF4-FFF2-40B4-BE49-F238E27FC236}">
                <ns2:creationId id="{B7BD78D2-DF5D-4445-BC00-6713B2C28EAE}"/>
              </a:ext>
            </a:extLst>
          </p:cNvPr>
          <p:cNvSpPr>
            <a:spLocks noGrp="1"/>
          </p:cNvSpPr>
          <p:nvPr/>
        </p:nvSpPr>
        <p:spPr>
          <a:xfrm>
            <a:off x="781050" y="514350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ns2:creationId id="{E055EAA1-C43B-4A30-96C1-B4E62CDA6429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사진을 평가 근거로</a:t>
            </a:r>
          </a:p>
        </p:txBody>
      </p:sp>
      <p:sp>
        <p:nvSpPr>
          <p:cNvPr id="37" name="직사각형 36">
            <a:extLst>
              <a:ext uri="{FF2B5EF4-FFF2-40B4-BE49-F238E27FC236}">
                <ns2:creationId id="{AA851AF8-E902-4DFA-9C0B-A67BF6A51110}"/>
              </a:ext>
            </a:extLst>
          </p:cNvPr>
          <p:cNvSpPr>
            <a:spLocks noGrp="1"/>
          </p:cNvSpPr>
          <p:nvPr/>
        </p:nvSpPr>
        <p:spPr>
          <a:xfrm>
            <a:off x="3543300" y="525780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어떤 집인지 알아볼 정도만 · 범위는 미정</a:t>
            </a:r>
          </a:p>
        </p:txBody>
      </p:sp>
      <p:sp>
        <p:nvSpPr>
          <p:cNvPr id="38" name="직선 연결선 37">
            <a:extLst>
              <a:ext uri="{FF2B5EF4-FFF2-40B4-BE49-F238E27FC236}">
                <ns2:creationId id="{E829EE85-B58B-4CD5-9EEF-55AE0A18D121}"/>
              </a:ext>
            </a:extLst>
          </p:cNvPr>
          <p:cNvSpPr>
            <a:spLocks noGrp="1"/>
          </p:cNvSpPr>
          <p:nvPr/>
        </p:nvSpPr>
        <p:spPr>
          <a:xfrm>
            <a:off x="781050" y="5657850"/>
            <a:ext cx="102870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사각형: 둥근 모서리 38">
            <a:extLst>
              <a:ext uri="{FF2B5EF4-FFF2-40B4-BE49-F238E27FC236}">
                <ns2:creationId id="{D198C816-9E32-48FE-9E76-BB2B61E037AA}"/>
              </a:ext>
            </a:extLst>
          </p:cNvPr>
          <p:cNvSpPr>
            <a:spLocks noGrp="1"/>
          </p:cNvSpPr>
          <p:nvPr/>
        </p:nvSpPr>
        <p:spPr>
          <a:xfrm>
            <a:off x="9906000" y="5400675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사진 미정</a:t>
            </a:r>
          </a:p>
        </p:txBody>
      </p:sp>
    </p:spTree>
    <p:extLst>
      <p:ext uri="{BB962C8B-B14F-4D97-AF65-F5344CB8AC3E}">
        <ns3:creationId val="1764460282"/>
      </p:ext>
    </p:extLst>
  </p:cSld>
  <p:clrMapOvr>
    <a:masterClrMapping/>
  </p:clrMapOvr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52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19">
            <a:extLst>
              <a:ext uri="{FF2B5EF4-FFF2-40B4-BE49-F238E27FC236}">
                <ns2:creationId id="{5BC34129-8F5F-4BC5-865C-827F0753429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247900" cy="247650"/>
          </a:xfrm>
          <a:prstGeom prst="roundRect">
            <a:avLst>
              <a:gd name="adj" fmla="val 50000"/>
            </a:avLst>
          </a:prstGeom>
          <a:solidFill>
            <a:srgbClr val="294338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Value Proposition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E2113F86-1F38-435F-B164-00B7EBF08B5B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한 문장으로 하면</a:t>
            </a:r>
            <a:endParaRPr sz="27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F3F4D29D-F984-4B21-842D-0F4F4A999068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00FB79C0-205B-471E-8B57-B054FD9070A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E666C5CF-3C89-4DED-941D-C836A5529045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86"/>
          </a:bodyPr>
          <a:lstStyle/>
          <a:p>
            <a:pPr algn="l">
              <a:defRPr sz="63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63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“</a:t>
            </a:r>
          </a:p>
        </p:txBody>
      </p:sp>
      <p:sp>
        <p:nvSpPr>
          <p:cNvPr id="7" name="직사각형 6">
            <a:extLst>
              <a:ext uri="{FF2B5EF4-FFF2-40B4-BE49-F238E27FC236}">
                <ns2:creationId id="{AAB6747F-92D2-4D6A-A0DE-2A8A13FC3A40}"/>
              </a:ext>
            </a:extLst>
          </p:cNvPr>
          <p:cNvSpPr>
            <a:spLocks noGrp="1"/>
          </p:cNvSpPr>
          <p:nvPr/>
        </p:nvSpPr>
        <p:spPr>
          <a:xfrm>
            <a:off x="1504950" y="1714500"/>
            <a:ext cx="9105900" cy="198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살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집을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구하는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두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사람이</a:t>
            </a:r>
            <a:endParaRPr sz="255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관심매물별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충돌과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지점을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한눈에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확인하고</a:t>
            </a:r>
            <a:r>
              <a:rPr sz="255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,</a:t>
            </a:r>
          </a:p>
          <a:p>
            <a:pPr algn="ctr"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서로 납득할 방문 후보를 정하도록 돕는 네이버 기능.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ns2:creationId id="{B2EB63D4-F630-4FD3-A1EE-DBACE7663572}"/>
              </a:ext>
            </a:extLst>
          </p:cNvPr>
          <p:cNvSpPr>
            <a:spLocks noGrp="1"/>
          </p:cNvSpPr>
          <p:nvPr/>
        </p:nvSpPr>
        <p:spPr>
          <a:xfrm>
            <a:off x="11811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0342A"/>
          </a:solidFill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ns2:creationId id="{E12F3016-C615-4064-A23A-42E730D6E6A1}"/>
              </a:ext>
            </a:extLst>
          </p:cNvPr>
          <p:cNvSpPr>
            <a:spLocks noGrp="1"/>
          </p:cNvSpPr>
          <p:nvPr/>
        </p:nvSpPr>
        <p:spPr>
          <a:xfrm>
            <a:off x="13525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조건</a:t>
            </a:r>
            <a:r>
              <a:rPr sz="1425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25" b="1" dirty="0" err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충돌</a:t>
            </a:r>
            <a:endParaRPr sz="1425" b="1" dirty="0">
              <a:solidFill>
                <a:srgbClr val="8DF0B5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ns2:creationId id="{83784A18-E9EA-4B5B-9B66-6F77D7C0A3E6}"/>
              </a:ext>
            </a:extLst>
          </p:cNvPr>
          <p:cNvSpPr>
            <a:spLocks noGrp="1"/>
          </p:cNvSpPr>
          <p:nvPr/>
        </p:nvSpPr>
        <p:spPr>
          <a:xfrm>
            <a:off x="13525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 xml:space="preserve">누구의 무엇이 어긋나는가</a:t>
            </a:r>
            <a:endParaRPr sz="1050" b="0" dirty="0">
              <a:solidFill>
                <a:srgbClr val="CFDBD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ns2:creationId id="{0E1C3901-70CD-41F1-8729-C194E4B82BC3}"/>
              </a:ext>
            </a:extLst>
          </p:cNvPr>
          <p:cNvSpPr>
            <a:spLocks noGrp="1"/>
          </p:cNvSpPr>
          <p:nvPr/>
        </p:nvSpPr>
        <p:spPr>
          <a:xfrm>
            <a:off x="4133850" y="4610100"/>
            <a:ext cx="3429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ns2:creationId id="{122C740E-E3B2-4EEE-8652-335BCBF15B0B}"/>
              </a:ext>
            </a:extLst>
          </p:cNvPr>
          <p:cNvSpPr>
            <a:spLocks noGrp="1"/>
          </p:cNvSpPr>
          <p:nvPr/>
        </p:nvSpPr>
        <p:spPr>
          <a:xfrm>
            <a:off x="45720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94338"/>
          </a:solidFill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ns2:creationId id="{CCEB390D-B3A0-4328-9262-4AC9FF980A94}"/>
              </a:ext>
            </a:extLst>
          </p:cNvPr>
          <p:cNvSpPr>
            <a:spLocks noGrp="1"/>
          </p:cNvSpPr>
          <p:nvPr/>
        </p:nvSpPr>
        <p:spPr>
          <a:xfrm>
            <a:off x="47434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>양보 지점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0FFD1A8E-3080-4194-8362-FF4E1D855EBC}"/>
              </a:ext>
            </a:extLst>
          </p:cNvPr>
          <p:cNvSpPr>
            <a:spLocks noGrp="1"/>
          </p:cNvSpPr>
          <p:nvPr/>
        </p:nvSpPr>
        <p:spPr>
          <a:xfrm>
            <a:off x="47434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 xml:space="preserve">무엇을 얼마나 감수하는가</a:t>
            </a:r>
          </a:p>
        </p:txBody>
      </p:sp>
      <p:sp>
        <p:nvSpPr>
          <p:cNvPr id="15" name="화살표: 오른쪽 14">
            <a:extLst>
              <a:ext uri="{FF2B5EF4-FFF2-40B4-BE49-F238E27FC236}">
                <ns2:creationId id="{303C873A-9EEE-4F7C-84C8-FB7720083913}"/>
              </a:ext>
            </a:extLst>
          </p:cNvPr>
          <p:cNvSpPr>
            <a:spLocks noGrp="1"/>
          </p:cNvSpPr>
          <p:nvPr/>
        </p:nvSpPr>
        <p:spPr>
          <a:xfrm>
            <a:off x="7524750" y="4610100"/>
            <a:ext cx="342900" cy="17145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ns2:creationId id="{7BDBA7C2-72F1-4E38-B4F3-FBAE876A5D94}"/>
              </a:ext>
            </a:extLst>
          </p:cNvPr>
          <p:cNvSpPr>
            <a:spLocks noGrp="1"/>
          </p:cNvSpPr>
          <p:nvPr/>
        </p:nvSpPr>
        <p:spPr>
          <a:xfrm>
            <a:off x="7962900" y="4210050"/>
            <a:ext cx="2857500" cy="1028700"/>
          </a:xfrm>
          <a:prstGeom prst="roundRect">
            <a:avLst>
              <a:gd name="adj" fmla="val 11111"/>
            </a:avLst>
          </a:prstGeom>
          <a:solidFill>
            <a:srgbClr val="20342A"/>
          </a:solidFill>
          <a:ln w="9525">
            <a:solidFill>
              <a:srgbClr val="3850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ns2:creationId id="{736D5711-6C55-4E84-BFBA-6CE19785E095}"/>
              </a:ext>
            </a:extLst>
          </p:cNvPr>
          <p:cNvSpPr>
            <a:spLocks noGrp="1"/>
          </p:cNvSpPr>
          <p:nvPr/>
        </p:nvSpPr>
        <p:spPr>
          <a:xfrm>
            <a:off x="8134350" y="440055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보러 갈 집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7BAA3ADE-641B-4B9C-96BD-BEF2FC9A3BB9}"/>
              </a:ext>
            </a:extLst>
          </p:cNvPr>
          <p:cNvSpPr>
            <a:spLocks noGrp="1"/>
          </p:cNvSpPr>
          <p:nvPr/>
        </p:nvSpPr>
        <p:spPr>
          <a:xfrm>
            <a:off x="8134350" y="48006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CFDBD4"/>
                </a:solidFill>
                <a:latin typeface="Noto Sans KR"/>
                <a:ea typeface="Noto Sans KR"/>
                <a:cs typeface="Noto Sans KR"/>
              </a:rPr>
              <a:t xml:space="preserve">알고도 둘이 선택하는가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A21D2C0A-A37D-404F-A670-8B8B2D8ADFAA}"/>
              </a:ext>
            </a:extLst>
          </p:cNvPr>
          <p:cNvSpPr>
            <a:spLocks noGrp="1"/>
          </p:cNvSpPr>
          <p:nvPr/>
        </p:nvSpPr>
        <p:spPr>
          <a:xfrm>
            <a:off x="1809750" y="57150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한 줄로 하면 — 각자의 조건과 양보 지점을 보고, 함께 보러 갈 집을 정합니다.</a:t>
            </a:r>
          </a:p>
        </p:txBody>
      </p:sp>
    </p:spTree>
    <p:extLst>
      <p:ext uri="{BB962C8B-B14F-4D97-AF65-F5344CB8AC3E}">
        <ns3:creationId val="1389870649"/>
      </p:ext>
    </p:extLst>
  </p:cSld>
  <p:clrMapOvr>
    <a:masterClrMapping/>
  </p:clrMapOvr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사각형: 둥근 모서리 56">
            <a:extLst>
              <a:ext uri="{FF2B5EF4-FFF2-40B4-BE49-F238E27FC236}">
                <ns2:creationId id="{A5F2CBAF-5011-477A-AF63-593373D6A7B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To-Be Concept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0054A5A5-520E-4A0C-97F4-F493ADB611D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저장한 5개가 보러 갈 2개가 됩니다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BB58036A-7342-40C9-962A-BDAD8486C160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D8324768-9C87-4C97-A96C-6B254CECABD3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40F8310D-530E-4C41-A9A4-6A3FBD42491D}"/>
              </a:ext>
            </a:extLst>
          </p:cNvPr>
          <p:cNvSpPr>
            <a:spLocks noGrp="1"/>
          </p:cNvSpPr>
          <p:nvPr/>
        </p:nvSpPr>
        <p:spPr>
          <a:xfrm>
            <a:off x="7429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3A80ED5D-C8E6-46E7-9281-E8C8472F252B}"/>
              </a:ext>
            </a:extLst>
          </p:cNvPr>
          <p:cNvSpPr>
            <a:spLocks noGrp="1"/>
          </p:cNvSpPr>
          <p:nvPr/>
        </p:nvSpPr>
        <p:spPr>
          <a:xfrm>
            <a:off x="8191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선 연결선 7">
            <a:extLst>
              <a:ext uri="{FF2B5EF4-FFF2-40B4-BE49-F238E27FC236}">
                <ns2:creationId id="{7DB27A30-B8A2-47A8-849F-FD3F7CAA2552}"/>
              </a:ext>
            </a:extLst>
          </p:cNvPr>
          <p:cNvSpPr>
            <a:spLocks noGrp="1"/>
          </p:cNvSpPr>
          <p:nvPr/>
        </p:nvSpPr>
        <p:spPr>
          <a:xfrm>
            <a:off x="8286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사각형: 둥근 모서리 8">
            <a:extLst>
              <a:ext uri="{FF2B5EF4-FFF2-40B4-BE49-F238E27FC236}">
                <ns2:creationId id="{D464C9C8-60AD-43BD-B173-7B1A71D9D045}"/>
              </a:ext>
            </a:extLst>
          </p:cNvPr>
          <p:cNvSpPr>
            <a:spLocks noGrp="1"/>
          </p:cNvSpPr>
          <p:nvPr/>
        </p:nvSpPr>
        <p:spPr>
          <a:xfrm>
            <a:off x="1409700" y="18764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ns2:creationId id="{0C03F084-DCDE-42CF-B0D9-C96CED174428}"/>
              </a:ext>
            </a:extLst>
          </p:cNvPr>
          <p:cNvSpPr>
            <a:spLocks noGrp="1"/>
          </p:cNvSpPr>
          <p:nvPr/>
        </p:nvSpPr>
        <p:spPr>
          <a:xfrm>
            <a:off x="1485900" y="19621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선 연결선 10">
            <a:extLst>
              <a:ext uri="{FF2B5EF4-FFF2-40B4-BE49-F238E27FC236}">
                <ns2:creationId id="{D8CE6A05-F0EF-4350-8597-D4EA7F4C3507}"/>
              </a:ext>
            </a:extLst>
          </p:cNvPr>
          <p:cNvSpPr>
            <a:spLocks noGrp="1"/>
          </p:cNvSpPr>
          <p:nvPr/>
        </p:nvSpPr>
        <p:spPr>
          <a:xfrm>
            <a:off x="1495425" y="22669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ns2:creationId id="{867626CD-402D-4609-A1BA-523F238676C5}"/>
              </a:ext>
            </a:extLst>
          </p:cNvPr>
          <p:cNvSpPr>
            <a:spLocks noGrp="1"/>
          </p:cNvSpPr>
          <p:nvPr/>
        </p:nvSpPr>
        <p:spPr>
          <a:xfrm>
            <a:off x="20764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ns2:creationId id="{01D3D4ED-0794-4A68-BF15-5D105D50E334}"/>
              </a:ext>
            </a:extLst>
          </p:cNvPr>
          <p:cNvSpPr>
            <a:spLocks noGrp="1"/>
          </p:cNvSpPr>
          <p:nvPr/>
        </p:nvSpPr>
        <p:spPr>
          <a:xfrm>
            <a:off x="21526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선 연결선 13">
            <a:extLst>
              <a:ext uri="{FF2B5EF4-FFF2-40B4-BE49-F238E27FC236}">
                <ns2:creationId id="{2F34851A-2562-4853-A007-75E2012856A0}"/>
              </a:ext>
            </a:extLst>
          </p:cNvPr>
          <p:cNvSpPr>
            <a:spLocks noGrp="1"/>
          </p:cNvSpPr>
          <p:nvPr/>
        </p:nvSpPr>
        <p:spPr>
          <a:xfrm>
            <a:off x="21621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ns2:creationId id="{CCCE234F-BA68-4660-8C3F-CD3743FFF47C}"/>
              </a:ext>
            </a:extLst>
          </p:cNvPr>
          <p:cNvSpPr>
            <a:spLocks noGrp="1"/>
          </p:cNvSpPr>
          <p:nvPr/>
        </p:nvSpPr>
        <p:spPr>
          <a:xfrm>
            <a:off x="2743200" y="18764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ns2:creationId id="{A3E45693-7654-42E0-A91A-09C44C013E08}"/>
              </a:ext>
            </a:extLst>
          </p:cNvPr>
          <p:cNvSpPr>
            <a:spLocks noGrp="1"/>
          </p:cNvSpPr>
          <p:nvPr/>
        </p:nvSpPr>
        <p:spPr>
          <a:xfrm>
            <a:off x="2819400" y="19621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선 연결선 16">
            <a:extLst>
              <a:ext uri="{FF2B5EF4-FFF2-40B4-BE49-F238E27FC236}">
                <ns2:creationId id="{C1F939EB-6F05-4E08-BCFB-8266B4814553}"/>
              </a:ext>
            </a:extLst>
          </p:cNvPr>
          <p:cNvSpPr>
            <a:spLocks noGrp="1"/>
          </p:cNvSpPr>
          <p:nvPr/>
        </p:nvSpPr>
        <p:spPr>
          <a:xfrm>
            <a:off x="2828925" y="22669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ns2:creationId id="{F131BF5C-26B7-4E87-84FD-B26D6873145C}"/>
              </a:ext>
            </a:extLst>
          </p:cNvPr>
          <p:cNvSpPr>
            <a:spLocks noGrp="1"/>
          </p:cNvSpPr>
          <p:nvPr/>
        </p:nvSpPr>
        <p:spPr>
          <a:xfrm>
            <a:off x="3409950" y="1762125"/>
            <a:ext cx="514350" cy="70485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ns2:creationId id="{E0522D17-D2B6-44EE-95C4-AC21256A3854}"/>
              </a:ext>
            </a:extLst>
          </p:cNvPr>
          <p:cNvSpPr>
            <a:spLocks noGrp="1"/>
          </p:cNvSpPr>
          <p:nvPr/>
        </p:nvSpPr>
        <p:spPr>
          <a:xfrm>
            <a:off x="3486150" y="1847850"/>
            <a:ext cx="361950" cy="209550"/>
          </a:xfrm>
          <a:prstGeom prst="roundRect">
            <a:avLst>
              <a:gd name="adj" fmla="val 18182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선 연결선 19">
            <a:extLst>
              <a:ext uri="{FF2B5EF4-FFF2-40B4-BE49-F238E27FC236}">
                <ns2:creationId id="{2233F965-041F-44E2-8696-AD6394AE93E1}"/>
              </a:ext>
            </a:extLst>
          </p:cNvPr>
          <p:cNvSpPr>
            <a:spLocks noGrp="1"/>
          </p:cNvSpPr>
          <p:nvPr/>
        </p:nvSpPr>
        <p:spPr>
          <a:xfrm>
            <a:off x="3495675" y="2152650"/>
            <a:ext cx="3429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ns2:creationId id="{9AC56D8C-FFB0-4BF2-BF5A-CDF4F42A04BF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관심매물 최대 5개</a:t>
            </a:r>
          </a:p>
        </p:txBody>
      </p:sp>
      <p:sp>
        <p:nvSpPr>
          <p:cNvPr id="22" name="화살표: 오른쪽 21">
            <a:extLst>
              <a:ext uri="{FF2B5EF4-FFF2-40B4-BE49-F238E27FC236}">
                <ns2:creationId id="{C9FBDDB7-08BA-4D51-95BF-D0C0EA518169}"/>
              </a:ext>
            </a:extLst>
          </p:cNvPr>
          <p:cNvSpPr>
            <a:spLocks noGrp="1"/>
          </p:cNvSpPr>
          <p:nvPr/>
        </p:nvSpPr>
        <p:spPr>
          <a:xfrm>
            <a:off x="4152900" y="2095500"/>
            <a:ext cx="6858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사각형: 둥근 모서리 22">
            <a:extLst>
              <a:ext uri="{FF2B5EF4-FFF2-40B4-BE49-F238E27FC236}">
                <ns2:creationId id="{3E1B299C-F435-4FD1-B6AF-F5C806C8EE2C}"/>
              </a:ext>
            </a:extLst>
          </p:cNvPr>
          <p:cNvSpPr>
            <a:spLocks noGrp="1"/>
          </p:cNvSpPr>
          <p:nvPr/>
        </p:nvSpPr>
        <p:spPr>
          <a:xfrm>
            <a:off x="5067300" y="1619250"/>
            <a:ext cx="3810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ns2:creationId id="{31980CC2-9B4A-468E-9DBA-5575250B54B0}"/>
              </a:ext>
            </a:extLst>
          </p:cNvPr>
          <p:cNvSpPr>
            <a:spLocks noGrp="1"/>
          </p:cNvSpPr>
          <p:nvPr/>
        </p:nvSpPr>
        <p:spPr>
          <a:xfrm>
            <a:off x="5257800" y="1809750"/>
            <a:ext cx="100965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사람별 조건</a:t>
            </a:r>
          </a:p>
        </p:txBody>
      </p:sp>
      <p:sp>
        <p:nvSpPr>
          <p:cNvPr id="25" name="직사각형 24">
            <a:extLst>
              <a:ext uri="{FF2B5EF4-FFF2-40B4-BE49-F238E27FC236}">
                <ns2:creationId id="{8BEBD065-C339-4F61-B176-FADE54F5CA60}"/>
              </a:ext>
            </a:extLst>
          </p:cNvPr>
          <p:cNvSpPr>
            <a:spLocks noGrp="1"/>
          </p:cNvSpPr>
          <p:nvPr/>
        </p:nvSpPr>
        <p:spPr>
          <a:xfrm>
            <a:off x="5276850" y="224790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</a:t>
            </a:r>
          </a:p>
        </p:txBody>
      </p:sp>
      <p:sp>
        <p:nvSpPr>
          <p:cNvPr id="26" name="화살표: 오른쪽 25">
            <a:extLst>
              <a:ext uri="{FF2B5EF4-FFF2-40B4-BE49-F238E27FC236}">
                <ns2:creationId id="{6E2F9930-385B-4759-9540-1A5F75D38449}"/>
              </a:ext>
            </a:extLst>
          </p:cNvPr>
          <p:cNvSpPr>
            <a:spLocks noGrp="1"/>
          </p:cNvSpPr>
          <p:nvPr/>
        </p:nvSpPr>
        <p:spPr>
          <a:xfrm>
            <a:off x="5848350" y="2276475"/>
            <a:ext cx="34290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ns2:creationId id="{B515B6E7-9E92-4ADF-BEB7-BDA062FBC611}"/>
              </a:ext>
            </a:extLst>
          </p:cNvPr>
          <p:cNvSpPr>
            <a:spLocks noGrp="1"/>
          </p:cNvSpPr>
          <p:nvPr/>
        </p:nvSpPr>
        <p:spPr>
          <a:xfrm>
            <a:off x="6362700" y="224790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출근</a:t>
            </a: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여부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화살표: 오른쪽 27">
            <a:extLst>
              <a:ext uri="{FF2B5EF4-FFF2-40B4-BE49-F238E27FC236}">
                <ns2:creationId id="{8054E363-FEBC-4A99-A529-D2EBF30C9C21}"/>
              </a:ext>
            </a:extLst>
          </p:cNvPr>
          <p:cNvSpPr>
            <a:spLocks noGrp="1"/>
          </p:cNvSpPr>
          <p:nvPr/>
        </p:nvSpPr>
        <p:spPr>
          <a:xfrm>
            <a:off x="7219950" y="2276475"/>
            <a:ext cx="342900" cy="15240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ns2:creationId id="{FC0DAF73-7AFB-4B7F-B185-2F57C7109A69}"/>
              </a:ext>
            </a:extLst>
          </p:cNvPr>
          <p:cNvSpPr>
            <a:spLocks noGrp="1"/>
          </p:cNvSpPr>
          <p:nvPr/>
        </p:nvSpPr>
        <p:spPr>
          <a:xfrm>
            <a:off x="7734300" y="2171700"/>
            <a:ext cx="971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11"/>
          </a:bodyPr>
          <a:lstStyle/>
          <a:p>
            <a:pPr algn="ctr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출근하면 출근지·이동수단</a:t>
            </a:r>
            <a:endParaRPr sz="12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0" name="직선 연결선 29">
            <a:extLst>
              <a:ext uri="{FF2B5EF4-FFF2-40B4-BE49-F238E27FC236}">
                <ns2:creationId id="{8DEF7177-9B3B-4ED6-8CE9-52052CD4BFF3}"/>
              </a:ext>
            </a:extLst>
          </p:cNvPr>
          <p:cNvSpPr>
            <a:spLocks noGrp="1"/>
          </p:cNvSpPr>
          <p:nvPr/>
        </p:nvSpPr>
        <p:spPr>
          <a:xfrm>
            <a:off x="5276850" y="2724150"/>
            <a:ext cx="33909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7DDC76E4-EBC7-4AF0-92F3-68FCC5D7E845}"/>
              </a:ext>
            </a:extLst>
          </p:cNvPr>
          <p:cNvSpPr>
            <a:spLocks noGrp="1"/>
          </p:cNvSpPr>
          <p:nvPr/>
        </p:nvSpPr>
        <p:spPr>
          <a:xfrm>
            <a:off x="5276850" y="2876550"/>
            <a:ext cx="3390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첫 결과 후 · 꼭 지킬 조건 0~4개 · 선호는 개수 제한 없음 · 확인 필요</a:t>
            </a:r>
            <a:endParaRPr sz="120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화살표: 오른쪽 31">
            <a:extLst>
              <a:ext uri="{FF2B5EF4-FFF2-40B4-BE49-F238E27FC236}">
                <ns2:creationId id="{575A28F3-A422-4EC0-8B95-8AFDE0B5AB27}"/>
              </a:ext>
            </a:extLst>
          </p:cNvPr>
          <p:cNvSpPr>
            <a:spLocks noGrp="1"/>
          </p:cNvSpPr>
          <p:nvPr/>
        </p:nvSpPr>
        <p:spPr>
          <a:xfrm>
            <a:off x="9067800" y="2095500"/>
            <a:ext cx="6858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ns2:creationId id="{EB0B8F83-D385-4B2D-84B2-4A628C33B468}"/>
              </a:ext>
            </a:extLst>
          </p:cNvPr>
          <p:cNvSpPr>
            <a:spLocks noGrp="1"/>
          </p:cNvSpPr>
          <p:nvPr/>
        </p:nvSpPr>
        <p:spPr>
          <a:xfrm>
            <a:off x="9982200" y="1819275"/>
            <a:ext cx="876300" cy="876300"/>
          </a:xfrm>
          <a:prstGeom prst="roundRect">
            <a:avLst>
              <a:gd name="adj" fmla="val 13043"/>
            </a:avLst>
          </a:prstGeom>
          <a:solidFill>
            <a:srgbClr val="03C75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ns2:creationId id="{90AE8B61-E233-4419-90EC-1264FDBCBA14}"/>
              </a:ext>
            </a:extLst>
          </p:cNvPr>
          <p:cNvSpPr>
            <a:spLocks noGrp="1"/>
          </p:cNvSpPr>
          <p:nvPr/>
        </p:nvSpPr>
        <p:spPr>
          <a:xfrm>
            <a:off x="10077450" y="2028825"/>
            <a:ext cx="685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방문</a:t>
            </a:r>
          </a:p>
          <a:p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후보 1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ns2:creationId id="{F07C3DF7-8F95-4A9D-A467-0FF6C4A700B7}"/>
              </a:ext>
            </a:extLst>
          </p:cNvPr>
          <p:cNvSpPr>
            <a:spLocks noGrp="1"/>
          </p:cNvSpPr>
          <p:nvPr/>
        </p:nvSpPr>
        <p:spPr>
          <a:xfrm>
            <a:off x="11029950" y="1819275"/>
            <a:ext cx="8763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ns2:creationId id="{6291C9E8-D615-40B1-9F13-1FFD0F782938}"/>
              </a:ext>
            </a:extLst>
          </p:cNvPr>
          <p:cNvSpPr>
            <a:spLocks noGrp="1"/>
          </p:cNvSpPr>
          <p:nvPr/>
        </p:nvSpPr>
        <p:spPr>
          <a:xfrm>
            <a:off x="11125200" y="2028825"/>
            <a:ext cx="685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방문</a:t>
            </a:r>
          </a:p>
          <a:p>
            <a:pPr algn="ctr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후보 2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ns2:creationId id="{7636243F-C9A7-40F0-982C-2DC24F9E6DEE}"/>
              </a:ext>
            </a:extLst>
          </p:cNvPr>
          <p:cNvSpPr>
            <a:spLocks noGrp="1"/>
          </p:cNvSpPr>
          <p:nvPr/>
        </p:nvSpPr>
        <p:spPr>
          <a:xfrm>
            <a:off x="831710" y="3905251"/>
            <a:ext cx="10744200" cy="1409700"/>
          </a:xfrm>
          <a:prstGeom prst="roundRect">
            <a:avLst>
              <a:gd name="adj" fmla="val 10811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타원 37">
            <a:extLst>
              <a:ext uri="{FF2B5EF4-FFF2-40B4-BE49-F238E27FC236}">
                <ns2:creationId id="{9B62FCFD-800A-4D7C-AFF6-1A93511A356B}"/>
              </a:ext>
            </a:extLst>
          </p:cNvPr>
          <p:cNvSpPr>
            <a:spLocks noGrp="1"/>
          </p:cNvSpPr>
          <p:nvPr/>
        </p:nvSpPr>
        <p:spPr>
          <a:xfrm>
            <a:off x="1295400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ns2:creationId id="{5AA373F4-1832-45AA-ABF7-74DCB5E35035}"/>
              </a:ext>
            </a:extLst>
          </p:cNvPr>
          <p:cNvSpPr>
            <a:spLocks noGrp="1"/>
          </p:cNvSpPr>
          <p:nvPr/>
        </p:nvSpPr>
        <p:spPr>
          <a:xfrm>
            <a:off x="1295400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40" name="직사각형 39">
            <a:extLst>
              <a:ext uri="{FF2B5EF4-FFF2-40B4-BE49-F238E27FC236}">
                <ns2:creationId id="{25E77D76-FE09-4A6B-8767-715D900EF36D}"/>
              </a:ext>
            </a:extLst>
          </p:cNvPr>
          <p:cNvSpPr>
            <a:spLocks noGrp="1"/>
          </p:cNvSpPr>
          <p:nvPr/>
        </p:nvSpPr>
        <p:spPr>
          <a:xfrm>
            <a:off x="175260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각자 2개 선택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화살표: 오른쪽 40">
            <a:extLst>
              <a:ext uri="{FF2B5EF4-FFF2-40B4-BE49-F238E27FC236}">
                <ns2:creationId id="{E582A662-9310-4A9C-9771-BE02917A3D69}"/>
              </a:ext>
            </a:extLst>
          </p:cNvPr>
          <p:cNvSpPr>
            <a:spLocks noGrp="1"/>
          </p:cNvSpPr>
          <p:nvPr/>
        </p:nvSpPr>
        <p:spPr>
          <a:xfrm>
            <a:off x="291465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타원 41">
            <a:extLst>
              <a:ext uri="{FF2B5EF4-FFF2-40B4-BE49-F238E27FC236}">
                <ns2:creationId id="{639C79BB-46C7-46E5-A4A4-D516164799CC}"/>
              </a:ext>
            </a:extLst>
          </p:cNvPr>
          <p:cNvSpPr>
            <a:spLocks noGrp="1"/>
          </p:cNvSpPr>
          <p:nvPr/>
        </p:nvSpPr>
        <p:spPr>
          <a:xfrm>
            <a:off x="3467100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ns2:creationId id="{09BE76DD-7C93-4052-BCBA-D43C73E78A9D}"/>
              </a:ext>
            </a:extLst>
          </p:cNvPr>
          <p:cNvSpPr>
            <a:spLocks noGrp="1"/>
          </p:cNvSpPr>
          <p:nvPr/>
        </p:nvSpPr>
        <p:spPr>
          <a:xfrm>
            <a:off x="3467100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44" name="직사각형 43">
            <a:extLst>
              <a:ext uri="{FF2B5EF4-FFF2-40B4-BE49-F238E27FC236}">
                <ns2:creationId id="{9BB43626-96A1-4FE7-BBAD-3539BEE5C47D}"/>
              </a:ext>
            </a:extLst>
          </p:cNvPr>
          <p:cNvSpPr>
            <a:spLocks noGrp="1"/>
          </p:cNvSpPr>
          <p:nvPr/>
        </p:nvSpPr>
        <p:spPr>
          <a:xfrm>
            <a:off x="392430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겹치면 확정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5" name="화살표: 오른쪽 44">
            <a:extLst>
              <a:ext uri="{FF2B5EF4-FFF2-40B4-BE49-F238E27FC236}">
                <ns2:creationId id="{D468452B-1BDF-49F0-97DC-A01A62A6230A}"/>
              </a:ext>
            </a:extLst>
          </p:cNvPr>
          <p:cNvSpPr>
            <a:spLocks noGrp="1"/>
          </p:cNvSpPr>
          <p:nvPr/>
        </p:nvSpPr>
        <p:spPr>
          <a:xfrm>
            <a:off x="518160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타원 45">
            <a:extLst>
              <a:ext uri="{FF2B5EF4-FFF2-40B4-BE49-F238E27FC236}">
                <ns2:creationId id="{DFC8448E-62BF-467B-A51E-64B5C6E8E421}"/>
              </a:ext>
            </a:extLst>
          </p:cNvPr>
          <p:cNvSpPr>
            <a:spLocks noGrp="1"/>
          </p:cNvSpPr>
          <p:nvPr/>
        </p:nvSpPr>
        <p:spPr>
          <a:xfrm>
            <a:off x="5743575" y="4306347"/>
            <a:ext cx="323850" cy="3238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직사각형 46">
            <a:extLst>
              <a:ext uri="{FF2B5EF4-FFF2-40B4-BE49-F238E27FC236}">
                <ns2:creationId id="{7A9F910E-75D9-45AF-BC62-884182202634}"/>
              </a:ext>
            </a:extLst>
          </p:cNvPr>
          <p:cNvSpPr>
            <a:spLocks noGrp="1"/>
          </p:cNvSpPr>
          <p:nvPr/>
        </p:nvSpPr>
        <p:spPr>
          <a:xfrm>
            <a:off x="5743575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8" name="직사각형 47">
            <a:extLst>
              <a:ext uri="{FF2B5EF4-FFF2-40B4-BE49-F238E27FC236}">
                <ns2:creationId id="{743A0826-12A2-4848-BF9C-304351AE7FB8}"/>
              </a:ext>
            </a:extLst>
          </p:cNvPr>
          <p:cNvSpPr>
            <a:spLocks noGrp="1"/>
          </p:cNvSpPr>
          <p:nvPr/>
        </p:nvSpPr>
        <p:spPr>
          <a:xfrm>
            <a:off x="6200775" y="4258722"/>
            <a:ext cx="215893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1개만 겹치면 다시 비교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9" name="화살표: 오른쪽 48">
            <a:extLst>
              <a:ext uri="{FF2B5EF4-FFF2-40B4-BE49-F238E27FC236}">
                <ns2:creationId id="{F77EE6CF-5D8C-4584-B426-FED7896AD885}"/>
              </a:ext>
            </a:extLst>
          </p:cNvPr>
          <p:cNvSpPr>
            <a:spLocks noGrp="1"/>
          </p:cNvSpPr>
          <p:nvPr/>
        </p:nvSpPr>
        <p:spPr>
          <a:xfrm>
            <a:off x="8521630" y="4392072"/>
            <a:ext cx="266700" cy="152400"/>
          </a:xfrm>
          <a:prstGeom prst="rightArrow">
            <a:avLst/>
          </a:prstGeom>
          <a:solidFill>
            <a:srgbClr val="8DF0B5"/>
          </a:solidFill>
          <a:ln w="0">
            <a:solidFill>
              <a:srgbClr val="8DF0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타원 49">
            <a:extLst>
              <a:ext uri="{FF2B5EF4-FFF2-40B4-BE49-F238E27FC236}">
                <ns2:creationId id="{F8EB09C9-B68D-4D58-BC1F-2BD1C265691E}"/>
              </a:ext>
            </a:extLst>
          </p:cNvPr>
          <p:cNvSpPr>
            <a:spLocks noGrp="1"/>
          </p:cNvSpPr>
          <p:nvPr/>
        </p:nvSpPr>
        <p:spPr>
          <a:xfrm>
            <a:off x="9134475" y="4306347"/>
            <a:ext cx="323850" cy="323850"/>
          </a:xfrm>
          <a:prstGeom prst="ellipse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직사각형 50">
            <a:extLst>
              <a:ext uri="{FF2B5EF4-FFF2-40B4-BE49-F238E27FC236}">
                <ns2:creationId id="{BBED9417-7E6C-44F6-8A0D-808B3F846EA1}"/>
              </a:ext>
            </a:extLst>
          </p:cNvPr>
          <p:cNvSpPr>
            <a:spLocks noGrp="1"/>
          </p:cNvSpPr>
          <p:nvPr/>
        </p:nvSpPr>
        <p:spPr>
          <a:xfrm>
            <a:off x="9134475" y="4383593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52" name="직사각형 51">
            <a:extLst>
              <a:ext uri="{FF2B5EF4-FFF2-40B4-BE49-F238E27FC236}">
                <ns2:creationId id="{69355B82-69CD-4B0E-8CE9-623DB5192B3E}"/>
              </a:ext>
            </a:extLst>
          </p:cNvPr>
          <p:cNvSpPr>
            <a:spLocks noGrp="1"/>
          </p:cNvSpPr>
          <p:nvPr/>
        </p:nvSpPr>
        <p:spPr>
          <a:xfrm>
            <a:off x="9620250" y="4258722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2번 후 각자 하나씩</a:t>
            </a:r>
            <a:endParaRPr sz="14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3" name="직사각형 52">
            <a:extLst>
              <a:ext uri="{FF2B5EF4-FFF2-40B4-BE49-F238E27FC236}">
                <ns2:creationId id="{2F5CA12D-913D-405E-AA58-5F8C6570AD43}"/>
              </a:ext>
            </a:extLst>
          </p:cNvPr>
          <p:cNvSpPr>
            <a:spLocks noGrp="1"/>
          </p:cNvSpPr>
          <p:nvPr/>
        </p:nvSpPr>
        <p:spPr>
          <a:xfrm>
            <a:off x="1638300" y="4933950"/>
            <a:ext cx="895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 xml:space="preserve">2단계 · 방문 전에 물어볼 것 정리 → 방문 전 체크리스트 → 다녀와서 유지·보류·제외</a:t>
            </a:r>
            <a:endParaRPr sz="1200" b="0" dirty="0">
              <a:solidFill>
                <a:srgbClr val="C8D7CE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ns2:creationId id="{2DF7E342-ABD4-4906-B875-DC91F340D85E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확정된 정책</a:t>
            </a:r>
          </a:p>
        </p:txBody>
      </p:sp>
      <p:sp>
        <p:nvSpPr>
          <p:cNvPr id="55" name="직사각형 54">
            <a:extLst>
              <a:ext uri="{FF2B5EF4-FFF2-40B4-BE49-F238E27FC236}">
                <ns2:creationId id="{C8E76D0A-C643-409D-B03D-6E13F96D1706}"/>
              </a:ext>
            </a:extLst>
          </p:cNvPr>
          <p:cNvSpPr>
            <a:spLocks noGrp="1"/>
          </p:cNvSpPr>
          <p:nvPr/>
        </p:nvSpPr>
        <p:spPr>
          <a:xfrm>
            <a:off x="1828800" y="5591175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출근 안 함 = 통근·교통비를 재지 않음 · 비교표에서 그 줄을 뺌</a:t>
            </a:r>
            <a:endParaRPr sz="16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6" name="직사각형 55">
            <a:extLst>
              <a:ext uri="{FF2B5EF4-FFF2-40B4-BE49-F238E27FC236}">
                <ns2:creationId id="{E532BEF3-5BDD-44C8-8224-2960618C37A3}"/>
              </a:ext>
            </a:extLst>
          </p:cNvPr>
          <p:cNvSpPr>
            <a:spLocks noGrp="1"/>
          </p:cNvSpPr>
          <p:nvPr/>
        </p:nvSpPr>
        <p:spPr>
          <a:xfrm>
            <a:off x="8229600" y="559117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 완화는 자동 타협이 아니라 상태 변화 미리보기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1803721632"/>
      </p:ext>
    </p:extLst>
  </p:cSld>
  <p:clrMapOvr>
    <a:masterClrMapping/>
  </p:clrMapOvr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사각형: 둥근 모서리 55">
            <a:extLst>
              <a:ext uri="{FF2B5EF4-FFF2-40B4-BE49-F238E27FC236}">
                <ns2:creationId id="{C82CC129-302C-40D5-B8F1-C4CADE99560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1336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To-Be · 사용자 흐름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0589FFA2-0C1A-42FD-B8F5-71D382136281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A · 시스템 · B, 세 줄로 본 전체 흐름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92B91336-7C9F-413F-96DF-A63EA688DD5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483C0496-5B48-4944-95AA-88F281227C39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AE757D15-7DF6-41A5-A612-03E545ADDE52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F87D0350-4B83-4ED0-892F-6F617A76EF4C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진입 / 입력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ns2:creationId id="{8F94F802-59EB-4566-8628-74FF26CDBF51}"/>
              </a:ext>
            </a:extLst>
          </p:cNvPr>
          <p:cNvSpPr>
            <a:spLocks noGrp="1"/>
          </p:cNvSpPr>
          <p:nvPr/>
        </p:nvSpPr>
        <p:spPr>
          <a:xfrm>
            <a:off x="428625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ns2:creationId id="{E0DC97CA-3679-4A37-B4B8-A2AE07338639}"/>
              </a:ext>
            </a:extLst>
          </p:cNvPr>
          <p:cNvSpPr>
            <a:spLocks noGrp="1"/>
          </p:cNvSpPr>
          <p:nvPr/>
        </p:nvSpPr>
        <p:spPr>
          <a:xfrm>
            <a:off x="428625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비교 / 분기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0E013BB5-A194-4B3C-B1E4-128D3218E3C9}"/>
              </a:ext>
            </a:extLst>
          </p:cNvPr>
          <p:cNvSpPr>
            <a:spLocks noGrp="1"/>
          </p:cNvSpPr>
          <p:nvPr/>
        </p:nvSpPr>
        <p:spPr>
          <a:xfrm>
            <a:off x="7848600" y="1562100"/>
            <a:ext cx="3276600" cy="342900"/>
          </a:xfrm>
          <a:prstGeom prst="roundRect">
            <a:avLst>
              <a:gd name="adj" fmla="val 22222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ns2:creationId id="{3A0F172E-1598-4E8E-9F51-04575FED0D5B}"/>
              </a:ext>
            </a:extLst>
          </p:cNvPr>
          <p:cNvSpPr>
            <a:spLocks noGrp="1"/>
          </p:cNvSpPr>
          <p:nvPr/>
        </p:nvSpPr>
        <p:spPr>
          <a:xfrm>
            <a:off x="7848600" y="1638300"/>
            <a:ext cx="327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결정 / 방문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ns2:creationId id="{6F309659-0169-43F4-8CC9-5CB876135CF4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0A0ED9D0-469E-4EBD-8234-6D4D73CF7A50}"/>
              </a:ext>
            </a:extLst>
          </p:cNvPr>
          <p:cNvSpPr>
            <a:spLocks noGrp="1"/>
          </p:cNvSpPr>
          <p:nvPr/>
        </p:nvSpPr>
        <p:spPr>
          <a:xfrm>
            <a:off x="179070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ns2:creationId id="{1757B12B-CE24-4286-A556-EA090D0A0BFD}"/>
              </a:ext>
            </a:extLst>
          </p:cNvPr>
          <p:cNvSpPr>
            <a:spLocks noGrp="1"/>
          </p:cNvSpPr>
          <p:nvPr/>
        </p:nvSpPr>
        <p:spPr>
          <a:xfrm>
            <a:off x="194310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관심매물 1~5개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AD9D8F6E-1A2D-4C9E-B8A1-66743FE4272F}"/>
              </a:ext>
            </a:extLst>
          </p:cNvPr>
          <p:cNvSpPr>
            <a:spLocks noGrp="1"/>
          </p:cNvSpPr>
          <p:nvPr/>
        </p:nvSpPr>
        <p:spPr>
          <a:xfrm>
            <a:off x="194310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→ 출근 여부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DE790010-0B7D-4B5B-A07B-07D1308C1474}"/>
              </a:ext>
            </a:extLst>
          </p:cNvPr>
          <p:cNvSpPr>
            <a:spLocks noGrp="1"/>
          </p:cNvSpPr>
          <p:nvPr/>
        </p:nvSpPr>
        <p:spPr>
          <a:xfrm>
            <a:off x="1943100" y="28098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추가 조건과 초대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ns2:creationId id="{CA58D8CC-84BC-4EDD-9373-04547EC03DB1}"/>
              </a:ext>
            </a:extLst>
          </p:cNvPr>
          <p:cNvSpPr>
            <a:spLocks noGrp="1"/>
          </p:cNvSpPr>
          <p:nvPr/>
        </p:nvSpPr>
        <p:spPr>
          <a:xfrm>
            <a:off x="535305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ns2:creationId id="{9BB4F59D-07D7-4C17-94E6-40D5205BDD1E}"/>
              </a:ext>
            </a:extLst>
          </p:cNvPr>
          <p:cNvSpPr>
            <a:spLocks noGrp="1"/>
          </p:cNvSpPr>
          <p:nvPr/>
        </p:nvSpPr>
        <p:spPr>
          <a:xfrm>
            <a:off x="550545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 비교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6C8C645A-8564-4DFE-BCFB-7FFEBB5C4F3C}"/>
              </a:ext>
            </a:extLst>
          </p:cNvPr>
          <p:cNvSpPr>
            <a:spLocks noGrp="1"/>
          </p:cNvSpPr>
          <p:nvPr/>
        </p:nvSpPr>
        <p:spPr>
          <a:xfrm>
            <a:off x="550545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 풀어보기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ns2:creationId id="{7005F7BA-FCBD-463C-B454-2C9BDA1F4252}"/>
              </a:ext>
            </a:extLst>
          </p:cNvPr>
          <p:cNvSpPr>
            <a:spLocks noGrp="1"/>
          </p:cNvSpPr>
          <p:nvPr/>
        </p:nvSpPr>
        <p:spPr>
          <a:xfrm>
            <a:off x="8915400" y="21336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ns2:creationId id="{9789A731-8DBF-4AF9-B66D-C2CBF70AFA6D}"/>
              </a:ext>
            </a:extLst>
          </p:cNvPr>
          <p:cNvSpPr>
            <a:spLocks noGrp="1"/>
          </p:cNvSpPr>
          <p:nvPr/>
        </p:nvSpPr>
        <p:spPr>
          <a:xfrm>
            <a:off x="9067800" y="22764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자기 2개 선택</a:t>
            </a:r>
          </a:p>
        </p:txBody>
      </p:sp>
      <p:sp>
        <p:nvSpPr>
          <p:cNvPr id="22" name="직사각형 21">
            <a:extLst>
              <a:ext uri="{FF2B5EF4-FFF2-40B4-BE49-F238E27FC236}">
                <ns2:creationId id="{BB8DE01B-A3D1-4C4C-BBC4-EB458D40A875}"/>
              </a:ext>
            </a:extLst>
          </p:cNvPr>
          <p:cNvSpPr>
            <a:spLocks noGrp="1"/>
          </p:cNvSpPr>
          <p:nvPr/>
        </p:nvSpPr>
        <p:spPr>
          <a:xfrm>
            <a:off x="9067800" y="25431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다녀와서 기록</a:t>
            </a:r>
          </a:p>
        </p:txBody>
      </p:sp>
      <p:sp>
        <p:nvSpPr>
          <p:cNvPr id="23" name="직선 연결선 22">
            <a:extLst>
              <a:ext uri="{FF2B5EF4-FFF2-40B4-BE49-F238E27FC236}">
                <ns2:creationId id="{72A23BBF-59B2-463F-9FC1-A3B8DDE46009}"/>
              </a:ext>
            </a:extLst>
          </p:cNvPr>
          <p:cNvSpPr>
            <a:spLocks noGrp="1"/>
          </p:cNvSpPr>
          <p:nvPr/>
        </p:nvSpPr>
        <p:spPr>
          <a:xfrm>
            <a:off x="723900" y="32575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ns2:creationId id="{1F7A3724-E237-46E2-BD06-DBDE6A98D13A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087A43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시스템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4A385F02-2F84-41F5-AAA7-70266D9132D5}"/>
              </a:ext>
            </a:extLst>
          </p:cNvPr>
          <p:cNvSpPr>
            <a:spLocks noGrp="1"/>
          </p:cNvSpPr>
          <p:nvPr/>
        </p:nvSpPr>
        <p:spPr>
          <a:xfrm>
            <a:off x="179070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ns2:creationId id="{E07E81CC-C65F-4539-B85E-63A88A289BA8}"/>
              </a:ext>
            </a:extLst>
          </p:cNvPr>
          <p:cNvSpPr>
            <a:spLocks noGrp="1"/>
          </p:cNvSpPr>
          <p:nvPr/>
        </p:nvSpPr>
        <p:spPr>
          <a:xfrm>
            <a:off x="194310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공유 페이지 생성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6E4D49B7-F3F9-4C66-9E16-2BBD6458DC32}"/>
              </a:ext>
            </a:extLst>
          </p:cNvPr>
          <p:cNvSpPr>
            <a:spLocks noGrp="1"/>
          </p:cNvSpPr>
          <p:nvPr/>
        </p:nvSpPr>
        <p:spPr>
          <a:xfrm>
            <a:off x="194310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A 조건 저장 · 첫 결과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ns2:creationId id="{3E240C76-EECB-4C01-ADA1-BBC6B27072C7}"/>
              </a:ext>
            </a:extLst>
          </p:cNvPr>
          <p:cNvSpPr>
            <a:spLocks noGrp="1"/>
          </p:cNvSpPr>
          <p:nvPr/>
        </p:nvSpPr>
        <p:spPr>
          <a:xfrm>
            <a:off x="535305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ns2:creationId id="{40F07C33-07F3-4FFC-B525-16D9CEA61D82}"/>
              </a:ext>
            </a:extLst>
          </p:cNvPr>
          <p:cNvSpPr>
            <a:spLocks noGrp="1"/>
          </p:cNvSpPr>
          <p:nvPr/>
        </p:nvSpPr>
        <p:spPr>
          <a:xfrm>
            <a:off x="550545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A/B 조건별 판정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BFA114E6-EBFC-4EC4-9530-06290B725775}"/>
              </a:ext>
            </a:extLst>
          </p:cNvPr>
          <p:cNvSpPr>
            <a:spLocks noGrp="1"/>
          </p:cNvSpPr>
          <p:nvPr/>
        </p:nvSpPr>
        <p:spPr>
          <a:xfrm>
            <a:off x="550545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양보 문장 · 0개일 때 처리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ns2:creationId id="{D4075B82-A06F-413E-AB7E-D351CDB19ED2}"/>
              </a:ext>
            </a:extLst>
          </p:cNvPr>
          <p:cNvSpPr>
            <a:spLocks noGrp="1"/>
          </p:cNvSpPr>
          <p:nvPr/>
        </p:nvSpPr>
        <p:spPr>
          <a:xfrm>
            <a:off x="8915400" y="337185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ns2:creationId id="{1CF0C4B5-EC6B-401C-B26A-929F92A25B65}"/>
              </a:ext>
            </a:extLst>
          </p:cNvPr>
          <p:cNvSpPr>
            <a:spLocks noGrp="1"/>
          </p:cNvSpPr>
          <p:nvPr/>
        </p:nvSpPr>
        <p:spPr>
          <a:xfrm>
            <a:off x="9067800" y="35147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겹치는지 확인 · 최대 2번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43BD7769-35C5-41C5-893B-D8297602221B}"/>
              </a:ext>
            </a:extLst>
          </p:cNvPr>
          <p:cNvSpPr>
            <a:spLocks noGrp="1"/>
          </p:cNvSpPr>
          <p:nvPr/>
        </p:nvSpPr>
        <p:spPr>
          <a:xfrm>
            <a:off x="9067800" y="378142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유지 · 보류 · 제외 저장</a:t>
            </a:r>
          </a:p>
        </p:txBody>
      </p:sp>
      <p:sp>
        <p:nvSpPr>
          <p:cNvPr id="34" name="직선 연결선 33">
            <a:extLst>
              <a:ext uri="{FF2B5EF4-FFF2-40B4-BE49-F238E27FC236}">
                <ns2:creationId id="{35B7CB45-6FD4-41FD-920B-2103746777F8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사각형: 둥근 모서리 34">
            <a:extLst>
              <a:ext uri="{FF2B5EF4-FFF2-40B4-BE49-F238E27FC236}">
                <ns2:creationId id="{77E701CC-3061-45FD-9B4C-CFB97AB750D0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857250" cy="285750"/>
          </a:xfrm>
          <a:prstGeom prst="roundRect">
            <a:avLst>
              <a:gd name="adj" fmla="val 46667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ns2:creationId id="{493644A4-4C1D-4779-A424-645212F45731}"/>
              </a:ext>
            </a:extLst>
          </p:cNvPr>
          <p:cNvSpPr>
            <a:spLocks noGrp="1"/>
          </p:cNvSpPr>
          <p:nvPr/>
        </p:nvSpPr>
        <p:spPr>
          <a:xfrm>
            <a:off x="179070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ns2:creationId id="{E28E38BA-9497-4876-B6BA-E4BC6CEDAC03}"/>
              </a:ext>
            </a:extLst>
          </p:cNvPr>
          <p:cNvSpPr>
            <a:spLocks noGrp="1"/>
          </p:cNvSpPr>
          <p:nvPr/>
        </p:nvSpPr>
        <p:spPr>
          <a:xfrm>
            <a:off x="194310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 5개와 A의 조건 먼저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F43507B2-8DAE-40AF-A796-DAB9829658DE}"/>
              </a:ext>
            </a:extLst>
          </p:cNvPr>
          <p:cNvSpPr>
            <a:spLocks noGrp="1"/>
          </p:cNvSpPr>
          <p:nvPr/>
        </p:nvSpPr>
        <p:spPr>
          <a:xfrm>
            <a:off x="194310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예산 → 출근 여부</a:t>
            </a:r>
          </a:p>
        </p:txBody>
      </p:sp>
      <p:sp>
        <p:nvSpPr>
          <p:cNvPr id="39" name="직사각형 38">
            <a:extLst>
              <a:ext uri="{FF2B5EF4-FFF2-40B4-BE49-F238E27FC236}">
                <ns2:creationId id="{D34E2870-EBF9-4922-9F0B-9BA7D7176823}"/>
              </a:ext>
            </a:extLst>
          </p:cNvPr>
          <p:cNvSpPr>
            <a:spLocks noGrp="1"/>
          </p:cNvSpPr>
          <p:nvPr/>
        </p:nvSpPr>
        <p:spPr>
          <a:xfrm>
            <a:off x="1943100" y="52863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첫 결과 후 로그인 안내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ns2:creationId id="{F1D1D53F-1589-4FC7-A0A5-7480C404786C}"/>
              </a:ext>
            </a:extLst>
          </p:cNvPr>
          <p:cNvSpPr>
            <a:spLocks noGrp="1"/>
          </p:cNvSpPr>
          <p:nvPr/>
        </p:nvSpPr>
        <p:spPr>
          <a:xfrm>
            <a:off x="535305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ns2:creationId id="{4605FDBA-A3E7-4B35-8C91-9EA258B2D1AC}"/>
              </a:ext>
            </a:extLst>
          </p:cNvPr>
          <p:cNvSpPr>
            <a:spLocks noGrp="1"/>
          </p:cNvSpPr>
          <p:nvPr/>
        </p:nvSpPr>
        <p:spPr>
          <a:xfrm>
            <a:off x="550545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자기 조건으로 대조</a:t>
            </a:r>
          </a:p>
        </p:txBody>
      </p:sp>
      <p:sp>
        <p:nvSpPr>
          <p:cNvPr id="42" name="직사각형 41">
            <a:extLst>
              <a:ext uri="{FF2B5EF4-FFF2-40B4-BE49-F238E27FC236}">
                <ns2:creationId id="{ADDF0986-7957-4AA3-B95D-4C16113FEDCE}"/>
              </a:ext>
            </a:extLst>
          </p:cNvPr>
          <p:cNvSpPr>
            <a:spLocks noGrp="1"/>
          </p:cNvSpPr>
          <p:nvPr/>
        </p:nvSpPr>
        <p:spPr>
          <a:xfrm>
            <a:off x="550545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물어볼 것 검토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ns2:creationId id="{CDAA42B5-09D5-4F80-B75E-C9E8100BD5EC}"/>
              </a:ext>
            </a:extLst>
          </p:cNvPr>
          <p:cNvSpPr>
            <a:spLocks noGrp="1"/>
          </p:cNvSpPr>
          <p:nvPr/>
        </p:nvSpPr>
        <p:spPr>
          <a:xfrm>
            <a:off x="8915400" y="4610100"/>
            <a:ext cx="22098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직사각형 43">
            <a:extLst>
              <a:ext uri="{FF2B5EF4-FFF2-40B4-BE49-F238E27FC236}">
                <ns2:creationId id="{08A24D1E-E3DA-4F7A-87CF-5A73D3CBBD4A}"/>
              </a:ext>
            </a:extLst>
          </p:cNvPr>
          <p:cNvSpPr>
            <a:spLocks noGrp="1"/>
          </p:cNvSpPr>
          <p:nvPr/>
        </p:nvSpPr>
        <p:spPr>
          <a:xfrm>
            <a:off x="9067800" y="47529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자기 2개 선택</a:t>
            </a:r>
          </a:p>
        </p:txBody>
      </p:sp>
      <p:sp>
        <p:nvSpPr>
          <p:cNvPr id="45" name="직사각형 44">
            <a:extLst>
              <a:ext uri="{FF2B5EF4-FFF2-40B4-BE49-F238E27FC236}">
                <ns2:creationId id="{EB9467F4-A501-458C-ABA0-1DAA6F6B28ED}"/>
              </a:ext>
            </a:extLst>
          </p:cNvPr>
          <p:cNvSpPr>
            <a:spLocks noGrp="1"/>
          </p:cNvSpPr>
          <p:nvPr/>
        </p:nvSpPr>
        <p:spPr>
          <a:xfrm>
            <a:off x="9067800" y="50196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질문과 체크 기록</a:t>
            </a:r>
          </a:p>
        </p:txBody>
      </p:sp>
      <p:sp>
        <p:nvSpPr>
          <p:cNvPr id="46" name="직선 연결선 45">
            <a:extLst>
              <a:ext uri="{FF2B5EF4-FFF2-40B4-BE49-F238E27FC236}">
                <ns2:creationId id="{A4DE0D60-90B8-4CDD-9547-7D7DE0F15CA5}"/>
              </a:ext>
            </a:extLst>
          </p:cNvPr>
          <p:cNvSpPr>
            <a:spLocks noGrp="1"/>
          </p:cNvSpPr>
          <p:nvPr/>
        </p:nvSpPr>
        <p:spPr>
          <a:xfrm>
            <a:off x="723900" y="5734050"/>
            <a:ext cx="104013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화살표: 오른쪽 46">
            <a:extLst>
              <a:ext uri="{FF2B5EF4-FFF2-40B4-BE49-F238E27FC236}">
                <ns2:creationId id="{19821FF3-DEB8-4C33-9B34-2DF96200635A}"/>
              </a:ext>
            </a:extLst>
          </p:cNvPr>
          <p:cNvSpPr>
            <a:spLocks noGrp="1"/>
          </p:cNvSpPr>
          <p:nvPr/>
        </p:nvSpPr>
        <p:spPr>
          <a:xfrm>
            <a:off x="4457909" y="24955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화살표: 오른쪽 47">
            <a:extLst>
              <a:ext uri="{FF2B5EF4-FFF2-40B4-BE49-F238E27FC236}">
                <ns2:creationId id="{9FF933C2-76E9-4B0A-ADAB-81E7FF1FCE87}"/>
              </a:ext>
            </a:extLst>
          </p:cNvPr>
          <p:cNvSpPr>
            <a:spLocks noGrp="1"/>
          </p:cNvSpPr>
          <p:nvPr/>
        </p:nvSpPr>
        <p:spPr>
          <a:xfrm>
            <a:off x="4457909" y="373380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화살표: 오른쪽 48">
            <a:extLst>
              <a:ext uri="{FF2B5EF4-FFF2-40B4-BE49-F238E27FC236}">
                <ns2:creationId id="{A9B33553-761F-4B92-BD9C-8BD3432CBC95}"/>
              </a:ext>
            </a:extLst>
          </p:cNvPr>
          <p:cNvSpPr>
            <a:spLocks noGrp="1"/>
          </p:cNvSpPr>
          <p:nvPr/>
        </p:nvSpPr>
        <p:spPr>
          <a:xfrm>
            <a:off x="4457909" y="49720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화살표: 오른쪽 49">
            <a:extLst>
              <a:ext uri="{FF2B5EF4-FFF2-40B4-BE49-F238E27FC236}">
                <ns2:creationId id="{DAA75654-C3AA-426C-8F37-8949DF255283}"/>
              </a:ext>
            </a:extLst>
          </p:cNvPr>
          <p:cNvSpPr>
            <a:spLocks noGrp="1"/>
          </p:cNvSpPr>
          <p:nvPr/>
        </p:nvSpPr>
        <p:spPr>
          <a:xfrm>
            <a:off x="8039100" y="24955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화살표: 오른쪽 50">
            <a:extLst>
              <a:ext uri="{FF2B5EF4-FFF2-40B4-BE49-F238E27FC236}">
                <ns2:creationId id="{1EF15A9E-016F-412B-842F-2297D890B0D0}"/>
              </a:ext>
            </a:extLst>
          </p:cNvPr>
          <p:cNvSpPr>
            <a:spLocks noGrp="1"/>
          </p:cNvSpPr>
          <p:nvPr/>
        </p:nvSpPr>
        <p:spPr>
          <a:xfrm>
            <a:off x="8039100" y="373380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화살표: 오른쪽 51">
            <a:extLst>
              <a:ext uri="{FF2B5EF4-FFF2-40B4-BE49-F238E27FC236}">
                <ns2:creationId id="{3FB23210-040E-46AF-939D-0AD7A169FA22}"/>
              </a:ext>
            </a:extLst>
          </p:cNvPr>
          <p:cNvSpPr>
            <a:spLocks noGrp="1"/>
          </p:cNvSpPr>
          <p:nvPr/>
        </p:nvSpPr>
        <p:spPr>
          <a:xfrm>
            <a:off x="8039100" y="4972050"/>
            <a:ext cx="4000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사각형: 둥근 모서리 52">
            <a:extLst>
              <a:ext uri="{FF2B5EF4-FFF2-40B4-BE49-F238E27FC236}">
                <ns2:creationId id="{14E00CAF-038B-4361-83D4-A9898A9B2DF7}"/>
              </a:ext>
            </a:extLst>
          </p:cNvPr>
          <p:cNvSpPr>
            <a:spLocks noGrp="1"/>
          </p:cNvSpPr>
          <p:nvPr/>
        </p:nvSpPr>
        <p:spPr>
          <a:xfrm>
            <a:off x="7018565" y="5842173"/>
            <a:ext cx="15049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 err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로그인 정책 미정</a:t>
            </a:r>
          </a:p>
        </p:txBody>
      </p:sp>
      <p:sp>
        <p:nvSpPr>
          <p:cNvPr id="54" name="직사각형 53">
            <a:extLst>
              <a:ext uri="{FF2B5EF4-FFF2-40B4-BE49-F238E27FC236}">
                <ns2:creationId id="{D9A41ECF-3C43-42F6-9ECF-E008936E4DD2}"/>
              </a:ext>
            </a:extLst>
          </p:cNvPr>
          <p:cNvSpPr>
            <a:spLocks noGrp="1"/>
          </p:cNvSpPr>
          <p:nvPr/>
        </p:nvSpPr>
        <p:spPr>
          <a:xfrm>
            <a:off x="723900" y="5859131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B는 조건 입력 전에 후보와 초대 맥락을 먼저 본다.</a:t>
            </a:r>
          </a:p>
        </p:txBody>
      </p:sp>
      <p:sp>
        <p:nvSpPr>
          <p:cNvPr id="55" name="직사각형 54">
            <a:extLst>
              <a:ext uri="{FF2B5EF4-FFF2-40B4-BE49-F238E27FC236}">
                <ns2:creationId id="{C4AF5948-4737-4A3D-A5D0-1BB2B9481629}"/>
              </a:ext>
            </a:extLst>
          </p:cNvPr>
          <p:cNvSpPr>
            <a:spLocks noGrp="1"/>
          </p:cNvSpPr>
          <p:nvPr/>
        </p:nvSpPr>
        <p:spPr>
          <a:xfrm>
            <a:off x="8523515" y="5861223"/>
            <a:ext cx="262073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모든 기능을 로그인 없이 쓸 수 있다고 정하진 않았습니다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1184455167"/>
      </p:ext>
    </p:extLst>
  </p:cSld>
  <p:clrMapOvr>
    <a:masterClrMapping/>
  </p:clrMapOvr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사각형: 둥근 모서리 48">
            <a:extLst>
              <a:ext uri="{FF2B5EF4-FFF2-40B4-BE49-F238E27FC236}">
                <ns2:creationId id="{E2AD2FEE-BFF0-4D86-AB4F-76DF778D8B5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5908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To-Be · 핵심 화면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EF37BFAE-7E28-4FEC-8EC2-8F600B28947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만든 화면 세 장면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3782990D-B5CC-4BB2-BFEE-C0C6A0CAB8CF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6E37F1C8-59C2-4037-AB7E-C86FF31C56F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BB9784B3-58C2-40B0-8F3E-E2141C8CDC65}"/>
              </a:ext>
            </a:extLst>
          </p:cNvPr>
          <p:cNvSpPr>
            <a:spLocks noGrp="1"/>
          </p:cNvSpPr>
          <p:nvPr/>
        </p:nvSpPr>
        <p:spPr>
          <a:xfrm>
            <a:off x="704850" y="1638300"/>
            <a:ext cx="3257550" cy="36766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F6F11153-FD37-4C9A-9D81-18C7FC87C721}"/>
              </a:ext>
            </a:extLst>
          </p:cNvPr>
          <p:cNvSpPr>
            <a:spLocks noGrp="1"/>
          </p:cNvSpPr>
          <p:nvPr/>
        </p:nvSpPr>
        <p:spPr>
          <a:xfrm>
            <a:off x="89535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8D031EF5-45A3-41E5-B7AF-E192731BF491}"/>
              </a:ext>
            </a:extLst>
          </p:cNvPr>
          <p:cNvSpPr>
            <a:spLocks noGrp="1"/>
          </p:cNvSpPr>
          <p:nvPr/>
        </p:nvSpPr>
        <p:spPr>
          <a:xfrm>
            <a:off x="14478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참여 이유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26EFDF3F-CFE9-4183-B5F2-41B0E2F2C885}"/>
              </a:ext>
            </a:extLst>
          </p:cNvPr>
          <p:cNvSpPr>
            <a:spLocks noGrp="1"/>
          </p:cNvSpPr>
          <p:nvPr/>
        </p:nvSpPr>
        <p:spPr>
          <a:xfrm>
            <a:off x="895350" y="22098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ns2:creationId id="{3F14153C-2DDA-42D4-A1CC-00F888D56B02}"/>
              </a:ext>
            </a:extLst>
          </p:cNvPr>
          <p:cNvSpPr>
            <a:spLocks noGrp="1"/>
          </p:cNvSpPr>
          <p:nvPr/>
        </p:nvSpPr>
        <p:spPr>
          <a:xfrm>
            <a:off x="1181100" y="2628900"/>
            <a:ext cx="2305050" cy="1619250"/>
          </a:xfrm>
          <a:prstGeom prst="roundRect">
            <a:avLst>
              <a:gd name="adj" fmla="val 705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ns2:creationId id="{3FA3F3FE-E07C-4010-80E1-69A24D649504}"/>
              </a:ext>
            </a:extLst>
          </p:cNvPr>
          <p:cNvSpPr>
            <a:spLocks noGrp="1"/>
          </p:cNvSpPr>
          <p:nvPr/>
        </p:nvSpPr>
        <p:spPr>
          <a:xfrm>
            <a:off x="1466850" y="2819400"/>
            <a:ext cx="173355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ns2:creationId id="{0083C11B-92AC-4D1E-AFD1-A33EB2765799}"/>
              </a:ext>
            </a:extLst>
          </p:cNvPr>
          <p:cNvSpPr>
            <a:spLocks noGrp="1"/>
          </p:cNvSpPr>
          <p:nvPr/>
        </p:nvSpPr>
        <p:spPr>
          <a:xfrm>
            <a:off x="1562100" y="2914650"/>
            <a:ext cx="1543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 5개 + A의 조건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91EA8FA2-B0B3-49BE-B3EF-AF7BAE087651}"/>
              </a:ext>
            </a:extLst>
          </p:cNvPr>
          <p:cNvSpPr>
            <a:spLocks noGrp="1"/>
          </p:cNvSpPr>
          <p:nvPr/>
        </p:nvSpPr>
        <p:spPr>
          <a:xfrm>
            <a:off x="1524000" y="3333750"/>
            <a:ext cx="7239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예산 필수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ns2:creationId id="{32EC2019-20C2-4F9F-89F4-ADD6F673820E}"/>
              </a:ext>
            </a:extLst>
          </p:cNvPr>
          <p:cNvSpPr>
            <a:spLocks noGrp="1"/>
          </p:cNvSpPr>
          <p:nvPr/>
        </p:nvSpPr>
        <p:spPr>
          <a:xfrm>
            <a:off x="2324100" y="3333750"/>
            <a:ext cx="742950" cy="2286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출근 여부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B2AFF756-606C-4815-AF28-4838CFCF7E1B}"/>
              </a:ext>
            </a:extLst>
          </p:cNvPr>
          <p:cNvSpPr>
            <a:spLocks noGrp="1"/>
          </p:cNvSpPr>
          <p:nvPr/>
        </p:nvSpPr>
        <p:spPr>
          <a:xfrm>
            <a:off x="1543050" y="375285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출근하는 경우만 출근지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6494C938-3B9C-4F17-BBBA-590BF86CC011}"/>
              </a:ext>
            </a:extLst>
          </p:cNvPr>
          <p:cNvSpPr>
            <a:spLocks noGrp="1"/>
          </p:cNvSpPr>
          <p:nvPr/>
        </p:nvSpPr>
        <p:spPr>
          <a:xfrm>
            <a:off x="93345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집들과 A가 중요하게 보는 것을 먼저 보고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→ 출근 여부 → 해당 시 출근지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ns2:creationId id="{57ADD4AB-4BCB-4AA3-ADF9-BD943942FAC7}"/>
              </a:ext>
            </a:extLst>
          </p:cNvPr>
          <p:cNvSpPr>
            <a:spLocks noGrp="1"/>
          </p:cNvSpPr>
          <p:nvPr/>
        </p:nvSpPr>
        <p:spPr>
          <a:xfrm>
            <a:off x="4305300" y="1638300"/>
            <a:ext cx="3257550" cy="36766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ns2:creationId id="{AE5A76E6-CE41-4DFF-BCDC-21507822BC26}"/>
              </a:ext>
            </a:extLst>
          </p:cNvPr>
          <p:cNvSpPr>
            <a:spLocks noGrp="1"/>
          </p:cNvSpPr>
          <p:nvPr/>
        </p:nvSpPr>
        <p:spPr>
          <a:xfrm>
            <a:off x="449580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DABA3EEB-6160-4413-8EF4-766067E5BE5E}"/>
              </a:ext>
            </a:extLst>
          </p:cNvPr>
          <p:cNvSpPr>
            <a:spLocks noGrp="1"/>
          </p:cNvSpPr>
          <p:nvPr/>
        </p:nvSpPr>
        <p:spPr>
          <a:xfrm>
            <a:off x="504825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16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이해</a:t>
            </a:r>
            <a:endParaRPr sz="16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직사각형 19">
            <a:extLst>
              <a:ext uri="{FF2B5EF4-FFF2-40B4-BE49-F238E27FC236}">
                <ns2:creationId id="{11A3F3E9-DE22-402A-9A7C-0FFA19F16E81}"/>
              </a:ext>
            </a:extLst>
          </p:cNvPr>
          <p:cNvSpPr>
            <a:spLocks noGrp="1"/>
          </p:cNvSpPr>
          <p:nvPr/>
        </p:nvSpPr>
        <p:spPr>
          <a:xfrm>
            <a:off x="4495800" y="22098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1" name="사각형: 둥근 모서리 20">
            <a:extLst>
              <a:ext uri="{FF2B5EF4-FFF2-40B4-BE49-F238E27FC236}">
                <ns2:creationId id="{A30D019C-A1BD-43E3-87FD-B12BBB491CE2}"/>
              </a:ext>
            </a:extLst>
          </p:cNvPr>
          <p:cNvSpPr>
            <a:spLocks noGrp="1"/>
          </p:cNvSpPr>
          <p:nvPr/>
        </p:nvSpPr>
        <p:spPr>
          <a:xfrm>
            <a:off x="4781550" y="2628900"/>
            <a:ext cx="2305050" cy="1619250"/>
          </a:xfrm>
          <a:prstGeom prst="roundRect">
            <a:avLst>
              <a:gd name="adj" fmla="val 7059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ns2:creationId id="{89C7B118-6DE2-48DE-936B-5D1505ECC65B}"/>
              </a:ext>
            </a:extLst>
          </p:cNvPr>
          <p:cNvSpPr>
            <a:spLocks noGrp="1"/>
          </p:cNvSpPr>
          <p:nvPr/>
        </p:nvSpPr>
        <p:spPr>
          <a:xfrm>
            <a:off x="4991100" y="283845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4BC5C1BD-1248-4F55-962F-E4B088F04D6A}"/>
              </a:ext>
            </a:extLst>
          </p:cNvPr>
          <p:cNvSpPr>
            <a:spLocks noGrp="1"/>
          </p:cNvSpPr>
          <p:nvPr/>
        </p:nvSpPr>
        <p:spPr>
          <a:xfrm>
            <a:off x="5353050" y="2838450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예산 충족 · 통근 +13분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B1924E56-AED0-4D2B-9AC3-8DC78DBC3931}"/>
              </a:ext>
            </a:extLst>
          </p:cNvPr>
          <p:cNvSpPr>
            <a:spLocks noGrp="1"/>
          </p:cNvSpPr>
          <p:nvPr/>
        </p:nvSpPr>
        <p:spPr>
          <a:xfrm>
            <a:off x="4991100" y="323850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25" name="직사각형 24">
            <a:extLst>
              <a:ext uri="{FF2B5EF4-FFF2-40B4-BE49-F238E27FC236}">
                <ns2:creationId id="{A0BB5DB3-39E8-4B7B-8184-3E3FB1E986AC}"/>
              </a:ext>
            </a:extLst>
          </p:cNvPr>
          <p:cNvSpPr>
            <a:spLocks noGrp="1"/>
          </p:cNvSpPr>
          <p:nvPr/>
        </p:nvSpPr>
        <p:spPr>
          <a:xfrm>
            <a:off x="5353050" y="3238500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면적 충족 · 주차 확인</a:t>
            </a:r>
          </a:p>
        </p:txBody>
      </p:sp>
      <p:sp>
        <p:nvSpPr>
          <p:cNvPr id="26" name="직선 연결선 25">
            <a:extLst>
              <a:ext uri="{FF2B5EF4-FFF2-40B4-BE49-F238E27FC236}">
                <ns2:creationId id="{116CD6C7-EEFB-4447-8632-C3A8EDA1F7F7}"/>
              </a:ext>
            </a:extLst>
          </p:cNvPr>
          <p:cNvSpPr>
            <a:spLocks noGrp="1"/>
          </p:cNvSpPr>
          <p:nvPr/>
        </p:nvSpPr>
        <p:spPr>
          <a:xfrm>
            <a:off x="5029200" y="3638550"/>
            <a:ext cx="18097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ns2:creationId id="{9058EDF4-D504-4DC0-B418-146860E8B0EF}"/>
              </a:ext>
            </a:extLst>
          </p:cNvPr>
          <p:cNvSpPr>
            <a:spLocks noGrp="1"/>
          </p:cNvSpPr>
          <p:nvPr/>
        </p:nvSpPr>
        <p:spPr>
          <a:xfrm>
            <a:off x="5067300" y="3790950"/>
            <a:ext cx="1733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A가 통근 13분을 감수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A92E269B-F727-4928-BE9E-7FEB1A6A6E82}"/>
              </a:ext>
            </a:extLst>
          </p:cNvPr>
          <p:cNvSpPr>
            <a:spLocks noGrp="1"/>
          </p:cNvSpPr>
          <p:nvPr/>
        </p:nvSpPr>
        <p:spPr>
          <a:xfrm>
            <a:off x="453390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실제값 &gt; 기준값 · 미달량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누가 무엇을 얼마나 감수하는지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ns2:creationId id="{81F2AE18-F974-4DDD-8164-4A9C90BB3B8B}"/>
              </a:ext>
            </a:extLst>
          </p:cNvPr>
          <p:cNvSpPr>
            <a:spLocks noGrp="1"/>
          </p:cNvSpPr>
          <p:nvPr/>
        </p:nvSpPr>
        <p:spPr>
          <a:xfrm>
            <a:off x="7905750" y="1638300"/>
            <a:ext cx="3257550" cy="3676650"/>
          </a:xfrm>
          <a:prstGeom prst="roundRect">
            <a:avLst>
              <a:gd name="adj" fmla="val 4678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사각형: 둥근 모서리 29">
            <a:extLst>
              <a:ext uri="{FF2B5EF4-FFF2-40B4-BE49-F238E27FC236}">
                <ns2:creationId id="{3E3B9864-F743-49E4-92A6-BEC622ECE92B}"/>
              </a:ext>
            </a:extLst>
          </p:cNvPr>
          <p:cNvSpPr>
            <a:spLocks noGrp="1"/>
          </p:cNvSpPr>
          <p:nvPr/>
        </p:nvSpPr>
        <p:spPr>
          <a:xfrm>
            <a:off x="8096250" y="18288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9827D421-118E-4BBA-9957-9EFB2899EB66}"/>
              </a:ext>
            </a:extLst>
          </p:cNvPr>
          <p:cNvSpPr>
            <a:spLocks noGrp="1"/>
          </p:cNvSpPr>
          <p:nvPr/>
        </p:nvSpPr>
        <p:spPr>
          <a:xfrm>
            <a:off x="86487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남은 한 자리</a:t>
            </a:r>
          </a:p>
        </p:txBody>
      </p:sp>
      <p:sp>
        <p:nvSpPr>
          <p:cNvPr id="32" name="직사각형 31">
            <a:extLst>
              <a:ext uri="{FF2B5EF4-FFF2-40B4-BE49-F238E27FC236}">
                <ns2:creationId id="{97FEB8C5-0CC3-4256-BCB1-117D6F10517B}"/>
              </a:ext>
            </a:extLst>
          </p:cNvPr>
          <p:cNvSpPr>
            <a:spLocks noGrp="1"/>
          </p:cNvSpPr>
          <p:nvPr/>
        </p:nvSpPr>
        <p:spPr>
          <a:xfrm>
            <a:off x="8096250" y="22098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ns2:creationId id="{A3CC4B17-2C8E-4C41-9E8E-238B5EE80E8E}"/>
              </a:ext>
            </a:extLst>
          </p:cNvPr>
          <p:cNvSpPr>
            <a:spLocks noGrp="1"/>
          </p:cNvSpPr>
          <p:nvPr/>
        </p:nvSpPr>
        <p:spPr>
          <a:xfrm>
            <a:off x="8382000" y="2628900"/>
            <a:ext cx="2305050" cy="1619250"/>
          </a:xfrm>
          <a:prstGeom prst="roundRect">
            <a:avLst>
              <a:gd name="adj" fmla="val 705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사각형: 둥근 모서리 33">
            <a:extLst>
              <a:ext uri="{FF2B5EF4-FFF2-40B4-BE49-F238E27FC236}">
                <ns2:creationId id="{48ED7C68-7B58-451E-9AFC-4853B972EDB7}"/>
              </a:ext>
            </a:extLst>
          </p:cNvPr>
          <p:cNvSpPr>
            <a:spLocks noGrp="1"/>
          </p:cNvSpPr>
          <p:nvPr/>
        </p:nvSpPr>
        <p:spPr>
          <a:xfrm>
            <a:off x="8591550" y="2857500"/>
            <a:ext cx="838200" cy="952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사각형: 둥근 모서리 34">
            <a:extLst>
              <a:ext uri="{FF2B5EF4-FFF2-40B4-BE49-F238E27FC236}">
                <ns2:creationId id="{B522B501-76E0-4316-9939-8BD40709F739}"/>
              </a:ext>
            </a:extLst>
          </p:cNvPr>
          <p:cNvSpPr>
            <a:spLocks noGrp="1"/>
          </p:cNvSpPr>
          <p:nvPr/>
        </p:nvSpPr>
        <p:spPr>
          <a:xfrm>
            <a:off x="9639300" y="2857500"/>
            <a:ext cx="838200" cy="952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ns2:creationId id="{BAB4C4CB-4E23-491C-AD27-126A0B621A9F}"/>
              </a:ext>
            </a:extLst>
          </p:cNvPr>
          <p:cNvSpPr>
            <a:spLocks noGrp="1"/>
          </p:cNvSpPr>
          <p:nvPr/>
        </p:nvSpPr>
        <p:spPr>
          <a:xfrm>
            <a:off x="8686800" y="29908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 A</a:t>
            </a:r>
          </a:p>
        </p:txBody>
      </p:sp>
      <p:sp>
        <p:nvSpPr>
          <p:cNvPr id="37" name="직사각형 36">
            <a:extLst>
              <a:ext uri="{FF2B5EF4-FFF2-40B4-BE49-F238E27FC236}">
                <ns2:creationId id="{DC30D494-296A-4402-BC77-B67CFCD241F1}"/>
              </a:ext>
            </a:extLst>
          </p:cNvPr>
          <p:cNvSpPr>
            <a:spLocks noGrp="1"/>
          </p:cNvSpPr>
          <p:nvPr/>
        </p:nvSpPr>
        <p:spPr>
          <a:xfrm>
            <a:off x="9734550" y="2990850"/>
            <a:ext cx="647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 B</a:t>
            </a:r>
          </a:p>
        </p:txBody>
      </p:sp>
      <p:sp>
        <p:nvSpPr>
          <p:cNvPr id="38" name="직선 연결선 37">
            <a:extLst>
              <a:ext uri="{FF2B5EF4-FFF2-40B4-BE49-F238E27FC236}">
                <ns2:creationId id="{4C3C9859-8165-4061-B388-194051B29B33}"/>
              </a:ext>
            </a:extLst>
          </p:cNvPr>
          <p:cNvSpPr>
            <a:spLocks noGrp="1"/>
          </p:cNvSpPr>
          <p:nvPr/>
        </p:nvSpPr>
        <p:spPr>
          <a:xfrm>
            <a:off x="8686800" y="33528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선 연결선 38">
            <a:extLst>
              <a:ext uri="{FF2B5EF4-FFF2-40B4-BE49-F238E27FC236}">
                <ns2:creationId id="{154C21D8-8F6E-4639-8CFC-0AF6DB00EC1F}"/>
              </a:ext>
            </a:extLst>
          </p:cNvPr>
          <p:cNvSpPr>
            <a:spLocks noGrp="1"/>
          </p:cNvSpPr>
          <p:nvPr/>
        </p:nvSpPr>
        <p:spPr>
          <a:xfrm>
            <a:off x="9734550" y="3352800"/>
            <a:ext cx="647700" cy="0"/>
          </a:xfrm>
          <a:prstGeom prst="line">
            <a:avLst/>
          </a:prstGeom>
          <a:noFill/>
          <a:ln w="1905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직선 연결선 39">
            <a:extLst>
              <a:ext uri="{FF2B5EF4-FFF2-40B4-BE49-F238E27FC236}">
                <ns2:creationId id="{1293C584-EE03-45CE-B358-795784813995}"/>
              </a:ext>
            </a:extLst>
          </p:cNvPr>
          <p:cNvSpPr>
            <a:spLocks noGrp="1"/>
          </p:cNvSpPr>
          <p:nvPr/>
        </p:nvSpPr>
        <p:spPr>
          <a:xfrm>
            <a:off x="8686800" y="3505200"/>
            <a:ext cx="64770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선 연결선 40">
            <a:extLst>
              <a:ext uri="{FF2B5EF4-FFF2-40B4-BE49-F238E27FC236}">
                <ns2:creationId id="{A73E53A0-94FF-42DB-A991-A9354FD18C83}"/>
              </a:ext>
            </a:extLst>
          </p:cNvPr>
          <p:cNvSpPr>
            <a:spLocks noGrp="1"/>
          </p:cNvSpPr>
          <p:nvPr/>
        </p:nvSpPr>
        <p:spPr>
          <a:xfrm>
            <a:off x="9734550" y="35052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직선 연결선 41">
            <a:extLst>
              <a:ext uri="{FF2B5EF4-FFF2-40B4-BE49-F238E27FC236}">
                <ns2:creationId id="{8E1A8C56-C290-40BF-938A-C7F05C0D6EE4}"/>
              </a:ext>
            </a:extLst>
          </p:cNvPr>
          <p:cNvSpPr>
            <a:spLocks noGrp="1"/>
          </p:cNvSpPr>
          <p:nvPr/>
        </p:nvSpPr>
        <p:spPr>
          <a:xfrm>
            <a:off x="8686800" y="36576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선 연결선 42">
            <a:extLst>
              <a:ext uri="{FF2B5EF4-FFF2-40B4-BE49-F238E27FC236}">
                <ns2:creationId id="{95E84E66-BC7F-4B2E-A3E4-6AC8025260CB}"/>
              </a:ext>
            </a:extLst>
          </p:cNvPr>
          <p:cNvSpPr>
            <a:spLocks noGrp="1"/>
          </p:cNvSpPr>
          <p:nvPr/>
        </p:nvSpPr>
        <p:spPr>
          <a:xfrm>
            <a:off x="9734550" y="3657600"/>
            <a:ext cx="647700" cy="0"/>
          </a:xfrm>
          <a:prstGeom prst="line">
            <a:avLst/>
          </a:prstGeom>
          <a:noFill/>
          <a:ln w="19050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직사각형 43">
            <a:extLst>
              <a:ext uri="{FF2B5EF4-FFF2-40B4-BE49-F238E27FC236}">
                <ns2:creationId id="{7C031B67-3B6C-4C9F-ABE3-C2A60E725E25}"/>
              </a:ext>
            </a:extLst>
          </p:cNvPr>
          <p:cNvSpPr>
            <a:spLocks noGrp="1"/>
          </p:cNvSpPr>
          <p:nvPr/>
        </p:nvSpPr>
        <p:spPr>
          <a:xfrm>
            <a:off x="8705850" y="394335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총점 행 없음</a:t>
            </a:r>
          </a:p>
        </p:txBody>
      </p:sp>
      <p:sp>
        <p:nvSpPr>
          <p:cNvPr id="45" name="직사각형 44">
            <a:extLst>
              <a:ext uri="{FF2B5EF4-FFF2-40B4-BE49-F238E27FC236}">
                <ns2:creationId id="{C162A201-7353-4521-8431-68F6271A6732}"/>
              </a:ext>
            </a:extLst>
          </p:cNvPr>
          <p:cNvSpPr>
            <a:spLocks noGrp="1"/>
          </p:cNvSpPr>
          <p:nvPr/>
        </p:nvSpPr>
        <p:spPr>
          <a:xfrm>
            <a:off x="8134350" y="44958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이미 겹친 1개는 그대로</a:t>
            </a:r>
          </a:p>
          <a:p>
            <a:pPr algn="ctr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총점 없는 Option Grid로 재선택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ns2:creationId id="{4F17D0A7-B6E2-45EC-A100-0FCAC1D26EF8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4287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재탐색 화면 미설계</a:t>
            </a:r>
          </a:p>
        </p:txBody>
      </p:sp>
      <p:sp>
        <p:nvSpPr>
          <p:cNvPr id="47" name="직사각형 46">
            <a:extLst>
              <a:ext uri="{FF2B5EF4-FFF2-40B4-BE49-F238E27FC236}">
                <ns2:creationId id="{ED6F0DF6-3EDB-4A70-824F-F7FADE2E38F0}"/>
              </a:ext>
            </a:extLst>
          </p:cNvPr>
          <p:cNvSpPr>
            <a:spLocks noGrp="1"/>
          </p:cNvSpPr>
          <p:nvPr/>
        </p:nvSpPr>
        <p:spPr>
          <a:xfrm>
            <a:off x="2324100" y="5619750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조건에 맞는 집이 0개일 때 다시 찾아주는 화면은 아직 안 그렸습니다</a:t>
            </a:r>
          </a:p>
        </p:txBody>
      </p:sp>
      <p:sp>
        <p:nvSpPr>
          <p:cNvPr id="48" name="직사각형 47">
            <a:extLst>
              <a:ext uri="{FF2B5EF4-FFF2-40B4-BE49-F238E27FC236}">
                <ns2:creationId id="{FE002E9E-0ACC-4796-A65C-02FE60D610F4}"/>
              </a:ext>
            </a:extLst>
          </p:cNvPr>
          <p:cNvSpPr>
            <a:spLocks noGrp="1"/>
          </p:cNvSpPr>
          <p:nvPr/>
        </p:nvSpPr>
        <p:spPr>
          <a:xfrm>
            <a:off x="8239648" y="5581650"/>
            <a:ext cx="2999852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사진이나 추천 배지보다 양보 문장이 먼저입니다</a:t>
            </a:r>
          </a:p>
        </p:txBody>
      </p:sp>
    </p:spTree>
    <p:extLst>
      <p:ext uri="{BB962C8B-B14F-4D97-AF65-F5344CB8AC3E}">
        <ns3:creationId val="423235944"/>
      </p:ext>
    </p:extLst>
  </p:cSld>
  <p:clrMapOvr>
    <a:masterClrMapping/>
  </p:clrMapOvr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사각형: 둥근 모서리 47">
            <a:extLst>
              <a:ext uri="{FF2B5EF4-FFF2-40B4-BE49-F238E27FC236}">
                <ns2:creationId id="{06BA915B-95A0-4E0C-8013-57C47FD283B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데이터 · 조건 구조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0F66AA46-CE74-40C2-8C08-E099CBA133A5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“안 맞음”에도 네 종류가 있습니다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1E61ECE8-99B7-49BE-A523-A23FE8DBDA19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3191D1DE-ACD7-453F-9127-009566CD830A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1F862303-006F-436F-A722-04CEE5525597}"/>
              </a:ext>
            </a:extLst>
          </p:cNvPr>
          <p:cNvSpPr>
            <a:spLocks noGrp="1"/>
          </p:cNvSpPr>
          <p:nvPr/>
        </p:nvSpPr>
        <p:spPr>
          <a:xfrm>
            <a:off x="704850" y="1581150"/>
            <a:ext cx="5219700" cy="42291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4A6F3927-8C01-4886-9357-A6CDBE0B718B}"/>
              </a:ext>
            </a:extLst>
          </p:cNvPr>
          <p:cNvSpPr>
            <a:spLocks noGrp="1"/>
          </p:cNvSpPr>
          <p:nvPr/>
        </p:nvSpPr>
        <p:spPr>
          <a:xfrm>
            <a:off x="933450" y="18097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사람별 조건 구조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709AAAEC-61DA-4E2A-865A-B5C68234F31F}"/>
              </a:ext>
            </a:extLst>
          </p:cNvPr>
          <p:cNvSpPr>
            <a:spLocks noGrp="1"/>
          </p:cNvSpPr>
          <p:nvPr/>
        </p:nvSpPr>
        <p:spPr>
          <a:xfrm>
            <a:off x="933450" y="224917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예산</a:t>
            </a:r>
            <a:endParaRPr sz="11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ns2:creationId id="{A58D63BD-C430-4E16-8AEF-D60D4FEBDAF5}"/>
              </a:ext>
            </a:extLst>
          </p:cNvPr>
          <p:cNvSpPr>
            <a:spLocks noGrp="1"/>
          </p:cNvSpPr>
          <p:nvPr/>
        </p:nvSpPr>
        <p:spPr>
          <a:xfrm>
            <a:off x="2076450" y="223964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둘 다 필수 · 상한은 사람마다 다를 수 있음</a:t>
            </a:r>
          </a:p>
        </p:txBody>
      </p:sp>
      <p:sp>
        <p:nvSpPr>
          <p:cNvPr id="10" name="직선 연결선 9">
            <a:extLst>
              <a:ext uri="{FF2B5EF4-FFF2-40B4-BE49-F238E27FC236}">
                <ns2:creationId id="{9F87B0DE-5986-47B5-B393-D3F91DE568E9}"/>
              </a:ext>
            </a:extLst>
          </p:cNvPr>
          <p:cNvSpPr>
            <a:spLocks noGrp="1"/>
          </p:cNvSpPr>
          <p:nvPr/>
        </p:nvSpPr>
        <p:spPr>
          <a:xfrm>
            <a:off x="933450" y="258127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ns2:creationId id="{BC88FF80-7FC5-4506-ACA5-6FF8536B7B95}"/>
              </a:ext>
            </a:extLst>
          </p:cNvPr>
          <p:cNvSpPr>
            <a:spLocks noGrp="1"/>
          </p:cNvSpPr>
          <p:nvPr/>
        </p:nvSpPr>
        <p:spPr>
          <a:xfrm>
            <a:off x="933450" y="277304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통근</a:t>
            </a:r>
          </a:p>
        </p:txBody>
      </p:sp>
      <p:sp>
        <p:nvSpPr>
          <p:cNvPr id="12" name="직사각형 11">
            <a:extLst>
              <a:ext uri="{FF2B5EF4-FFF2-40B4-BE49-F238E27FC236}">
                <ns2:creationId id="{87016F0F-D393-42B5-98E6-B443A2EA5105}"/>
              </a:ext>
            </a:extLst>
          </p:cNvPr>
          <p:cNvSpPr>
            <a:spLocks noGrp="1"/>
          </p:cNvSpPr>
          <p:nvPr/>
        </p:nvSpPr>
        <p:spPr>
          <a:xfrm>
            <a:off x="2076450" y="276352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출근한다고 답한 사람만</a:t>
            </a:r>
          </a:p>
        </p:txBody>
      </p:sp>
      <p:sp>
        <p:nvSpPr>
          <p:cNvPr id="13" name="직선 연결선 12">
            <a:extLst>
              <a:ext uri="{FF2B5EF4-FFF2-40B4-BE49-F238E27FC236}">
                <ns2:creationId id="{72E942FE-55E1-49DB-B3FD-77590B9CEFA8}"/>
              </a:ext>
            </a:extLst>
          </p:cNvPr>
          <p:cNvSpPr>
            <a:spLocks noGrp="1"/>
          </p:cNvSpPr>
          <p:nvPr/>
        </p:nvSpPr>
        <p:spPr>
          <a:xfrm>
            <a:off x="933450" y="310515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ns2:creationId id="{1DA0E42E-515D-4AAB-BFFD-BA0F42655690}"/>
              </a:ext>
            </a:extLst>
          </p:cNvPr>
          <p:cNvSpPr>
            <a:spLocks noGrp="1"/>
          </p:cNvSpPr>
          <p:nvPr/>
        </p:nvSpPr>
        <p:spPr>
          <a:xfrm>
            <a:off x="933450" y="329692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꼭 지킬 조건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D2BB4B14-4A97-4B22-9480-3F0B454C17D4}"/>
              </a:ext>
            </a:extLst>
          </p:cNvPr>
          <p:cNvSpPr>
            <a:spLocks noGrp="1"/>
          </p:cNvSpPr>
          <p:nvPr/>
        </p:nvSpPr>
        <p:spPr>
          <a:xfrm>
            <a:off x="2076450" y="328739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0~4개 · 본인이 고름</a:t>
            </a:r>
          </a:p>
        </p:txBody>
      </p:sp>
      <p:sp>
        <p:nvSpPr>
          <p:cNvPr id="16" name="직선 연결선 15">
            <a:extLst>
              <a:ext uri="{FF2B5EF4-FFF2-40B4-BE49-F238E27FC236}">
                <ns2:creationId id="{5D8ED991-16E5-44B8-A1AB-6ACEDF5615A9}"/>
              </a:ext>
            </a:extLst>
          </p:cNvPr>
          <p:cNvSpPr>
            <a:spLocks noGrp="1"/>
          </p:cNvSpPr>
          <p:nvPr/>
        </p:nvSpPr>
        <p:spPr>
          <a:xfrm>
            <a:off x="933450" y="362902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ns2:creationId id="{1342A7FA-F153-4A62-ACC8-4339D4FE232B}"/>
              </a:ext>
            </a:extLst>
          </p:cNvPr>
          <p:cNvSpPr>
            <a:spLocks noGrp="1"/>
          </p:cNvSpPr>
          <p:nvPr/>
        </p:nvSpPr>
        <p:spPr>
          <a:xfrm>
            <a:off x="933450" y="382079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선호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EB657D60-6650-4C7A-A75F-D15564F91004}"/>
              </a:ext>
            </a:extLst>
          </p:cNvPr>
          <p:cNvSpPr>
            <a:spLocks noGrp="1"/>
          </p:cNvSpPr>
          <p:nvPr/>
        </p:nvSpPr>
        <p:spPr>
          <a:xfrm>
            <a:off x="2076450" y="381127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자유 문장 · 개수 제한 없음 · 판정 안 함</a:t>
            </a:r>
          </a:p>
        </p:txBody>
      </p:sp>
      <p:sp>
        <p:nvSpPr>
          <p:cNvPr id="19" name="직선 연결선 18">
            <a:extLst>
              <a:ext uri="{FF2B5EF4-FFF2-40B4-BE49-F238E27FC236}">
                <ns2:creationId id="{6FB66794-E607-4910-9D2D-649E2B71B618}"/>
              </a:ext>
            </a:extLst>
          </p:cNvPr>
          <p:cNvSpPr>
            <a:spLocks noGrp="1"/>
          </p:cNvSpPr>
          <p:nvPr/>
        </p:nvSpPr>
        <p:spPr>
          <a:xfrm>
            <a:off x="933450" y="415290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ns2:creationId id="{C07D9CBA-B18E-43CF-BF21-38CB8DEFA886}"/>
              </a:ext>
            </a:extLst>
          </p:cNvPr>
          <p:cNvSpPr>
            <a:spLocks noGrp="1"/>
          </p:cNvSpPr>
          <p:nvPr/>
        </p:nvSpPr>
        <p:spPr>
          <a:xfrm>
            <a:off x="933450" y="434467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확인 필요</a:t>
            </a:r>
          </a:p>
        </p:txBody>
      </p:sp>
      <p:sp>
        <p:nvSpPr>
          <p:cNvPr id="21" name="직사각형 20">
            <a:extLst>
              <a:ext uri="{FF2B5EF4-FFF2-40B4-BE49-F238E27FC236}">
                <ns2:creationId id="{8DB0F047-6DD5-46AC-AD78-BFAEF1590CC8}"/>
              </a:ext>
            </a:extLst>
          </p:cNvPr>
          <p:cNvSpPr>
            <a:spLocks noGrp="1"/>
          </p:cNvSpPr>
          <p:nvPr/>
        </p:nvSpPr>
        <p:spPr>
          <a:xfrm>
            <a:off x="2076450" y="433514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방문 전에 중개사에게 물어볼 것 · 개수 제한 없음</a:t>
            </a:r>
          </a:p>
        </p:txBody>
      </p:sp>
      <p:sp>
        <p:nvSpPr>
          <p:cNvPr id="22" name="직선 연결선 21">
            <a:extLst>
              <a:ext uri="{FF2B5EF4-FFF2-40B4-BE49-F238E27FC236}">
                <ns2:creationId id="{5F88A8D3-C817-4868-8D0E-ECB1152CEEC8}"/>
              </a:ext>
            </a:extLst>
          </p:cNvPr>
          <p:cNvSpPr>
            <a:spLocks noGrp="1"/>
          </p:cNvSpPr>
          <p:nvPr/>
        </p:nvSpPr>
        <p:spPr>
          <a:xfrm>
            <a:off x="933450" y="4676775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ns2:creationId id="{DEF26A3B-A798-4B03-A041-6A78EA44B5A1}"/>
              </a:ext>
            </a:extLst>
          </p:cNvPr>
          <p:cNvSpPr>
            <a:spLocks noGrp="1"/>
          </p:cNvSpPr>
          <p:nvPr/>
        </p:nvSpPr>
        <p:spPr>
          <a:xfrm>
            <a:off x="933450" y="486854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방문 체크리스트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89C80383-264C-4135-955E-CCA4E0FE08C2}"/>
              </a:ext>
            </a:extLst>
          </p:cNvPr>
          <p:cNvSpPr>
            <a:spLocks noGrp="1"/>
          </p:cNvSpPr>
          <p:nvPr/>
        </p:nvSpPr>
        <p:spPr>
          <a:xfrm>
            <a:off x="2076450" y="485902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0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방문 전에 받는 공통 목록</a:t>
            </a:r>
          </a:p>
        </p:txBody>
      </p:sp>
      <p:sp>
        <p:nvSpPr>
          <p:cNvPr id="25" name="직선 연결선 24">
            <a:extLst>
              <a:ext uri="{FF2B5EF4-FFF2-40B4-BE49-F238E27FC236}">
                <ns2:creationId id="{52024981-9BE2-42BC-87D3-8743CE83D9AB}"/>
              </a:ext>
            </a:extLst>
          </p:cNvPr>
          <p:cNvSpPr>
            <a:spLocks noGrp="1"/>
          </p:cNvSpPr>
          <p:nvPr/>
        </p:nvSpPr>
        <p:spPr>
          <a:xfrm>
            <a:off x="933450" y="5200650"/>
            <a:ext cx="46482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ns2:creationId id="{D59FEF68-58EA-4FE1-A259-DB823B4B9D63}"/>
              </a:ext>
            </a:extLst>
          </p:cNvPr>
          <p:cNvSpPr>
            <a:spLocks noGrp="1"/>
          </p:cNvSpPr>
          <p:nvPr/>
        </p:nvSpPr>
        <p:spPr>
          <a:xfrm>
            <a:off x="933450" y="5391150"/>
            <a:ext cx="125730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판정 가능한 6개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F71B3D4F-558D-421E-A890-BFE411F200F9}"/>
              </a:ext>
            </a:extLst>
          </p:cNvPr>
          <p:cNvSpPr>
            <a:spLocks noGrp="1"/>
          </p:cNvSpPr>
          <p:nvPr/>
        </p:nvSpPr>
        <p:spPr>
          <a:xfrm>
            <a:off x="2343150" y="5381625"/>
            <a:ext cx="329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예산 · 통근시간 · 역 도보 · 전용면적 · 주차 · 매물 유형</a:t>
            </a:r>
            <a:endParaRPr sz="1100" b="1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ns2:creationId id="{8B7E1D45-2694-429F-A3F6-E3F27A127D07}"/>
              </a:ext>
            </a:extLst>
          </p:cNvPr>
          <p:cNvSpPr>
            <a:spLocks noGrp="1"/>
          </p:cNvSpPr>
          <p:nvPr/>
        </p:nvSpPr>
        <p:spPr>
          <a:xfrm>
            <a:off x="6267450" y="1581150"/>
            <a:ext cx="5219700" cy="42291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ns2:creationId id="{C61D58E2-5F31-4500-A643-1B3247816F81}"/>
              </a:ext>
            </a:extLst>
          </p:cNvPr>
          <p:cNvSpPr>
            <a:spLocks noGrp="1"/>
          </p:cNvSpPr>
          <p:nvPr/>
        </p:nvSpPr>
        <p:spPr>
          <a:xfrm>
            <a:off x="6496050" y="18097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상태는 서로 다른 의미다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ECFD1156-8D5B-4B8D-A694-81AF2D320C2B}"/>
              </a:ext>
            </a:extLst>
          </p:cNvPr>
          <p:cNvSpPr>
            <a:spLocks noGrp="1"/>
          </p:cNvSpPr>
          <p:nvPr/>
        </p:nvSpPr>
        <p:spPr>
          <a:xfrm>
            <a:off x="6496050" y="224790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1" name="직사각형 30">
            <a:extLst>
              <a:ext uri="{FF2B5EF4-FFF2-40B4-BE49-F238E27FC236}">
                <ns2:creationId id="{13981B6C-6AB1-495D-9857-1ACEAB781263}"/>
              </a:ext>
            </a:extLst>
          </p:cNvPr>
          <p:cNvSpPr>
            <a:spLocks noGrp="1"/>
          </p:cNvSpPr>
          <p:nvPr/>
        </p:nvSpPr>
        <p:spPr>
          <a:xfrm>
            <a:off x="6629400" y="243432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 xml:space="preserve">미충족</a:t>
            </a:r>
            <a:endParaRPr sz="1100" b="1" dirty="0">
              <a:solidFill>
                <a:srgbClr val="D9770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직사각형 31">
            <a:extLst>
              <a:ext uri="{FF2B5EF4-FFF2-40B4-BE49-F238E27FC236}">
                <ns2:creationId id="{00AA80DC-2951-4C4C-950F-2DF06CFB5E3A}"/>
              </a:ext>
            </a:extLst>
          </p:cNvPr>
          <p:cNvSpPr>
            <a:spLocks noGrp="1"/>
          </p:cNvSpPr>
          <p:nvPr/>
        </p:nvSpPr>
        <p:spPr>
          <a:xfrm>
            <a:off x="7696200" y="243554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재봤는데 기준에 안 맞음</a:t>
            </a:r>
            <a:endParaRPr sz="11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3" name="직사각형 32">
            <a:extLst>
              <a:ext uri="{FF2B5EF4-FFF2-40B4-BE49-F238E27FC236}">
                <ns2:creationId id="{374CAF5C-B78D-4801-A0D4-84A16EF708C4}"/>
              </a:ext>
            </a:extLst>
          </p:cNvPr>
          <p:cNvSpPr>
            <a:spLocks noGrp="1"/>
          </p:cNvSpPr>
          <p:nvPr/>
        </p:nvSpPr>
        <p:spPr>
          <a:xfrm>
            <a:off x="9429750" y="236410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실제값·기준값·미달량</a:t>
            </a:r>
            <a:endParaRPr sz="1050" b="0" dirty="0">
              <a:solidFill>
                <a:srgbClr val="617067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ns2:creationId id="{C8286FAA-5500-4266-9DF6-B65BF11059FC}"/>
              </a:ext>
            </a:extLst>
          </p:cNvPr>
          <p:cNvSpPr>
            <a:spLocks noGrp="1"/>
          </p:cNvSpPr>
          <p:nvPr/>
        </p:nvSpPr>
        <p:spPr>
          <a:xfrm>
            <a:off x="6496050" y="299085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FBE8E8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5" name="직사각형 34">
            <a:extLst>
              <a:ext uri="{FF2B5EF4-FFF2-40B4-BE49-F238E27FC236}">
                <ns2:creationId id="{C1D0B3BD-1903-40F2-BDAC-E0B56AA8AD2A}"/>
              </a:ext>
            </a:extLst>
          </p:cNvPr>
          <p:cNvSpPr>
            <a:spLocks noGrp="1"/>
          </p:cNvSpPr>
          <p:nvPr/>
        </p:nvSpPr>
        <p:spPr>
          <a:xfrm>
            <a:off x="6629400" y="317727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B43C3C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B43C3C"/>
                </a:solidFill>
                <a:latin typeface="Noto Sans KR"/>
                <a:ea typeface="Noto Sans KR"/>
                <a:cs typeface="Noto Sans KR"/>
              </a:rPr>
              <a:t xml:space="preserve">계산 불가</a:t>
            </a:r>
            <a:endParaRPr sz="1100" b="1" dirty="0">
              <a:solidFill>
                <a:srgbClr val="B43C3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직사각형 35">
            <a:extLst>
              <a:ext uri="{FF2B5EF4-FFF2-40B4-BE49-F238E27FC236}">
                <ns2:creationId id="{3E09C0FA-9763-4A8A-93D5-3F507E993AEF}"/>
              </a:ext>
            </a:extLst>
          </p:cNvPr>
          <p:cNvSpPr>
            <a:spLocks noGrp="1"/>
          </p:cNvSpPr>
          <p:nvPr/>
        </p:nvSpPr>
        <p:spPr>
          <a:xfrm>
            <a:off x="7696200" y="317849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시스템이 계산에 실패함</a:t>
            </a:r>
          </a:p>
        </p:txBody>
      </p:sp>
      <p:sp>
        <p:nvSpPr>
          <p:cNvPr id="37" name="직사각형 36">
            <a:extLst>
              <a:ext uri="{FF2B5EF4-FFF2-40B4-BE49-F238E27FC236}">
                <ns2:creationId id="{6EC14EC8-BB5E-4A16-B182-AC8A5A59CD4B}"/>
              </a:ext>
            </a:extLst>
          </p:cNvPr>
          <p:cNvSpPr>
            <a:spLocks noGrp="1"/>
          </p:cNvSpPr>
          <p:nvPr/>
        </p:nvSpPr>
        <p:spPr>
          <a:xfrm>
            <a:off x="9429750" y="310705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오류지, 조건 미달이 아님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ns2:creationId id="{6098AE77-45AA-40B6-A4A9-914D547C449E}"/>
              </a:ext>
            </a:extLst>
          </p:cNvPr>
          <p:cNvSpPr>
            <a:spLocks noGrp="1"/>
          </p:cNvSpPr>
          <p:nvPr/>
        </p:nvSpPr>
        <p:spPr>
          <a:xfrm>
            <a:off x="6496050" y="373380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39" name="직사각형 38">
            <a:extLst>
              <a:ext uri="{FF2B5EF4-FFF2-40B4-BE49-F238E27FC236}">
                <ns2:creationId id="{2BA088EC-0DBE-4919-A070-D2109B71D2AC}"/>
              </a:ext>
            </a:extLst>
          </p:cNvPr>
          <p:cNvSpPr>
            <a:spLocks noGrp="1"/>
          </p:cNvSpPr>
          <p:nvPr/>
        </p:nvSpPr>
        <p:spPr>
          <a:xfrm>
            <a:off x="6629400" y="392022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확인 필요</a:t>
            </a:r>
          </a:p>
        </p:txBody>
      </p:sp>
      <p:sp>
        <p:nvSpPr>
          <p:cNvPr id="40" name="직사각형 39">
            <a:extLst>
              <a:ext uri="{FF2B5EF4-FFF2-40B4-BE49-F238E27FC236}">
                <ns2:creationId id="{2D76F29B-BC6A-4664-A6FB-A3DF4DD0E213}"/>
              </a:ext>
            </a:extLst>
          </p:cNvPr>
          <p:cNvSpPr>
            <a:spLocks noGrp="1"/>
          </p:cNvSpPr>
          <p:nvPr/>
        </p:nvSpPr>
        <p:spPr>
          <a:xfrm>
            <a:off x="7696200" y="392144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데이터로는 알 수 없음</a:t>
            </a:r>
          </a:p>
        </p:txBody>
      </p:sp>
      <p:sp>
        <p:nvSpPr>
          <p:cNvPr id="41" name="직사각형 40">
            <a:extLst>
              <a:ext uri="{FF2B5EF4-FFF2-40B4-BE49-F238E27FC236}">
                <ns2:creationId id="{82F5FFB8-62B7-4D44-9B65-9636FA41CE77}"/>
              </a:ext>
            </a:extLst>
          </p:cNvPr>
          <p:cNvSpPr>
            <a:spLocks noGrp="1"/>
          </p:cNvSpPr>
          <p:nvPr/>
        </p:nvSpPr>
        <p:spPr>
          <a:xfrm>
            <a:off x="9429750" y="385000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방문 전 질문 목록으로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ns2:creationId id="{01818214-1B73-4DD9-AF91-3394E267A2A3}"/>
              </a:ext>
            </a:extLst>
          </p:cNvPr>
          <p:cNvSpPr>
            <a:spLocks noGrp="1"/>
          </p:cNvSpPr>
          <p:nvPr/>
        </p:nvSpPr>
        <p:spPr>
          <a:xfrm>
            <a:off x="6496050" y="4476750"/>
            <a:ext cx="4762500" cy="590550"/>
          </a:xfrm>
          <a:prstGeom prst="roundRect">
            <a:avLst>
              <a:gd name="adj" fmla="val 14516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43" name="직사각형 42">
            <a:extLst>
              <a:ext uri="{FF2B5EF4-FFF2-40B4-BE49-F238E27FC236}">
                <ns2:creationId id="{7619066E-44EF-4D6E-9E95-E2802D72942B}"/>
              </a:ext>
            </a:extLst>
          </p:cNvPr>
          <p:cNvSpPr>
            <a:spLocks noGrp="1"/>
          </p:cNvSpPr>
          <p:nvPr/>
        </p:nvSpPr>
        <p:spPr>
          <a:xfrm>
            <a:off x="6629400" y="466317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해당 없음</a:t>
            </a:r>
          </a:p>
        </p:txBody>
      </p:sp>
      <p:sp>
        <p:nvSpPr>
          <p:cNvPr id="44" name="직사각형 43">
            <a:extLst>
              <a:ext uri="{FF2B5EF4-FFF2-40B4-BE49-F238E27FC236}">
                <ns2:creationId id="{85802C9E-0667-44A2-813E-244A3E88AE32}"/>
              </a:ext>
            </a:extLst>
          </p:cNvPr>
          <p:cNvSpPr>
            <a:spLocks noGrp="1"/>
          </p:cNvSpPr>
          <p:nvPr/>
        </p:nvSpPr>
        <p:spPr>
          <a:xfrm>
            <a:off x="7696200" y="4664393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잴 게 아예 없음</a:t>
            </a:r>
          </a:p>
        </p:txBody>
      </p:sp>
      <p:sp>
        <p:nvSpPr>
          <p:cNvPr id="45" name="직사각형 44">
            <a:extLst>
              <a:ext uri="{FF2B5EF4-FFF2-40B4-BE49-F238E27FC236}">
                <ns2:creationId id="{3DB9CFE8-A69A-4285-990B-1328F49DA020}"/>
              </a:ext>
            </a:extLst>
          </p:cNvPr>
          <p:cNvSpPr>
            <a:spLocks noGrp="1"/>
          </p:cNvSpPr>
          <p:nvPr/>
        </p:nvSpPr>
        <p:spPr>
          <a:xfrm>
            <a:off x="9429750" y="459295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82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그 줄을 뺌 · 출근 안 함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ns2:creationId id="{1CE4D8EE-8ABC-4207-9001-95E0A670096D}"/>
              </a:ext>
            </a:extLst>
          </p:cNvPr>
          <p:cNvSpPr>
            <a:spLocks noGrp="1"/>
          </p:cNvSpPr>
          <p:nvPr/>
        </p:nvSpPr>
        <p:spPr>
          <a:xfrm>
            <a:off x="6496050" y="5353050"/>
            <a:ext cx="4762500" cy="266700"/>
          </a:xfrm>
          <a:prstGeom prst="roundRect">
            <a:avLst>
              <a:gd name="adj" fmla="val 25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직사각형 46">
            <a:extLst>
              <a:ext uri="{FF2B5EF4-FFF2-40B4-BE49-F238E27FC236}">
                <ns2:creationId id="{F66B3CDE-1AC8-4343-8110-864AB6851188}"/>
              </a:ext>
            </a:extLst>
          </p:cNvPr>
          <p:cNvSpPr>
            <a:spLocks noGrp="1"/>
          </p:cNvSpPr>
          <p:nvPr/>
        </p:nvSpPr>
        <p:spPr>
          <a:xfrm>
            <a:off x="6629400" y="5400675"/>
            <a:ext cx="449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출근 안 함은 정상입니다 · 통근·교통비를 재지 않습니다</a:t>
            </a:r>
            <a:endParaRPr sz="1100" b="1" dirty="0">
              <a:solidFill>
                <a:srgbClr val="087A43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ns3:creationId val="1384968217"/>
      </p:ext>
    </p:extLst>
  </p:cSld>
  <p:clrMapOvr>
    <a:masterClrMapping/>
  </p:clrMapOvr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ns2:creationId id="{03BFF83D-D231-432A-B2F3-CB7330C5C81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17907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데이터 · 시스템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1D4F6DD1-0161-428A-8EB2-D25C864B054C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읽고, 판정하고, 네이버로 돌려보낸다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3D15EA59-CA07-4B6C-9E9F-BC3818B6FE4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46A8E9E4-9807-4279-A6BE-55C04451386D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F632BB86-EEA5-417D-A013-3E6A6AE6DE45}"/>
              </a:ext>
            </a:extLst>
          </p:cNvPr>
          <p:cNvSpPr>
            <a:spLocks noGrp="1"/>
          </p:cNvSpPr>
          <p:nvPr/>
        </p:nvSpPr>
        <p:spPr>
          <a:xfrm>
            <a:off x="72390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C48F359E-AE4A-4FBE-8420-4B15F7236C57}"/>
              </a:ext>
            </a:extLst>
          </p:cNvPr>
          <p:cNvSpPr>
            <a:spLocks noGrp="1"/>
          </p:cNvSpPr>
          <p:nvPr/>
        </p:nvSpPr>
        <p:spPr>
          <a:xfrm>
            <a:off x="91440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15231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읽고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28E27F35-F4EB-4586-B222-3D15DC72764E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네이버 부동산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2012023E-0622-4E73-AC04-06753B5E202E}"/>
              </a:ext>
            </a:extLst>
          </p:cNvPr>
          <p:cNvSpPr>
            <a:spLocks noGrp="1"/>
          </p:cNvSpPr>
          <p:nvPr/>
        </p:nvSpPr>
        <p:spPr>
          <a:xfrm>
            <a:off x="91440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매물 ID·좌표·가격·면적·유형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주차와 역 도보, 거래 상태</a:t>
            </a:r>
          </a:p>
        </p:txBody>
      </p:sp>
      <p:sp>
        <p:nvSpPr>
          <p:cNvPr id="10" name="화살표: 오른쪽 9">
            <a:extLst>
              <a:ext uri="{FF2B5EF4-FFF2-40B4-BE49-F238E27FC236}">
                <ns2:creationId id="{3A85E9D6-7298-4C2A-ADED-C39004B72FA2}"/>
              </a:ext>
            </a:extLst>
          </p:cNvPr>
          <p:cNvSpPr>
            <a:spLocks noGrp="1"/>
          </p:cNvSpPr>
          <p:nvPr/>
        </p:nvSpPr>
        <p:spPr>
          <a:xfrm>
            <a:off x="3905250" y="2590800"/>
            <a:ext cx="4572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사각형: 둥근 모서리 10">
            <a:extLst>
              <a:ext uri="{FF2B5EF4-FFF2-40B4-BE49-F238E27FC236}">
                <ns2:creationId id="{99F67BD8-974E-4280-9C9E-9E3D5CF857BE}"/>
              </a:ext>
            </a:extLst>
          </p:cNvPr>
          <p:cNvSpPr>
            <a:spLocks noGrp="1"/>
          </p:cNvSpPr>
          <p:nvPr/>
        </p:nvSpPr>
        <p:spPr>
          <a:xfrm>
            <a:off x="436245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ns2:creationId id="{84624095-CC6B-4E66-B22C-C17392869A65}"/>
              </a:ext>
            </a:extLst>
          </p:cNvPr>
          <p:cNvSpPr>
            <a:spLocks noGrp="1"/>
          </p:cNvSpPr>
          <p:nvPr/>
        </p:nvSpPr>
        <p:spPr>
          <a:xfrm>
            <a:off x="455295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판정하고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1A7405F7-AE9A-4BFC-BE8C-F23330904436}"/>
              </a:ext>
            </a:extLst>
          </p:cNvPr>
          <p:cNvSpPr>
            <a:spLocks noGrp="1"/>
          </p:cNvSpPr>
          <p:nvPr/>
        </p:nvSpPr>
        <p:spPr>
          <a:xfrm>
            <a:off x="455295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같이 보기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2CCACA61-AD01-4050-BC9E-23B40B5BF225}"/>
              </a:ext>
            </a:extLst>
          </p:cNvPr>
          <p:cNvSpPr>
            <a:spLocks noGrp="1"/>
          </p:cNvSpPr>
          <p:nvPr/>
        </p:nvSpPr>
        <p:spPr>
          <a:xfrm>
            <a:off x="455295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사람별 조건 · 후보 묶음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조건별 판정 · 미달량 · 양보 문장</a:t>
            </a:r>
          </a:p>
        </p:txBody>
      </p:sp>
      <p:sp>
        <p:nvSpPr>
          <p:cNvPr id="15" name="화살표: 오른쪽 14">
            <a:extLst>
              <a:ext uri="{FF2B5EF4-FFF2-40B4-BE49-F238E27FC236}">
                <ns2:creationId id="{BA7E3ED9-61E2-45DF-99DD-869E85500943}"/>
              </a:ext>
            </a:extLst>
          </p:cNvPr>
          <p:cNvSpPr>
            <a:spLocks noGrp="1"/>
          </p:cNvSpPr>
          <p:nvPr/>
        </p:nvSpPr>
        <p:spPr>
          <a:xfrm>
            <a:off x="7543800" y="2590800"/>
            <a:ext cx="457200" cy="2095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ns2:creationId id="{8B682AD8-2801-4ECE-A752-1A4CEB0F38CB}"/>
              </a:ext>
            </a:extLst>
          </p:cNvPr>
          <p:cNvSpPr>
            <a:spLocks noGrp="1"/>
          </p:cNvSpPr>
          <p:nvPr/>
        </p:nvSpPr>
        <p:spPr>
          <a:xfrm>
            <a:off x="8001000" y="1733550"/>
            <a:ext cx="31813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ns2:creationId id="{6A155980-FB2B-4C74-9142-19A162EEE73C}"/>
              </a:ext>
            </a:extLst>
          </p:cNvPr>
          <p:cNvSpPr>
            <a:spLocks noGrp="1"/>
          </p:cNvSpPr>
          <p:nvPr/>
        </p:nvSpPr>
        <p:spPr>
          <a:xfrm>
            <a:off x="8191500" y="19240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돌려보내고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814959AC-BAD7-40D6-A4CE-9A3ADF4086CA}"/>
              </a:ext>
            </a:extLst>
          </p:cNvPr>
          <p:cNvSpPr>
            <a:spLocks noGrp="1"/>
          </p:cNvSpPr>
          <p:nvPr/>
        </p:nvSpPr>
        <p:spPr>
          <a:xfrm>
            <a:off x="8191500" y="2343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네이버 검색 · 방문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1F433AFA-BE91-4390-B932-6752631D6A9C}"/>
              </a:ext>
            </a:extLst>
          </p:cNvPr>
          <p:cNvSpPr>
            <a:spLocks noGrp="1"/>
          </p:cNvSpPr>
          <p:nvPr/>
        </p:nvSpPr>
        <p:spPr>
          <a:xfrm>
            <a:off x="8191500" y="28384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사용자가 필터를 눌러 다시 검색</a:t>
            </a:r>
          </a:p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방문 · 문의로 돌아감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843298BD-9E2D-4A95-8405-CC345D967FDB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비로그인 조건</a:t>
            </a:r>
          </a:p>
        </p:txBody>
      </p:sp>
      <p:sp>
        <p:nvSpPr>
          <p:cNvPr id="21" name="직사각형 20">
            <a:extLst>
              <a:ext uri="{FF2B5EF4-FFF2-40B4-BE49-F238E27FC236}">
                <ns2:creationId id="{AC8424A5-7702-4767-B473-597D512099F7}"/>
              </a:ext>
            </a:extLst>
          </p:cNvPr>
          <p:cNvSpPr>
            <a:spLocks noGrp="1"/>
          </p:cNvSpPr>
          <p:nvPr/>
        </p:nvSpPr>
        <p:spPr>
          <a:xfrm>
            <a:off x="2533650" y="417195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초대 코드로 연결 · 마지막으로 연 날부터 30일 뒤 삭제 · 로그인하면 계정으로 옮김</a:t>
            </a:r>
          </a:p>
        </p:txBody>
      </p:sp>
      <p:sp>
        <p:nvSpPr>
          <p:cNvPr id="22" name="직선 연결선 21">
            <a:extLst>
              <a:ext uri="{FF2B5EF4-FFF2-40B4-BE49-F238E27FC236}">
                <ns2:creationId id="{A993480A-4A6E-44F5-A52D-F334B156719E}"/>
              </a:ext>
            </a:extLst>
          </p:cNvPr>
          <p:cNvSpPr>
            <a:spLocks noGrp="1"/>
          </p:cNvSpPr>
          <p:nvPr/>
        </p:nvSpPr>
        <p:spPr>
          <a:xfrm>
            <a:off x="800100" y="4572000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ns2:creationId id="{82E6E59B-B522-4E31-AADD-AAB4787FCBC1}"/>
              </a:ext>
            </a:extLst>
          </p:cNvPr>
          <p:cNvSpPr>
            <a:spLocks noGrp="1"/>
          </p:cNvSpPr>
          <p:nvPr/>
        </p:nvSpPr>
        <p:spPr>
          <a:xfrm>
            <a:off x="800100" y="46958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통근 계산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2EF3A201-96A9-4239-9EFA-89C1F36517ED}"/>
              </a:ext>
            </a:extLst>
          </p:cNvPr>
          <p:cNvSpPr>
            <a:spLocks noGrp="1"/>
          </p:cNvSpPr>
          <p:nvPr/>
        </p:nvSpPr>
        <p:spPr>
          <a:xfrm>
            <a:off x="2533650" y="4695825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출근지 · 매물 좌표 · 이동수단을 저장해 재사용 · 출근 안 하면 계산 안 함</a:t>
            </a:r>
          </a:p>
        </p:txBody>
      </p:sp>
      <p:sp>
        <p:nvSpPr>
          <p:cNvPr id="25" name="직선 연결선 24">
            <a:extLst>
              <a:ext uri="{FF2B5EF4-FFF2-40B4-BE49-F238E27FC236}">
                <ns2:creationId id="{2C3A248A-5D48-4075-8133-627DCBE90081}"/>
              </a:ext>
            </a:extLst>
          </p:cNvPr>
          <p:cNvSpPr>
            <a:spLocks noGrp="1"/>
          </p:cNvSpPr>
          <p:nvPr/>
        </p:nvSpPr>
        <p:spPr>
          <a:xfrm>
            <a:off x="800100" y="5095875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ns2:creationId id="{830FEACF-5A3C-4773-814F-3CEC7CA8CECC}"/>
              </a:ext>
            </a:extLst>
          </p:cNvPr>
          <p:cNvSpPr>
            <a:spLocks noGrp="1"/>
          </p:cNvSpPr>
          <p:nvPr/>
        </p:nvSpPr>
        <p:spPr>
          <a:xfrm>
            <a:off x="800100" y="52197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비용 표시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E27AE8B8-BB91-4075-AF3B-BE8B68D221D3}"/>
              </a:ext>
            </a:extLst>
          </p:cNvPr>
          <p:cNvSpPr>
            <a:spLocks noGrp="1"/>
          </p:cNvSpPr>
          <p:nvPr/>
        </p:nvSpPr>
        <p:spPr>
          <a:xfrm>
            <a:off x="2533650" y="5219700"/>
            <a:ext cx="762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기회비용 · 대출이자 · 월세 · 관리비 · 교통비 · 초기비용, 전제와 기준일을 함께</a:t>
            </a:r>
          </a:p>
        </p:txBody>
      </p:sp>
      <p:sp>
        <p:nvSpPr>
          <p:cNvPr id="28" name="직선 연결선 27">
            <a:extLst>
              <a:ext uri="{FF2B5EF4-FFF2-40B4-BE49-F238E27FC236}">
                <ns2:creationId id="{B0CA3EC6-31B9-4ABE-A209-5FB1426A2E18}"/>
              </a:ext>
            </a:extLst>
          </p:cNvPr>
          <p:cNvSpPr>
            <a:spLocks noGrp="1"/>
          </p:cNvSpPr>
          <p:nvPr/>
        </p:nvSpPr>
        <p:spPr>
          <a:xfrm>
            <a:off x="800100" y="5619750"/>
            <a:ext cx="1038225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ns2:creationId id="{5253DD6A-14E2-4F0E-A4E6-4B65186BF5B7}"/>
              </a:ext>
            </a:extLst>
          </p:cNvPr>
          <p:cNvSpPr>
            <a:spLocks noGrp="1"/>
          </p:cNvSpPr>
          <p:nvPr/>
        </p:nvSpPr>
        <p:spPr>
          <a:xfrm>
            <a:off x="9105900" y="3871913"/>
            <a:ext cx="142875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내부 확인 필요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7513D017-C59B-440E-9A96-A85A76FB1978}"/>
              </a:ext>
            </a:extLst>
          </p:cNvPr>
          <p:cNvSpPr>
            <a:spLocks noGrp="1"/>
          </p:cNvSpPr>
          <p:nvPr/>
        </p:nvSpPr>
        <p:spPr>
          <a:xfrm>
            <a:off x="8839200" y="4233863"/>
            <a:ext cx="2381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관심매물 API · 비로그인 열람</a:t>
            </a:r>
          </a:p>
          <a:p>
            <a:pPr algn="ctr">
              <a:defRPr sz="9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검색 결과 수 · 필터 값 · 경로 계산 비용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90C7DC35-8DA7-4B63-B28B-8FECB24E720B}"/>
              </a:ext>
            </a:extLst>
          </p:cNvPr>
          <p:cNvSpPr>
            <a:spLocks noGrp="1"/>
          </p:cNvSpPr>
          <p:nvPr/>
        </p:nvSpPr>
        <p:spPr>
          <a:xfrm>
            <a:off x="1543050" y="5848350"/>
            <a:ext cx="904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사진 · 설명 · 중개사 정보는 판정에 쓰지 않음 · 네이버 매물 데이터를 고치지 않음</a:t>
            </a:r>
          </a:p>
        </p:txBody>
      </p:sp>
    </p:spTree>
    <p:extLst>
      <p:ext uri="{BB962C8B-B14F-4D97-AF65-F5344CB8AC3E}">
        <ns3:creationId val="1473021752"/>
      </p:ext>
    </p:extLst>
  </p:cSld>
  <p:clrMapOvr>
    <a:masterClrMapping/>
  </p:clrMapOvr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ns2:creationId id="{2F2043CB-240E-4452-A1AB-BDE7235A457E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7051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PRD · 목적과 범위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90D95E5C-7780-45DF-8A13-7B5A31557B20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할 것 일곱 가지, 안 할 것 여섯 가지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DDC5099A-B7A4-4542-97DF-B985A2E4B397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78483581-D515-42CB-A55C-549101FDA247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05ACB850-1BFA-46D5-9FE9-93037D21C4E7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10744200" cy="895350"/>
          </a:xfrm>
          <a:prstGeom prst="roundRect">
            <a:avLst>
              <a:gd name="adj" fmla="val 14894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70415A79-DADF-4BED-82F0-89402425393F}"/>
              </a:ext>
            </a:extLst>
          </p:cNvPr>
          <p:cNvSpPr>
            <a:spLocks noGrp="1"/>
          </p:cNvSpPr>
          <p:nvPr/>
        </p:nvSpPr>
        <p:spPr>
          <a:xfrm>
            <a:off x="933450" y="191452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제품 목표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9EDC62E1-74F2-4B7B-8086-E7420CADDF08}"/>
              </a:ext>
            </a:extLst>
          </p:cNvPr>
          <p:cNvSpPr>
            <a:spLocks noGrp="1"/>
          </p:cNvSpPr>
          <p:nvPr/>
        </p:nvSpPr>
        <p:spPr>
          <a:xfrm>
            <a:off x="2724150" y="1797713"/>
            <a:ext cx="8324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두 사람이 각 매물의 충족·미달·확인 사항을 이해하고, 자기 판단으로 보러 갈 집 2개를 정한다.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ns2:creationId id="{CAE04E97-21C6-42BA-B9B9-CBE452278F47}"/>
              </a:ext>
            </a:extLst>
          </p:cNvPr>
          <p:cNvSpPr>
            <a:spLocks noGrp="1"/>
          </p:cNvSpPr>
          <p:nvPr/>
        </p:nvSpPr>
        <p:spPr>
          <a:xfrm>
            <a:off x="723900" y="2819400"/>
            <a:ext cx="6953250" cy="2590800"/>
          </a:xfrm>
          <a:prstGeom prst="roundRect">
            <a:avLst>
              <a:gd name="adj" fmla="val 5882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ns2:creationId id="{DA813C50-24A7-4839-9BE0-2642BC94A293}"/>
              </a:ext>
            </a:extLst>
          </p:cNvPr>
          <p:cNvSpPr>
            <a:spLocks noGrp="1"/>
          </p:cNvSpPr>
          <p:nvPr/>
        </p:nvSpPr>
        <p:spPr>
          <a:xfrm>
            <a:off x="933450" y="3009900"/>
            <a:ext cx="177165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1단계 · 먼저 검증할 핵심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AE66A917-AE4B-4409-A968-E307197B4F46}"/>
              </a:ext>
            </a:extLst>
          </p:cNvPr>
          <p:cNvSpPr>
            <a:spLocks noGrp="1"/>
          </p:cNvSpPr>
          <p:nvPr/>
        </p:nvSpPr>
        <p:spPr>
          <a:xfrm>
            <a:off x="952500" y="35052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2" name="직사각형 11">
            <a:extLst>
              <a:ext uri="{FF2B5EF4-FFF2-40B4-BE49-F238E27FC236}">
                <ns2:creationId id="{85DD021E-B66A-4AF4-89E6-DBA535196924}"/>
              </a:ext>
            </a:extLst>
          </p:cNvPr>
          <p:cNvSpPr>
            <a:spLocks noGrp="1"/>
          </p:cNvSpPr>
          <p:nvPr/>
        </p:nvSpPr>
        <p:spPr>
          <a:xfrm>
            <a:off x="1543050" y="35147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 최대 5개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E525903B-6DD2-4DEA-A4D5-FAE3A6AB7205}"/>
              </a:ext>
            </a:extLst>
          </p:cNvPr>
          <p:cNvSpPr>
            <a:spLocks noGrp="1"/>
          </p:cNvSpPr>
          <p:nvPr/>
        </p:nvSpPr>
        <p:spPr>
          <a:xfrm>
            <a:off x="4171950" y="35052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DDC3DDDF-832D-4CCA-BC1C-A5658558A02C}"/>
              </a:ext>
            </a:extLst>
          </p:cNvPr>
          <p:cNvSpPr>
            <a:spLocks noGrp="1"/>
          </p:cNvSpPr>
          <p:nvPr/>
        </p:nvSpPr>
        <p:spPr>
          <a:xfrm>
            <a:off x="4762500" y="35147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예산 필수 + 출근하는지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ns2:creationId id="{FA016BA5-2564-46AF-ABC1-B117173A2180}"/>
              </a:ext>
            </a:extLst>
          </p:cNvPr>
          <p:cNvSpPr>
            <a:spLocks noGrp="1"/>
          </p:cNvSpPr>
          <p:nvPr/>
        </p:nvSpPr>
        <p:spPr>
          <a:xfrm>
            <a:off x="952500" y="39433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8453A4B5-9F68-4921-B05C-4A56D8D911E5}"/>
              </a:ext>
            </a:extLst>
          </p:cNvPr>
          <p:cNvSpPr>
            <a:spLocks noGrp="1"/>
          </p:cNvSpPr>
          <p:nvPr/>
        </p:nvSpPr>
        <p:spPr>
          <a:xfrm>
            <a:off x="1543050" y="39528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링크와 코드로 초대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ns2:creationId id="{36313032-F669-4347-B2E8-8173F6DE3A4D}"/>
              </a:ext>
            </a:extLst>
          </p:cNvPr>
          <p:cNvSpPr>
            <a:spLocks noGrp="1"/>
          </p:cNvSpPr>
          <p:nvPr/>
        </p:nvSpPr>
        <p:spPr>
          <a:xfrm>
            <a:off x="4171950" y="39433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01940250-7065-468A-882F-562708254F07}"/>
              </a:ext>
            </a:extLst>
          </p:cNvPr>
          <p:cNvSpPr>
            <a:spLocks noGrp="1"/>
          </p:cNvSpPr>
          <p:nvPr/>
        </p:nvSpPr>
        <p:spPr>
          <a:xfrm>
            <a:off x="4762500" y="39528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자동 판정 · 비용 · 통근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ns2:creationId id="{A15D0855-4450-4261-9836-357F46312E2C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EC4797AE-538E-4CAB-A216-81AC27F374D3}"/>
              </a:ext>
            </a:extLst>
          </p:cNvPr>
          <p:cNvSpPr>
            <a:spLocks noGrp="1"/>
          </p:cNvSpPr>
          <p:nvPr/>
        </p:nvSpPr>
        <p:spPr>
          <a:xfrm>
            <a:off x="1543050" y="43910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양보 문장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0387F469-9E53-4535-ADF7-0D10AC8E4A50}"/>
              </a:ext>
            </a:extLst>
          </p:cNvPr>
          <p:cNvSpPr>
            <a:spLocks noGrp="1"/>
          </p:cNvSpPr>
          <p:nvPr/>
        </p:nvSpPr>
        <p:spPr>
          <a:xfrm>
            <a:off x="4171950" y="43815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22" name="직사각형 21">
            <a:extLst>
              <a:ext uri="{FF2B5EF4-FFF2-40B4-BE49-F238E27FC236}">
                <ns2:creationId id="{487D30F8-6C6C-487F-9AB6-0EC2B47C49F1}"/>
              </a:ext>
            </a:extLst>
          </p:cNvPr>
          <p:cNvSpPr>
            <a:spLocks noGrp="1"/>
          </p:cNvSpPr>
          <p:nvPr/>
        </p:nvSpPr>
        <p:spPr>
          <a:xfrm>
            <a:off x="4762500" y="43910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 완화 · 0건 분기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ns2:creationId id="{16520017-B4FE-4795-8C35-B92D6C616E33}"/>
              </a:ext>
            </a:extLst>
          </p:cNvPr>
          <p:cNvSpPr>
            <a:spLocks noGrp="1"/>
          </p:cNvSpPr>
          <p:nvPr/>
        </p:nvSpPr>
        <p:spPr>
          <a:xfrm>
            <a:off x="952500" y="481965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18D153B7-0EF1-4E64-B881-8FEFEE0D1466}"/>
              </a:ext>
            </a:extLst>
          </p:cNvPr>
          <p:cNvSpPr>
            <a:spLocks noGrp="1"/>
          </p:cNvSpPr>
          <p:nvPr/>
        </p:nvSpPr>
        <p:spPr>
          <a:xfrm>
            <a:off x="1543050" y="482917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보러 갈 집 2개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096EF3EC-1FE9-44BF-A366-45ED7AEC9D1E}"/>
              </a:ext>
            </a:extLst>
          </p:cNvPr>
          <p:cNvSpPr>
            <a:spLocks noGrp="1"/>
          </p:cNvSpPr>
          <p:nvPr/>
        </p:nvSpPr>
        <p:spPr>
          <a:xfrm>
            <a:off x="7981950" y="2819400"/>
            <a:ext cx="3486150" cy="1238250"/>
          </a:xfrm>
          <a:prstGeom prst="roundRect">
            <a:avLst>
              <a:gd name="adj" fmla="val 12308"/>
            </a:avLst>
          </a:prstGeom>
          <a:solidFill>
            <a:srgbClr val="E8F0FE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ns2:creationId id="{8079FE58-85B8-4760-AE15-31C885F6D0F4}"/>
              </a:ext>
            </a:extLst>
          </p:cNvPr>
          <p:cNvSpPr>
            <a:spLocks noGrp="1"/>
          </p:cNvSpPr>
          <p:nvPr/>
        </p:nvSpPr>
        <p:spPr>
          <a:xfrm>
            <a:off x="8191500" y="3009900"/>
            <a:ext cx="19621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2단계 · 끝까지 완성</a:t>
            </a:r>
          </a:p>
        </p:txBody>
      </p:sp>
      <p:sp>
        <p:nvSpPr>
          <p:cNvPr id="27" name="직사각형 26">
            <a:extLst>
              <a:ext uri="{FF2B5EF4-FFF2-40B4-BE49-F238E27FC236}">
                <ns2:creationId id="{786988FA-55B6-4A60-8861-4D649F6A16B8}"/>
              </a:ext>
            </a:extLst>
          </p:cNvPr>
          <p:cNvSpPr>
            <a:spLocks noGrp="1"/>
          </p:cNvSpPr>
          <p:nvPr/>
        </p:nvSpPr>
        <p:spPr>
          <a:xfrm>
            <a:off x="8191500" y="35052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방문 전에 물어볼 것 정리</a:t>
            </a:r>
          </a:p>
          <a:p>
            <a:pPr algn="l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방문 전 체크리스트 · 유지/보류/제외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ns2:creationId id="{32D097F4-ABDD-4722-8F46-95F42549AFA8}"/>
              </a:ext>
            </a:extLst>
          </p:cNvPr>
          <p:cNvSpPr>
            <a:spLocks noGrp="1"/>
          </p:cNvSpPr>
          <p:nvPr/>
        </p:nvSpPr>
        <p:spPr>
          <a:xfrm>
            <a:off x="7981950" y="4248150"/>
            <a:ext cx="3486150" cy="1162050"/>
          </a:xfrm>
          <a:prstGeom prst="roundRect">
            <a:avLst>
              <a:gd name="adj" fmla="val 13115"/>
            </a:avLst>
          </a:prstGeom>
          <a:solidFill>
            <a:srgbClr val="E9F0EB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ns2:creationId id="{8D48B7DE-38A2-4AA5-A380-29F1C189F94E}"/>
              </a:ext>
            </a:extLst>
          </p:cNvPr>
          <p:cNvSpPr>
            <a:spLocks noGrp="1"/>
          </p:cNvSpPr>
          <p:nvPr/>
        </p:nvSpPr>
        <p:spPr>
          <a:xfrm>
            <a:off x="8191500" y="4438650"/>
            <a:ext cx="9715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하지 않을 것</a:t>
            </a:r>
          </a:p>
        </p:txBody>
      </p:sp>
      <p:sp>
        <p:nvSpPr>
          <p:cNvPr id="30" name="직사각형 29">
            <a:extLst>
              <a:ext uri="{FF2B5EF4-FFF2-40B4-BE49-F238E27FC236}">
                <ns2:creationId id="{2BA4E946-16F9-4D0F-B213-492984D69C8A}"/>
              </a:ext>
            </a:extLst>
          </p:cNvPr>
          <p:cNvSpPr>
            <a:spLocks noGrp="1"/>
          </p:cNvSpPr>
          <p:nvPr/>
        </p:nvSpPr>
        <p:spPr>
          <a:xfrm>
            <a:off x="8191500" y="48577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새 매물 DB · 독립 검색 · 자동 추천</a:t>
            </a:r>
          </a:p>
          <a:p>
            <a:pPr algn="ctr">
              <a:defRPr sz="9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종합점수 · AI 최종 선택 · 계약과 대출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ns2:creationId id="{9B1D7D0A-28FB-4285-AB0E-AB129707ABD3}"/>
              </a:ext>
            </a:extLst>
          </p:cNvPr>
          <p:cNvSpPr>
            <a:spLocks noGrp="1"/>
          </p:cNvSpPr>
          <p:nvPr/>
        </p:nvSpPr>
        <p:spPr>
          <a:xfrm>
            <a:off x="723900" y="5638800"/>
            <a:ext cx="10744200" cy="419100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ns2:creationId id="{54A9726A-59B9-4BBC-900E-8502AEE0F99F}"/>
              </a:ext>
            </a:extLst>
          </p:cNvPr>
          <p:cNvSpPr>
            <a:spLocks noGrp="1"/>
          </p:cNvSpPr>
          <p:nvPr/>
        </p:nvSpPr>
        <p:spPr>
          <a:xfrm>
            <a:off x="876300" y="574357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확정된 숫자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D5ED6AE8-42C7-487F-A836-635582D95F78}"/>
              </a:ext>
            </a:extLst>
          </p:cNvPr>
          <p:cNvSpPr>
            <a:spLocks noGrp="1"/>
          </p:cNvSpPr>
          <p:nvPr/>
        </p:nvSpPr>
        <p:spPr>
          <a:xfrm>
            <a:off x="1828800" y="5705475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2인 · 집 최대 5개 · 꼭 지킬 조건 0~4개 · 결과 2개 · 최대 2번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2240E2E9-1F70-43BF-B5C4-426103E9322F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우선순위 — 1단계를 먼저 만들어 검증하고, 통과한 뒤에 2단계로 갑니다</a:t>
            </a:r>
          </a:p>
        </p:txBody>
      </p:sp>
    </p:spTree>
    <p:extLst>
      <p:ext uri="{BB962C8B-B14F-4D97-AF65-F5344CB8AC3E}">
        <ns3:creationId val="1050571895"/>
      </p:ext>
    </p:extLst>
  </p:cSld>
  <p:clrMapOvr>
    <a:masterClrMapping/>
  </p:clrMapOvr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ns2:creationId id="{DFC67B58-D530-453F-9D93-79615202F19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619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PRD · 요구사항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9E9B40AD-BC6F-48A1-B2AA-F23C80E17019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62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기능 25가지를 여섯 묶음으로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5CD4BAED-9A4D-47B9-9BA6-94440FDDB20D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900BF635-04B6-49B4-B7E0-8EEC01D1750E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50657C4E-CD04-4F0C-B16E-D1CA6DCDE187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681BB264-1C68-4997-90FC-1E361347A426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C6365E1A-15B4-4058-8503-2BC7FCF6345E}"/>
              </a:ext>
            </a:extLst>
          </p:cNvPr>
          <p:cNvSpPr>
            <a:spLocks noGrp="1"/>
          </p:cNvSpPr>
          <p:nvPr/>
        </p:nvSpPr>
        <p:spPr>
          <a:xfrm>
            <a:off x="139065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후보와 참여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78A3DBDC-1163-4CDB-86D4-107AE2532FFE}"/>
              </a:ext>
            </a:extLst>
          </p:cNvPr>
          <p:cNvSpPr>
            <a:spLocks noGrp="1"/>
          </p:cNvSpPr>
          <p:nvPr/>
        </p:nvSpPr>
        <p:spPr>
          <a:xfrm>
            <a:off x="87630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10" name="직사각형 9">
            <a:extLst>
              <a:ext uri="{FF2B5EF4-FFF2-40B4-BE49-F238E27FC236}">
                <ns2:creationId id="{19680852-299C-4931-94CE-FD8C3384FFF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관심매물 1~5개 · 링크와 코드 · 초대 맥락</a:t>
            </a:r>
          </a:p>
        </p:txBody>
      </p:sp>
      <p:sp>
        <p:nvSpPr>
          <p:cNvPr id="11" name="화살표: 오른쪽 10">
            <a:extLst>
              <a:ext uri="{FF2B5EF4-FFF2-40B4-BE49-F238E27FC236}">
                <ns2:creationId id="{17F0EA27-6AA7-4022-9E74-3994C6443920}"/>
              </a:ext>
            </a:extLst>
          </p:cNvPr>
          <p:cNvSpPr>
            <a:spLocks noGrp="1"/>
          </p:cNvSpPr>
          <p:nvPr/>
        </p:nvSpPr>
        <p:spPr>
          <a:xfrm>
            <a:off x="4019550" y="234315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ns2:creationId id="{79551EBA-6961-4B2B-850B-1C812EBB1916}"/>
              </a:ext>
            </a:extLst>
          </p:cNvPr>
          <p:cNvSpPr>
            <a:spLocks noGrp="1"/>
          </p:cNvSpPr>
          <p:nvPr/>
        </p:nvSpPr>
        <p:spPr>
          <a:xfrm>
            <a:off x="432435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사각형: 둥근 모서리 12">
            <a:extLst>
              <a:ext uri="{FF2B5EF4-FFF2-40B4-BE49-F238E27FC236}">
                <ns2:creationId id="{11ECD588-13EA-412E-A3E0-9A99C942264D}"/>
              </a:ext>
            </a:extLst>
          </p:cNvPr>
          <p:cNvSpPr>
            <a:spLocks noGrp="1"/>
          </p:cNvSpPr>
          <p:nvPr/>
        </p:nvSpPr>
        <p:spPr>
          <a:xfrm>
            <a:off x="449580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40E900EA-32BE-4882-94FD-A169CF7AF606}"/>
              </a:ext>
            </a:extLst>
          </p:cNvPr>
          <p:cNvSpPr>
            <a:spLocks noGrp="1"/>
          </p:cNvSpPr>
          <p:nvPr/>
        </p:nvSpPr>
        <p:spPr>
          <a:xfrm>
            <a:off x="502920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>사람별 조건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28380338-1885-41A9-8B52-218EDB998AF9}"/>
              </a:ext>
            </a:extLst>
          </p:cNvPr>
          <p:cNvSpPr>
            <a:spLocks noGrp="1"/>
          </p:cNvSpPr>
          <p:nvPr/>
        </p:nvSpPr>
        <p:spPr>
          <a:xfrm>
            <a:off x="451485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3C75A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16" name="직사각형 15">
            <a:extLst>
              <a:ext uri="{FF2B5EF4-FFF2-40B4-BE49-F238E27FC236}">
                <ns2:creationId id="{A1524334-6DFF-4492-9CE2-BBF68D18E1C9}"/>
              </a:ext>
            </a:extLst>
          </p:cNvPr>
          <p:cNvSpPr>
            <a:spLocks noGrp="1"/>
          </p:cNvSpPr>
          <p:nvPr/>
        </p:nvSpPr>
        <p:spPr>
          <a:xfrm>
            <a:off x="451485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예산 필수 · 출근하는지 · 고르는 조건</a:t>
            </a:r>
          </a:p>
        </p:txBody>
      </p:sp>
      <p:sp>
        <p:nvSpPr>
          <p:cNvPr id="17" name="화살표: 오른쪽 16">
            <a:extLst>
              <a:ext uri="{FF2B5EF4-FFF2-40B4-BE49-F238E27FC236}">
                <ns2:creationId id="{BDA39A4D-C188-443D-8DA9-2B57DCCBFFFD}"/>
              </a:ext>
            </a:extLst>
          </p:cNvPr>
          <p:cNvSpPr>
            <a:spLocks noGrp="1"/>
          </p:cNvSpPr>
          <p:nvPr/>
        </p:nvSpPr>
        <p:spPr>
          <a:xfrm>
            <a:off x="7658100" y="234315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사각형: 둥근 모서리 17">
            <a:extLst>
              <a:ext uri="{FF2B5EF4-FFF2-40B4-BE49-F238E27FC236}">
                <ns2:creationId id="{25533EBC-67DC-4BA0-B72A-1EBF7E548787}"/>
              </a:ext>
            </a:extLst>
          </p:cNvPr>
          <p:cNvSpPr>
            <a:spLocks noGrp="1"/>
          </p:cNvSpPr>
          <p:nvPr/>
        </p:nvSpPr>
        <p:spPr>
          <a:xfrm>
            <a:off x="7962900" y="161925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사각형: 둥근 모서리 18">
            <a:extLst>
              <a:ext uri="{FF2B5EF4-FFF2-40B4-BE49-F238E27FC236}">
                <ns2:creationId id="{A448DCA0-BD51-4B60-99DE-B6D7CD1BEFB7}"/>
              </a:ext>
            </a:extLst>
          </p:cNvPr>
          <p:cNvSpPr>
            <a:spLocks noGrp="1"/>
          </p:cNvSpPr>
          <p:nvPr/>
        </p:nvSpPr>
        <p:spPr>
          <a:xfrm>
            <a:off x="8134350" y="179070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F3C82D6F-D47F-4A59-A454-88E5151FE072}"/>
              </a:ext>
            </a:extLst>
          </p:cNvPr>
          <p:cNvSpPr>
            <a:spLocks noGrp="1"/>
          </p:cNvSpPr>
          <p:nvPr/>
        </p:nvSpPr>
        <p:spPr>
          <a:xfrm>
            <a:off x="8667750" y="1771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판정</a:t>
            </a:r>
          </a:p>
        </p:txBody>
      </p:sp>
      <p:sp>
        <p:nvSpPr>
          <p:cNvPr id="21" name="직사각형 20">
            <a:extLst>
              <a:ext uri="{FF2B5EF4-FFF2-40B4-BE49-F238E27FC236}">
                <ns2:creationId id="{3AA18C61-63F5-4B32-941A-9912BC53E3A9}"/>
              </a:ext>
            </a:extLst>
          </p:cNvPr>
          <p:cNvSpPr>
            <a:spLocks noGrp="1"/>
          </p:cNvSpPr>
          <p:nvPr/>
        </p:nvSpPr>
        <p:spPr>
          <a:xfrm>
            <a:off x="8153400" y="22193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2" name="직사각형 21">
            <a:extLst>
              <a:ext uri="{FF2B5EF4-FFF2-40B4-BE49-F238E27FC236}">
                <ns2:creationId id="{6E6EAA0B-447A-4CD4-AB2E-761B0ED59DF8}"/>
              </a:ext>
            </a:extLst>
          </p:cNvPr>
          <p:cNvSpPr>
            <a:spLocks noGrp="1"/>
          </p:cNvSpPr>
          <p:nvPr/>
        </p:nvSpPr>
        <p:spPr>
          <a:xfrm>
            <a:off x="8153400" y="256222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사람별 충족/미달/확인 · 오류 분리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ns2:creationId id="{3470BB91-4DB0-4D70-A0DD-D4E3514A933C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087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ns2:creationId id="{9763166B-055D-4121-BD10-03C10CED1CC9}"/>
              </a:ext>
            </a:extLst>
          </p:cNvPr>
          <p:cNvSpPr>
            <a:spLocks noGrp="1"/>
          </p:cNvSpPr>
          <p:nvPr/>
        </p:nvSpPr>
        <p:spPr>
          <a:xfrm>
            <a:off x="85725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087A43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5" name="직사각형 24">
            <a:extLst>
              <a:ext uri="{FF2B5EF4-FFF2-40B4-BE49-F238E27FC236}">
                <ns2:creationId id="{E6083C62-3FC3-43EB-BDA0-7C386AE68138}"/>
              </a:ext>
            </a:extLst>
          </p:cNvPr>
          <p:cNvSpPr>
            <a:spLocks noGrp="1"/>
          </p:cNvSpPr>
          <p:nvPr/>
        </p:nvSpPr>
        <p:spPr>
          <a:xfrm>
            <a:off x="139065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trade-off</a:t>
            </a:r>
          </a:p>
        </p:txBody>
      </p:sp>
      <p:sp>
        <p:nvSpPr>
          <p:cNvPr id="26" name="직사각형 25">
            <a:extLst>
              <a:ext uri="{FF2B5EF4-FFF2-40B4-BE49-F238E27FC236}">
                <ns2:creationId id="{7E0D4E9E-DDFD-4BD2-A8BB-7EBF0AF9B9E2}"/>
              </a:ext>
            </a:extLst>
          </p:cNvPr>
          <p:cNvSpPr>
            <a:spLocks noGrp="1"/>
          </p:cNvSpPr>
          <p:nvPr/>
        </p:nvSpPr>
        <p:spPr>
          <a:xfrm>
            <a:off x="87630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7" name="직사각형 26">
            <a:extLst>
              <a:ext uri="{FF2B5EF4-FFF2-40B4-BE49-F238E27FC236}">
                <ns2:creationId id="{AB37FAB4-288C-4B6A-A189-CFC9270A5041}"/>
              </a:ext>
            </a:extLst>
          </p:cNvPr>
          <p:cNvSpPr>
            <a:spLocks noGrp="1"/>
          </p:cNvSpPr>
          <p:nvPr/>
        </p:nvSpPr>
        <p:spPr>
          <a:xfrm>
            <a:off x="87630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양보 주체 · 미달량 · A/B 균형</a:t>
            </a:r>
          </a:p>
        </p:txBody>
      </p:sp>
      <p:sp>
        <p:nvSpPr>
          <p:cNvPr id="28" name="화살표: 오른쪽 27">
            <a:extLst>
              <a:ext uri="{FF2B5EF4-FFF2-40B4-BE49-F238E27FC236}">
                <ns2:creationId id="{301B8C70-7E2B-44FE-89DF-476E2323FC21}"/>
              </a:ext>
            </a:extLst>
          </p:cNvPr>
          <p:cNvSpPr>
            <a:spLocks noGrp="1"/>
          </p:cNvSpPr>
          <p:nvPr/>
        </p:nvSpPr>
        <p:spPr>
          <a:xfrm>
            <a:off x="4019550" y="430530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사각형: 둥근 모서리 28">
            <a:extLst>
              <a:ext uri="{FF2B5EF4-FFF2-40B4-BE49-F238E27FC236}">
                <ns2:creationId id="{08AA28A8-402C-4A15-BF21-44163498752E}"/>
              </a:ext>
            </a:extLst>
          </p:cNvPr>
          <p:cNvSpPr>
            <a:spLocks noGrp="1"/>
          </p:cNvSpPr>
          <p:nvPr/>
        </p:nvSpPr>
        <p:spPr>
          <a:xfrm>
            <a:off x="432435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사각형: 둥근 모서리 29">
            <a:extLst>
              <a:ext uri="{FF2B5EF4-FFF2-40B4-BE49-F238E27FC236}">
                <ns2:creationId id="{9452D7C0-607F-4C3E-A187-BC34946C3396}"/>
              </a:ext>
            </a:extLst>
          </p:cNvPr>
          <p:cNvSpPr>
            <a:spLocks noGrp="1"/>
          </p:cNvSpPr>
          <p:nvPr/>
        </p:nvSpPr>
        <p:spPr>
          <a:xfrm>
            <a:off x="449580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1" name="직사각형 30">
            <a:extLst>
              <a:ext uri="{FF2B5EF4-FFF2-40B4-BE49-F238E27FC236}">
                <ns2:creationId id="{C5AC898C-A232-4C94-8CD0-BDE04AB34B63}"/>
              </a:ext>
            </a:extLst>
          </p:cNvPr>
          <p:cNvSpPr>
            <a:spLocks noGrp="1"/>
          </p:cNvSpPr>
          <p:nvPr/>
        </p:nvSpPr>
        <p:spPr>
          <a:xfrm>
            <a:off x="502920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막다른 길과 결정</a:t>
            </a:r>
          </a:p>
        </p:txBody>
      </p:sp>
      <p:sp>
        <p:nvSpPr>
          <p:cNvPr id="32" name="직사각형 31">
            <a:extLst>
              <a:ext uri="{FF2B5EF4-FFF2-40B4-BE49-F238E27FC236}">
                <ns2:creationId id="{5AD817EB-9643-4F7F-9558-49A5C4BE45FC}"/>
              </a:ext>
            </a:extLst>
          </p:cNvPr>
          <p:cNvSpPr>
            <a:spLocks noGrp="1"/>
          </p:cNvSpPr>
          <p:nvPr/>
        </p:nvSpPr>
        <p:spPr>
          <a:xfrm>
            <a:off x="451485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3" name="직사각형 32">
            <a:extLst>
              <a:ext uri="{FF2B5EF4-FFF2-40B4-BE49-F238E27FC236}">
                <ns2:creationId id="{F5DA8347-B7E1-4EEB-A532-1733E25AE7B9}"/>
              </a:ext>
            </a:extLst>
          </p:cNvPr>
          <p:cNvSpPr>
            <a:spLocks noGrp="1"/>
          </p:cNvSpPr>
          <p:nvPr/>
        </p:nvSpPr>
        <p:spPr>
          <a:xfrm>
            <a:off x="451485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0개일 때 · 각자 2개 · 최대 2번</a:t>
            </a:r>
          </a:p>
        </p:txBody>
      </p:sp>
      <p:sp>
        <p:nvSpPr>
          <p:cNvPr id="34" name="화살표: 오른쪽 33">
            <a:extLst>
              <a:ext uri="{FF2B5EF4-FFF2-40B4-BE49-F238E27FC236}">
                <ns2:creationId id="{0FA1BE66-3DEB-4B0B-8CA0-849CC63D4998}"/>
              </a:ext>
            </a:extLst>
          </p:cNvPr>
          <p:cNvSpPr>
            <a:spLocks noGrp="1"/>
          </p:cNvSpPr>
          <p:nvPr/>
        </p:nvSpPr>
        <p:spPr>
          <a:xfrm>
            <a:off x="7658100" y="4305300"/>
            <a:ext cx="30480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사각형: 둥근 모서리 34">
            <a:extLst>
              <a:ext uri="{FF2B5EF4-FFF2-40B4-BE49-F238E27FC236}">
                <ns2:creationId id="{B5E0B4D2-274C-4E29-AD1B-96DEB9473F6F}"/>
              </a:ext>
            </a:extLst>
          </p:cNvPr>
          <p:cNvSpPr>
            <a:spLocks noGrp="1"/>
          </p:cNvSpPr>
          <p:nvPr/>
        </p:nvSpPr>
        <p:spPr>
          <a:xfrm>
            <a:off x="7962900" y="3581400"/>
            <a:ext cx="3333750" cy="163830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786B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사각형: 둥근 모서리 35">
            <a:extLst>
              <a:ext uri="{FF2B5EF4-FFF2-40B4-BE49-F238E27FC236}">
                <ns2:creationId id="{63C61351-6972-4F37-A5A0-17EAF969D106}"/>
              </a:ext>
            </a:extLst>
          </p:cNvPr>
          <p:cNvSpPr>
            <a:spLocks noGrp="1"/>
          </p:cNvSpPr>
          <p:nvPr/>
        </p:nvSpPr>
        <p:spPr>
          <a:xfrm>
            <a:off x="8134350" y="3752850"/>
            <a:ext cx="400050" cy="228600"/>
          </a:xfrm>
          <a:prstGeom prst="roundRect">
            <a:avLst>
              <a:gd name="adj" fmla="val 50000"/>
            </a:avLst>
          </a:prstGeom>
          <a:solidFill>
            <a:srgbClr val="786B8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7" name="직사각형 36">
            <a:extLst>
              <a:ext uri="{FF2B5EF4-FFF2-40B4-BE49-F238E27FC236}">
                <ns2:creationId id="{8F3E45E8-B161-45A0-8297-74EBAC6D6891}"/>
              </a:ext>
            </a:extLst>
          </p:cNvPr>
          <p:cNvSpPr>
            <a:spLocks noGrp="1"/>
          </p:cNvSpPr>
          <p:nvPr/>
        </p:nvSpPr>
        <p:spPr>
          <a:xfrm>
            <a:off x="8667750" y="3733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반복과 마무리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D84F2886-1467-4D8B-9F55-2FCC4610C2E0}"/>
              </a:ext>
            </a:extLst>
          </p:cNvPr>
          <p:cNvSpPr>
            <a:spLocks noGrp="1"/>
          </p:cNvSpPr>
          <p:nvPr/>
        </p:nvSpPr>
        <p:spPr>
          <a:xfrm>
            <a:off x="8153400" y="4181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9" name="직사각형 38">
            <a:extLst>
              <a:ext uri="{FF2B5EF4-FFF2-40B4-BE49-F238E27FC236}">
                <ns2:creationId id="{A9E9CED9-EB3F-4A97-9FE7-2FDFB7A27EA7}"/>
              </a:ext>
            </a:extLst>
          </p:cNvPr>
          <p:cNvSpPr>
            <a:spLocks noGrp="1"/>
          </p:cNvSpPr>
          <p:nvPr/>
        </p:nvSpPr>
        <p:spPr>
          <a:xfrm>
            <a:off x="8153400" y="4524375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조건이 남음 · 집이 나감 · 질문과 방문 기록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ns2:creationId id="{46A4BA78-6BE7-465D-92B2-360A533A3C44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10610850" cy="381000"/>
          </a:xfrm>
          <a:prstGeom prst="roundRect">
            <a:avLst>
              <a:gd name="adj" fmla="val 20000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ns2:creationId id="{5E4ADE47-B193-413F-ADB0-D994C661434E}"/>
              </a:ext>
            </a:extLst>
          </p:cNvPr>
          <p:cNvSpPr>
            <a:spLocks noGrp="1"/>
          </p:cNvSpPr>
          <p:nvPr/>
        </p:nvSpPr>
        <p:spPr>
          <a:xfrm>
            <a:off x="914400" y="5781675"/>
            <a:ext cx="10153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AI는 비교하고 설명합니다 · 최종 후보, 순위, 타협, 상대 조건 변경은 사용자가 합니다</a:t>
            </a:r>
            <a:endParaRPr sz="120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직사각형 3">
            <a:extLst>
              <a:ext uri="{FF2B5EF4-FFF2-40B4-BE49-F238E27FC236}">
                <ns2:creationId id="{2E329975-3C0C-497E-8C22-24DF71769892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여섯 묶음은 그대로 사용자 시나리오 순서입니다 — 초대받고 → 조건 넣고 → 대조되고 → 양보를 이해하고 → 정하고 → 다시 돌아온다</a:t>
            </a:r>
          </a:p>
        </p:txBody>
      </p:sp>
    </p:spTree>
    <p:extLst>
      <p:ext uri="{BB962C8B-B14F-4D97-AF65-F5344CB8AC3E}">
        <ns3:creationId val="1502171489"/>
      </p:ext>
    </p:extLst>
  </p:cSld>
  <p:clrMapOvr>
    <a:masterClrMapping/>
  </p:clrMapOvr>
</p:sld>
</file>

<file path=ppt/slides/slide2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사각형: 둥근 모서리 42">
            <a:extLst>
              <a:ext uri="{FF2B5EF4-FFF2-40B4-BE49-F238E27FC236}">
                <ns2:creationId id="{42A743E6-7E34-40A4-B717-BF828506F52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1623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PRD · Acceptance Criteria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AB26C01A-58D0-4E7B-98BF-C0167FC3778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검사 기준은 “판단을 흐리지 않는가”입니다</a:t>
            </a:r>
          </a:p>
        </p:txBody>
      </p:sp>
      <p:sp>
        <p:nvSpPr>
          <p:cNvPr id="3" name="직선 연결선 2">
            <a:extLst>
              <a:ext uri="{FF2B5EF4-FFF2-40B4-BE49-F238E27FC236}">
                <ns2:creationId id="{935DF753-3219-4ED3-9DEE-C6E2B71C194B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F36A7510-F416-45CE-8632-E8A04B8EA35F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386FD8AE-A28F-4E67-B646-0660229C9434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5EEF1E73-A55F-40F2-AD2E-EDE5AFB39741}"/>
              </a:ext>
            </a:extLst>
          </p:cNvPr>
          <p:cNvSpPr>
            <a:spLocks noGrp="1"/>
          </p:cNvSpPr>
          <p:nvPr/>
        </p:nvSpPr>
        <p:spPr>
          <a:xfrm>
            <a:off x="9906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C65D249A-FE31-41FB-8C55-FED491D7B2C0}"/>
              </a:ext>
            </a:extLst>
          </p:cNvPr>
          <p:cNvSpPr>
            <a:spLocks noGrp="1"/>
          </p:cNvSpPr>
          <p:nvPr/>
        </p:nvSpPr>
        <p:spPr>
          <a:xfrm>
            <a:off x="152400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만들 기능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ns2:creationId id="{4AAB1CD2-57CB-4150-A72E-21F39C11EF33}"/>
              </a:ext>
            </a:extLst>
          </p:cNvPr>
          <p:cNvSpPr>
            <a:spLocks noGrp="1"/>
          </p:cNvSpPr>
          <p:nvPr/>
        </p:nvSpPr>
        <p:spPr>
          <a:xfrm>
            <a:off x="253365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ns2:creationId id="{BB40AF9B-122D-4A2D-976B-772220545F94}"/>
              </a:ext>
            </a:extLst>
          </p:cNvPr>
          <p:cNvSpPr>
            <a:spLocks noGrp="1"/>
          </p:cNvSpPr>
          <p:nvPr/>
        </p:nvSpPr>
        <p:spPr>
          <a:xfrm>
            <a:off x="26670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56</a:t>
            </a:r>
          </a:p>
        </p:txBody>
      </p:sp>
      <p:sp>
        <p:nvSpPr>
          <p:cNvPr id="11" name="직사각형 10">
            <a:extLst>
              <a:ext uri="{FF2B5EF4-FFF2-40B4-BE49-F238E27FC236}">
                <ns2:creationId id="{3A1A8A37-3E30-44BC-A856-F7DD81E395A4}"/>
              </a:ext>
            </a:extLst>
          </p:cNvPr>
          <p:cNvSpPr>
            <a:spLocks noGrp="1"/>
          </p:cNvSpPr>
          <p:nvPr/>
        </p:nvSpPr>
        <p:spPr>
          <a:xfrm>
            <a:off x="333375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검사 항목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ns2:creationId id="{2DC1B13D-F426-4BE6-BA42-B61400012C2B}"/>
              </a:ext>
            </a:extLst>
          </p:cNvPr>
          <p:cNvSpPr>
            <a:spLocks noGrp="1"/>
          </p:cNvSpPr>
          <p:nvPr/>
        </p:nvSpPr>
        <p:spPr>
          <a:xfrm>
            <a:off x="434340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ns2:creationId id="{F6D3FDC1-9726-4A68-B951-F0F7C2E151B1}"/>
              </a:ext>
            </a:extLst>
          </p:cNvPr>
          <p:cNvSpPr>
            <a:spLocks noGrp="1"/>
          </p:cNvSpPr>
          <p:nvPr/>
        </p:nvSpPr>
        <p:spPr>
          <a:xfrm>
            <a:off x="447675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E98741BC-C243-45DE-9630-3CBAA055F43B}"/>
              </a:ext>
            </a:extLst>
          </p:cNvPr>
          <p:cNvSpPr>
            <a:spLocks noGrp="1"/>
          </p:cNvSpPr>
          <p:nvPr/>
        </p:nvSpPr>
        <p:spPr>
          <a:xfrm>
            <a:off x="514350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다 정해진 기능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ns2:creationId id="{D45C2E13-95D6-454D-B631-E9DBB208B717}"/>
              </a:ext>
            </a:extLst>
          </p:cNvPr>
          <p:cNvSpPr>
            <a:spLocks noGrp="1"/>
          </p:cNvSpPr>
          <p:nvPr/>
        </p:nvSpPr>
        <p:spPr>
          <a:xfrm>
            <a:off x="6153150" y="1600200"/>
            <a:ext cx="1581150" cy="742950"/>
          </a:xfrm>
          <a:prstGeom prst="roundRect">
            <a:avLst>
              <a:gd name="adj" fmla="val 12821"/>
            </a:avLst>
          </a:prstGeom>
          <a:solidFill>
            <a:srgbClr val="F0ECF4"/>
          </a:solidFill>
          <a:ln w="9525">
            <a:solidFill>
              <a:srgbClr val="786B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ns2:creationId id="{AEE85169-E6E1-4C80-BF24-F80BF06B2156}"/>
              </a:ext>
            </a:extLst>
          </p:cNvPr>
          <p:cNvSpPr>
            <a:spLocks noGrp="1"/>
          </p:cNvSpPr>
          <p:nvPr/>
        </p:nvSpPr>
        <p:spPr>
          <a:xfrm>
            <a:off x="6286500" y="1804988"/>
            <a:ext cx="68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7" name="직사각형 16">
            <a:extLst>
              <a:ext uri="{FF2B5EF4-FFF2-40B4-BE49-F238E27FC236}">
                <ns2:creationId id="{95F27CB3-5D91-44A1-9C66-C12724E088ED}"/>
              </a:ext>
            </a:extLst>
          </p:cNvPr>
          <p:cNvSpPr>
            <a:spLocks noGrp="1"/>
          </p:cNvSpPr>
          <p:nvPr/>
        </p:nvSpPr>
        <p:spPr>
          <a:xfrm>
            <a:off x="6953250" y="18907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일부 미정인 기능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ns2:creationId id="{A0A74275-889C-479C-8FCD-DB9AB7A064AA}"/>
              </a:ext>
            </a:extLst>
          </p:cNvPr>
          <p:cNvSpPr>
            <a:spLocks noGrp="1"/>
          </p:cNvSpPr>
          <p:nvPr/>
        </p:nvSpPr>
        <p:spPr>
          <a:xfrm>
            <a:off x="8115300" y="1752600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일부 미정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7A068D4A-6EFC-4B93-91C1-C8A17B70FBA0}"/>
              </a:ext>
            </a:extLst>
          </p:cNvPr>
          <p:cNvSpPr>
            <a:spLocks noGrp="1"/>
          </p:cNvSpPr>
          <p:nvPr/>
        </p:nvSpPr>
        <p:spPr>
          <a:xfrm>
            <a:off x="9163050" y="17526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0" name="사각형: 둥근 모서리 19">
            <a:extLst>
              <a:ext uri="{FF2B5EF4-FFF2-40B4-BE49-F238E27FC236}">
                <ns2:creationId id="{028BA19A-E4E7-4D8E-9DC3-0FBD429C784C}"/>
              </a:ext>
            </a:extLst>
          </p:cNvPr>
          <p:cNvSpPr>
            <a:spLocks noGrp="1"/>
          </p:cNvSpPr>
          <p:nvPr/>
        </p:nvSpPr>
        <p:spPr>
          <a:xfrm>
            <a:off x="72390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ns2:creationId id="{C67EC7D2-1EBA-4691-BCA8-1019B6FB0248}"/>
              </a:ext>
            </a:extLst>
          </p:cNvPr>
          <p:cNvSpPr>
            <a:spLocks noGrp="1"/>
          </p:cNvSpPr>
          <p:nvPr/>
        </p:nvSpPr>
        <p:spPr>
          <a:xfrm>
            <a:off x="89535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참여 / 입력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ns2:creationId id="{7089F8D7-E684-4294-8DA4-C7F3330DEBE2}"/>
              </a:ext>
            </a:extLst>
          </p:cNvPr>
          <p:cNvSpPr>
            <a:spLocks noGrp="1"/>
          </p:cNvSpPr>
          <p:nvPr/>
        </p:nvSpPr>
        <p:spPr>
          <a:xfrm>
            <a:off x="287655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3" name="직사각형 22">
            <a:extLst>
              <a:ext uri="{FF2B5EF4-FFF2-40B4-BE49-F238E27FC236}">
                <ns2:creationId id="{B03E228B-47C4-4C35-BFCE-5AB865F108CF}"/>
              </a:ext>
            </a:extLst>
          </p:cNvPr>
          <p:cNvSpPr>
            <a:spLocks noGrp="1"/>
          </p:cNvSpPr>
          <p:nvPr/>
        </p:nvSpPr>
        <p:spPr>
          <a:xfrm>
            <a:off x="89535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집 고르기·초대·조건·로그인·혼자일 때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ns2:creationId id="{C5EB3DBF-AC5E-4563-858F-C662B88BB7F9}"/>
              </a:ext>
            </a:extLst>
          </p:cNvPr>
          <p:cNvSpPr>
            <a:spLocks noGrp="1"/>
          </p:cNvSpPr>
          <p:nvPr/>
        </p:nvSpPr>
        <p:spPr>
          <a:xfrm>
            <a:off x="436245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ns2:creationId id="{B6DEF0BB-13BA-40D5-BD59-FDFF5050E37F}"/>
              </a:ext>
            </a:extLst>
          </p:cNvPr>
          <p:cNvSpPr>
            <a:spLocks noGrp="1"/>
          </p:cNvSpPr>
          <p:nvPr/>
        </p:nvSpPr>
        <p:spPr>
          <a:xfrm>
            <a:off x="453390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판정 / trade-off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ns2:creationId id="{DF53F816-3EA5-416A-AABA-A7FC9599AC09}"/>
              </a:ext>
            </a:extLst>
          </p:cNvPr>
          <p:cNvSpPr>
            <a:spLocks noGrp="1"/>
          </p:cNvSpPr>
          <p:nvPr/>
        </p:nvSpPr>
        <p:spPr>
          <a:xfrm>
            <a:off x="651510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27" name="직사각형 26">
            <a:extLst>
              <a:ext uri="{FF2B5EF4-FFF2-40B4-BE49-F238E27FC236}">
                <ns2:creationId id="{5E681100-2058-4EDA-A3A0-9E66EBF73DE9}"/>
              </a:ext>
            </a:extLst>
          </p:cNvPr>
          <p:cNvSpPr>
            <a:spLocks noGrp="1"/>
          </p:cNvSpPr>
          <p:nvPr/>
        </p:nvSpPr>
        <p:spPr>
          <a:xfrm>
            <a:off x="453390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조건별 판정 · 양보 · 완화 · 0건 분기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ns2:creationId id="{D72E4184-E233-4F52-89DC-77B8AFB89C11}"/>
              </a:ext>
            </a:extLst>
          </p:cNvPr>
          <p:cNvSpPr>
            <a:spLocks noGrp="1"/>
          </p:cNvSpPr>
          <p:nvPr/>
        </p:nvSpPr>
        <p:spPr>
          <a:xfrm>
            <a:off x="8001000" y="2686050"/>
            <a:ext cx="33337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ns2:creationId id="{C7B05465-AD8F-465C-B3FB-32006A2FF5E9}"/>
              </a:ext>
            </a:extLst>
          </p:cNvPr>
          <p:cNvSpPr>
            <a:spLocks noGrp="1"/>
          </p:cNvSpPr>
          <p:nvPr/>
        </p:nvSpPr>
        <p:spPr>
          <a:xfrm>
            <a:off x="8172450" y="2857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결정 / 운영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39D5B6E6-186C-487C-B879-46FD4E2C5CD4}"/>
              </a:ext>
            </a:extLst>
          </p:cNvPr>
          <p:cNvSpPr>
            <a:spLocks noGrp="1"/>
          </p:cNvSpPr>
          <p:nvPr/>
        </p:nvSpPr>
        <p:spPr>
          <a:xfrm>
            <a:off x="10153650" y="283845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EB80ABEE-D7BA-4FC4-BC3C-877CECE00548}"/>
              </a:ext>
            </a:extLst>
          </p:cNvPr>
          <p:cNvSpPr>
            <a:spLocks noGrp="1"/>
          </p:cNvSpPr>
          <p:nvPr/>
        </p:nvSpPr>
        <p:spPr>
          <a:xfrm>
            <a:off x="8172450" y="32766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보러 갈 2개 · 조건 유지 · 넘지 않을 선</a:t>
            </a:r>
          </a:p>
        </p:txBody>
      </p:sp>
      <p:sp>
        <p:nvSpPr>
          <p:cNvPr id="32" name="직사각형 31">
            <a:extLst>
              <a:ext uri="{FF2B5EF4-FFF2-40B4-BE49-F238E27FC236}">
                <ns2:creationId id="{F45E7844-7B7A-48E4-974C-35C74B1C2B0F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대표 Guardrail 5개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ns2:creationId id="{DFBF9463-DBD9-4DE5-ADE3-72E514F20B4A}"/>
              </a:ext>
            </a:extLst>
          </p:cNvPr>
          <p:cNvSpPr>
            <a:spLocks noGrp="1"/>
          </p:cNvSpPr>
          <p:nvPr/>
        </p:nvSpPr>
        <p:spPr>
          <a:xfrm>
            <a:off x="723900" y="445770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C2B14999-A245-4429-BE44-4BD85EA11064}"/>
              </a:ext>
            </a:extLst>
          </p:cNvPr>
          <p:cNvSpPr>
            <a:spLocks noGrp="1"/>
          </p:cNvSpPr>
          <p:nvPr/>
        </p:nvSpPr>
        <p:spPr>
          <a:xfrm>
            <a:off x="1847850" y="446722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출근 안 함 → 출근지·이동수단을 안 물음 · 통근을 재지 않음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ns2:creationId id="{5BC43665-923B-4159-B472-4FEF730846C3}"/>
              </a:ext>
            </a:extLst>
          </p:cNvPr>
          <p:cNvSpPr>
            <a:spLocks noGrp="1"/>
          </p:cNvSpPr>
          <p:nvPr/>
        </p:nvSpPr>
        <p:spPr>
          <a:xfrm>
            <a:off x="723900" y="4772025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36" name="직사각형 35">
            <a:extLst>
              <a:ext uri="{FF2B5EF4-FFF2-40B4-BE49-F238E27FC236}">
                <ns2:creationId id="{E1E1F699-9D7B-44F5-A5CE-AFC882C08010}"/>
              </a:ext>
            </a:extLst>
          </p:cNvPr>
          <p:cNvSpPr>
            <a:spLocks noGrp="1"/>
          </p:cNvSpPr>
          <p:nvPr/>
        </p:nvSpPr>
        <p:spPr>
          <a:xfrm>
            <a:off x="1847850" y="4781550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사람별·조건별 판정 · 공동 총점 미생성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ns2:creationId id="{9435098C-D66F-4C66-A5D3-99A10B3337CD}"/>
              </a:ext>
            </a:extLst>
          </p:cNvPr>
          <p:cNvSpPr>
            <a:spLocks noGrp="1"/>
          </p:cNvSpPr>
          <p:nvPr/>
        </p:nvSpPr>
        <p:spPr>
          <a:xfrm>
            <a:off x="723900" y="508635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38" name="직사각형 37">
            <a:extLst>
              <a:ext uri="{FF2B5EF4-FFF2-40B4-BE49-F238E27FC236}">
                <ns2:creationId id="{5E772714-805A-4E75-8023-052C16BD74AE}"/>
              </a:ext>
            </a:extLst>
          </p:cNvPr>
          <p:cNvSpPr>
            <a:spLocks noGrp="1"/>
          </p:cNvSpPr>
          <p:nvPr/>
        </p:nvSpPr>
        <p:spPr>
          <a:xfrm>
            <a:off x="1847850" y="509587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0개이거나 2번까지 안 맞으면 → 각자 하나씩 · 투표와 자동선택 안 함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ns2:creationId id="{9813C7F4-86D9-4798-ADE4-8F650EAA20AE}"/>
              </a:ext>
            </a:extLst>
          </p:cNvPr>
          <p:cNvSpPr>
            <a:spLocks noGrp="1"/>
          </p:cNvSpPr>
          <p:nvPr/>
        </p:nvSpPr>
        <p:spPr>
          <a:xfrm>
            <a:off x="723900" y="5400675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40" name="직사각형 39">
            <a:extLst>
              <a:ext uri="{FF2B5EF4-FFF2-40B4-BE49-F238E27FC236}">
                <ns2:creationId id="{D260634A-2B91-47AA-9F06-5B7D2B864B0F}"/>
              </a:ext>
            </a:extLst>
          </p:cNvPr>
          <p:cNvSpPr>
            <a:spLocks noGrp="1"/>
          </p:cNvSpPr>
          <p:nvPr/>
        </p:nvSpPr>
        <p:spPr>
          <a:xfrm>
            <a:off x="1847850" y="5410200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출근 안 함 → 해당 없음 · 비교표에서 통근 줄을 뺌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ns2:creationId id="{9E225189-B983-4BDE-A497-9224144ADEEC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Autofit/>
          </a:bodyPr>
          <a:lstStyle/>
          <a:p>
            <a:pPr algn="ctr">
              <a:defRPr sz="75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42" name="직사각형 41">
            <a:extLst>
              <a:ext uri="{FF2B5EF4-FFF2-40B4-BE49-F238E27FC236}">
                <ns2:creationId id="{A4983D95-6D97-48B5-AB40-C2706AFC4BB6}"/>
              </a:ext>
            </a:extLst>
          </p:cNvPr>
          <p:cNvSpPr>
            <a:spLocks noGrp="1"/>
          </p:cNvSpPr>
          <p:nvPr/>
        </p:nvSpPr>
        <p:spPr>
          <a:xfrm>
            <a:off x="1847850" y="5724525"/>
            <a:ext cx="931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공동 적합도 · 추천 배지 · AI가 고른 집을 띄우지 않음</a:t>
            </a:r>
          </a:p>
        </p:txBody>
      </p:sp>
    </p:spTree>
    <p:extLst>
      <p:ext uri="{BB962C8B-B14F-4D97-AF65-F5344CB8AC3E}">
        <ns3:creationId val="2093500726"/>
      </p:ext>
    </p:extLst>
  </p:cSld>
  <p:clrMapOvr>
    <a:masterClrMapping/>
  </p:clrMapOvr>
</p:sld>
</file>

<file path=ppt/slides/slide2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ns2:creationId id="{5B57E146-8EAF-4F37-87E5-CCED95C9197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35052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KPI · Guardrail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F0103EA5-3CF4-45DC-9847-F03350FB614E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3853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921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성공 지표는 하나만 세웠습니다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C84A1887-C5E4-4E38-87E8-89A6695ADDB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57C4558C-24E4-4663-9EBD-86F4F5B20F08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9D6E05D7-2109-49C9-870A-6A5DDB01C9F1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744200" cy="838200"/>
          </a:xfrm>
          <a:prstGeom prst="roundRect">
            <a:avLst>
              <a:gd name="adj" fmla="val 15909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ns2:creationId id="{BF15830B-1A39-4349-A825-D198C951F6DD}"/>
              </a:ext>
            </a:extLst>
          </p:cNvPr>
          <p:cNvSpPr>
            <a:spLocks noGrp="1"/>
          </p:cNvSpPr>
          <p:nvPr/>
        </p:nvSpPr>
        <p:spPr>
          <a:xfrm>
            <a:off x="933450" y="1881187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1">
                <a:solidFill>
                  <a:srgbClr val="8DF0B5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>
                <a:solidFill>
                  <a:srgbClr val="8DF0B5"/>
                </a:solidFill>
                <a:latin typeface="Noto Sans KR"/>
                <a:ea typeface="Noto Sans KR"/>
                <a:cs typeface="Noto Sans KR"/>
              </a:rPr>
              <a:t xml:space="preserve">North Star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1E8E4BF1-F1EE-43BF-8242-E42BA321F9D9}"/>
              </a:ext>
            </a:extLst>
          </p:cNvPr>
          <p:cNvSpPr>
            <a:spLocks noGrp="1"/>
          </p:cNvSpPr>
          <p:nvPr/>
        </p:nvSpPr>
        <p:spPr>
          <a:xfrm>
            <a:off x="2476500" y="1804987"/>
            <a:ext cx="6991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초대를 보낸 것 중, 7일 안에 보러 갈 집 2개가 정해진 비율</a:t>
            </a:r>
            <a:endParaRPr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ns2:creationId id="{967D72E3-769B-404A-9F10-C095D1353866}"/>
              </a:ext>
            </a:extLst>
          </p:cNvPr>
          <p:cNvSpPr>
            <a:spLocks noGrp="1"/>
          </p:cNvSpPr>
          <p:nvPr/>
        </p:nvSpPr>
        <p:spPr>
          <a:xfrm>
            <a:off x="9715500" y="188595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목표값 미정</a:t>
            </a:r>
          </a:p>
        </p:txBody>
      </p:sp>
      <p:sp>
        <p:nvSpPr>
          <p:cNvPr id="10" name="직사각형 9">
            <a:extLst>
              <a:ext uri="{FF2B5EF4-FFF2-40B4-BE49-F238E27FC236}">
                <ns2:creationId id="{B6723069-61C6-4ECF-9192-FDB92A16CDD9}"/>
              </a:ext>
            </a:extLst>
          </p:cNvPr>
          <p:cNvSpPr>
            <a:spLocks noGrp="1"/>
          </p:cNvSpPr>
          <p:nvPr/>
        </p:nvSpPr>
        <p:spPr>
          <a:xfrm>
            <a:off x="8382000" y="2133600"/>
            <a:ext cx="2533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C8D7CE"/>
                </a:solidFill>
                <a:latin typeface="Noto Sans KR"/>
                <a:ea typeface="Noto Sans KR"/>
                <a:cs typeface="Noto Sans KR"/>
              </a:rPr>
              <a:t xml:space="preserve">7일이 맞는지도 처음 재본 뒤에 조정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D6C30E94-B077-40AD-83DE-3121D2AFC5D8}"/>
              </a:ext>
            </a:extLst>
          </p:cNvPr>
          <p:cNvSpPr>
            <a:spLocks noGrp="1"/>
          </p:cNvSpPr>
          <p:nvPr/>
        </p:nvSpPr>
        <p:spPr>
          <a:xfrm>
            <a:off x="70485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ns2:creationId id="{44801B2B-CEF1-4CD0-BCCB-3D8BEADC412D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급소 가설 ①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D038670C-6E78-467E-901A-8EFB66937E03}"/>
              </a:ext>
            </a:extLst>
          </p:cNvPr>
          <p:cNvSpPr>
            <a:spLocks noGrp="1"/>
          </p:cNvSpPr>
          <p:nvPr/>
        </p:nvSpPr>
        <p:spPr>
          <a:xfrm>
            <a:off x="87630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초대 열기 → 조건 입력 → 로그인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4283342F-8970-43BC-8E70-69432EA2A6E1}"/>
              </a:ext>
            </a:extLst>
          </p:cNvPr>
          <p:cNvSpPr>
            <a:spLocks noGrp="1"/>
          </p:cNvSpPr>
          <p:nvPr/>
        </p:nvSpPr>
        <p:spPr>
          <a:xfrm>
            <a:off x="87630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먼저 잰다</a:t>
            </a:r>
          </a:p>
        </p:txBody>
      </p:sp>
      <p:sp>
        <p:nvSpPr>
          <p:cNvPr id="15" name="화살표: 오른쪽 14">
            <a:extLst>
              <a:ext uri="{FF2B5EF4-FFF2-40B4-BE49-F238E27FC236}">
                <ns2:creationId id="{6AE8769C-13DC-43F3-B1D8-92F097C06A05}"/>
              </a:ext>
            </a:extLst>
          </p:cNvPr>
          <p:cNvSpPr>
            <a:spLocks noGrp="1"/>
          </p:cNvSpPr>
          <p:nvPr/>
        </p:nvSpPr>
        <p:spPr>
          <a:xfrm>
            <a:off x="310515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사각형: 둥근 모서리 15">
            <a:extLst>
              <a:ext uri="{FF2B5EF4-FFF2-40B4-BE49-F238E27FC236}">
                <ns2:creationId id="{70A5F9C6-4EEB-45B3-8F24-FCAD5E3E3A5A}"/>
              </a:ext>
            </a:extLst>
          </p:cNvPr>
          <p:cNvSpPr>
            <a:spLocks noGrp="1"/>
          </p:cNvSpPr>
          <p:nvPr/>
        </p:nvSpPr>
        <p:spPr>
          <a:xfrm>
            <a:off x="339090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CE8EE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ns2:creationId id="{E0A54170-3795-476A-BE1E-8E5027EA542D}"/>
              </a:ext>
            </a:extLst>
          </p:cNvPr>
          <p:cNvSpPr>
            <a:spLocks noGrp="1"/>
          </p:cNvSpPr>
          <p:nvPr/>
        </p:nvSpPr>
        <p:spPr>
          <a:xfrm>
            <a:off x="3562350" y="3105150"/>
            <a:ext cx="83820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급소 가설 ②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CBCC89E6-5C48-4B36-93CD-4BF816FB3FEA}"/>
              </a:ext>
            </a:extLst>
          </p:cNvPr>
          <p:cNvSpPr>
            <a:spLocks noGrp="1"/>
          </p:cNvSpPr>
          <p:nvPr/>
        </p:nvSpPr>
        <p:spPr>
          <a:xfrm>
            <a:off x="356235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늦어진 경험 + 원인 인터뷰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E180276A-EE3D-4169-AB91-EE3242F71119}"/>
              </a:ext>
            </a:extLst>
          </p:cNvPr>
          <p:cNvSpPr>
            <a:spLocks noGrp="1"/>
          </p:cNvSpPr>
          <p:nvPr/>
        </p:nvSpPr>
        <p:spPr>
          <a:xfrm>
            <a:off x="356235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가장 중요</a:t>
            </a:r>
          </a:p>
        </p:txBody>
      </p:sp>
      <p:sp>
        <p:nvSpPr>
          <p:cNvPr id="20" name="화살표: 오른쪽 19">
            <a:extLst>
              <a:ext uri="{FF2B5EF4-FFF2-40B4-BE49-F238E27FC236}">
                <ns2:creationId id="{ADFD5EB8-6AEA-4EDA-92AB-B49CD0D6B6F8}"/>
              </a:ext>
            </a:extLst>
          </p:cNvPr>
          <p:cNvSpPr>
            <a:spLocks noGrp="1"/>
          </p:cNvSpPr>
          <p:nvPr/>
        </p:nvSpPr>
        <p:spPr>
          <a:xfrm>
            <a:off x="579120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사각형: 둥근 모서리 20">
            <a:extLst>
              <a:ext uri="{FF2B5EF4-FFF2-40B4-BE49-F238E27FC236}">
                <ns2:creationId id="{EA860368-4C39-4728-B67D-A883CD43A6D9}"/>
              </a:ext>
            </a:extLst>
          </p:cNvPr>
          <p:cNvSpPr>
            <a:spLocks noGrp="1"/>
          </p:cNvSpPr>
          <p:nvPr/>
        </p:nvSpPr>
        <p:spPr>
          <a:xfrm>
            <a:off x="607695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ns2:creationId id="{21260B92-ACF5-4F01-8DF4-2153EB923068}"/>
              </a:ext>
            </a:extLst>
          </p:cNvPr>
          <p:cNvSpPr>
            <a:spLocks noGrp="1"/>
          </p:cNvSpPr>
          <p:nvPr/>
        </p:nvSpPr>
        <p:spPr>
          <a:xfrm>
            <a:off x="6248400" y="3105150"/>
            <a:ext cx="1123950" cy="247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프로토타입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C5FF11AF-8761-46A5-9B8A-4AE0A2C691B2}"/>
              </a:ext>
            </a:extLst>
          </p:cNvPr>
          <p:cNvSpPr>
            <a:spLocks noGrp="1"/>
          </p:cNvSpPr>
          <p:nvPr/>
        </p:nvSpPr>
        <p:spPr>
          <a:xfrm>
            <a:off x="624840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1단계 핵심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81DC2F92-E8F6-404A-A123-51895864FA8C}"/>
              </a:ext>
            </a:extLst>
          </p:cNvPr>
          <p:cNvSpPr>
            <a:spLocks noGrp="1"/>
          </p:cNvSpPr>
          <p:nvPr/>
        </p:nvSpPr>
        <p:spPr>
          <a:xfrm>
            <a:off x="624840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앞의 둘을 통과하면</a:t>
            </a:r>
          </a:p>
        </p:txBody>
      </p:sp>
      <p:sp>
        <p:nvSpPr>
          <p:cNvPr id="25" name="화살표: 오른쪽 24">
            <a:extLst>
              <a:ext uri="{FF2B5EF4-FFF2-40B4-BE49-F238E27FC236}">
                <ns2:creationId id="{88D44209-BD64-401D-81E9-7EB8F3D4A65E}"/>
              </a:ext>
            </a:extLst>
          </p:cNvPr>
          <p:cNvSpPr>
            <a:spLocks noGrp="1"/>
          </p:cNvSpPr>
          <p:nvPr/>
        </p:nvSpPr>
        <p:spPr>
          <a:xfrm>
            <a:off x="8477250" y="3505200"/>
            <a:ext cx="285750" cy="171450"/>
          </a:xfrm>
          <a:prstGeom prst="rightArrow">
            <a:avLst/>
          </a:prstGeom>
          <a:solidFill>
            <a:srgbClr val="03C75A"/>
          </a:solidFill>
          <a:ln w="0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ns2:creationId id="{F870F2F7-AEB7-48D8-AF54-D55E842D06D4}"/>
              </a:ext>
            </a:extLst>
          </p:cNvPr>
          <p:cNvSpPr>
            <a:spLocks noGrp="1"/>
          </p:cNvSpPr>
          <p:nvPr/>
        </p:nvSpPr>
        <p:spPr>
          <a:xfrm>
            <a:off x="8763000" y="2933700"/>
            <a:ext cx="24003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ns2:creationId id="{E1DCD59D-AE11-4EBA-A904-EDE5DDFE7287}"/>
              </a:ext>
            </a:extLst>
          </p:cNvPr>
          <p:cNvSpPr>
            <a:spLocks noGrp="1"/>
          </p:cNvSpPr>
          <p:nvPr/>
        </p:nvSpPr>
        <p:spPr>
          <a:xfrm>
            <a:off x="8934450" y="3105150"/>
            <a:ext cx="895350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조건 입력·비용 신뢰·매물 지속성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092048AC-FDB7-41CB-A050-661F8A878D03}"/>
              </a:ext>
            </a:extLst>
          </p:cNvPr>
          <p:cNvSpPr>
            <a:spLocks noGrp="1"/>
          </p:cNvSpPr>
          <p:nvPr/>
        </p:nvSpPr>
        <p:spPr>
          <a:xfrm>
            <a:off x="8934450" y="35433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05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1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입력 · 신뢰 · 지속성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6704EF31-A41C-4871-A4CF-E2BCF24974DC}"/>
              </a:ext>
            </a:extLst>
          </p:cNvPr>
          <p:cNvSpPr>
            <a:spLocks noGrp="1"/>
          </p:cNvSpPr>
          <p:nvPr/>
        </p:nvSpPr>
        <p:spPr>
          <a:xfrm>
            <a:off x="8934450" y="4010025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제품 검증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D1A03639-3074-47E8-AF85-02E867476A61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10744200" cy="990600"/>
          </a:xfrm>
          <a:prstGeom prst="roundRect">
            <a:avLst>
              <a:gd name="adj" fmla="val 11538"/>
            </a:avLst>
          </a:prstGeom>
          <a:solidFill>
            <a:srgbClr val="DFF7EA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0DF9932C-D413-48F1-B498-7B4309FDE308}"/>
              </a:ext>
            </a:extLst>
          </p:cNvPr>
          <p:cNvSpPr>
            <a:spLocks noGrp="1"/>
          </p:cNvSpPr>
          <p:nvPr/>
        </p:nvSpPr>
        <p:spPr>
          <a:xfrm>
            <a:off x="933450" y="48387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Guardrail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ns2:creationId id="{F5FD32C4-C824-4313-B5CF-397FFFA09EDB}"/>
              </a:ext>
            </a:extLst>
          </p:cNvPr>
          <p:cNvSpPr>
            <a:spLocks noGrp="1"/>
          </p:cNvSpPr>
          <p:nvPr/>
        </p:nvSpPr>
        <p:spPr>
          <a:xfrm>
            <a:off x="23241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총점 없음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ns2:creationId id="{E27A1340-95B3-43B3-BC4F-88D6CF113C1C}"/>
              </a:ext>
            </a:extLst>
          </p:cNvPr>
          <p:cNvSpPr>
            <a:spLocks noGrp="1"/>
          </p:cNvSpPr>
          <p:nvPr/>
        </p:nvSpPr>
        <p:spPr>
          <a:xfrm>
            <a:off x="401955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AI 최종 선택 없음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ns2:creationId id="{490A39B2-5668-40DE-BCCE-FE566349B86D}"/>
              </a:ext>
            </a:extLst>
          </p:cNvPr>
          <p:cNvSpPr>
            <a:spLocks noGrp="1"/>
          </p:cNvSpPr>
          <p:nvPr/>
        </p:nvSpPr>
        <p:spPr>
          <a:xfrm>
            <a:off x="57150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두 사람 같은 비중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ns2:creationId id="{0A1FCB03-6A17-44D5-A405-AF28DB8AB2A4}"/>
              </a:ext>
            </a:extLst>
          </p:cNvPr>
          <p:cNvSpPr>
            <a:spLocks noGrp="1"/>
          </p:cNvSpPr>
          <p:nvPr/>
        </p:nvSpPr>
        <p:spPr>
          <a:xfrm>
            <a:off x="741045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오류 ≠ 미충족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ns2:creationId id="{1584FAE0-7E96-4066-AF6A-AD4CA5CA9F33}"/>
              </a:ext>
            </a:extLst>
          </p:cNvPr>
          <p:cNvSpPr>
            <a:spLocks noGrp="1"/>
          </p:cNvSpPr>
          <p:nvPr/>
        </p:nvSpPr>
        <p:spPr>
          <a:xfrm>
            <a:off x="9105900" y="5000625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동의 없이 조건 안 바꿈</a:t>
            </a:r>
          </a:p>
        </p:txBody>
      </p:sp>
      <p:sp>
        <p:nvSpPr>
          <p:cNvPr id="37" name="직사각형 36">
            <a:extLst>
              <a:ext uri="{FF2B5EF4-FFF2-40B4-BE49-F238E27FC236}">
                <ns2:creationId id="{D29A233F-735B-4040-8F3D-586E8F419838}"/>
              </a:ext>
            </a:extLst>
          </p:cNvPr>
          <p:cNvSpPr>
            <a:spLocks noGrp="1"/>
          </p:cNvSpPr>
          <p:nvPr/>
        </p:nvSpPr>
        <p:spPr>
          <a:xfrm>
            <a:off x="1619250" y="5924550"/>
            <a:ext cx="895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이건 성공 지표로 쓰지 않습니다 — 결정 시간 단축 · 갈등 감소 · 계약 전환 상승 · 탐색 기간 감소</a:t>
            </a:r>
          </a:p>
        </p:txBody>
      </p:sp>
    </p:spTree>
    <p:extLst>
      <p:ext uri="{BB962C8B-B14F-4D97-AF65-F5344CB8AC3E}">
        <ns3:creationId val="1862840467"/>
      </p:ext>
    </p:extLst>
  </p:cSld>
  <p:clrMapOvr>
    <a:masterClrMapping/>
  </p:clrMapOvr>
</p:sld>
</file>

<file path=ppt/slides/slide2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사각형: 둥근 모서리 32">
            <a:extLst>
              <a:ext uri="{FF2B5EF4-FFF2-40B4-BE49-F238E27FC236}">
                <ns2:creationId id="{49795D6F-A1CB-4917-A1D5-59543D00590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위험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B10A0740-EEEF-40D0-9E87-6A8DF1FD2EEC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2848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5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제일 큰 위험 둘은 기능 문제가 아닙니다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39E990BC-EAAF-459A-B18F-C5A92C80603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0DDDCC57-6D81-4B6E-AE4C-7B268225DF0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FABCBD73-AAA2-497A-9E5E-D38754C978DE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AB378429-22BF-4624-A2CF-77FCE005F403}"/>
              </a:ext>
            </a:extLst>
          </p:cNvPr>
          <p:cNvSpPr>
            <a:spLocks noGrp="1"/>
          </p:cNvSpPr>
          <p:nvPr/>
        </p:nvSpPr>
        <p:spPr>
          <a:xfrm>
            <a:off x="876300" y="17811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치명적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C6F46D1F-2CA0-47E4-8CA4-8C73FF56EA27}"/>
              </a:ext>
            </a:extLst>
          </p:cNvPr>
          <p:cNvSpPr>
            <a:spLocks noGrp="1"/>
          </p:cNvSpPr>
          <p:nvPr/>
        </p:nvSpPr>
        <p:spPr>
          <a:xfrm>
            <a:off x="1752600" y="17430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초대받은 사람이 안 들어옴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ns2:creationId id="{1AA513B5-4018-47B8-91DF-094DC9879DAC}"/>
              </a:ext>
            </a:extLst>
          </p:cNvPr>
          <p:cNvSpPr>
            <a:spLocks noGrp="1"/>
          </p:cNvSpPr>
          <p:nvPr/>
        </p:nvSpPr>
        <p:spPr>
          <a:xfrm>
            <a:off x="5619750" y="17430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먼저 잰다 · 혼자일 때 경로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F0EC81B2-CBBB-44F5-AD33-F66E88DDD515}"/>
              </a:ext>
            </a:extLst>
          </p:cNvPr>
          <p:cNvSpPr>
            <a:spLocks noGrp="1"/>
          </p:cNvSpPr>
          <p:nvPr/>
        </p:nvSpPr>
        <p:spPr>
          <a:xfrm>
            <a:off x="9525000" y="17907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가설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3262DC65-BF42-4C31-980E-0466CA2920D1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ns2:creationId id="{A7C5F79F-DDBC-4512-B9F9-E7495423E49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치명적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A1376C7F-7C84-4813-88D3-D01BA05206C8}"/>
              </a:ext>
            </a:extLst>
          </p:cNvPr>
          <p:cNvSpPr>
            <a:spLocks noGrp="1"/>
          </p:cNvSpPr>
          <p:nvPr/>
        </p:nvSpPr>
        <p:spPr>
          <a:xfrm>
            <a:off x="1752600" y="25241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 충돌이 늦어짐의 주원인이 아님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28E8E249-6040-43AF-979D-935A99BAB696}"/>
              </a:ext>
            </a:extLst>
          </p:cNvPr>
          <p:cNvSpPr>
            <a:spLocks noGrp="1"/>
          </p:cNvSpPr>
          <p:nvPr/>
        </p:nvSpPr>
        <p:spPr>
          <a:xfrm>
            <a:off x="5619750" y="25241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원인을 가르는 인터뷰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ns2:creationId id="{191F9EE9-A379-4996-B32A-8FCB39BE41FE}"/>
              </a:ext>
            </a:extLst>
          </p:cNvPr>
          <p:cNvSpPr>
            <a:spLocks noGrp="1"/>
          </p:cNvSpPr>
          <p:nvPr/>
        </p:nvSpPr>
        <p:spPr>
          <a:xfrm>
            <a:off x="9525000" y="2571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가설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25039FFE-73F3-4B0A-9F76-9A40CF880CD7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ns2:creationId id="{FD248326-0C51-47F3-B54B-05E43D4E4388}"/>
              </a:ext>
            </a:extLst>
          </p:cNvPr>
          <p:cNvSpPr>
            <a:spLocks noGrp="1"/>
          </p:cNvSpPr>
          <p:nvPr/>
        </p:nvSpPr>
        <p:spPr>
          <a:xfrm>
            <a:off x="876300" y="33432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큼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8B18F7AD-2F93-4EEA-8848-AE743E5711CD}"/>
              </a:ext>
            </a:extLst>
          </p:cNvPr>
          <p:cNvSpPr>
            <a:spLocks noGrp="1"/>
          </p:cNvSpPr>
          <p:nvPr/>
        </p:nvSpPr>
        <p:spPr>
          <a:xfrm>
            <a:off x="1752600" y="33051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 입력 부담 · 비용 계산 신뢰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199EF753-A7F4-4813-8B01-B4136E1B04AA}"/>
              </a:ext>
            </a:extLst>
          </p:cNvPr>
          <p:cNvSpPr>
            <a:spLocks noGrp="1"/>
          </p:cNvSpPr>
          <p:nvPr/>
        </p:nvSpPr>
        <p:spPr>
          <a:xfrm>
            <a:off x="5619750" y="33051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한 번에 다 안 묻고 나눠서 · 숫자 옆에 항상 전제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ns2:creationId id="{7AE94DAD-F5E0-4C83-9582-26D8F9CD7D97}"/>
              </a:ext>
            </a:extLst>
          </p:cNvPr>
          <p:cNvSpPr>
            <a:spLocks noGrp="1"/>
          </p:cNvSpPr>
          <p:nvPr/>
        </p:nvSpPr>
        <p:spPr>
          <a:xfrm>
            <a:off x="9525000" y="33528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가설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D8C8C914-2EEB-4AA1-89DA-31128DDE87F9}"/>
              </a:ext>
            </a:extLst>
          </p:cNvPr>
          <p:cNvSpPr>
            <a:spLocks noGrp="1"/>
          </p:cNvSpPr>
          <p:nvPr/>
        </p:nvSpPr>
        <p:spPr>
          <a:xfrm>
            <a:off x="723900" y="39624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ns2:creationId id="{F247D7C4-ECAA-4BED-892B-246E0889216D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큼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3313D8DE-C1A9-493F-9AB6-44A4FA87A1D8}"/>
              </a:ext>
            </a:extLst>
          </p:cNvPr>
          <p:cNvSpPr>
            <a:spLocks noGrp="1"/>
          </p:cNvSpPr>
          <p:nvPr/>
        </p:nvSpPr>
        <p:spPr>
          <a:xfrm>
            <a:off x="1752600" y="40862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네이버 내부 데이터를 못 쓰게 될 수 있음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0A98ED3D-C1DE-4C9F-A07A-D012A434E4E4}"/>
              </a:ext>
            </a:extLst>
          </p:cNvPr>
          <p:cNvSpPr>
            <a:spLocks noGrp="1"/>
          </p:cNvSpPr>
          <p:nvPr/>
        </p:nvSpPr>
        <p:spPr>
          <a:xfrm>
            <a:off x="5619750" y="40862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네이버 내부 확인이 필요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339A5E96-398B-4313-856E-469AF93A1F17}"/>
              </a:ext>
            </a:extLst>
          </p:cNvPr>
          <p:cNvSpPr>
            <a:spLocks noGrp="1"/>
          </p:cNvSpPr>
          <p:nvPr/>
        </p:nvSpPr>
        <p:spPr>
          <a:xfrm>
            <a:off x="9525000" y="413385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미정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ns2:creationId id="{041AE917-7BA7-4A9C-93FD-38D4436BBFED}"/>
              </a:ext>
            </a:extLst>
          </p:cNvPr>
          <p:cNvSpPr>
            <a:spLocks noGrp="1"/>
          </p:cNvSpPr>
          <p:nvPr/>
        </p:nvSpPr>
        <p:spPr>
          <a:xfrm>
            <a:off x="723900" y="47434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ns2:creationId id="{8D314041-2DD1-4051-ACC0-A3845B5F9594}"/>
              </a:ext>
            </a:extLst>
          </p:cNvPr>
          <p:cNvSpPr>
            <a:spLocks noGrp="1"/>
          </p:cNvSpPr>
          <p:nvPr/>
        </p:nvSpPr>
        <p:spPr>
          <a:xfrm>
            <a:off x="876300" y="49053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중간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40BD01EE-7991-4755-B137-FCFEABA5BB26}"/>
              </a:ext>
            </a:extLst>
          </p:cNvPr>
          <p:cNvSpPr>
            <a:spLocks noGrp="1"/>
          </p:cNvSpPr>
          <p:nvPr/>
        </p:nvSpPr>
        <p:spPr>
          <a:xfrm>
            <a:off x="1752600" y="48672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집이 나감 · 각자 하나씩 · 관계 데이터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0BFF25E6-4160-4373-9C57-6926AC363957}"/>
              </a:ext>
            </a:extLst>
          </p:cNvPr>
          <p:cNvSpPr>
            <a:spLocks noGrp="1"/>
          </p:cNvSpPr>
          <p:nvPr/>
        </p:nvSpPr>
        <p:spPr>
          <a:xfrm>
            <a:off x="5619750" y="48672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조건이 남음 · 쓰기 편한지 검증 · 출시 전 정책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625521BE-47BD-4B79-A3D5-79DE260184E2}"/>
              </a:ext>
            </a:extLst>
          </p:cNvPr>
          <p:cNvSpPr>
            <a:spLocks noGrp="1"/>
          </p:cNvSpPr>
          <p:nvPr/>
        </p:nvSpPr>
        <p:spPr>
          <a:xfrm>
            <a:off x="9525000" y="491490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미정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ns2:creationId id="{E5908357-3C48-428C-9387-15A7478BCF06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10553700" cy="400050"/>
          </a:xfrm>
          <a:prstGeom prst="roundRect">
            <a:avLst>
              <a:gd name="adj" fmla="val 19048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ns2:creationId id="{3176BE12-3C41-4495-B746-52E2E40AE75B}"/>
              </a:ext>
            </a:extLst>
          </p:cNvPr>
          <p:cNvSpPr>
            <a:spLocks noGrp="1"/>
          </p:cNvSpPr>
          <p:nvPr/>
        </p:nvSpPr>
        <p:spPr>
          <a:xfrm>
            <a:off x="971550" y="5800725"/>
            <a:ext cx="10058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화면을 더 다듬는 것보다, 전제가 맞는지가 더 급합니다</a:t>
            </a:r>
          </a:p>
        </p:txBody>
      </p:sp>
    </p:spTree>
    <p:extLst>
      <p:ext uri="{BB962C8B-B14F-4D97-AF65-F5344CB8AC3E}">
        <ns3:creationId val="1149490605"/>
      </p:ext>
    </p:extLst>
  </p:cSld>
  <p:clrMapOvr>
    <a:masterClrMapping/>
  </p:clrMapOvr>
</p:sld>
</file>

<file path=ppt/slides/slide3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ns2:creationId id="{DBE289BC-9286-4090-8A16-16777AAF37C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28194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한계와 다음 결정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F7677300-5EC8-4461-BC15-E594D1AA44F6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105863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더 만들기 전에, 두 가지부터 확인하겠습니다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6A552DE8-E7C8-4946-8E00-6F115D2A2D8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ns2:creationId id="{BA592693-157C-44B8-BF30-9AC19A1B7A90}"/>
              </a:ext>
            </a:extLst>
          </p:cNvPr>
          <p:cNvSpPr>
            <a:spLocks noGrp="1"/>
          </p:cNvSpPr>
          <p:nvPr/>
        </p:nvSpPr>
        <p:spPr>
          <a:xfrm>
            <a:off x="647700" y="6486525"/>
            <a:ext cx="985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같이 보기  ·  둘이서 보러 갈 집 정하기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69FFD680-860D-480E-B171-7326167BE8FC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31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F7D63869-B747-492B-AC55-4A810AD428B9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FA2CE159-DA3A-474A-9922-C2DF0F24598B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781050" cy="266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확정</a:t>
            </a:r>
          </a:p>
        </p:txBody>
      </p:sp>
      <p:sp>
        <p:nvSpPr>
          <p:cNvPr id="8" name="타원 7">
            <a:extLst>
              <a:ext uri="{FF2B5EF4-FFF2-40B4-BE49-F238E27FC236}">
                <ns2:creationId id="{B12CEB59-7FDD-4C59-8F88-2233B664B65B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9" name="직사각형 8">
            <a:extLst>
              <a:ext uri="{FF2B5EF4-FFF2-40B4-BE49-F238E27FC236}">
                <ns2:creationId id="{BA0DC018-4A61-4D01-B0C5-8E15BB50DD46}"/>
              </a:ext>
            </a:extLst>
          </p:cNvPr>
          <p:cNvSpPr>
            <a:spLocks noGrp="1"/>
          </p:cNvSpPr>
          <p:nvPr/>
        </p:nvSpPr>
        <p:spPr>
          <a:xfrm>
            <a:off x="108585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저장 이후, 둘이 함께 정하기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타원 9">
            <a:extLst>
              <a:ext uri="{FF2B5EF4-FFF2-40B4-BE49-F238E27FC236}">
                <ns2:creationId id="{0A7A8325-E247-42F7-A8EF-B909FABF0420}"/>
              </a:ext>
            </a:extLst>
          </p:cNvPr>
          <p:cNvSpPr>
            <a:spLocks noGrp="1"/>
          </p:cNvSpPr>
          <p:nvPr/>
        </p:nvSpPr>
        <p:spPr>
          <a:xfrm>
            <a:off x="914400" y="306705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1" name="직사각형 10">
            <a:extLst>
              <a:ext uri="{FF2B5EF4-FFF2-40B4-BE49-F238E27FC236}">
                <ns2:creationId id="{A435D6CD-6D99-4474-927C-A7CBD9008CCF}"/>
              </a:ext>
            </a:extLst>
          </p:cNvPr>
          <p:cNvSpPr>
            <a:spLocks noGrp="1"/>
          </p:cNvSpPr>
          <p:nvPr/>
        </p:nvSpPr>
        <p:spPr>
          <a:xfrm>
            <a:off x="108585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조건은 사람에게 저장 · 합산 없음</a:t>
            </a:r>
          </a:p>
        </p:txBody>
      </p:sp>
      <p:sp>
        <p:nvSpPr>
          <p:cNvPr id="12" name="타원 11">
            <a:extLst>
              <a:ext uri="{FF2B5EF4-FFF2-40B4-BE49-F238E27FC236}">
                <ns2:creationId id="{E3DA6C13-6E07-46A6-94C5-7FBEEE0215EE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95250" cy="9525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3" name="직사각형 12">
            <a:extLst>
              <a:ext uri="{FF2B5EF4-FFF2-40B4-BE49-F238E27FC236}">
                <ns2:creationId id="{AD62C683-CF68-40D5-99FD-8F6053D5CC41}"/>
              </a:ext>
            </a:extLst>
          </p:cNvPr>
          <p:cNvSpPr>
            <a:spLocks noGrp="1"/>
          </p:cNvSpPr>
          <p:nvPr/>
        </p:nvSpPr>
        <p:spPr>
          <a:xfrm>
            <a:off x="1085850" y="3540997"/>
            <a:ext cx="2853104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AI는 설명만 · 보러 갈 집 2개는 사용자가 선택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ns2:creationId id="{12824E06-56E1-4AA1-B2B8-1C693F53A4B9}"/>
              </a:ext>
            </a:extLst>
          </p:cNvPr>
          <p:cNvSpPr>
            <a:spLocks noGrp="1"/>
          </p:cNvSpPr>
          <p:nvPr/>
        </p:nvSpPr>
        <p:spPr>
          <a:xfrm>
            <a:off x="432435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241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사각형: 둥근 모서리 14">
            <a:extLst>
              <a:ext uri="{FF2B5EF4-FFF2-40B4-BE49-F238E27FC236}">
                <ns2:creationId id="{E3D350E3-9502-40D3-91DB-FFF6CF53FAC7}"/>
              </a:ext>
            </a:extLst>
          </p:cNvPr>
          <p:cNvSpPr>
            <a:spLocks noGrp="1"/>
          </p:cNvSpPr>
          <p:nvPr/>
        </p:nvSpPr>
        <p:spPr>
          <a:xfrm>
            <a:off x="4514850" y="1790700"/>
            <a:ext cx="1104900" cy="26670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미검증 · 한계</a:t>
            </a:r>
          </a:p>
        </p:txBody>
      </p:sp>
      <p:sp>
        <p:nvSpPr>
          <p:cNvPr id="16" name="타원 15">
            <a:extLst>
              <a:ext uri="{FF2B5EF4-FFF2-40B4-BE49-F238E27FC236}">
                <ns2:creationId id="{96C6C57D-FBBD-4F8E-B1F0-733BD6FBD7C5}"/>
              </a:ext>
            </a:extLst>
          </p:cNvPr>
          <p:cNvSpPr>
            <a:spLocks noGrp="1"/>
          </p:cNvSpPr>
          <p:nvPr/>
        </p:nvSpPr>
        <p:spPr>
          <a:xfrm>
            <a:off x="4552950" y="240030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7" name="직사각형 16">
            <a:extLst>
              <a:ext uri="{FF2B5EF4-FFF2-40B4-BE49-F238E27FC236}">
                <ns2:creationId id="{CFCDE737-D159-4550-B4F6-DE842179A292}"/>
              </a:ext>
            </a:extLst>
          </p:cNvPr>
          <p:cNvSpPr>
            <a:spLocks noGrp="1"/>
          </p:cNvSpPr>
          <p:nvPr/>
        </p:nvSpPr>
        <p:spPr>
          <a:xfrm>
            <a:off x="472440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늦어지는 원인 — 직접 근거를 못 찾음</a:t>
            </a:r>
          </a:p>
        </p:txBody>
      </p:sp>
      <p:sp>
        <p:nvSpPr>
          <p:cNvPr id="18" name="타원 17">
            <a:extLst>
              <a:ext uri="{FF2B5EF4-FFF2-40B4-BE49-F238E27FC236}">
                <ns2:creationId id="{1CFFA7CF-E07C-4380-8253-E271690836AA}"/>
              </a:ext>
            </a:extLst>
          </p:cNvPr>
          <p:cNvSpPr>
            <a:spLocks noGrp="1"/>
          </p:cNvSpPr>
          <p:nvPr/>
        </p:nvSpPr>
        <p:spPr>
          <a:xfrm>
            <a:off x="4552950" y="306705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19" name="직사각형 18">
            <a:extLst>
              <a:ext uri="{FF2B5EF4-FFF2-40B4-BE49-F238E27FC236}">
                <ns2:creationId id="{BB917510-2092-469B-BF4C-8398F3823FDD}"/>
              </a:ext>
            </a:extLst>
          </p:cNvPr>
          <p:cNvSpPr>
            <a:spLocks noGrp="1"/>
          </p:cNvSpPr>
          <p:nvPr/>
        </p:nvSpPr>
        <p:spPr>
          <a:xfrm>
            <a:off x="472440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Zillow 자료는 미국 · 2020년 · 매매</a:t>
            </a:r>
          </a:p>
        </p:txBody>
      </p:sp>
      <p:sp>
        <p:nvSpPr>
          <p:cNvPr id="20" name="타원 19">
            <a:extLst>
              <a:ext uri="{FF2B5EF4-FFF2-40B4-BE49-F238E27FC236}">
                <ns2:creationId id="{A4205068-8E38-4220-AF61-B3BE8E76BA1B}"/>
              </a:ext>
            </a:extLst>
          </p:cNvPr>
          <p:cNvSpPr>
            <a:spLocks noGrp="1"/>
          </p:cNvSpPr>
          <p:nvPr/>
        </p:nvSpPr>
        <p:spPr>
          <a:xfrm>
            <a:off x="4552950" y="3733800"/>
            <a:ext cx="95250" cy="95250"/>
          </a:xfrm>
          <a:prstGeom prst="ellipse">
            <a:avLst/>
          </a:prstGeom>
          <a:solidFill>
            <a:srgbClr val="C2415D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1" name="직사각형 20">
            <a:extLst>
              <a:ext uri="{FF2B5EF4-FFF2-40B4-BE49-F238E27FC236}">
                <ns2:creationId id="{6ED69704-EC0C-4101-B074-6BCD3DF82CF5}"/>
              </a:ext>
            </a:extLst>
          </p:cNvPr>
          <p:cNvSpPr>
            <a:spLocks noGrp="1"/>
          </p:cNvSpPr>
          <p:nvPr/>
        </p:nvSpPr>
        <p:spPr>
          <a:xfrm>
            <a:off x="4724400" y="35409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국내 초대 수락·효과·내부 API 미확인</a:t>
            </a:r>
            <a:endParaRPr sz="12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ns2:creationId id="{811B3EA4-260B-4B37-AD4F-F65AC10B7C99}"/>
              </a:ext>
            </a:extLst>
          </p:cNvPr>
          <p:cNvSpPr>
            <a:spLocks noGrp="1"/>
          </p:cNvSpPr>
          <p:nvPr/>
        </p:nvSpPr>
        <p:spPr>
          <a:xfrm>
            <a:off x="7962900" y="1581150"/>
            <a:ext cx="3333750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사각형: 둥근 모서리 22">
            <a:extLst>
              <a:ext uri="{FF2B5EF4-FFF2-40B4-BE49-F238E27FC236}">
                <ns2:creationId id="{57CB167D-291A-4B2E-936E-9893BB3CAAE5}"/>
              </a:ext>
            </a:extLst>
          </p:cNvPr>
          <p:cNvSpPr>
            <a:spLocks noGrp="1"/>
          </p:cNvSpPr>
          <p:nvPr/>
        </p:nvSpPr>
        <p:spPr>
          <a:xfrm>
            <a:off x="8153400" y="1790700"/>
            <a:ext cx="78105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결정</a:t>
            </a:r>
          </a:p>
        </p:txBody>
      </p:sp>
      <p:sp>
        <p:nvSpPr>
          <p:cNvPr id="24" name="타원 23">
            <a:extLst>
              <a:ext uri="{FF2B5EF4-FFF2-40B4-BE49-F238E27FC236}">
                <ns2:creationId id="{4CD11817-0B57-4CE4-97CC-97FA486E1DC9}"/>
              </a:ext>
            </a:extLst>
          </p:cNvPr>
          <p:cNvSpPr>
            <a:spLocks noGrp="1"/>
          </p:cNvSpPr>
          <p:nvPr/>
        </p:nvSpPr>
        <p:spPr>
          <a:xfrm>
            <a:off x="8191500" y="240030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5" name="직사각형 24">
            <a:extLst>
              <a:ext uri="{FF2B5EF4-FFF2-40B4-BE49-F238E27FC236}">
                <ns2:creationId id="{540E9BDC-AB54-460B-A8AF-034EDD28A465}"/>
              </a:ext>
            </a:extLst>
          </p:cNvPr>
          <p:cNvSpPr>
            <a:spLocks noGrp="1"/>
          </p:cNvSpPr>
          <p:nvPr/>
        </p:nvSpPr>
        <p:spPr>
          <a:xfrm>
            <a:off x="8362950" y="22074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1. 초대받은 사람이 오는지 측정</a:t>
            </a:r>
          </a:p>
        </p:txBody>
      </p:sp>
      <p:sp>
        <p:nvSpPr>
          <p:cNvPr id="26" name="타원 25">
            <a:extLst>
              <a:ext uri="{FF2B5EF4-FFF2-40B4-BE49-F238E27FC236}">
                <ns2:creationId id="{528A94A6-BBE8-466C-ADFC-F03A093ECE5B}"/>
              </a:ext>
            </a:extLst>
          </p:cNvPr>
          <p:cNvSpPr>
            <a:spLocks noGrp="1"/>
          </p:cNvSpPr>
          <p:nvPr/>
        </p:nvSpPr>
        <p:spPr>
          <a:xfrm>
            <a:off x="8191500" y="306705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7" name="직사각형 26">
            <a:extLst>
              <a:ext uri="{FF2B5EF4-FFF2-40B4-BE49-F238E27FC236}">
                <ns2:creationId id="{921B83B9-51EC-4CC2-AC79-413265BC2914}"/>
              </a:ext>
            </a:extLst>
          </p:cNvPr>
          <p:cNvSpPr>
            <a:spLocks noGrp="1"/>
          </p:cNvSpPr>
          <p:nvPr/>
        </p:nvSpPr>
        <p:spPr>
          <a:xfrm>
            <a:off x="8362950" y="287424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2. 늦어진 원인을 가르는 인터뷰</a:t>
            </a:r>
          </a:p>
        </p:txBody>
      </p:sp>
      <p:sp>
        <p:nvSpPr>
          <p:cNvPr id="28" name="타원 27">
            <a:extLst>
              <a:ext uri="{FF2B5EF4-FFF2-40B4-BE49-F238E27FC236}">
                <ns2:creationId id="{62110148-CF72-4DE8-BE85-56134A38D3F7}"/>
              </a:ext>
            </a:extLst>
          </p:cNvPr>
          <p:cNvSpPr>
            <a:spLocks noGrp="1"/>
          </p:cNvSpPr>
          <p:nvPr/>
        </p:nvSpPr>
        <p:spPr>
          <a:xfrm>
            <a:off x="8191500" y="373380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29" name="직사각형 28">
            <a:extLst>
              <a:ext uri="{FF2B5EF4-FFF2-40B4-BE49-F238E27FC236}">
                <ns2:creationId id="{C54E9A13-4AC6-465A-8DE8-E8D52F3C18DE}"/>
              </a:ext>
            </a:extLst>
          </p:cNvPr>
          <p:cNvSpPr>
            <a:spLocks noGrp="1"/>
          </p:cNvSpPr>
          <p:nvPr/>
        </p:nvSpPr>
        <p:spPr>
          <a:xfrm>
            <a:off x="8362950" y="3540997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3. 둘 다 통과하면 1단계 프로토타입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E3443E5D-B9CA-4E22-95D1-89FFCCF31CCB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10610850" cy="666750"/>
          </a:xfrm>
          <a:prstGeom prst="roundRect">
            <a:avLst>
              <a:gd name="adj" fmla="val 17143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ns2:creationId id="{B52231F9-FA65-4CEE-BFB2-7F86CE1DE9C1}"/>
              </a:ext>
            </a:extLst>
          </p:cNvPr>
          <p:cNvSpPr>
            <a:spLocks noGrp="1"/>
          </p:cNvSpPr>
          <p:nvPr/>
        </p:nvSpPr>
        <p:spPr>
          <a:xfrm>
            <a:off x="971550" y="4762500"/>
            <a:ext cx="10039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더 만들기 전에, 두 사람이 정말 함께 쓰는지부터 확인하겠습니다. 확인되면 조건 차이를 설명하는 1단계로 갑니다.</a:t>
            </a:r>
          </a:p>
        </p:txBody>
      </p:sp>
      <p:sp>
        <p:nvSpPr>
          <p:cNvPr id="32" name="직사각형 31">
            <a:extLst>
              <a:ext uri="{FF2B5EF4-FFF2-40B4-BE49-F238E27FC236}">
                <ns2:creationId id="{76481BD0-0670-409A-8E1E-7E440CFA2A77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원본 링크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E774F57C-06B0-42B0-AB02-EB5DC7CC475D}"/>
              </a:ext>
            </a:extLst>
          </p:cNvPr>
          <p:cNvSpPr>
            <a:spLocks noGrp="1"/>
          </p:cNvSpPr>
          <p:nvPr/>
        </p:nvSpPr>
        <p:spPr>
          <a:xfrm>
            <a:off x="1695450" y="554355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IPDAS  https://journals.sagepub.com/doi/full/10.1177/0272989X211021397</a:t>
            </a:r>
          </a:p>
        </p:txBody>
      </p:sp>
      <p:sp>
        <p:nvSpPr>
          <p:cNvPr id="34" name="직사각형 33">
            <a:extLst>
              <a:ext uri="{FF2B5EF4-FFF2-40B4-BE49-F238E27FC236}">
                <ns2:creationId id="{941C8FA8-0F90-4501-8629-00F679E4D29F}"/>
              </a:ext>
            </a:extLst>
          </p:cNvPr>
          <p:cNvSpPr>
            <a:spLocks noGrp="1"/>
          </p:cNvSpPr>
          <p:nvPr/>
        </p:nvSpPr>
        <p:spPr>
          <a:xfrm>
            <a:off x="6724650" y="5543550"/>
            <a:ext cx="455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>Option Grid  https://www.ncbi.nlm.nih.gov/pmc/articles/PMC3986464/</a:t>
            </a:r>
          </a:p>
        </p:txBody>
      </p:sp>
      <p:sp>
        <p:nvSpPr>
          <p:cNvPr id="35" name="직사각형 34">
            <a:extLst>
              <a:ext uri="{FF2B5EF4-FFF2-40B4-BE49-F238E27FC236}">
                <ns2:creationId id="{2579C722-C80A-44EA-A9ED-533C98B62B4F}"/>
              </a:ext>
            </a:extLst>
          </p:cNvPr>
          <p:cNvSpPr>
            <a:spLocks noGrp="1"/>
          </p:cNvSpPr>
          <p:nvPr/>
        </p:nvSpPr>
        <p:spPr>
          <a:xfrm>
            <a:off x="1695450" y="5848350"/>
            <a:ext cx="876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근거 문서 — 팀 브리프 · 가설 · 근거 로그 · 벤치마크 · 화면 설계 · 기획서</a:t>
            </a:r>
          </a:p>
        </p:txBody>
      </p:sp>
      <p:sp>
        <p:nvSpPr>
          <p:cNvPr id="36" name="직사각형 35">
            <a:extLst>
              <a:ext uri="{FF2B5EF4-FFF2-40B4-BE49-F238E27FC236}">
                <ns2:creationId id="{71B66189-77A8-4641-B577-3949157C58AD}"/>
              </a:ext>
            </a:extLst>
          </p:cNvPr>
          <p:cNvSpPr>
            <a:spLocks noGrp="1"/>
          </p:cNvSpPr>
          <p:nvPr/>
        </p:nvSpPr>
        <p:spPr>
          <a:xfrm>
            <a:off x="1905000" y="6115050"/>
            <a:ext cx="838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각자의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조건과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양보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지점을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보고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보러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갈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집을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25" b="1" dirty="0" err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정합니다</a:t>
            </a:r>
            <a:r>
              <a:rPr sz="1125" b="1" dirty="0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</p:spTree>
    <p:extLst>
      <p:ext uri="{BB962C8B-B14F-4D97-AF65-F5344CB8AC3E}">
        <ns3:creationId val="302804594"/>
      </p:ext>
    </p:extLst>
  </p:cSld>
  <p:clrMapOvr>
    <a:masterClrMapping/>
  </p:clrMapOvr>
</p:sld>
</file>

<file path=ppt/slides/slide3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사각형: 둥근 모서리 32">
            <a:extLst>
              <a:ext uri="{FF2B5EF4-FFF2-40B4-BE49-F238E27FC236}">
                <ns2:creationId id="{49795D6F-A1CB-4917-A1D5-59543D00590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952500" cy="247650"/>
          </a:xfrm>
          <a:prstGeom prst="roundRect">
            <a:avLst>
              <a:gd name="adj" fmla="val 50000"/>
            </a:avLst>
          </a:prstGeom>
          <a:solidFill>
            <a:srgbClr val="DFF7EA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법·윤리·보안</a:t>
            </a:r>
          </a:p>
        </p:txBody>
      </p:sp>
      <p:sp>
        <p:nvSpPr>
          <p:cNvPr id="2" name="직사각형 1">
            <a:extLst>
              <a:ext uri="{FF2B5EF4-FFF2-40B4-BE49-F238E27FC236}">
                <ns2:creationId id="{B10A0740-EEEF-40D0-9E87-6A8DF1FD2EEC}"/>
              </a:ext>
            </a:extLst>
          </p:cNvPr>
          <p:cNvSpPr>
            <a:spLocks noGrp="1"/>
          </p:cNvSpPr>
          <p:nvPr/>
        </p:nvSpPr>
        <p:spPr>
          <a:xfrm>
            <a:off x="647699" y="723900"/>
            <a:ext cx="1102848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54"/>
          </a:bodyPr>
          <a:lstStyle/>
          <a:p>
            <a:pPr algn="l">
              <a:defRPr sz="27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두 사람의 예산과 직장 위치를 다룹니다</a:t>
            </a:r>
            <a:endParaRPr sz="27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선 연결선 2">
            <a:extLst>
              <a:ext uri="{FF2B5EF4-FFF2-40B4-BE49-F238E27FC236}">
                <ns2:creationId id="{39E990BC-EAAF-459A-B18F-C5A92C806034}"/>
              </a:ext>
            </a:extLst>
          </p:cNvPr>
          <p:cNvSpPr>
            <a:spLocks noGrp="1"/>
          </p:cNvSpPr>
          <p:nvPr/>
        </p:nvSpPr>
        <p:spPr>
          <a:xfrm>
            <a:off x="647700" y="6381750"/>
            <a:ext cx="10896600" cy="0"/>
          </a:xfrm>
          <a:prstGeom prst="line">
            <a:avLst/>
          </a:prstGeom>
          <a:noFill/>
          <a:ln w="9525">
            <a:solidFill>
              <a:srgbClr val="D8E2D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ns2:creationId id="{0DDDCC57-6D81-4B6E-AE4C-7B268225DF06}"/>
              </a:ext>
            </a:extLst>
          </p:cNvPr>
          <p:cNvSpPr>
            <a:spLocks noGrp="1"/>
          </p:cNvSpPr>
          <p:nvPr/>
        </p:nvSpPr>
        <p:spPr>
          <a:xfrm>
            <a:off x="10953750" y="6457950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087A43"/>
                </a:solidFill>
                <a:latin typeface="Noto Sans KR"/>
                <a:ea typeface="Noto Sans KR"/>
                <a:cs typeface="Noto Sans KR"/>
              </a:rPr>
              <a:t xml:space="preserve">30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FABCBD73-AAA2-497A-9E5E-D38754C978DE}"/>
              </a:ext>
            </a:extLst>
          </p:cNvPr>
          <p:cNvSpPr>
            <a:spLocks noGrp="1"/>
          </p:cNvSpPr>
          <p:nvPr/>
        </p:nvSpPr>
        <p:spPr>
          <a:xfrm>
            <a:off x="723900" y="16192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사각형: 둥근 모서리 6">
            <a:extLst>
              <a:ext uri="{FF2B5EF4-FFF2-40B4-BE49-F238E27FC236}">
                <ns2:creationId id="{AB378429-22BF-4624-A2CF-77FCE005F403}"/>
              </a:ext>
            </a:extLst>
          </p:cNvPr>
          <p:cNvSpPr>
            <a:spLocks noGrp="1"/>
          </p:cNvSpPr>
          <p:nvPr/>
        </p:nvSpPr>
        <p:spPr>
          <a:xfrm>
            <a:off x="876300" y="17811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법적 필수</a:t>
            </a:r>
          </a:p>
        </p:txBody>
      </p:sp>
      <p:sp>
        <p:nvSpPr>
          <p:cNvPr id="8" name="직사각형 7">
            <a:extLst>
              <a:ext uri="{FF2B5EF4-FFF2-40B4-BE49-F238E27FC236}">
                <ns2:creationId id="{C6F46D1F-2CA0-47E4-8CA4-8C73FF56EA27}"/>
              </a:ext>
            </a:extLst>
          </p:cNvPr>
          <p:cNvSpPr>
            <a:spLocks noGrp="1"/>
          </p:cNvSpPr>
          <p:nvPr/>
        </p:nvSpPr>
        <p:spPr>
          <a:xfrm>
            <a:off x="1752600" y="17430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 dirty="0" err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출근지·예산은 민감한 개인정보</a:t>
            </a:r>
            <a:endParaRPr sz="1400" b="1" dirty="0">
              <a:solidFill>
                <a:srgbClr val="1523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ns2:creationId id="{1AA513B5-4018-47B8-91DF-094DC9879DAC}"/>
              </a:ext>
            </a:extLst>
          </p:cNvPr>
          <p:cNvSpPr>
            <a:spLocks noGrp="1"/>
          </p:cNvSpPr>
          <p:nvPr/>
        </p:nvSpPr>
        <p:spPr>
          <a:xfrm>
            <a:off x="5619750" y="17430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 dirty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꼭 필요한 것만 수집 · 목적 외 사용 안 함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F0EC81B2-CBBB-44F5-AD33-F66E88DDD515}"/>
              </a:ext>
            </a:extLst>
          </p:cNvPr>
          <p:cNvSpPr>
            <a:spLocks noGrp="1"/>
          </p:cNvSpPr>
          <p:nvPr/>
        </p:nvSpPr>
        <p:spPr>
          <a:xfrm>
            <a:off x="9525000" y="17907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출시 전 필수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3262DC65-BF42-4C31-980E-0466CA2920D1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사각형: 둥근 모서리 11">
            <a:extLst>
              <a:ext uri="{FF2B5EF4-FFF2-40B4-BE49-F238E27FC236}">
                <ns2:creationId id="{A7C5F79F-DDBC-4512-B9F9-E7495423E498}"/>
              </a:ext>
            </a:extLst>
          </p:cNvPr>
          <p:cNvSpPr>
            <a:spLocks noGrp="1"/>
          </p:cNvSpPr>
          <p:nvPr/>
        </p:nvSpPr>
        <p:spPr>
          <a:xfrm>
            <a:off x="876300" y="25622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C2415D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법적 필수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A1376C7F-7C84-4813-88D3-D01BA05206C8}"/>
              </a:ext>
            </a:extLst>
          </p:cNvPr>
          <p:cNvSpPr>
            <a:spLocks noGrp="1"/>
          </p:cNvSpPr>
          <p:nvPr/>
        </p:nvSpPr>
        <p:spPr>
          <a:xfrm>
            <a:off x="1752600" y="25241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상대방에게 내 예산이 보이는가</a:t>
            </a:r>
          </a:p>
        </p:txBody>
      </p:sp>
      <p:sp>
        <p:nvSpPr>
          <p:cNvPr id="14" name="직사각형 13">
            <a:extLst>
              <a:ext uri="{FF2B5EF4-FFF2-40B4-BE49-F238E27FC236}">
                <ns2:creationId id="{28E8E249-6040-43AF-979D-935A99BAB696}"/>
              </a:ext>
            </a:extLst>
          </p:cNvPr>
          <p:cNvSpPr>
            <a:spLocks noGrp="1"/>
          </p:cNvSpPr>
          <p:nvPr/>
        </p:nvSpPr>
        <p:spPr>
          <a:xfrm>
            <a:off x="5619750" y="25241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서로 보이는 범위를 조건별로 정한다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ns2:creationId id="{191F9EE9-A379-4996-B32A-8FCB39BE41FE}"/>
              </a:ext>
            </a:extLst>
          </p:cNvPr>
          <p:cNvSpPr>
            <a:spLocks noGrp="1"/>
          </p:cNvSpPr>
          <p:nvPr/>
        </p:nvSpPr>
        <p:spPr>
          <a:xfrm>
            <a:off x="9525000" y="25717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미정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25039FFE-73F3-4B0A-9F76-9A40CF880CD7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사각형: 둥근 모서리 16">
            <a:extLst>
              <a:ext uri="{FF2B5EF4-FFF2-40B4-BE49-F238E27FC236}">
                <ns2:creationId id="{FD248326-0C51-47F3-B54B-05E43D4E4388}"/>
              </a:ext>
            </a:extLst>
          </p:cNvPr>
          <p:cNvSpPr>
            <a:spLocks noGrp="1"/>
          </p:cNvSpPr>
          <p:nvPr/>
        </p:nvSpPr>
        <p:spPr>
          <a:xfrm>
            <a:off x="876300" y="33432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확정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8B18F7AD-2F93-4EEA-8848-AE743E5711CD}"/>
              </a:ext>
            </a:extLst>
          </p:cNvPr>
          <p:cNvSpPr>
            <a:spLocks noGrp="1"/>
          </p:cNvSpPr>
          <p:nvPr/>
        </p:nvSpPr>
        <p:spPr>
          <a:xfrm>
            <a:off x="1752600" y="33051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중개 행위가 아니다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199EF753-A7F4-4813-8B01-B4136E1B04AA}"/>
              </a:ext>
            </a:extLst>
          </p:cNvPr>
          <p:cNvSpPr>
            <a:spLocks noGrp="1"/>
          </p:cNvSpPr>
          <p:nvPr/>
        </p:nvSpPr>
        <p:spPr>
          <a:xfrm>
            <a:off x="5619750" y="33051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정보 제공과 비교만 · 계약과 대출은 안 함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ns2:creationId id="{7AE94DAD-F5E0-4C83-9582-26D8F9CD7D97}"/>
              </a:ext>
            </a:extLst>
          </p:cNvPr>
          <p:cNvSpPr>
            <a:spLocks noGrp="1"/>
          </p:cNvSpPr>
          <p:nvPr/>
        </p:nvSpPr>
        <p:spPr>
          <a:xfrm>
            <a:off x="9525000" y="33528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CE8EE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C2415D"/>
                </a:solidFill>
                <a:latin typeface="Noto Sans KR"/>
                <a:ea typeface="Noto Sans KR"/>
                <a:cs typeface="Noto Sans KR"/>
              </a:rPr>
              <a:t xml:space="preserve">확정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D8C8C914-2EEB-4AA1-89DA-31128DDE87F9}"/>
              </a:ext>
            </a:extLst>
          </p:cNvPr>
          <p:cNvSpPr>
            <a:spLocks noGrp="1"/>
          </p:cNvSpPr>
          <p:nvPr/>
        </p:nvSpPr>
        <p:spPr>
          <a:xfrm>
            <a:off x="723900" y="396240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FFF2D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사각형: 둥근 모서리 21">
            <a:extLst>
              <a:ext uri="{FF2B5EF4-FFF2-40B4-BE49-F238E27FC236}">
                <ns2:creationId id="{F247D7C4-ECAA-4BED-892B-246E0889216D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큼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3313D8DE-C1A9-493F-9AB6-44A4FA87A1D8}"/>
              </a:ext>
            </a:extLst>
          </p:cNvPr>
          <p:cNvSpPr>
            <a:spLocks noGrp="1"/>
          </p:cNvSpPr>
          <p:nvPr/>
        </p:nvSpPr>
        <p:spPr>
          <a:xfrm>
            <a:off x="1752600" y="408622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데이터를 언제 지우나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0A98ED3D-C1DE-4C9F-A07A-D012A434E4E4}"/>
              </a:ext>
            </a:extLst>
          </p:cNvPr>
          <p:cNvSpPr>
            <a:spLocks noGrp="1"/>
          </p:cNvSpPr>
          <p:nvPr/>
        </p:nvSpPr>
        <p:spPr>
          <a:xfrm>
            <a:off x="5619750" y="408622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비로그인 30일 · 관계가 끝났을 때 규칙 필요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339A5E96-398B-4313-856E-469AF93A1F17}"/>
              </a:ext>
            </a:extLst>
          </p:cNvPr>
          <p:cNvSpPr>
            <a:spLocks noGrp="1"/>
          </p:cNvSpPr>
          <p:nvPr/>
        </p:nvSpPr>
        <p:spPr>
          <a:xfrm>
            <a:off x="9525000" y="413385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출시 전 필수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ns2:creationId id="{041AE917-7BA7-4A9C-93FD-38D4436BBFED}"/>
              </a:ext>
            </a:extLst>
          </p:cNvPr>
          <p:cNvSpPr>
            <a:spLocks noGrp="1"/>
          </p:cNvSpPr>
          <p:nvPr/>
        </p:nvSpPr>
        <p:spPr>
          <a:xfrm>
            <a:off x="723900" y="4743450"/>
            <a:ext cx="10553700" cy="590550"/>
          </a:xfrm>
          <a:prstGeom prst="roundRect">
            <a:avLst>
              <a:gd name="adj" fmla="val 16129"/>
            </a:avLst>
          </a:prstGeom>
          <a:solidFill>
            <a:srgbClr val="E9F0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ns2:creationId id="{8D314041-2DD1-4051-ACC0-A3845B5F9594}"/>
              </a:ext>
            </a:extLst>
          </p:cNvPr>
          <p:cNvSpPr>
            <a:spLocks noGrp="1"/>
          </p:cNvSpPr>
          <p:nvPr/>
        </p:nvSpPr>
        <p:spPr>
          <a:xfrm>
            <a:off x="876300" y="4905375"/>
            <a:ext cx="704850" cy="247650"/>
          </a:xfrm>
          <a:prstGeom prst="roundRect">
            <a:avLst>
              <a:gd name="adj" fmla="val 50000"/>
            </a:avLst>
          </a:prstGeom>
          <a:solidFill>
            <a:srgbClr val="617067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중간</a:t>
            </a:r>
          </a:p>
        </p:txBody>
      </p:sp>
      <p:sp>
        <p:nvSpPr>
          <p:cNvPr id="28" name="직사각형 27">
            <a:extLst>
              <a:ext uri="{FF2B5EF4-FFF2-40B4-BE49-F238E27FC236}">
                <ns2:creationId id="{40BD01EE-7991-4755-B137-FCFEABA5BB26}"/>
              </a:ext>
            </a:extLst>
          </p:cNvPr>
          <p:cNvSpPr>
            <a:spLocks noGrp="1"/>
          </p:cNvSpPr>
          <p:nvPr/>
        </p:nvSpPr>
        <p:spPr>
          <a:xfrm>
            <a:off x="1752600" y="48672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15231B"/>
                </a:solidFill>
                <a:latin typeface="Noto Sans KR"/>
                <a:ea typeface="Noto Sans KR"/>
                <a:cs typeface="Noto Sans KR"/>
              </a:rPr>
              <a:t xml:space="preserve">비용 숫자가 금융 조언으로 읽힐 수 있음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0BFF25E6-4160-4373-9C57-6926AC363957}"/>
              </a:ext>
            </a:extLst>
          </p:cNvPr>
          <p:cNvSpPr>
            <a:spLocks noGrp="1"/>
          </p:cNvSpPr>
          <p:nvPr/>
        </p:nvSpPr>
        <p:spPr>
          <a:xfrm>
            <a:off x="5619750" y="4867275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>
                <a:solidFill>
                  <a:srgbClr val="617067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0">
                <a:solidFill>
                  <a:srgbClr val="617067"/>
                </a:solidFill>
                <a:latin typeface="Noto Sans KR"/>
                <a:ea typeface="Noto Sans KR"/>
                <a:cs typeface="Noto Sans KR"/>
              </a:rPr>
              <a:t xml:space="preserve">전제와 기준일을 항상 같이 표시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625521BE-47BD-4B79-A3D5-79DE260184E2}"/>
              </a:ext>
            </a:extLst>
          </p:cNvPr>
          <p:cNvSpPr>
            <a:spLocks noGrp="1"/>
          </p:cNvSpPr>
          <p:nvPr/>
        </p:nvSpPr>
        <p:spPr>
          <a:xfrm>
            <a:off x="9525000" y="4914900"/>
            <a:ext cx="647700" cy="228600"/>
          </a:xfrm>
          <a:prstGeom prst="roundRect">
            <a:avLst>
              <a:gd name="adj" fmla="val 50000"/>
            </a:avLst>
          </a:prstGeom>
          <a:solidFill>
            <a:srgbClr val="F0ECF4"/>
          </a:solidFill>
          <a:ln w="0">
            <a:noFill/>
            <a:prstDash val="solid"/>
          </a:ln>
        </p:spPr>
        <p:txBody>
          <a:bodyPr lIns="66675" tIns="19050" rIns="66675" bIns="19050" anchor="ctr">
            <a:normAutofit/>
          </a:bodyPr>
          <a:lstStyle/>
          <a:p>
            <a:pPr algn="ctr">
              <a:defRPr sz="75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defRPr>
            </a:pPr>
            <a:r>
              <a:rPr sz="800" b="1">
                <a:solidFill>
                  <a:srgbClr val="786B87"/>
                </a:solidFill>
                <a:latin typeface="Noto Sans KR"/>
                <a:ea typeface="Noto Sans KR"/>
                <a:cs typeface="Noto Sans KR"/>
              </a:rPr>
              <a:t xml:space="preserve">확정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ns2:creationId id="{E5908357-3C48-428C-9387-15A7478BCF06}"/>
              </a:ext>
            </a:extLst>
          </p:cNvPr>
          <p:cNvSpPr>
            <a:spLocks noGrp="1"/>
          </p:cNvSpPr>
          <p:nvPr/>
        </p:nvSpPr>
        <p:spPr>
          <a:xfrm>
            <a:off x="723900" y="5715000"/>
            <a:ext cx="10553700" cy="400050"/>
          </a:xfrm>
          <a:prstGeom prst="roundRect">
            <a:avLst>
              <a:gd name="adj" fmla="val 19048"/>
            </a:avLst>
          </a:prstGeom>
          <a:solidFill>
            <a:srgbClr val="15231B"/>
          </a:solidFill>
          <a:ln w="9525">
            <a:solidFill>
              <a:srgbClr val="15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ns2:creationId id="{3176BE12-3C41-4495-B746-52E2E40AE75B}"/>
              </a:ext>
            </a:extLst>
          </p:cNvPr>
          <p:cNvSpPr>
            <a:spLocks noGrp="1"/>
          </p:cNvSpPr>
          <p:nvPr/>
        </p:nvSpPr>
        <p:spPr>
          <a:xfrm>
            <a:off x="971550" y="5800725"/>
            <a:ext cx="10058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 xml:space="preserve">규제 리스크는 기능이 아니라 데이터에서 옵니다 — 출근지와 예산은 직장과 소득을 추정할 수 있는 값입니다</a:t>
            </a:r>
          </a:p>
        </p:txBody>
      </p:sp>
    </p:spTree>
    <p:extLst>
      <p:ext uri="{BB962C8B-B14F-4D97-AF65-F5344CB8AC3E}">
        <ns3:creationId val="114949060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Naver Decision">
      <a:dk1>
        <a:srgbClr val="000000"/>
      </a:dk1>
      <a:lt1>
        <a:srgbClr val="FFFFFF"/>
      </a:lt1>
      <a:dk2>
        <a:srgbClr val="20342A"/>
      </a:dk2>
      <a:lt2>
        <a:srgbClr val="E9F0EB"/>
      </a:lt2>
      <a:accent1>
        <a:srgbClr val="03C75A"/>
      </a:accent1>
      <a:accent2>
        <a:srgbClr val="2563EB"/>
      </a:accent2>
      <a:accent3>
        <a:srgbClr val="D97706"/>
      </a:accent3>
      <a:accent4>
        <a:srgbClr val="C2415D"/>
      </a:accent4>
      <a:accent5>
        <a:srgbClr val="786B87"/>
      </a:accent5>
      <a:accent6>
        <a:srgbClr val="087A43"/>
      </a:accent6>
      <a:hlink>
        <a:srgbClr val="2563EB"/>
      </a:hlink>
      <a:folHlink>
        <a:srgbClr val="786B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aver Deci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Naver Decision">
      <a:dk1>
        <a:srgbClr val="000000"/>
      </a:dk1>
      <a:lt1>
        <a:srgbClr val="FFFFFF"/>
      </a:lt1>
      <a:dk2>
        <a:srgbClr val="20342A"/>
      </a:dk2>
      <a:lt2>
        <a:srgbClr val="E9F0EB"/>
      </a:lt2>
      <a:accent1>
        <a:srgbClr val="03C75A"/>
      </a:accent1>
      <a:accent2>
        <a:srgbClr val="2563EB"/>
      </a:accent2>
      <a:accent3>
        <a:srgbClr val="D97706"/>
      </a:accent3>
      <a:accent4>
        <a:srgbClr val="C2415D"/>
      </a:accent4>
      <a:accent5>
        <a:srgbClr val="786B87"/>
      </a:accent5>
      <a:accent6>
        <a:srgbClr val="087A43"/>
      </a:accent6>
      <a:hlink>
        <a:srgbClr val="2563EB"/>
      </a:hlink>
      <a:folHlink>
        <a:srgbClr val="786B8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aver Decis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5787</Words>
  <Application>Microsoft Office PowerPoint</Application>
  <DocSecurity>0</DocSecurity>
  <PresentationFormat>와이드스크린</PresentationFormat>
  <Paragraphs>959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Noto Sans KR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수빈 박</cp:lastModifiedBy>
  <cp:revision>16</cp:revision>
  <dcterms:created xsi:type="dcterms:W3CDTF">2026-08-20T07:13:26Z</dcterms:created>
  <dcterms:modified xsi:type="dcterms:W3CDTF">2026-08-20T08:56:35Z</dcterms:modified>
</cp:coreProperties>
</file>