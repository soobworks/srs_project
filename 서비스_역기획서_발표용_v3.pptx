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7" r:id="rId3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8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54" autoAdjust="0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2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openxmlformats.org/officeDocument/2006/relationships/slide" Target="slides/slide31.xml"/><Relationship Id="rId39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빈 박" userId="ce32221d53103a11" providerId="LiveId" clId="{02494E6E-0340-47F7-B897-6DA0D2D16AC8}"/>
    <pc:docChg chg="undo custSel modSld">
      <pc:chgData name="수빈 박" userId="ce32221d53103a11" providerId="LiveId" clId="{02494E6E-0340-47F7-B897-6DA0D2D16AC8}" dt="2026-08-20T08:56:29.394" v="65" actId="1036"/>
      <pc:docMkLst>
        <pc:docMk/>
      </pc:docMkLst>
      <pc:sldChg chg="modSp mod">
        <pc:chgData name="수빈 박" userId="ce32221d53103a11" providerId="LiveId" clId="{02494E6E-0340-47F7-B897-6DA0D2D16AC8}" dt="2026-08-20T08:34:48.295" v="15" actId="1036"/>
        <pc:sldMkLst>
          <pc:docMk/>
          <pc:sldMk cId="224337355" sldId="258"/>
        </pc:sldMkLst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8" creationId="{3A2372AE-E98A-4964-9688-4DA7526E0B83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1" creationId="{A025E531-00B4-4376-A2CF-AFF5FE32CD64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4" creationId="{FCF11419-E3A6-4B4A-B516-24C75B89F600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7" creationId="{C146F86A-DCF2-4BB8-9E04-193F6426C6DC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0" creationId="{9330B098-B7C1-4B8B-8CCE-CC02E11D631A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3" creationId="{325A13A4-10B2-476E-BB1D-C05F91DF4D55}"/>
          </ac:spMkLst>
        </pc:spChg>
        <pc:spChg chg="mod">
          <ac:chgData name="수빈 박" userId="ce32221d53103a11" providerId="LiveId" clId="{02494E6E-0340-47F7-B897-6DA0D2D16AC8}" dt="2026-08-20T08:34:48.295" v="15" actId="1036"/>
          <ac:spMkLst>
            <pc:docMk/>
            <pc:sldMk cId="224337355" sldId="258"/>
            <ac:spMk id="25" creationId="{C6EC3C2C-B938-4D24-868A-DDFBB140E100}"/>
          </ac:spMkLst>
        </pc:spChg>
        <pc:spChg chg="mod">
          <ac:chgData name="수빈 박" userId="ce32221d53103a11" providerId="LiveId" clId="{02494E6E-0340-47F7-B897-6DA0D2D16AC8}" dt="2026-08-20T08:34:40.918" v="14" actId="1036"/>
          <ac:spMkLst>
            <pc:docMk/>
            <pc:sldMk cId="224337355" sldId="258"/>
            <ac:spMk id="27" creationId="{DF51171B-86FD-425D-90EF-36A47DD3288E}"/>
          </ac:spMkLst>
        </pc:spChg>
        <pc:spChg chg="mod">
          <ac:chgData name="수빈 박" userId="ce32221d53103a11" providerId="LiveId" clId="{02494E6E-0340-47F7-B897-6DA0D2D16AC8}" dt="2026-08-20T08:34:20.402" v="10" actId="1036"/>
          <ac:spMkLst>
            <pc:docMk/>
            <pc:sldMk cId="224337355" sldId="258"/>
            <ac:spMk id="30" creationId="{C738C398-1948-43C7-AF09-674AF20048B4}"/>
          </ac:spMkLst>
        </pc:spChg>
        <pc:spChg chg="mod">
          <ac:chgData name="수빈 박" userId="ce32221d53103a11" providerId="LiveId" clId="{02494E6E-0340-47F7-B897-6DA0D2D16AC8}" dt="2026-08-20T08:34:36.168" v="13" actId="1036"/>
          <ac:spMkLst>
            <pc:docMk/>
            <pc:sldMk cId="224337355" sldId="258"/>
            <ac:spMk id="33" creationId="{2624091C-61F9-48A3-A5AC-D301280DD614}"/>
          </ac:spMkLst>
        </pc:spChg>
      </pc:sldChg>
      <pc:sldChg chg="modSp mod">
        <pc:chgData name="수빈 박" userId="ce32221d53103a11" providerId="LiveId" clId="{02494E6E-0340-47F7-B897-6DA0D2D16AC8}" dt="2026-08-20T08:56:29.394" v="65" actId="1036"/>
        <pc:sldMkLst>
          <pc:docMk/>
          <pc:sldMk cId="1495419320" sldId="260"/>
        </pc:sldMkLst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8" creationId="{0A92E8F6-8312-4E4A-AA0C-4A6402BC2494}"/>
          </ac:spMkLst>
        </pc:spChg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9" creationId="{604BD844-2C37-49F0-9A59-1ABF27B52676}"/>
          </ac:spMkLst>
        </pc:spChg>
      </pc:sldChg>
      <pc:sldChg chg="modSp mod">
        <pc:chgData name="수빈 박" userId="ce32221d53103a11" providerId="LiveId" clId="{02494E6E-0340-47F7-B897-6DA0D2D16AC8}" dt="2026-08-20T08:35:40.746" v="27" actId="1035"/>
        <pc:sldMkLst>
          <pc:docMk/>
          <pc:sldMk cId="1343870297" sldId="262"/>
        </pc:sldMkLst>
        <pc:spChg chg="mod">
          <ac:chgData name="수빈 박" userId="ce32221d53103a11" providerId="LiveId" clId="{02494E6E-0340-47F7-B897-6DA0D2D16AC8}" dt="2026-08-20T08:35:29.275" v="23" actId="1035"/>
          <ac:spMkLst>
            <pc:docMk/>
            <pc:sldMk cId="1343870297" sldId="262"/>
            <ac:spMk id="29" creationId="{D3CCCAEB-D118-4734-A444-B49ECD86085B}"/>
          </ac:spMkLst>
        </pc:spChg>
        <pc:spChg chg="mod">
          <ac:chgData name="수빈 박" userId="ce32221d53103a11" providerId="LiveId" clId="{02494E6E-0340-47F7-B897-6DA0D2D16AC8}" dt="2026-08-20T08:35:35.676" v="26" actId="1035"/>
          <ac:spMkLst>
            <pc:docMk/>
            <pc:sldMk cId="1343870297" sldId="262"/>
            <ac:spMk id="30" creationId="{3768235F-F969-4B42-BB35-2B0DAE6440E7}"/>
          </ac:spMkLst>
        </pc:spChg>
        <pc:spChg chg="mod">
          <ac:chgData name="수빈 박" userId="ce32221d53103a11" providerId="LiveId" clId="{02494E6E-0340-47F7-B897-6DA0D2D16AC8}" dt="2026-08-20T08:35:40.746" v="27" actId="1035"/>
          <ac:spMkLst>
            <pc:docMk/>
            <pc:sldMk cId="1343870297" sldId="262"/>
            <ac:spMk id="31" creationId="{03B6B004-4B2B-43DA-A6E7-2BA2FE5EB603}"/>
          </ac:spMkLst>
        </pc:spChg>
      </pc:sldChg>
      <pc:sldChg chg="modSp mod">
        <pc:chgData name="수빈 박" userId="ce32221d53103a11" providerId="LiveId" clId="{02494E6E-0340-47F7-B897-6DA0D2D16AC8}" dt="2026-08-20T08:37:06.641" v="44" actId="1035"/>
        <pc:sldMkLst>
          <pc:docMk/>
          <pc:sldMk cId="1081108234" sldId="268"/>
        </pc:sldMkLst>
        <pc:spChg chg="mod">
          <ac:chgData name="수빈 박" userId="ce32221d53103a11" providerId="LiveId" clId="{02494E6E-0340-47F7-B897-6DA0D2D16AC8}" dt="2026-08-20T08:37:01.374" v="40" actId="1035"/>
          <ac:spMkLst>
            <pc:docMk/>
            <pc:sldMk cId="1081108234" sldId="268"/>
            <ac:spMk id="16" creationId="{D1BA81A6-D5D2-4035-AC06-C7FE252D643D}"/>
          </ac:spMkLst>
        </pc:spChg>
        <pc:spChg chg="mod">
          <ac:chgData name="수빈 박" userId="ce32221d53103a11" providerId="LiveId" clId="{02494E6E-0340-47F7-B897-6DA0D2D16AC8}" dt="2026-08-20T08:36:58.344" v="38" actId="1035"/>
          <ac:spMkLst>
            <pc:docMk/>
            <pc:sldMk cId="1081108234" sldId="268"/>
            <ac:spMk id="18" creationId="{77207C8E-BF8D-42DC-8BC6-759FCCD6E045}"/>
          </ac:spMkLst>
        </pc:spChg>
        <pc:spChg chg="mod">
          <ac:chgData name="수빈 박" userId="ce32221d53103a11" providerId="LiveId" clId="{02494E6E-0340-47F7-B897-6DA0D2D16AC8}" dt="2026-08-20T08:37:06.641" v="44" actId="1035"/>
          <ac:spMkLst>
            <pc:docMk/>
            <pc:sldMk cId="1081108234" sldId="268"/>
            <ac:spMk id="19" creationId="{42049BD9-7B58-46C2-BA89-21A96590E0F3}"/>
          </ac:spMkLst>
        </pc:spChg>
        <pc:spChg chg="mod">
          <ac:chgData name="수빈 박" userId="ce32221d53103a11" providerId="LiveId" clId="{02494E6E-0340-47F7-B897-6DA0D2D16AC8}" dt="2026-08-20T08:36:34.625" v="28" actId="1036"/>
          <ac:spMkLst>
            <pc:docMk/>
            <pc:sldMk cId="1081108234" sldId="268"/>
            <ac:spMk id="23" creationId="{7E9E73DC-FC0A-43C5-8FA8-0FA2A0596B99}"/>
          </ac:spMkLst>
        </pc:spChg>
      </pc:sldChg>
      <pc:sldChg chg="modSp mod">
        <pc:chgData name="수빈 박" userId="ce32221d53103a11" providerId="LiveId" clId="{02494E6E-0340-47F7-B897-6DA0D2D16AC8}" dt="2026-08-20T08:37:22.259" v="45" actId="1036"/>
        <pc:sldMkLst>
          <pc:docMk/>
          <pc:sldMk cId="1709083599" sldId="270"/>
        </pc:sldMkLst>
        <pc:spChg chg="mod">
          <ac:chgData name="수빈 박" userId="ce32221d53103a11" providerId="LiveId" clId="{02494E6E-0340-47F7-B897-6DA0D2D16AC8}" dt="2026-08-20T08:37:22.259" v="45" actId="1036"/>
          <ac:spMkLst>
            <pc:docMk/>
            <pc:sldMk cId="1709083599" sldId="270"/>
            <ac:spMk id="44" creationId="{4F47EFA9-1743-45A0-86C2-FCBB1D5CA033}"/>
          </ac:spMkLst>
        </pc:spChg>
      </pc:sldChg>
      <pc:sldChg chg="modSp mod">
        <pc:chgData name="수빈 박" userId="ce32221d53103a11" providerId="LiveId" clId="{02494E6E-0340-47F7-B897-6DA0D2D16AC8}" dt="2026-08-20T08:38:09.262" v="53" actId="1036"/>
        <pc:sldMkLst>
          <pc:docMk/>
          <pc:sldMk cId="649107641" sldId="272"/>
        </pc:sldMkLst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0" creationId="{7238A72C-9D80-4501-B0D5-528AA2A6C0D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1" creationId="{E91216E0-8748-4017-8392-5ED4240BB015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2" creationId="{C78D979D-F7C4-48A1-AC7F-0959076083F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3" creationId="{DAC276E5-6F5F-416A-A228-07FE54DA411D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4" creationId="{CBFCAB63-F745-43FE-8905-C2925F139094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5" creationId="{91B4D608-5523-44A7-8E24-C4CBCBBA7CF2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6" creationId="{F5B051B7-448F-490A-BD1F-02E458E85A97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7" creationId="{09CBBE08-89B1-48FF-ADCF-39D022C401E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19" creationId="{B5034B31-ECDF-4E02-82B5-AA60FEEE8A6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0" creationId="{AF2B5541-04C2-4BA0-AF40-B95391240CC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1" creationId="{0B68262A-953E-4A40-98C7-B5E18E37BDE7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2" creationId="{BA2BDBC9-5729-471E-B202-75D1D60B566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3" creationId="{B70BE8F1-A706-42EC-930D-BB56CE651484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4" creationId="{3F3ED5CE-4210-4E40-B5C2-20B6FA8E40CC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5" creationId="{47D84580-4334-4766-A631-1676366036F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6" creationId="{A79D43E8-289A-4F85-946E-6627547C95F4}"/>
          </ac:spMkLst>
        </pc:spChg>
      </pc:sldChg>
      <pc:sldChg chg="modSp mod">
        <pc:chgData name="수빈 박" userId="ce32221d53103a11" providerId="LiveId" clId="{02494E6E-0340-47F7-B897-6DA0D2D16AC8}" dt="2026-08-20T08:40:05.963" v="60" actId="1036"/>
        <pc:sldMkLst>
          <pc:docMk/>
          <pc:sldMk cId="1384968217" sldId="278"/>
        </pc:sldMkLst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8" creationId="{709AAAEC-61DA-4E2A-865A-B5C68234F31F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9" creationId="{A58D63BD-C430-4E16-8AEF-D60D4FEBDAF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1" creationId="{BC88FF80-7FC5-4506-ACA5-6FF8536B7B9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2" creationId="{87016F0F-D393-42B5-98E6-B443A2EA510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4" creationId="{1DA0E42E-515D-4AAB-BFFD-BA0F42655690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5" creationId="{D2BB4B14-4A97-4B22-9480-3F0B454C17D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7" creationId="{1342A7FA-F153-4A62-ACC8-4339D4FE232B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8" creationId="{EB657D60-6650-4C7A-A75F-D15564F9100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0" creationId="{C07D9CBA-B18E-43CF-BF21-38CB8DEFA886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1" creationId="{8DB0F047-6DD5-46AC-AD78-BFAEF1590CC8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3" creationId="{DEF26A3B-A798-4B03-A041-6A78EA44B5A1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4" creationId="{89C80383-264C-4135-955E-CCA4E0FE08C2}"/>
          </ac:spMkLst>
        </pc:spChg>
        <pc:spChg chg="mod">
          <ac:chgData name="수빈 박" userId="ce32221d53103a11" providerId="LiveId" clId="{02494E6E-0340-47F7-B897-6DA0D2D16AC8}" dt="2026-08-20T08:39:32.142" v="58" actId="1036"/>
          <ac:spMkLst>
            <pc:docMk/>
            <pc:sldMk cId="1384968217" sldId="278"/>
            <ac:spMk id="31" creationId="{13981B6C-6AB1-495D-9857-1ACEAB78126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2" creationId="{00AA80DC-2951-4C4C-950F-2DF06CFB5E3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3" creationId="{374CAF5C-B78D-4801-A0D4-84A16EF708C4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5" creationId="{C1D0B3BD-1903-40F2-BDAC-E0B56AA8AD2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6" creationId="{3E09C0FA-9763-4A8A-93D5-3F507E993AEF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7" creationId="{6EC14EC8-BB5E-4A16-B182-AC8A5A59CD4B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9" creationId="{2BA088EC-0DBE-4919-A070-D2109B71D2AC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0" creationId="{2D76F29B-BC6A-4664-A6FB-A3DF4DD0E21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1" creationId="{82F5FFB8-62B7-4D44-9B65-9636FA41CE77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43" creationId="{7619066E-44EF-4D6E-9E95-E2802D72942B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4" creationId="{85802C9E-0667-44A2-813E-244A3E88AE32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5" creationId="{3DB9CFE8-A69A-4285-990B-1328F49DA020}"/>
          </ac:spMkLst>
        </pc:spChg>
      </pc:sldChg>
      <pc:sldChg chg="modSp mod">
        <pc:chgData name="수빈 박" userId="ce32221d53103a11" providerId="LiveId" clId="{02494E6E-0340-47F7-B897-6DA0D2D16AC8}" dt="2026-08-20T08:41:01.663" v="64" actId="1035"/>
        <pc:sldMkLst>
          <pc:docMk/>
          <pc:sldMk cId="1502171489" sldId="281"/>
        </pc:sldMkLst>
        <pc:spChg chg="mod">
          <ac:chgData name="수빈 박" userId="ce32221d53103a11" providerId="LiveId" clId="{02494E6E-0340-47F7-B897-6DA0D2D16AC8}" dt="2026-08-20T08:41:01.663" v="64" actId="1035"/>
          <ac:spMkLst>
            <pc:docMk/>
            <pc:sldMk cId="1502171489" sldId="281"/>
            <ac:spMk id="41" creationId="{5E4ADE47-B193-413F-ADB0-D994C661434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: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저장한</a:t>
            </a:r>
            <a:r>
              <a:rPr dirty="0"/>
              <a:t> </a:t>
            </a:r>
            <a:r>
              <a:rPr dirty="0" err="1"/>
              <a:t>관심매물이고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1개가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둘이</a:t>
            </a:r>
            <a:r>
              <a:rPr dirty="0"/>
              <a:t> </a:t>
            </a:r>
            <a:r>
              <a:rPr dirty="0" err="1"/>
              <a:t>정한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2개다.</a:t>
            </a:r>
          </a:p>
          <a:p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집을</a:t>
            </a:r>
            <a:r>
              <a:rPr dirty="0"/>
              <a:t> </a:t>
            </a:r>
            <a:r>
              <a:rPr dirty="0" err="1"/>
              <a:t>고른다거나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단축한다고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Handoff ZIP: docs/11-decision-status.md</a:t>
            </a:r>
          </a:p>
          <a:p>
            <a:r>
              <a:rPr dirty="0"/>
              <a:t>Local artifact: value-proposition_20260820.md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ns2:creationId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ns2:creationId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네이버 부동산 신규 기능 제안</a:t>
            </a:r>
          </a:p>
        </p:txBody>
      </p:sp>
      <p:sp>
        <p:nvSpPr>
          <p:cNvPr id="3" name="직사각형 2">
            <a:extLst>
              <a:ext uri="{FF2B5EF4-FFF2-40B4-BE49-F238E27FC236}">
                <ns2:creationId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매물</a:t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‘같이 보기’ 서비스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관심매물 이후, 둘이 납득하는 결정까지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각자의 조건과 양보 지점을 보고, 함께 보러 갈 집을 정합니다.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ns2:creationId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선 연결선 11">
            <a:extLst>
              <a:ext uri="{FF2B5EF4-FFF2-40B4-BE49-F238E27FC236}">
                <ns2:creationId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선 연결선 12">
            <a:extLst>
              <a:ext uri="{FF2B5EF4-FFF2-40B4-BE49-F238E27FC236}">
                <ns2:creationId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ns2:creationId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선 연결선 15">
            <a:extLst>
              <a:ext uri="{FF2B5EF4-FFF2-40B4-BE49-F238E27FC236}">
                <ns2:creationId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ns2:creationId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ns2:creationId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선 연결선 20">
            <a:extLst>
              <a:ext uri="{FF2B5EF4-FFF2-40B4-BE49-F238E27FC236}">
                <ns2:creationId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선 연결선 23">
            <a:extLst>
              <a:ext uri="{FF2B5EF4-FFF2-40B4-BE49-F238E27FC236}">
                <ns2:creationId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선 연결선 24">
            <a:extLst>
              <a:ext uri="{FF2B5EF4-FFF2-40B4-BE49-F238E27FC236}">
                <ns2:creationId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화살표: 오른쪽 25">
            <a:extLst>
              <a:ext uri="{FF2B5EF4-FFF2-40B4-BE49-F238E27FC236}">
                <ns2:creationId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ns2:creationId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33" name="직선 연결선 32">
            <a:extLst>
              <a:ext uri="{FF2B5EF4-FFF2-40B4-BE49-F238E27FC236}">
                <ns2:creationId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총점 없이 대가를 설명</a:t>
            </a:r>
          </a:p>
        </p:txBody>
      </p:sp>
      <p:sp>
        <p:nvSpPr>
          <p:cNvPr id="35" name="화살표: 오른쪽 34">
            <a:extLst>
              <a:ext uri="{FF2B5EF4-FFF2-40B4-BE49-F238E27FC236}">
                <ns2:creationId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보러 갈 집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보러 갈 집 2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666962A7-2A93-4791-86BB-E8C4BDB43CEF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2026년 8월 · 4조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ns3:creationId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ns2:creationId id="{0493CD62-5F46-4ECB-8E95-CECD1805C2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Executive Summary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0AD42D8-9B01-4E21-87B0-D1CA2A9DCCB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마음에 든 집을 저장한 다음, 둘이 정하는 구간을 맡습니다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B1EC0ED-D528-4477-84E4-ECE99BF04A4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390000"/>
            <a:ext cx="9858375" cy="4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핵심 지표 — 한 명이 상대를 초대한 것 중, 7일 안에 보러 갈 집 2개가 정해진 비율 (목표값은 처음 재본 뒤에 정합니다)</a:t>
            </a:r>
          </a:p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확인 = 공개 자료로 검증됨   ·   추론 = 팀의 해석, 아직 안 재봄   ·   가설 = 이번에 검증할 것   ·   미정 = 아직 안 정함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D3268CC6-8D4B-4785-ADAB-A1B6E03DD1B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A2803BAD-E41D-4A12-9B36-D40D592F5ECE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523EDD1E-B28E-4A42-9B6E-32FC43300B8F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</a:t>
            </a:r>
            <a:endParaRPr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F3DABB1F-CFD0-48B1-AA7F-D0A30B409451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 링크 공유가 진짜 경쟁자</a:t>
            </a:r>
          </a:p>
        </p:txBody>
      </p:sp>
      <p:sp>
        <p:nvSpPr>
          <p:cNvPr id="10" name="직선 연결선 9">
            <a:extLst>
              <a:ext uri="{FF2B5EF4-FFF2-40B4-BE49-F238E27FC236}">
                <ns2:creationId id="{14B3E253-76B8-4878-8900-B25A41FF7558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687A1420-5537-4405-9832-753859A38C41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기존 탐색 위에 붙습니다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ns2:creationId id="{238D50DC-F7D4-413E-88B4-1B79A0BB026C}"/>
              </a:ext>
            </a:extLst>
          </p:cNvPr>
          <p:cNvSpPr>
            <a:spLocks noGrp="1"/>
          </p:cNvSpPr>
          <p:nvPr/>
        </p:nvSpPr>
        <p:spPr>
          <a:xfrm>
            <a:off x="26384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675421B6-CBF4-443F-B123-8FFEC1D8670D}"/>
              </a:ext>
            </a:extLst>
          </p:cNvPr>
          <p:cNvSpPr>
            <a:spLocks noGrp="1"/>
          </p:cNvSpPr>
          <p:nvPr/>
        </p:nvSpPr>
        <p:spPr>
          <a:xfrm>
            <a:off x="28765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771E60E5-2575-46FC-BDCE-B3E948DBE6FF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CF311851-786A-4FB7-AEF0-580DD1BCF6B1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05E7583F-D1EB-4AB3-A79D-CA4200EAD7B0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고르는 2인</a:t>
            </a:r>
          </a:p>
        </p:txBody>
      </p:sp>
      <p:sp>
        <p:nvSpPr>
          <p:cNvPr id="17" name="직선 연결선 16">
            <a:extLst>
              <a:ext uri="{FF2B5EF4-FFF2-40B4-BE49-F238E27FC236}">
                <ns2:creationId id="{F7236D7C-35D5-4192-9955-3C0183963BDF}"/>
              </a:ext>
            </a:extLst>
          </p:cNvPr>
          <p:cNvSpPr>
            <a:spLocks noGrp="1"/>
          </p:cNvSpPr>
          <p:nvPr/>
        </p:nvSpPr>
        <p:spPr>
          <a:xfrm>
            <a:off x="30480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0A8CF824-72A0-418D-A063-40DEA214CAEF}"/>
              </a:ext>
            </a:extLst>
          </p:cNvPr>
          <p:cNvSpPr>
            <a:spLocks noGrp="1"/>
          </p:cNvSpPr>
          <p:nvPr/>
        </p:nvSpPr>
        <p:spPr>
          <a:xfrm>
            <a:off x="30480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조건과 우선순위가 다릅니다</a:t>
            </a:r>
          </a:p>
        </p:txBody>
      </p:sp>
      <p:sp>
        <p:nvSpPr>
          <p:cNvPr id="19" name="화살표: 오른쪽 18">
            <a:extLst>
              <a:ext uri="{FF2B5EF4-FFF2-40B4-BE49-F238E27FC236}">
                <ns2:creationId id="{8642B453-BED8-4FE6-8FEB-5D105FDDDD5D}"/>
              </a:ext>
            </a:extLst>
          </p:cNvPr>
          <p:cNvSpPr>
            <a:spLocks noGrp="1"/>
          </p:cNvSpPr>
          <p:nvPr/>
        </p:nvSpPr>
        <p:spPr>
          <a:xfrm>
            <a:off x="48291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7E2E45B1-C07C-435F-8B5F-3956C1965F3E}"/>
              </a:ext>
            </a:extLst>
          </p:cNvPr>
          <p:cNvSpPr>
            <a:spLocks noGrp="1"/>
          </p:cNvSpPr>
          <p:nvPr/>
        </p:nvSpPr>
        <p:spPr>
          <a:xfrm>
            <a:off x="50673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F458FA34-EAC4-4FD9-8177-73458D08003A}"/>
              </a:ext>
            </a:extLst>
          </p:cNvPr>
          <p:cNvSpPr>
            <a:spLocks noGrp="1"/>
          </p:cNvSpPr>
          <p:nvPr/>
        </p:nvSpPr>
        <p:spPr>
          <a:xfrm>
            <a:off x="52387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67060D50-D49A-45A8-A80D-757CE17E77BC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7C08AFDA-4FCA-40D3-837D-31712CDB51AF}"/>
              </a:ext>
            </a:extLst>
          </p:cNvPr>
          <p:cNvSpPr>
            <a:spLocks noGrp="1"/>
          </p:cNvSpPr>
          <p:nvPr/>
        </p:nvSpPr>
        <p:spPr>
          <a:xfrm>
            <a:off x="52387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충돌 확인 · 원인은 아직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888BDFDA-5CD4-4259-B202-BDA33CBCC6E9}"/>
              </a:ext>
            </a:extLst>
          </p:cNvPr>
          <p:cNvSpPr>
            <a:spLocks noGrp="1"/>
          </p:cNvSpPr>
          <p:nvPr/>
        </p:nvSpPr>
        <p:spPr>
          <a:xfrm>
            <a:off x="52387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0E6C80DE-E0ED-4A5A-9B72-F9283E44BFC5}"/>
              </a:ext>
            </a:extLst>
          </p:cNvPr>
          <p:cNvSpPr>
            <a:spLocks noGrp="1"/>
          </p:cNvSpPr>
          <p:nvPr/>
        </p:nvSpPr>
        <p:spPr>
          <a:xfrm>
            <a:off x="52387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원인 검증이 가장 중요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96F485E6-A1AB-4D5E-AB68-2C562CB9AE7B}"/>
              </a:ext>
            </a:extLst>
          </p:cNvPr>
          <p:cNvSpPr>
            <a:spLocks noGrp="1"/>
          </p:cNvSpPr>
          <p:nvPr/>
        </p:nvSpPr>
        <p:spPr>
          <a:xfrm>
            <a:off x="70199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3C857B7C-DDA4-4E49-8EAD-ABCD3D83AB86}"/>
              </a:ext>
            </a:extLst>
          </p:cNvPr>
          <p:cNvSpPr>
            <a:spLocks noGrp="1"/>
          </p:cNvSpPr>
          <p:nvPr/>
        </p:nvSpPr>
        <p:spPr>
          <a:xfrm>
            <a:off x="72580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5DE79971-5D67-49A5-B6CB-38D56AEF1E92}"/>
              </a:ext>
            </a:extLst>
          </p:cNvPr>
          <p:cNvSpPr>
            <a:spLocks noGrp="1"/>
          </p:cNvSpPr>
          <p:nvPr/>
        </p:nvSpPr>
        <p:spPr>
          <a:xfrm>
            <a:off x="74295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2158198B-C6A0-4D97-9BF4-C396ADBECF2E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해결 방식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5CD4509B-43BA-4143-A2E3-BDA447E246DB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충족·미달·양보를 병렬 설명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85CA3743-4E26-42BE-AC43-80F663A456A9}"/>
              </a:ext>
            </a:extLst>
          </p:cNvPr>
          <p:cNvSpPr>
            <a:spLocks noGrp="1"/>
          </p:cNvSpPr>
          <p:nvPr/>
        </p:nvSpPr>
        <p:spPr>
          <a:xfrm>
            <a:off x="74295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588A67F4-B0C4-418F-9DD9-7001B01337C3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총점·자동 추천 없음</a:t>
            </a:r>
          </a:p>
        </p:txBody>
      </p:sp>
      <p:sp>
        <p:nvSpPr>
          <p:cNvPr id="33" name="화살표: 오른쪽 32">
            <a:extLst>
              <a:ext uri="{FF2B5EF4-FFF2-40B4-BE49-F238E27FC236}">
                <ns2:creationId id="{B42B96DD-4519-40E4-A6B4-BE16060DB651}"/>
              </a:ext>
            </a:extLst>
          </p:cNvPr>
          <p:cNvSpPr>
            <a:spLocks noGrp="1"/>
          </p:cNvSpPr>
          <p:nvPr/>
        </p:nvSpPr>
        <p:spPr>
          <a:xfrm>
            <a:off x="92106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ns2:creationId id="{E5B351D4-0C07-4606-9305-4A76C326EF65}"/>
              </a:ext>
            </a:extLst>
          </p:cNvPr>
          <p:cNvSpPr>
            <a:spLocks noGrp="1"/>
          </p:cNvSpPr>
          <p:nvPr/>
        </p:nvSpPr>
        <p:spPr>
          <a:xfrm>
            <a:off x="9448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ns2:creationId id="{9A4A65B3-794B-49C2-8DFC-7301B9F02096}"/>
              </a:ext>
            </a:extLst>
          </p:cNvPr>
          <p:cNvSpPr>
            <a:spLocks noGrp="1"/>
          </p:cNvSpPr>
          <p:nvPr/>
        </p:nvSpPr>
        <p:spPr>
          <a:xfrm>
            <a:off x="9620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34118C2F-A97A-47EF-AF56-DD8AAF9C0A8C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끝나는 지점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A9FD6B20-84F8-4FC0-9A77-04F74739EC19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집 5개 → 보러 갈 집 2개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EE56DC4D-CEE0-4BF6-88D4-580B6C76C252}"/>
              </a:ext>
            </a:extLst>
          </p:cNvPr>
          <p:cNvSpPr>
            <a:spLocks noGrp="1"/>
          </p:cNvSpPr>
          <p:nvPr/>
        </p:nvSpPr>
        <p:spPr>
          <a:xfrm>
            <a:off x="9620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D89EC17B-613E-4250-8D23-368E0446894A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둘이 직접 선택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B1DDF86D-AC65-4388-ACE1-956DB3C7D56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1352550"/>
          </a:xfrm>
          <a:prstGeom prst="roundRect">
            <a:avLst>
              <a:gd name="adj" fmla="val 985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EB9F3724-7C27-42B3-B1D8-C7F204D5DD81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검증 순서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F2B244E5-2C24-44E2-8689-9F4F8BB35A45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초대받은 사람이 오는가</a:t>
            </a:r>
          </a:p>
        </p:txBody>
      </p:sp>
      <p:sp>
        <p:nvSpPr>
          <p:cNvPr id="43" name="화살표: 오른쪽 42">
            <a:extLst>
              <a:ext uri="{FF2B5EF4-FFF2-40B4-BE49-F238E27FC236}">
                <ns2:creationId id="{0D64C369-0626-4163-A388-FBFFCB692232}"/>
              </a:ext>
            </a:extLst>
          </p:cNvPr>
          <p:cNvSpPr>
            <a:spLocks noGrp="1"/>
          </p:cNvSpPr>
          <p:nvPr/>
        </p:nvSpPr>
        <p:spPr>
          <a:xfrm>
            <a:off x="3239023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550D0B72-C7D7-4D87-AD38-B7F680383EE3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원인이 조건 충돌인지 인터뷰</a:t>
            </a:r>
          </a:p>
        </p:txBody>
      </p:sp>
      <p:sp>
        <p:nvSpPr>
          <p:cNvPr id="45" name="화살표: 오른쪽 44">
            <a:extLst>
              <a:ext uri="{FF2B5EF4-FFF2-40B4-BE49-F238E27FC236}">
                <ns2:creationId id="{6332FB74-1E59-4AA0-828F-2EFDD8169133}"/>
              </a:ext>
            </a:extLst>
          </p:cNvPr>
          <p:cNvSpPr>
            <a:spLocks noGrp="1"/>
          </p:cNvSpPr>
          <p:nvPr/>
        </p:nvSpPr>
        <p:spPr>
          <a:xfrm>
            <a:off x="6686550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ns2:creationId id="{37C2A830-443C-4FD7-A731-CDF23A1DEFC0}"/>
              </a:ext>
            </a:extLst>
          </p:cNvPr>
          <p:cNvSpPr>
            <a:spLocks noGrp="1"/>
          </p:cNvSpPr>
          <p:nvPr/>
        </p:nvSpPr>
        <p:spPr>
          <a:xfrm>
            <a:off x="752475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통과하면 프로토타입</a:t>
            </a:r>
            <a:endParaRPr sz="16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ns2:creationId id="{A7D7F945-494B-4A26-9A13-5C609DA19414}"/>
              </a:ext>
            </a:extLst>
          </p:cNvPr>
          <p:cNvSpPr>
            <a:spLocks noGrp="1"/>
          </p:cNvSpPr>
          <p:nvPr/>
        </p:nvSpPr>
        <p:spPr>
          <a:xfrm>
            <a:off x="9620250" y="4665158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ns2:creationId id="{0CE4458D-BBAF-4EBA-BA2A-334A9B328A71}"/>
              </a:ext>
            </a:extLst>
          </p:cNvPr>
          <p:cNvSpPr>
            <a:spLocks noGrp="1"/>
          </p:cNvSpPr>
          <p:nvPr/>
        </p:nvSpPr>
        <p:spPr>
          <a:xfrm>
            <a:off x="10353675" y="4665158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ns2:creationId id="{A02EE706-F59A-4180-BBFB-A4D74A885A65}"/>
              </a:ext>
            </a:extLst>
          </p:cNvPr>
          <p:cNvSpPr>
            <a:spLocks noGrp="1"/>
          </p:cNvSpPr>
          <p:nvPr/>
        </p:nvSpPr>
        <p:spPr>
          <a:xfrm>
            <a:off x="9620250" y="5008058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ns2:creationId id="{C5AAB9E2-7518-4D7A-BD57-7DD5A0D76B78}"/>
              </a:ext>
            </a:extLst>
          </p:cNvPr>
          <p:cNvSpPr>
            <a:spLocks noGrp="1"/>
          </p:cNvSpPr>
          <p:nvPr/>
        </p:nvSpPr>
        <p:spPr>
          <a:xfrm>
            <a:off x="10687050" y="5008058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</p:spTree>
    <p:extLst>
      <p:ext uri="{BB962C8B-B14F-4D97-AF65-F5344CB8AC3E}">
        <ns3:creationId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ns2:creationId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공유 · 비교 · 결정 — 세 칸이 저희 자리입니다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대한민국 온라인 주거용 부동산 탐색 · 비교 · 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ns2:creationId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7063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시작 지점 · 이미 관심매물을 저장한 뒤 · 전·월세를 함께 구하는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50977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정의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ns2:creationId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함께 살 집을 구하는 2인 · 주거 형태는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3110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</a:t>
            </a:r>
            <a:endParaRPr sz="105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ns2:creationId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5244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05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직사각형 33">
            <a:extLst>
              <a:ext uri="{FF2B5EF4-FFF2-40B4-BE49-F238E27FC236}">
                <ns2:creationId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계약 · 등기 · 보증보험 · 대출 · 3인 이상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70554" y="2767013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화살표: 오른쪽 8">
            <a:extLst>
              <a:ext uri="{FF2B5EF4-FFF2-40B4-BE49-F238E27FC236}">
                <ns2:creationId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39944" y="2833688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ns2:creationId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46954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ns2:creationId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7346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ns2:creationId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80479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306994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ns2:creationId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14004" y="2767013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ns2:creationId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4120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ns2:creationId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190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ns2:creationId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789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ns2:creationId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859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</a:t>
            </a:r>
            <a:r>
              <a:rPr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ns2:creationId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 · Five Forces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진짜 경쟁자는 매물 링크 공유 버튼입니다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ns2:creationId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ns2:creationId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카톡·지도·엑셀·메모보다 시작이 번거로우면 안 씁니다</a:t>
            </a:r>
          </a:p>
        </p:txBody>
      </p:sp>
      <p:sp>
        <p:nvSpPr>
          <p:cNvPr id="11" name="직선 연결선 10">
            <a:extLst>
              <a:ext uri="{FF2B5EF4-FFF2-40B4-BE49-F238E27FC236}">
                <ns2:creationId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ns2:creationId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ns2:creationId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가입·초대·조건 입력의 번거로움을 줄임</a:t>
            </a:r>
          </a:p>
        </p:txBody>
      </p:sp>
      <p:sp>
        <p:nvSpPr>
          <p:cNvPr id="23" name="직선 연결선 22">
            <a:extLst>
              <a:ext uri="{FF2B5EF4-FFF2-40B4-BE49-F238E27FC236}">
                <ns2:creationId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ns2:creationId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기존 매물 데이터를 읽어 조건을 판정</a:t>
            </a:r>
          </a:p>
        </p:txBody>
      </p:sp>
      <p:sp>
        <p:nvSpPr>
          <p:cNvPr id="29" name="직선 연결선 28">
            <a:extLst>
              <a:ext uri="{FF2B5EF4-FFF2-40B4-BE49-F238E27FC236}">
                <ns2:creationId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사각형: 둥근 모서리 31">
            <a:extLst>
              <a:ext uri="{FF2B5EF4-FFF2-40B4-BE49-F238E27FC236}">
                <ns2:creationId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ns2:creationId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결론</a:t>
            </a:r>
            <a:endParaRPr sz="105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ns2:creationId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매물을 더 잘 찾는 게 아닙니다. 이미 있는 탐색 위에 붙습니다.</a:t>
            </a:r>
          </a:p>
        </p:txBody>
      </p:sp>
    </p:spTree>
    <p:extLst>
      <p:ext uri="{BB962C8B-B14F-4D97-AF65-F5344CB8AC3E}">
        <ns3:creationId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ns2:creationId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 · TAM-SAM-SOM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공개 통계로 계산 가능한 하한은 54.6만 쌍입니다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ns2:creationId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ns2:creationId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TAM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124337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부동산 앱을 쓰는 사람 전체</a:t>
            </a:r>
            <a:endParaRPr sz="10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중간 · 앱끼리 중복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SAM 하한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324487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95.2만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무주택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57.3%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높음 · 신혼부부만 넣음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ns2:creationId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SOM · 초기 목표</a:t>
            </a:r>
            <a:endParaRPr sz="10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ns2:creationId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424363" y="41433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424363" y="451584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월 이용자 134만 × 5/10/15%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424363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낮음 ·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75719"/>
            <a:ext cx="1762125" cy="347730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2025 월 이용자 수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2342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사각형: 둥근 모서리 24">
            <a:extLst>
              <a:ext uri="{FF2B5EF4-FFF2-40B4-BE49-F238E27FC236}">
                <ns2:creationId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ns2:creationId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2342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7224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사각형: 둥근 모서리 28">
            <a:extLst>
              <a:ext uri="{FF2B5EF4-FFF2-40B4-BE49-F238E27FC236}">
                <ns2:creationId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ns2:creationId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722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31028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사각형: 둥근 모서리 32">
            <a:extLst>
              <a:ext uri="{FF2B5EF4-FFF2-40B4-BE49-F238E27FC236}">
                <ns2:creationId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ns2:creationId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31028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228602" y="4437289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715500" y="4751614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SOM은 범위로만 해석합니다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ns2:creationId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3593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결론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8830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네이버가 이미 가진 걸로, 아무도 안 하고 있는 자리를 합니다. 숫자마다 확실한 정도는 다릅니다.</a:t>
            </a:r>
          </a:p>
        </p:txBody>
      </p:sp>
    </p:spTree>
    <p:extLst>
      <p:ext uri="{BB962C8B-B14F-4D97-AF65-F5344CB8AC3E}">
        <ns3:creationId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ns2:creationId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네이버 · 가치사슬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네이버는 저장까지 있고, 그다음이 없습니다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 정리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ns2:creationId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ns2:creationId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사각형: 둥근 모서리 23">
            <a:extLst>
              <a:ext uri="{FF2B5EF4-FFF2-40B4-BE49-F238E27FC236}">
                <ns2:creationId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사각형: 둥근 모서리 26">
            <a:extLst>
              <a:ext uri="{FF2B5EF4-FFF2-40B4-BE49-F238E27FC236}">
                <ns2:creationId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ns2:creationId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0" name="사각형: 둥근 모서리 29">
            <a:extLst>
              <a:ext uri="{FF2B5EF4-FFF2-40B4-BE49-F238E27FC236}">
                <ns2:creationId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622490" y="1619250"/>
            <a:ext cx="246436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6755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빈 자리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집은 네이버에 남지만, 둘이 의견을 맞추는 과정은 다른 앱에서 이뤄집니다</a:t>
            </a:r>
            <a:endParaRPr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ns2:creationId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 내부 데이터로 확인한 건 아닙니다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ns2:creationId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302895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제품 범위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162425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새 매물 DB·검색은 안 만듭니다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ns2:creationId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 xml:space="preserve">사람별 조건을 적용합니다</a:t>
            </a:r>
            <a:endParaRPr sz="1200" b="0" dirty="0">
              <a:solidFill>
                <a:srgbClr val="C7D5CC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604713707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ns2:creationId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기업 · KSF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성공은 두 번째 사람이 들어오느냐에 달려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E6A1E61C-67E4-45D9-8B6A-E1894F69BF4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카톡에 이렇게 뜹니다 —  “OO님이 같이 보기에 초대했어요”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네이버가 가진 것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이 기능의 성공 조건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ns2:creationId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ns2:creationId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사각형: 둥근 모서리 10">
            <a:extLst>
              <a:ext uri="{FF2B5EF4-FFF2-40B4-BE49-F238E27FC236}">
                <ns2:creationId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ns2:creationId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매물이 바뀌어도 조건이 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ns2:creationId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ns2:creationId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링크 하나로 들어오고, 입력은 두 개만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ns2:creationId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ns2:creationId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ns2:creationId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사각형: 둥근 모서리 25">
            <a:extLst>
              <a:ext uri="{FF2B5EF4-FFF2-40B4-BE49-F238E27FC236}">
                <ns2:creationId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ns2:creationId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정하고 나면 원래 하던 문의·방문으로 돌아감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6387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여기가 급소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8830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초대받은 사람이 링크를 열고, 자기 조건까지 입력하는가?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9656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혼자서도 막히진 않게 했습니다. 다만 그걸 기본으로 삼진 않습니다.</a:t>
            </a:r>
          </a:p>
        </p:txBody>
      </p:sp>
    </p:spTree>
    <p:extLst>
      <p:ext uri="{BB962C8B-B14F-4D97-AF65-F5344CB8AC3E}">
        <ns3:creationId val="1343870297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ns2:creationId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세그먼트 맵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처음 검증은 예비부부·신혼부부로 좁혔습니다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ns2:creationId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타원 10">
            <a:extLst>
              <a:ext uri="{FF2B5EF4-FFF2-40B4-BE49-F238E27FC236}">
                <ns2:creationId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ns2:creationId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공동 의지 높음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공동 의지 낮음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ns2:creationId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ns2:creationId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검증 대상 조건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둘 다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ns2:creationId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3인 이상 · 부모–자녀 · 한 사람이 정하고 다른 사람은 동의만 하는 관계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2F3F1D4-9510-44D3-B3FC-D9F7ECCF281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가상 페르소나는 만들지 않았습니다 — 나이·직업·소득을 조사한 적이 없어서, 지어내는 대신 관계 유형으로 나눴습니다</a:t>
            </a:r>
          </a:p>
        </p:txBody>
      </p:sp>
    </p:spTree>
    <p:extLst>
      <p:ext uri="{BB962C8B-B14F-4D97-AF65-F5344CB8AC3E}">
        <ns3:creationId val="888504193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92024" cy="6858000"/>
          </a:xfrm>
          <a:prstGeom prst="round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9224" y="347472"/>
            <a:ext cx="1645920" cy="292608"/>
          </a:xfrm>
          <a:prstGeom prst="roundRect">
            <a:avLst/>
          </a:prstGeom>
          <a:solidFill>
            <a:srgbClr val="DF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027A38"/>
                </a:solidFill>
                <a:latin typeface="맑은 고딕"/>
              </a:rPr>
              <a:t>고객 · 세그먼트 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" y="749808"/>
            <a:ext cx="1067104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5231B"/>
                </a:solidFill>
                <a:latin typeface="맑은 고딕"/>
              </a:rPr>
              <a:t>관계 유형과 관여 방식으로 나누면, 우리 자리는 한 칸이에요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1572768"/>
            <a:ext cx="5189220" cy="2162556"/>
          </a:xfrm>
          <a:prstGeom prst="roundRect">
            <a:avLst/>
          </a:prstGeom>
          <a:solidFill>
            <a:srgbClr val="DFF7EA"/>
          </a:solidFill>
          <a:ln w="12700">
            <a:solidFill>
              <a:srgbClr val="03C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1755648"/>
            <a:ext cx="1737360" cy="292608"/>
          </a:xfrm>
          <a:prstGeom prst="roundRect">
            <a:avLst/>
          </a:prstGeom>
          <a:solidFill>
            <a:srgbClr val="03C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2인 · 완전공동형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76272"/>
            <a:ext cx="478688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27A38"/>
                </a:solidFill>
                <a:latin typeface="맑은 고딕"/>
              </a:rPr>
              <a:t>우리가 다루는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78608"/>
            <a:ext cx="4786883" cy="9738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5231B"/>
                </a:solidFill>
                <a:latin typeface="맑은 고딕"/>
              </a:rPr>
              <a:t>예비부부·신혼부부(1차 검증), 친구·룸메이트(2차 검증) — 둘 다 조건을 내고 함께 정하는 관계예요.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1052" y="1572768"/>
            <a:ext cx="5189220" cy="2162556"/>
          </a:xfrm>
          <a:prstGeom prst="roundRect">
            <a:avLst/>
          </a:prstGeom>
          <a:solidFill>
            <a:srgbClr val="E9F0EB"/>
          </a:solidFill>
          <a:ln w="1270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2220" y="1755648"/>
            <a:ext cx="1737360" cy="292608"/>
          </a:xfrm>
          <a:prstGeom prst="roundRect">
            <a:avLst/>
          </a:prstGeom>
          <a:solidFill>
            <a:srgbClr val="617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3인 이상 · 완전공동형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2220" y="2176272"/>
            <a:ext cx="478688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B6570"/>
                </a:solidFill>
                <a:latin typeface="맑은 고딕"/>
              </a:rPr>
              <a:t>범위 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2220" y="2578608"/>
            <a:ext cx="4786883" cy="9738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5231B"/>
                </a:solidFill>
                <a:latin typeface="맑은 고딕"/>
              </a:rPr>
              <a:t>다 같이 의견을 내는 건 맞지만, 조건 조합이 너무 많아져서 판정이 복잡해져요.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" y="4027932"/>
            <a:ext cx="5189220" cy="2162556"/>
          </a:xfrm>
          <a:prstGeom prst="roundRect">
            <a:avLst/>
          </a:prstGeom>
          <a:solidFill>
            <a:srgbClr val="E9F0EB"/>
          </a:solidFill>
          <a:ln w="1270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" y="4210812"/>
            <a:ext cx="1737360" cy="292608"/>
          </a:xfrm>
          <a:prstGeom prst="roundRect">
            <a:avLst/>
          </a:prstGeom>
          <a:solidFill>
            <a:srgbClr val="617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2인 · 주도-승인형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631436"/>
            <a:ext cx="478688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B6570"/>
                </a:solidFill>
                <a:latin typeface="맑은 고딕"/>
              </a:rPr>
              <a:t>범위 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5033772"/>
            <a:ext cx="4786883" cy="9738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5231B"/>
                </a:solidFill>
                <a:latin typeface="맑은 고딕"/>
              </a:rPr>
              <a:t>한쪽만 정하고 다른 쪽은 동의만 하는 연인 관계예요 — 조건을 대조하는 구조 자체가 안 맞아요.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1052" y="4027932"/>
            <a:ext cx="5189220" cy="2162556"/>
          </a:xfrm>
          <a:prstGeom prst="roundRect">
            <a:avLst/>
          </a:prstGeom>
          <a:solidFill>
            <a:srgbClr val="E9F0EB"/>
          </a:solidFill>
          <a:ln w="12700">
            <a:solidFill>
              <a:srgbClr val="D8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2220" y="4210812"/>
            <a:ext cx="1737360" cy="292608"/>
          </a:xfrm>
          <a:prstGeom prst="roundRect">
            <a:avLst/>
          </a:prstGeom>
          <a:solidFill>
            <a:srgbClr val="617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3인 이상 · 주도-승인형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20" y="4631436"/>
            <a:ext cx="478688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5B6570"/>
                </a:solidFill>
                <a:latin typeface="맑은 고딕"/>
              </a:rPr>
              <a:t>범위 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2220" y="5033772"/>
            <a:ext cx="4786883" cy="9738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15231B"/>
                </a:solidFill>
                <a:latin typeface="맑은 고딕"/>
              </a:rPr>
              <a:t>부모–자녀 관계 등이에요 — 서로 대칭적으로 조건을 나누는 관계가 아니에요.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224" y="6382512"/>
            <a:ext cx="10899648" cy="0"/>
          </a:xfrm>
          <a:prstGeom prst="line">
            <a:avLst/>
          </a:prstGeom>
          <a:ln w="9525">
            <a:solidFill>
              <a:srgbClr val="D8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9224" y="6483096"/>
            <a:ext cx="9857232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5B6570"/>
                </a:solidFill>
                <a:latin typeface="맑은 고딕"/>
              </a:rPr>
              <a:t>가상 인원수·관계유형 조합으로만 나눴습니다 — 나이·직업·소득 같은 개인 특성은 조사한 적이 없어 넣지 않았습니다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54512" y="6455664"/>
            <a:ext cx="594360" cy="2103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>
                <a:solidFill>
                  <a:srgbClr val="5B6570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ns2:creationId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두 사람의 역할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 비교 참여자는 둘이고, 결정 권한은 같습니다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34A2F7FB-39B7-4B68-B497-26844A74F9A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A = 먼저 시작해 초대하는 사람      ·      B = 링크를 받고 들어오는 사람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A · 초대하는 사람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B · 초대받은 사람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14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ns2:creationId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탐색·저장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중</a:t>
            </a:r>
          </a:p>
        </p:txBody>
      </p:sp>
      <p:sp>
        <p:nvSpPr>
          <p:cNvPr id="12" name="직선 연결선 11">
            <a:extLst>
              <a:ext uri="{FF2B5EF4-FFF2-40B4-BE49-F238E27FC236}">
                <ns2:creationId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ns2:creationId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필요 이유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ns2:creationId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카카오톡으로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집들과 A의 조건을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ns2:creationId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ns2:creationId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필요 이유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왜 불렀는지 알고 조금만 입력</a:t>
            </a:r>
          </a:p>
        </p:txBody>
      </p:sp>
      <p:sp>
        <p:nvSpPr>
          <p:cNvPr id="36" name="직선 연결선 35">
            <a:extLst>
              <a:ext uri="{FF2B5EF4-FFF2-40B4-BE49-F238E27FC236}">
                <ns2:creationId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ns2:creationId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화살표: 오른쪽 39">
            <a:extLst>
              <a:ext uri="{FF2B5EF4-FFF2-40B4-BE49-F238E27FC236}">
                <ns2:creationId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권한은 같습니다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ns2:creationId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A가 B의 조건을 대신 바꾸지 않습니다 · 진입 맥락은 달라도 결정 비중은 같습니다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90836191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ns2:creationId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여정지도 · JTBD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지금은 앱을 여러 번 오가고, 그때마다 맥락이 끊깁니다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타원 5">
            <a:extLst>
              <a:ext uri="{FF2B5EF4-FFF2-40B4-BE49-F238E27FC236}">
                <ns2:creationId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선 연결선 6">
            <a:extLst>
              <a:ext uri="{FF2B5EF4-FFF2-40B4-BE49-F238E27FC236}">
                <ns2:creationId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ns2:creationId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ns2:creationId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ns2:creationId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선 연결선 14">
            <a:extLst>
              <a:ext uri="{FF2B5EF4-FFF2-40B4-BE49-F238E27FC236}">
                <ns2:creationId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ns2:creationId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선 연결선 18">
            <a:extLst>
              <a:ext uri="{FF2B5EF4-FFF2-40B4-BE49-F238E27FC236}">
                <ns2:creationId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ns2:creationId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ns2:creationId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선 연결선 22">
            <a:extLst>
              <a:ext uri="{FF2B5EF4-FFF2-40B4-BE49-F238E27FC236}">
                <ns2:creationId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ns2:creationId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선 연결선 26">
            <a:extLst>
              <a:ext uri="{FF2B5EF4-FFF2-40B4-BE49-F238E27FC236}">
                <ns2:creationId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ns2:creationId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선 연결선 30">
            <a:extLst>
              <a:ext uri="{FF2B5EF4-FFF2-40B4-BE49-F238E27FC236}">
                <ns2:creationId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ns2:creationId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ns2:creationId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추론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초대받은 사람이 맥락을 모르는 것, 의견 기준이 정리 안 된 것 — 둘 다 아직 안 재봤습니다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ns2:creationId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JTBD · 진짜 하려는 일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1036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이미 저장한 관심매물 중, 감수할 조건을 알고 이번에 보러 갈 집 두 곳을 정합니다.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결과</a:t>
            </a:r>
          </a:p>
        </p:txBody>
      </p:sp>
      <p:sp>
        <p:nvSpPr>
          <p:cNvPr id="43" name="직사각형 42">
            <a:extLst>
              <a:ext uri="{FF2B5EF4-FFF2-40B4-BE49-F238E27FC236}">
                <ns2:creationId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보러 갈 집 2개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판단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2959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얼마나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직사각형 45">
            <a:extLst>
              <a:ext uri="{FF2B5EF4-FFF2-40B4-BE49-F238E27FC236}">
                <ns2:creationId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관계</a:t>
            </a:r>
          </a:p>
        </p:txBody>
      </p:sp>
      <p:sp>
        <p:nvSpPr>
          <p:cNvPr id="47" name="직사각형 46">
            <a:extLst>
              <a:ext uri="{FF2B5EF4-FFF2-40B4-BE49-F238E27FC236}">
                <ns2:creationId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비중으로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ns2:creationId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ns3:creationId val="681026862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ns2:creationId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시장기회 · 기회점수(OS)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기회는 의견 교환 단계에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2402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2882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ns2:creationId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화살표: 오른쪽 22">
            <a:extLst>
              <a:ext uri="{FF2B5EF4-FFF2-40B4-BE49-F238E27FC236}">
                <ns2:creationId id="{1620480F-9B8B-49B4-B8C8-3705F7F0F34C}"/>
              </a:ext>
            </a:extLst>
          </p:cNvPr>
          <p:cNvSpPr>
            <a:spLocks noGrp="1"/>
          </p:cNvSpPr>
          <p:nvPr/>
        </p:nvSpPr>
        <p:spPr>
          <a:xfrm rot="5400000">
            <a:off x="6528916" y="2759634"/>
            <a:ext cx="372417" cy="671983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10540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왜 여기가 먼저인가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다른 도구로 대신할 수 없는, 사람 사이의 문제</a:t>
            </a:r>
            <a:endParaRPr sz="140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타원 27">
            <a:extLst>
              <a:ext uri="{FF2B5EF4-FFF2-40B4-BE49-F238E27FC236}">
                <ns2:creationId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“그냥 별로”가 선택 근거로 이어지지 않습니다 [추론]</a:t>
            </a:r>
          </a:p>
        </p:txBody>
      </p:sp>
      <p:sp>
        <p:nvSpPr>
          <p:cNvPr id="30" name="타원 29">
            <a:extLst>
              <a:ext uri="{FF2B5EF4-FFF2-40B4-BE49-F238E27FC236}">
                <ns2:creationId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여기서 막히면 앞에서 비교한 게 다 무효가 됩니다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기회점수(OS)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중요도·만족도 원자료가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없어 계산하지 않았습니다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777366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777366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없음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수치 미정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582150" y="4057650"/>
            <a:ext cx="1771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조사한 뒤에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다시 판단합니다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885542310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ns2:creationId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근거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충돌은 공개 자료로 확인됐습니다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ns2:creationId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형태만 확인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함께 쓰는 도구가 있습니다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599" y="2628900"/>
            <a:ext cx="310515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22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22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ns2:creationId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이런 형태가 있다는 것만 확인됨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조건이 부딪힙니다</a:t>
            </a:r>
            <a:endParaRPr sz="2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ns2:creationId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[확인]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미검증</a:t>
            </a:r>
            <a:endParaRPr sz="9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ns2:creationId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그래서 결정이 늦어집니다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ns2:creationId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직접 근거를 못 찾음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반대 신호 — Zillow 응답자의 60%는 “결국 별문제 아니었다”고 답했습니다</a:t>
            </a:r>
          </a:p>
        </p:txBody>
      </p:sp>
    </p:spTree>
    <p:extLst>
      <p:ext uri="{BB962C8B-B14F-4D97-AF65-F5344CB8AC3E}">
        <ns3:creationId val="903037401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ns2:creationId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Problem Statement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21940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정보를 모으는 문제가 아니라, 둘의 기준이 다른 문제입니다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정보 분산 → 수동 비교 → 의사결정 비용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혼자 구해도 생김 · 기록·공유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감수하는지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불명확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ns2:creationId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둘이 함께 정할 때만 생기는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화살표: 오른쪽 14">
            <a:extLst>
              <a:ext uri="{FF2B5EF4-FFF2-40B4-BE49-F238E27FC236}">
                <ns2:creationId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124075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추론 · 가설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271208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두 갈래가 만나는 곳</a:t>
            </a:r>
            <a:endParaRPr sz="120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ns2:creationId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032125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마지막 후보를 정할 때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드는 품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ns2:creationId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219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반복 비교 [확인]  ·  조건 충돌 [확인]  ·  결정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8269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우리가 답할 질문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507131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“우리 둘에게 가장 좋은 집은?”이 아니라  “무엇을 감수하고도 납득할 수 있는 집은?”</a:t>
            </a:r>
          </a:p>
        </p:txBody>
      </p:sp>
    </p:spTree>
    <p:extLst>
      <p:ext uri="{BB962C8B-B14F-4D97-AF65-F5344CB8AC3E}">
        <ns3:creationId val="1081108234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ns2:creationId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같은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1289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저장도 평가도 있는데, 누가 양보하는지는 없습니다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ns2:creationId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ns2:creationId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ns2:creationId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ns2:creationId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ns2:creationId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양보 설명</a:t>
            </a:r>
          </a:p>
        </p:txBody>
      </p:sp>
      <p:sp>
        <p:nvSpPr>
          <p:cNvPr id="16" name="타원 15">
            <a:extLst>
              <a:ext uri="{FF2B5EF4-FFF2-40B4-BE49-F238E27FC236}">
                <ns2:creationId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저희가 볼 자리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점수로 합치지 않고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누가 양보하는지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ns2:creationId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  <a:endParaRPr sz="11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ns2:creationId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후보·데이터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10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ns2:creationId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함께 대조하는 건 비어 있음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6" name="직사각형 25">
            <a:extLst>
              <a:ext uri="{FF2B5EF4-FFF2-40B4-BE49-F238E27FC236}">
                <ns2:creationId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집노트 등 20개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752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7528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거의 다 혼자 쓰고, 점수를 매기고, 한 방향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ns2:creationId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4196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7" name="직선 연결선 36">
            <a:extLst>
              <a:ext uri="{FF2B5EF4-FFF2-40B4-BE49-F238E27FC236}">
                <ns2:creationId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8" name="직사각형 37">
            <a:extLst>
              <a:ext uri="{FF2B5EF4-FFF2-40B4-BE49-F238E27FC236}">
                <ns2:creationId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TwoKeys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사람이 평가 · 총점 매김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함께 평가하는 형태는 있음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863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조건을 매물에 저장하고 합산</a:t>
            </a:r>
          </a:p>
        </p:txBody>
      </p:sp>
      <p:sp>
        <p:nvSpPr>
          <p:cNvPr id="43" name="직선 연결선 42">
            <a:extLst>
              <a:ext uri="{FF2B5EF4-FFF2-40B4-BE49-F238E27FC236}">
                <ns2:creationId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ns2:creationId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형태만 확인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비슷한 게 있다는 것과, 국내에서 쓰인다는 건 다릅니다</a:t>
            </a:r>
          </a:p>
        </p:txBody>
      </p:sp>
    </p:spTree>
    <p:extLst>
      <p:ext uri="{BB962C8B-B14F-4D97-AF65-F5344CB8AC3E}">
        <ns3:creationId val="1307932784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ns2:creationId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인접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 · 입력 · 비교 · 수렴, 네 군데를 뜯어봤습니다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7" name="직사각형 6">
            <a:extLst>
              <a:ext uri="{FF2B5EF4-FFF2-40B4-BE49-F238E27FC236}">
                <ns2:creationId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0" name="직사각형 9">
            <a:extLst>
              <a:ext uri="{FF2B5EF4-FFF2-40B4-BE49-F238E27FC236}">
                <ns2:creationId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3" name="직사각형 12">
            <a:extLst>
              <a:ext uri="{FF2B5EF4-FFF2-40B4-BE49-F238E27FC236}">
                <ns2:creationId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6" name="직사각형 15">
            <a:extLst>
              <a:ext uri="{FF2B5EF4-FFF2-40B4-BE49-F238E27FC236}">
                <ns2:creationId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2인 초대가 있다는 것만 확인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ns2:creationId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2" name="직사각형 21">
            <a:extLst>
              <a:ext uri="{FF2B5EF4-FFF2-40B4-BE49-F238E27FC236}">
                <ns2:creationId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맥락 먼저, 입력은 조금만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ns2:creationId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7" name="직사각형 26">
            <a:extLst>
              <a:ext uri="{FF2B5EF4-FFF2-40B4-BE49-F238E27FC236}">
                <ns2:creationId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룸메이트 조건 · 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조건 입력 부담을 참고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우리 대조 조건과는 다름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ns2:creationId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ns2:creationId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7" name="직사각형 36">
            <a:extLst>
              <a:ext uri="{FF2B5EF4-FFF2-40B4-BE49-F238E27FC236}">
                <ns2:creationId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투표·순위는 그대로 못 가져옴</a:t>
            </a:r>
          </a:p>
        </p:txBody>
      </p:sp>
      <p:sp>
        <p:nvSpPr>
          <p:cNvPr id="41" name="직선 연결선 40">
            <a:extLst>
              <a:ext uri="{FF2B5EF4-FFF2-40B4-BE49-F238E27FC236}">
                <ns2:creationId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42" name="사각형: 둥근 모서리 41">
            <a:extLst>
              <a:ext uri="{FF2B5EF4-FFF2-40B4-BE49-F238E27FC236}">
                <ns2:creationId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4421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무엇이 번거로웠고 어떻게 줄였는지만 봤습니다. 답을 하나로 좁히는 방식은 안 가져옵니다.</a:t>
            </a:r>
          </a:p>
        </p:txBody>
      </p:sp>
    </p:spTree>
    <p:extLst>
      <p:ext uri="{BB962C8B-B14F-4D97-AF65-F5344CB8AC3E}">
        <ns3:creationId val="1709083599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ns2:creationId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다른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형식은 의료 분야에서 가져왔습니다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Option Grid · 의료 의사결정 비교표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열 = 선택지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0" name="직사각형 9">
            <a:extLst>
              <a:ext uri="{FF2B5EF4-FFF2-40B4-BE49-F238E27FC236}">
                <ns2:creationId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선택지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2" name="직사각형 11">
            <a:extLst>
              <a:ext uri="{FF2B5EF4-FFF2-40B4-BE49-F238E27FC236}">
                <ns2:creationId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선택지 B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ns2:creationId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6" name="직사각형 15">
            <a:extLst>
              <a:ext uri="{FF2B5EF4-FFF2-40B4-BE49-F238E27FC236}">
                <ns2:creationId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9" name="직사각형 18">
            <a:extLst>
              <a:ext uri="{FF2B5EF4-FFF2-40B4-BE49-F238E27FC236}">
                <ns2:creationId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2" name="직사각형 21">
            <a:extLst>
              <a:ext uri="{FF2B5EF4-FFF2-40B4-BE49-F238E27FC236}">
                <ns2:creationId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관련 연구 40건 중 28건이 나란히 놓는 방식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70~96%가 균형 있다고 답함 · 부동산 전이는 추측</a:t>
            </a:r>
          </a:p>
        </p:txBody>
      </p:sp>
      <p:sp>
        <p:nvSpPr>
          <p:cNvPr id="27" name="화살표: 오른쪽 26">
            <a:extLst>
              <a:ext uri="{FF2B5EF4-FFF2-40B4-BE49-F238E27FC236}">
                <ns2:creationId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형식과 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원칙만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우리가 바꾼 것 · 같이 보기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3" name="직사각형 32">
            <a:extLst>
              <a:ext uri="{FF2B5EF4-FFF2-40B4-BE49-F238E27FC236}">
                <ns2:creationId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ns2:creationId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5" name="직사각형 34">
            <a:extLst>
              <a:ext uri="{FF2B5EF4-FFF2-40B4-BE49-F238E27FC236}">
                <ns2:creationId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8" name="직사각형 37">
            <a:extLst>
              <a:ext uri="{FF2B5EF4-FFF2-40B4-BE49-F238E27FC236}">
                <ns2:creationId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0" name="직사각형 39">
            <a:extLst>
              <a:ext uri="{FF2B5EF4-FFF2-40B4-BE49-F238E27FC236}">
                <ns2:creationId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ns2:creationId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3" name="직사각형 42">
            <a:extLst>
              <a:ext uri="{FF2B5EF4-FFF2-40B4-BE49-F238E27FC236}">
                <ns2:creationId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+13분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ns2:creationId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5" name="직사각형 44">
            <a:extLst>
              <a:ext uri="{FF2B5EF4-FFF2-40B4-BE49-F238E27FC236}">
                <ns2:creationId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6" name="직사각형 45">
            <a:extLst>
              <a:ext uri="{FF2B5EF4-FFF2-40B4-BE49-F238E27FC236}">
                <ns2:creationId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ns2:creationId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8" name="직사각형 47">
            <a:extLst>
              <a:ext uri="{FF2B5EF4-FFF2-40B4-BE49-F238E27FC236}">
                <ns2:creationId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ns2:creationId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0" name="직사각형 49">
            <a:extLst>
              <a:ext uri="{FF2B5EF4-FFF2-40B4-BE49-F238E27FC236}">
                <ns2:creationId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51" name="직사각형 50">
            <a:extLst>
              <a:ext uri="{FF2B5EF4-FFF2-40B4-BE49-F238E27FC236}">
                <ns2:creationId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ns2:creationId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3" name="직사각형 52">
            <a:extLst>
              <a:ext uri="{FF2B5EF4-FFF2-40B4-BE49-F238E27FC236}">
                <ns2:creationId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ns2:creationId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5" name="직사각형 54">
            <a:extLst>
              <a:ext uri="{FF2B5EF4-FFF2-40B4-BE49-F238E27FC236}">
                <ns2:creationId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ns2:creationId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ns2:creationId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총점으로 합치지 않고, 한쪽만 충족을 설명 대상으로 유지합니다.</a:t>
            </a:r>
          </a:p>
        </p:txBody>
      </p:sp>
    </p:spTree>
    <p:extLst>
      <p:ext uri="{BB962C8B-B14F-4D97-AF65-F5344CB8AC3E}">
        <ns3:creationId val="843526194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ns2:creationId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전이 가능성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9882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가져온 것 셋, 바꾼 것 셋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그대로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바꿈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링크 기본·코드 보조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ns2:creationId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42189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B는 모바일에서 집들을 먼저 봅니다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선 연결선 11">
            <a:extLst>
              <a:ext uri="{FF2B5EF4-FFF2-40B4-BE49-F238E27FC236}">
                <ns2:creationId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791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ns2:creationId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나란히 놓기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2600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 칸의 크기와 순서를 똑같이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선 연결선 14">
            <a:extLst>
              <a:ext uri="{FF2B5EF4-FFF2-40B4-BE49-F238E27FC236}">
                <ns2:creationId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40316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직사각형 15">
            <a:extLst>
              <a:ext uri="{FF2B5EF4-FFF2-40B4-BE49-F238E27FC236}">
                <ns2:creationId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물어보는 순서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ns2:creationId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125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예산 → 통근 → 꼭 지킬 조건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ns2:creationId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선택지 열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7706139" y="2421890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열은 사람, 행은 조건으로 바꿔 집 하나의 대가를 비교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선 연결선 20">
            <a:extLst>
              <a:ext uri="{FF2B5EF4-FFF2-40B4-BE49-F238E27FC236}">
                <ns2:creationId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791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답 하나로 좁히기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7706139" y="32600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상태만 설명하고, 보러 갈 집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40316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ns2:creationId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개인 점수 매기기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7706139" y="42125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조건을 사람에게 저장해 새 매물에도 다시 적용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8" name="사각형: 둥근 모서리 27">
            <a:extLst>
              <a:ext uri="{FF2B5EF4-FFF2-40B4-BE49-F238E27FC236}">
                <ns2:creationId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화면을 베끼는 게 아니라, 원리를 우리 상황에 맞게 고칩니다</a:t>
            </a:r>
          </a:p>
        </p:txBody>
      </p:sp>
    </p:spTree>
    <p:extLst>
      <p:ext uri="{BB962C8B-B14F-4D97-AF65-F5344CB8AC3E}">
        <ns3:creationId val="649107641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ns2:creationId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전이 · 제외 판단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총점 · 순위 · AI 추천, 셋 다 뺐습니다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ns2:creationId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적합도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누가 양보했는지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ns2:creationId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순위를 합산하는 방식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이기고 지는 구도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대신 판단해 버림</a:t>
            </a:r>
          </a:p>
        </p:txBody>
      </p:sp>
      <p:sp>
        <p:nvSpPr>
          <p:cNvPr id="21" name="화살표: 오른쪽 20">
            <a:extLst>
              <a:ext uri="{FF2B5EF4-FFF2-40B4-BE49-F238E27FC236}">
                <ns2:creationId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대신 이렇게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0859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4860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ns2:creationId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28670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실제값 · 기준값 · 미달량</a:t>
            </a:r>
            <a:endParaRPr sz="105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직사각형 26">
            <a:extLst>
              <a:ext uri="{FF2B5EF4-FFF2-40B4-BE49-F238E27FC236}">
                <ns2:creationId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최소 만족 기준 탈락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한쪽만 충족한 집도 설명 대상으로 유지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선 연결선 28">
            <a:extLst>
              <a:ext uri="{FF2B5EF4-FFF2-40B4-BE49-F238E27FC236}">
                <ns2:creationId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각자 2개 선택 → 겹치면 확정, 아니면 각자 하나씩</a:t>
            </a:r>
          </a:p>
        </p:txBody>
      </p:sp>
      <p:sp>
        <p:nvSpPr>
          <p:cNvPr id="32" name="직선 연결선 31">
            <a:extLst>
              <a:ext uri="{FF2B5EF4-FFF2-40B4-BE49-F238E27FC236}">
                <ns2:creationId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통근 시간대로 지도에서 집을 찾아주는 것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출근지는 대조 조건 중 하나일 뿐</a:t>
            </a:r>
          </a:p>
        </p:txBody>
      </p:sp>
      <p:sp>
        <p:nvSpPr>
          <p:cNvPr id="35" name="직선 연결선 34">
            <a:extLst>
              <a:ext uri="{FF2B5EF4-FFF2-40B4-BE49-F238E27FC236}">
                <ns2:creationId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사진을 평가 근거로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어떤 집인지 알아볼 정도만 · 범위는 미정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사각형: 둥근 모서리 38">
            <a:extLst>
              <a:ext uri="{FF2B5EF4-FFF2-40B4-BE49-F238E27FC236}">
                <ns2:creationId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9906000" y="54006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사진 미정</a:t>
            </a:r>
          </a:p>
        </p:txBody>
      </p:sp>
    </p:spTree>
    <p:extLst>
      <p:ext uri="{BB962C8B-B14F-4D97-AF65-F5344CB8AC3E}">
        <ns3:creationId val="1764460282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ns2:creationId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Value Proposition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한 문장으로 하면</a:t>
            </a:r>
            <a:endParaRPr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살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구하는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사람이</a:t>
            </a:r>
            <a:endParaRPr sz="25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한눈에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확인하고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서로 납득할 방문 후보를 정하도록 돕는 네이버 기능.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충돌</a:t>
            </a:r>
            <a:endParaRPr sz="1425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누구의 무엇이 어긋나는가</a:t>
            </a:r>
            <a:endParaRPr sz="1050" b="0" dirty="0">
              <a:solidFill>
                <a:srgbClr val="CFDB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ns2:creationId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보러 갈 집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한 줄로 하면 — 각자의 조건과 양보 지점을 보고, 함께 보러 갈 집을 정합니다.</a:t>
            </a:r>
          </a:p>
        </p:txBody>
      </p:sp>
    </p:spTree>
    <p:extLst>
      <p:ext uri="{BB962C8B-B14F-4D97-AF65-F5344CB8AC3E}">
        <ns3:creationId val="1389870649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ns2:creationId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Concept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5개가 보러 갈 2개가 됩니다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ns2:creationId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ns2:creationId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ns2:creationId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ns2:creationId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ns2:creationId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58483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ns2:creationId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219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97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출근하면 출근지·이동수단</a:t>
            </a:r>
            <a:endParaRPr sz="12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선 연결선 29">
            <a:extLst>
              <a:ext uri="{FF2B5EF4-FFF2-40B4-BE49-F238E27FC236}">
                <ns2:creationId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첫 결과 후 · 꼭 지킬 조건 0~4개 · 선호는 개수 제한 없음 · 확인 필요</a:t>
            </a:r>
            <a:endParaRPr sz="12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ns2:creationId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1007745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방문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 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방문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831710" y="3905251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타원 37">
            <a:extLst>
              <a:ext uri="{FF2B5EF4-FFF2-40B4-BE49-F238E27FC236}">
                <ns2:creationId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12954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12954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7526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각자 2개 선택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ns2:creationId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291465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타원 41">
            <a:extLst>
              <a:ext uri="{FF2B5EF4-FFF2-40B4-BE49-F238E27FC236}">
                <ns2:creationId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4671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4671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39243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겹치면 확정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ns2:creationId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18160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타원 45">
            <a:extLst>
              <a:ext uri="{FF2B5EF4-FFF2-40B4-BE49-F238E27FC236}">
                <ns2:creationId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5743575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ns2:creationId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57435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ns2:creationId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200775" y="4258722"/>
            <a:ext cx="215893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1개만 겹치면 다시 비교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ns2:creationId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52163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타원 49">
            <a:extLst>
              <a:ext uri="{FF2B5EF4-FFF2-40B4-BE49-F238E27FC236}">
                <ns2:creationId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9134475" y="4306347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ns2:creationId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91344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ns2:creationId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62025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2번 후 각자 하나씩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직사각형 52">
            <a:extLst>
              <a:ext uri="{FF2B5EF4-FFF2-40B4-BE49-F238E27FC236}">
                <ns2:creationId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 xml:space="preserve">2단계 · 방문 전에 물어볼 것 정리 → 방문 전 체크리스트 → 다녀와서 유지·보류·제외</a:t>
            </a:r>
            <a:endParaRPr sz="12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ns2:creationId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확정된 정책</a:t>
            </a:r>
          </a:p>
        </p:txBody>
      </p:sp>
      <p:sp>
        <p:nvSpPr>
          <p:cNvPr id="55" name="직사각형 54">
            <a:extLst>
              <a:ext uri="{FF2B5EF4-FFF2-40B4-BE49-F238E27FC236}">
                <ns2:creationId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 안 함 = 통근·교통비를 재지 않음 · 비교표에서 그 줄을 뺌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ns2:creationId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229600" y="55911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 완화는 자동 타협이 아니라 상태 변화 미리보기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803721632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ns2:creationId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· 사용자 흐름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 · 시스템 · B, 세 줄로 본 전체 흐름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추가 조건과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 풀어보기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다녀와서 기록</a:t>
            </a:r>
          </a:p>
        </p:txBody>
      </p:sp>
      <p:sp>
        <p:nvSpPr>
          <p:cNvPr id="23" name="직선 연결선 22">
            <a:extLst>
              <a:ext uri="{FF2B5EF4-FFF2-40B4-BE49-F238E27FC236}">
                <ns2:creationId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시스템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ns2:creationId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공유 페이지 생성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A 조건 저장 · 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A/B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양보 문장 · 0개일 때 처리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겹치는지 확인 · 최대 2번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유지 · 보류 · 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ns2:creationId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5개와 A의 조건 먼저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첫 결과 후 로그인 안내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조건으로 대조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물어볼 것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ns2:creationId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질문과 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ns2:creationId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화살표: 오른쪽 46">
            <a:extLst>
              <a:ext uri="{FF2B5EF4-FFF2-40B4-BE49-F238E27FC236}">
                <ns2:creationId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4457909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화살표: 오른쪽 47">
            <a:extLst>
              <a:ext uri="{FF2B5EF4-FFF2-40B4-BE49-F238E27FC236}">
                <ns2:creationId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4457909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화살표: 오른쪽 48">
            <a:extLst>
              <a:ext uri="{FF2B5EF4-FFF2-40B4-BE49-F238E27FC236}">
                <ns2:creationId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4457909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화살표: 오른쪽 49">
            <a:extLst>
              <a:ext uri="{FF2B5EF4-FFF2-40B4-BE49-F238E27FC236}">
                <ns2:creationId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화살표: 오른쪽 50">
            <a:extLst>
              <a:ext uri="{FF2B5EF4-FFF2-40B4-BE49-F238E27FC236}">
                <ns2:creationId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화살표: 오른쪽 51">
            <a:extLst>
              <a:ext uri="{FF2B5EF4-FFF2-40B4-BE49-F238E27FC236}">
                <ns2:creationId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사각형: 둥근 모서리 52">
            <a:extLst>
              <a:ext uri="{FF2B5EF4-FFF2-40B4-BE49-F238E27FC236}">
                <ns2:creationId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018565" y="5842173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로그인 정책 미정</a:t>
            </a:r>
          </a:p>
        </p:txBody>
      </p:sp>
      <p:sp>
        <p:nvSpPr>
          <p:cNvPr id="54" name="직사각형 53">
            <a:extLst>
              <a:ext uri="{FF2B5EF4-FFF2-40B4-BE49-F238E27FC236}">
                <ns2:creationId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859131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B는 조건 입력 전에 후보와 초대 맥락을 봅니다.</a:t>
            </a:r>
          </a:p>
        </p:txBody>
      </p:sp>
      <p:sp>
        <p:nvSpPr>
          <p:cNvPr id="55" name="직사각형 54">
            <a:extLst>
              <a:ext uri="{FF2B5EF4-FFF2-40B4-BE49-F238E27FC236}">
                <ns2:creationId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8523515" y="5861223"/>
            <a:ext cx="26207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모든 기능을 로그인 없이 쓸 수 있다고 정하진 않았습니다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184455167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ns2:creationId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· 핵심 화면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만든 화면 세 장면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B9784B3-58C2-40B0-8F3E-E2141C8CDC65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26EFDF3F-CFE9-4183-B5F2-41B0E2F2C885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3F14153C-2DDA-42D4-A1CC-00F888D56B02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3FA3F3FE-E07C-4010-80E1-69A24D649504}"/>
              </a:ext>
            </a:extLst>
          </p:cNvPr>
          <p:cNvSpPr>
            <a:spLocks noGrp="1"/>
          </p:cNvSpPr>
          <p:nvPr/>
        </p:nvSpPr>
        <p:spPr>
          <a:xfrm>
            <a:off x="1466850" y="2819400"/>
            <a:ext cx="17335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0083C11B-92AC-4D1E-AFD1-A33EB2765799}"/>
              </a:ext>
            </a:extLst>
          </p:cNvPr>
          <p:cNvSpPr>
            <a:spLocks noGrp="1"/>
          </p:cNvSpPr>
          <p:nvPr/>
        </p:nvSpPr>
        <p:spPr>
          <a:xfrm>
            <a:off x="1562100" y="2914650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5개 + A의 조건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91EA8FA2-B0B3-49BE-B3EF-AF7BAE087651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ns2:creationId id="{32EC2019-20C2-4F9F-89F4-ADD6F673820E}"/>
              </a:ext>
            </a:extLst>
          </p:cNvPr>
          <p:cNvSpPr>
            <a:spLocks noGrp="1"/>
          </p:cNvSpPr>
          <p:nvPr/>
        </p:nvSpPr>
        <p:spPr>
          <a:xfrm>
            <a:off x="2324100" y="333375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B2AFF756-606C-4815-AF28-4838CFCF7E1B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출근하는 경우만 출근지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집들과 A가 중요하게 보는 것을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57ADD4AB-4BCB-4AA3-ADF9-BD943942FAC7}"/>
              </a:ext>
            </a:extLst>
          </p:cNvPr>
          <p:cNvSpPr>
            <a:spLocks noGrp="1"/>
          </p:cNvSpPr>
          <p:nvPr/>
        </p:nvSpPr>
        <p:spPr>
          <a:xfrm>
            <a:off x="430530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ns2:creationId id="{11A3F3E9-DE22-402A-9A7C-0FFA19F16E81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A30D019C-A1BD-43E3-87FD-B12BBB491CE2}"/>
              </a:ext>
            </a:extLst>
          </p:cNvPr>
          <p:cNvSpPr>
            <a:spLocks noGrp="1"/>
          </p:cNvSpPr>
          <p:nvPr/>
        </p:nvSpPr>
        <p:spPr>
          <a:xfrm>
            <a:off x="478155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9C7B118-6DE2-48DE-936B-5D1505ECC65B}"/>
              </a:ext>
            </a:extLst>
          </p:cNvPr>
          <p:cNvSpPr>
            <a:spLocks noGrp="1"/>
          </p:cNvSpPr>
          <p:nvPr/>
        </p:nvSpPr>
        <p:spPr>
          <a:xfrm>
            <a:off x="4991100" y="28384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4BC5C1BD-1248-4F55-962F-E4B088F04D6A}"/>
              </a:ext>
            </a:extLst>
          </p:cNvPr>
          <p:cNvSpPr>
            <a:spLocks noGrp="1"/>
          </p:cNvSpPr>
          <p:nvPr/>
        </p:nvSpPr>
        <p:spPr>
          <a:xfrm>
            <a:off x="5353050" y="283845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B1924E56-AED0-4D2B-9AC3-8DC78DBC3931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A0BB5DB3-39E8-4B7B-8184-3E3FB1E986AC}"/>
              </a:ext>
            </a:extLst>
          </p:cNvPr>
          <p:cNvSpPr>
            <a:spLocks noGrp="1"/>
          </p:cNvSpPr>
          <p:nvPr/>
        </p:nvSpPr>
        <p:spPr>
          <a:xfrm>
            <a:off x="5353050" y="32385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26" name="직선 연결선 25">
            <a:extLst>
              <a:ext uri="{FF2B5EF4-FFF2-40B4-BE49-F238E27FC236}">
                <ns2:creationId id="{116CD6C7-EEFB-4447-8632-C3A8EDA1F7F7}"/>
              </a:ext>
            </a:extLst>
          </p:cNvPr>
          <p:cNvSpPr>
            <a:spLocks noGrp="1"/>
          </p:cNvSpPr>
          <p:nvPr/>
        </p:nvSpPr>
        <p:spPr>
          <a:xfrm>
            <a:off x="5029200" y="3638550"/>
            <a:ext cx="1809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9058EDF4-D504-4DC0-B418-146860E8B0EF}"/>
              </a:ext>
            </a:extLst>
          </p:cNvPr>
          <p:cNvSpPr>
            <a:spLocks noGrp="1"/>
          </p:cNvSpPr>
          <p:nvPr/>
        </p:nvSpPr>
        <p:spPr>
          <a:xfrm>
            <a:off x="5067300" y="37909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통근 13분을 감수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1F2AE18-F974-4DDD-8164-4A9C90BB3B8B}"/>
              </a:ext>
            </a:extLst>
          </p:cNvPr>
          <p:cNvSpPr>
            <a:spLocks noGrp="1"/>
          </p:cNvSpPr>
          <p:nvPr/>
        </p:nvSpPr>
        <p:spPr>
          <a:xfrm>
            <a:off x="79057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97FEB8C5-0CC3-4256-BCB1-117D6F10517B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A3CC4B17-2C8E-4C41-9E8E-238B5EE80E8E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ns2:creationId id="{48ED7C68-7B58-451E-9AFC-4853B972EDB7}"/>
              </a:ext>
            </a:extLst>
          </p:cNvPr>
          <p:cNvSpPr>
            <a:spLocks noGrp="1"/>
          </p:cNvSpPr>
          <p:nvPr/>
        </p:nvSpPr>
        <p:spPr>
          <a:xfrm>
            <a:off x="859155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B522B501-76E0-4316-9939-8BD40709F739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BAB4C4CB-4E23-491C-AD27-126A0B621A9F}"/>
              </a:ext>
            </a:extLst>
          </p:cNvPr>
          <p:cNvSpPr>
            <a:spLocks noGrp="1"/>
          </p:cNvSpPr>
          <p:nvPr/>
        </p:nvSpPr>
        <p:spPr>
          <a:xfrm>
            <a:off x="868680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A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DC30D494-296A-4402-BC77-B67CFCD241F1}"/>
              </a:ext>
            </a:extLst>
          </p:cNvPr>
          <p:cNvSpPr>
            <a:spLocks noGrp="1"/>
          </p:cNvSpPr>
          <p:nvPr/>
        </p:nvSpPr>
        <p:spPr>
          <a:xfrm>
            <a:off x="973455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B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4C3C9859-8165-4061-B388-194051B29B33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선 연결선 38">
            <a:extLst>
              <a:ext uri="{FF2B5EF4-FFF2-40B4-BE49-F238E27FC236}">
                <ns2:creationId id="{154C21D8-8F6E-4639-8CFC-0AF6DB00EC1F}"/>
              </a:ext>
            </a:extLst>
          </p:cNvPr>
          <p:cNvSpPr>
            <a:spLocks noGrp="1"/>
          </p:cNvSpPr>
          <p:nvPr/>
        </p:nvSpPr>
        <p:spPr>
          <a:xfrm>
            <a:off x="9734550" y="3352800"/>
            <a:ext cx="647700" cy="0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선 연결선 39">
            <a:extLst>
              <a:ext uri="{FF2B5EF4-FFF2-40B4-BE49-F238E27FC236}">
                <ns2:creationId id="{1293C584-EE03-45CE-B358-795784813995}"/>
              </a:ext>
            </a:extLst>
          </p:cNvPr>
          <p:cNvSpPr>
            <a:spLocks noGrp="1"/>
          </p:cNvSpPr>
          <p:nvPr/>
        </p:nvSpPr>
        <p:spPr>
          <a:xfrm>
            <a:off x="8686800" y="3505200"/>
            <a:ext cx="6477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선 연결선 40">
            <a:extLst>
              <a:ext uri="{FF2B5EF4-FFF2-40B4-BE49-F238E27FC236}">
                <ns2:creationId id="{A73E53A0-94FF-42DB-A991-A9354FD18C83}"/>
              </a:ext>
            </a:extLst>
          </p:cNvPr>
          <p:cNvSpPr>
            <a:spLocks noGrp="1"/>
          </p:cNvSpPr>
          <p:nvPr/>
        </p:nvSpPr>
        <p:spPr>
          <a:xfrm>
            <a:off x="9734550" y="35052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직선 연결선 41">
            <a:extLst>
              <a:ext uri="{FF2B5EF4-FFF2-40B4-BE49-F238E27FC236}">
                <ns2:creationId id="{8E1A8C56-C290-40BF-938A-C7F05C0D6EE4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선 연결선 42">
            <a:extLst>
              <a:ext uri="{FF2B5EF4-FFF2-40B4-BE49-F238E27FC236}">
                <ns2:creationId id="{95E84E66-BC7F-4B2E-A3E4-6AC8025260CB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7C031B67-3B6C-4C9F-ABE3-C2A60E725E25}"/>
              </a:ext>
            </a:extLst>
          </p:cNvPr>
          <p:cNvSpPr>
            <a:spLocks noGrp="1"/>
          </p:cNvSpPr>
          <p:nvPr/>
        </p:nvSpPr>
        <p:spPr>
          <a:xfrm>
            <a:off x="8705850" y="39433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총점 행 없음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이미 겹친 1개는 그대로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ns2:creationId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재탐색 화면 미설계</a:t>
            </a:r>
          </a:p>
        </p:txBody>
      </p:sp>
      <p:sp>
        <p:nvSpPr>
          <p:cNvPr id="47" name="직사각형 46">
            <a:extLst>
              <a:ext uri="{FF2B5EF4-FFF2-40B4-BE49-F238E27FC236}">
                <ns2:creationId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조건에 맞는 집이 0개일 때 다시 찾아주는 화면은 아직 안 그렸습니다</a:t>
            </a:r>
          </a:p>
        </p:txBody>
      </p:sp>
      <p:sp>
        <p:nvSpPr>
          <p:cNvPr id="48" name="직사각형 47">
            <a:extLst>
              <a:ext uri="{FF2B5EF4-FFF2-40B4-BE49-F238E27FC236}">
                <ns2:creationId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239648" y="5581650"/>
            <a:ext cx="29998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사진이나 추천 배지보다 양보 문장이 먼저입니다</a:t>
            </a:r>
          </a:p>
        </p:txBody>
      </p:sp>
    </p:spTree>
    <p:extLst>
      <p:ext uri="{BB962C8B-B14F-4D97-AF65-F5344CB8AC3E}">
        <ns3:creationId val="423235944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ns2:creationId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데이터 · 조건 구조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“안 맞음”에도 네 종류가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491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396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둘 다 필수 · 상한은 사람마다 다를 수 있음</a:t>
            </a:r>
          </a:p>
        </p:txBody>
      </p:sp>
      <p:sp>
        <p:nvSpPr>
          <p:cNvPr id="10" name="직선 연결선 9">
            <a:extLst>
              <a:ext uri="{FF2B5EF4-FFF2-40B4-BE49-F238E27FC236}">
                <ns2:creationId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730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635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출근한다고 답한 사람만</a:t>
            </a:r>
          </a:p>
        </p:txBody>
      </p:sp>
      <p:sp>
        <p:nvSpPr>
          <p:cNvPr id="13" name="직선 연결선 12">
            <a:extLst>
              <a:ext uri="{FF2B5EF4-FFF2-40B4-BE49-F238E27FC236}">
                <ns2:creationId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9692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꼭 지킬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8739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0~4개 · 본인이 고름</a:t>
            </a:r>
          </a:p>
        </p:txBody>
      </p:sp>
      <p:sp>
        <p:nvSpPr>
          <p:cNvPr id="16" name="직선 연결선 15">
            <a:extLst>
              <a:ext uri="{FF2B5EF4-FFF2-40B4-BE49-F238E27FC236}">
                <ns2:creationId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207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81127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자유 문장 · 개수 제한 없음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ns2:creationId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ns2:creationId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446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351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중개사에게 물어볼 것 · 개수 제한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ns2:creationId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685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590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받는 공통 목록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예산 · 통근시간 · 역 도보 · 전용면적 · 주차 · 매물 유형</a:t>
            </a:r>
            <a:endParaRPr sz="11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ns2:creationId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의미가 서로 다릅니다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ECFD1156-8D5B-4B8D-A694-81AF2D320C2B}"/>
              </a:ext>
            </a:extLst>
          </p:cNvPr>
          <p:cNvSpPr>
            <a:spLocks noGrp="1"/>
          </p:cNvSpPr>
          <p:nvPr/>
        </p:nvSpPr>
        <p:spPr>
          <a:xfrm>
            <a:off x="6496050" y="22479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1" name="직사각형 30">
            <a:extLst>
              <a:ext uri="{FF2B5EF4-FFF2-40B4-BE49-F238E27FC236}">
                <ns2:creationId id="{13981B6C-6AB1-495D-9857-1ACEAB781263}"/>
              </a:ext>
            </a:extLst>
          </p:cNvPr>
          <p:cNvSpPr>
            <a:spLocks noGrp="1"/>
          </p:cNvSpPr>
          <p:nvPr/>
        </p:nvSpPr>
        <p:spPr>
          <a:xfrm>
            <a:off x="6629400" y="24343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 xml:space="preserve">미충족</a:t>
            </a:r>
            <a:endParaRPr sz="1100" b="1" dirty="0">
              <a:solidFill>
                <a:srgbClr val="D9770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ns2:creationId id="{00AA80DC-2951-4C4C-950F-2DF06CFB5E3A}"/>
              </a:ext>
            </a:extLst>
          </p:cNvPr>
          <p:cNvSpPr>
            <a:spLocks noGrp="1"/>
          </p:cNvSpPr>
          <p:nvPr/>
        </p:nvSpPr>
        <p:spPr>
          <a:xfrm>
            <a:off x="7696200" y="24355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재봤는데 기준에 안 맞음</a:t>
            </a:r>
            <a:endParaRPr sz="11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ns2:creationId id="{374CAF5C-B78D-4801-A0D4-84A16EF708C4}"/>
              </a:ext>
            </a:extLst>
          </p:cNvPr>
          <p:cNvSpPr>
            <a:spLocks noGrp="1"/>
          </p:cNvSpPr>
          <p:nvPr/>
        </p:nvSpPr>
        <p:spPr>
          <a:xfrm>
            <a:off x="9429750" y="23641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실제값·기준값·미달량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ns2:creationId id="{C8286FAA-5500-4266-9DF6-B65BF11059FC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BE8E8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5" name="직사각형 34">
            <a:extLst>
              <a:ext uri="{FF2B5EF4-FFF2-40B4-BE49-F238E27FC236}">
                <ns2:creationId id="{C1D0B3BD-1903-40F2-BDAC-E0B56AA8AD2A}"/>
              </a:ext>
            </a:extLst>
          </p:cNvPr>
          <p:cNvSpPr>
            <a:spLocks noGrp="1"/>
          </p:cNvSpPr>
          <p:nvPr/>
        </p:nvSpPr>
        <p:spPr>
          <a:xfrm>
            <a:off x="6629400" y="31772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 xml:space="preserve">계산 불가</a:t>
            </a:r>
            <a:endParaRPr sz="1100" b="1" dirty="0">
              <a:solidFill>
                <a:srgbClr val="B43C3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직사각형 35">
            <a:extLst>
              <a:ext uri="{FF2B5EF4-FFF2-40B4-BE49-F238E27FC236}">
                <ns2:creationId id="{3E09C0FA-9763-4A8A-93D5-3F507E993AEF}"/>
              </a:ext>
            </a:extLst>
          </p:cNvPr>
          <p:cNvSpPr>
            <a:spLocks noGrp="1"/>
          </p:cNvSpPr>
          <p:nvPr/>
        </p:nvSpPr>
        <p:spPr>
          <a:xfrm>
            <a:off x="7696200" y="31784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시스템이 계산에 실패함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6EC14EC8-BB5E-4A16-B182-AC8A5A59CD4B}"/>
              </a:ext>
            </a:extLst>
          </p:cNvPr>
          <p:cNvSpPr>
            <a:spLocks noGrp="1"/>
          </p:cNvSpPr>
          <p:nvPr/>
        </p:nvSpPr>
        <p:spPr>
          <a:xfrm>
            <a:off x="9429750" y="31070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오류지, 조건 미달이 아님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ns2:creationId id="{6098AE77-45AA-40B6-A4A9-914D547C449E}"/>
              </a:ext>
            </a:extLst>
          </p:cNvPr>
          <p:cNvSpPr>
            <a:spLocks noGrp="1"/>
          </p:cNvSpPr>
          <p:nvPr/>
        </p:nvSpPr>
        <p:spPr>
          <a:xfrm>
            <a:off x="6496050" y="37338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9" name="직사각형 38">
            <a:extLst>
              <a:ext uri="{FF2B5EF4-FFF2-40B4-BE49-F238E27FC236}">
                <ns2:creationId id="{2BA088EC-0DBE-4919-A070-D2109B71D2AC}"/>
              </a:ext>
            </a:extLst>
          </p:cNvPr>
          <p:cNvSpPr>
            <a:spLocks noGrp="1"/>
          </p:cNvSpPr>
          <p:nvPr/>
        </p:nvSpPr>
        <p:spPr>
          <a:xfrm>
            <a:off x="6629400" y="39202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확인 필요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2D76F29B-BC6A-4664-A6FB-A3DF4DD0E213}"/>
              </a:ext>
            </a:extLst>
          </p:cNvPr>
          <p:cNvSpPr>
            <a:spLocks noGrp="1"/>
          </p:cNvSpPr>
          <p:nvPr/>
        </p:nvSpPr>
        <p:spPr>
          <a:xfrm>
            <a:off x="7696200" y="39214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데이터로는 알 수 없음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82F5FFB8-62B7-4D44-9B65-9636FA41CE77}"/>
              </a:ext>
            </a:extLst>
          </p:cNvPr>
          <p:cNvSpPr>
            <a:spLocks noGrp="1"/>
          </p:cNvSpPr>
          <p:nvPr/>
        </p:nvSpPr>
        <p:spPr>
          <a:xfrm>
            <a:off x="9429750" y="38500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방문 전 질문 목록으로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ns2:creationId id="{01818214-1B73-4DD9-AF91-3394E267A2A3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43" name="직사각형 42">
            <a:extLst>
              <a:ext uri="{FF2B5EF4-FFF2-40B4-BE49-F238E27FC236}">
                <ns2:creationId id="{7619066E-44EF-4D6E-9E95-E2802D72942B}"/>
              </a:ext>
            </a:extLst>
          </p:cNvPr>
          <p:cNvSpPr>
            <a:spLocks noGrp="1"/>
          </p:cNvSpPr>
          <p:nvPr/>
        </p:nvSpPr>
        <p:spPr>
          <a:xfrm>
            <a:off x="6629400" y="46631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85802C9E-0667-44A2-813E-244A3E88AE32}"/>
              </a:ext>
            </a:extLst>
          </p:cNvPr>
          <p:cNvSpPr>
            <a:spLocks noGrp="1"/>
          </p:cNvSpPr>
          <p:nvPr/>
        </p:nvSpPr>
        <p:spPr>
          <a:xfrm>
            <a:off x="7696200" y="46643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잴 게 아예 없음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3DB9CFE8-A69A-4285-990B-1328F49DA020}"/>
              </a:ext>
            </a:extLst>
          </p:cNvPr>
          <p:cNvSpPr>
            <a:spLocks noGrp="1"/>
          </p:cNvSpPr>
          <p:nvPr/>
        </p:nvSpPr>
        <p:spPr>
          <a:xfrm>
            <a:off x="9429750" y="45929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그 줄을 뺌 · 출근 안 함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ns2:creationId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ns2:creationId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 안 함은 정상입니다 · 통근·교통비를 재지 않습니다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384968217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ns2:creationId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데이터 · 시스템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읽고, 판정하고, 네이버로 돌려보냅니다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읽고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주차와 역 도보, 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ns2:creationId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판정하고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같이 보기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조건별 판정 · 미달량 · 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돌려보내고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검색 · 방문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사용자가 필터를 눌러 다시 검색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방문 · 문의로 돌아감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비로그인 조건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초대 코드로 연결 · 마지막으로 연 날부터 30일 뒤 삭제 · 로그인하면 계정으로 옮김</a:t>
            </a:r>
          </a:p>
        </p:txBody>
      </p:sp>
      <p:sp>
        <p:nvSpPr>
          <p:cNvPr id="22" name="직선 연결선 21">
            <a:extLst>
              <a:ext uri="{FF2B5EF4-FFF2-40B4-BE49-F238E27FC236}">
                <ns2:creationId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출근지 · 매물 좌표 · 이동수단을 저장해 재사용 · 출근 안 하면 계산 안 함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ns2:creationId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기회비용 · 대출이자 · 월세 · 관리비 · 교통비 · 초기비용, 전제와 기준일을 함께</a:t>
            </a:r>
          </a:p>
        </p:txBody>
      </p:sp>
      <p:sp>
        <p:nvSpPr>
          <p:cNvPr id="28" name="직선 연결선 27">
            <a:extLst>
              <a:ext uri="{FF2B5EF4-FFF2-40B4-BE49-F238E27FC236}">
                <ns2:creationId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3871913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내부 확인 필요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233863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검색 결과 수 · 필터 값 · 경로 계산 비용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사진 · 설명 · 중개사 정보는 판정에 쓰지 않음 · 네이버 매물 데이터를 고치지 않음</a:t>
            </a:r>
          </a:p>
        </p:txBody>
      </p:sp>
    </p:spTree>
    <p:extLst>
      <p:ext uri="{BB962C8B-B14F-4D97-AF65-F5344CB8AC3E}">
        <ns3:creationId val="1473021752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ns2:creationId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목적과 범위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할 것 일곱 가지, 안 할 것 여섯 가지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제품 목표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97713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두 사람이 각 매물의 충족·미달·확인 사항을 이해하고, 자기 판단으로 보러 갈 집 2개를 정합니다.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1단계 · 먼저 검증할 핵심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예산 필수 + 출근하는지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링크와 코드로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자동 판정 · 비용 · 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완화 · 후보 0개일 때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보러 갈 집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2단계 · 끝까지 완성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물어볼 것 정리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 체크리스트 · 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하지 않을 것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종합점수 · AI 최종 선택 · 계약과 대출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확정된 숫자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2인 · 집 최대 5개 · 꼭 지킬 조건 0~4개 · 결과 2개 · 최대 2번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2240E2E9-1F70-43BF-B5C4-426103E9322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우선순위 — 1단계를 먼저 만들어 검증하고, 통과한 뒤에 2단계로 갑니다</a:t>
            </a:r>
          </a:p>
        </p:txBody>
      </p:sp>
    </p:spTree>
    <p:extLst>
      <p:ext uri="{BB962C8B-B14F-4D97-AF65-F5344CB8AC3E}">
        <ns3:creationId val="1050571895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ns2:creationId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요구사항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기능 25가지를 여섯 묶음으로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관심매물 1~5개 · 링크와 코드 · 초대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예산 필수 · 출근하는지 · 고르는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ns2:creationId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판정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trade-off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양보 주체 · 미달량 · A/B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ns2:creationId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막다른 길과 결정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0개일 때 · 각자 2개 · 최대 2번</a:t>
            </a:r>
          </a:p>
        </p:txBody>
      </p:sp>
      <p:sp>
        <p:nvSpPr>
          <p:cNvPr id="34" name="화살표: 오른쪽 33">
            <a:extLst>
              <a:ext uri="{FF2B5EF4-FFF2-40B4-BE49-F238E27FC236}">
                <ns2:creationId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반복과 마무리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조건이 남음 · 집이 나감 · 질문과 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AI는 비교하고 설명합니다 · 최종 후보, 순위, 타협, 상대 조건 변경은 사용자가 합니다</a:t>
            </a:r>
            <a:endParaRPr sz="1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ns2:creationId id="{2E329975-3C0C-497E-8C22-24DF7176989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여섯 묶음은 그대로 사용자 시나리오 순서입니다 — 초대받고 → 조건 넣고 → 판정되고 → 양보를 이해하고 → 정하고 → 다시 돌아옵니다</a:t>
            </a:r>
          </a:p>
        </p:txBody>
      </p:sp>
    </p:spTree>
    <p:extLst>
      <p:ext uri="{BB962C8B-B14F-4D97-AF65-F5344CB8AC3E}">
        <ns3:creationId val="1502171489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ns2:creationId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Acceptance Criteria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검사 기준은 “판단을 흐리지 않는가”입니다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9906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만들 기능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ns2:creationId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검사 항목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다 정해진 기능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일부 미정인 기능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일부 미정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집 고르기·초대·조건·로그인·혼자일 때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판정 / trade-off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조건별 판정 · 양보 · 완화 · 후보 0개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보러 갈 2개 · 조건 유지 · 넘지 않을 선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넘지 않을 선 5개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 안 함 → 출근지·이동수단을 안 물음 · 통근을 재지 않음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0개이거나 2번까지 안 맞으면 → 각자 하나씩 · 투표와 자동선택 안 함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 안 함 → 해당 없음 · 비교표에서 통근 줄을 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ns2:creationId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공동 적합도 · 추천 배지 · AI가 고른 집을 띄우지 않음</a:t>
            </a:r>
          </a:p>
        </p:txBody>
      </p:sp>
    </p:spTree>
    <p:extLst>
      <p:ext uri="{BB962C8B-B14F-4D97-AF65-F5344CB8AC3E}">
        <ns3:creationId val="2093500726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ns2:creationId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KPI · Guardrail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3853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성공 지표는 하나만 세웠습니다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881187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North Star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804987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초대를 보낸 것 중, 7일 안에 보러 갈 집 2개가 정해진 비율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ns2:creationId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목표값 미정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 xml:space="preserve">7일이 맞는지도 처음 재본 뒤에 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급소 가설 ①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 열기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먼저 잰다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급소 가설 ②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늦어진 경험 + 원인 인터뷰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가장 중요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프로토타입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1단계 핵심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앞의 둘을 통과하면</a:t>
            </a:r>
          </a:p>
        </p:txBody>
      </p:sp>
      <p:sp>
        <p:nvSpPr>
          <p:cNvPr id="25" name="화살표: 오른쪽 24">
            <a:extLst>
              <a:ext uri="{FF2B5EF4-FFF2-40B4-BE49-F238E27FC236}">
                <ns2:creationId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조건 입력·비용 신뢰·매물 지속성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입력 · 신뢰 · 지속성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ns2:creationId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두 사람 같은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동의 없이 조건 안 바꿈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이건 성공 지표로 쓰지 않습니다 — 결정 시간 단축 · 갈등 감소 · 계약 전환 상승 · 탐색 기간 감소</a:t>
            </a:r>
          </a:p>
        </p:txBody>
      </p:sp>
    </p:spTree>
    <p:extLst>
      <p:ext uri="{BB962C8B-B14F-4D97-AF65-F5344CB8AC3E}">
        <ns3:creationId val="1862840467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ns2:creationId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위험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제일 큰 위험 둘은 기능 문제가 아닙니다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초대받은 사람이 안 들어옴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먼저 잰다 · 혼자일 때 경로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충돌이 늦어짐의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원인을 가르는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한 번에 다 안 묻고 나눠서 · 숫자 옆에 항상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내부 데이터를 못 쓰게 될 수 있음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 내부 확인이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집이 나감 · 각자 하나씩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조건이 남음 · 쓰기 편한지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화면을 더 다듬는 것보다, 전제가 맞는지가 더 급합니다</a:t>
            </a:r>
          </a:p>
        </p:txBody>
      </p:sp>
    </p:spTree>
    <p:extLst>
      <p:ext uri="{BB962C8B-B14F-4D97-AF65-F5344CB8AC3E}">
        <ns3:creationId val="1149490605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ns2:creationId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법·윤리·보안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사람의 예산과 직장 위치를 다룹니다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31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법적 필수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출근지·예산은 민감한 개인정보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꼭 필요한 것만 수집 · 목적 외 사용 안 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출시 전 필수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법적 필수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상대방에게 내 예산이 보이는가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서로 보이는 범위를 조건별로 정합니다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중개 행위가 아니다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정보 제공과 비교만 · 계약과 대출은 안 함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데이터를 언제 지우나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비로그인 30일 · 관계가 끝났을 때 규칙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출시 전 필수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중간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비용 숫자가 금융 조언으로 읽힐 수 있음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전제와 기준일을 항상 같이 표시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규제 리스크는 기능이 아니라 데이터에서 옵니다 — 출근지와 예산은 직장과 소득을 추정할 수 있는 값입니다</a:t>
            </a:r>
          </a:p>
        </p:txBody>
      </p:sp>
    </p:spTree>
    <p:extLst>
      <p:ext uri="{BB962C8B-B14F-4D97-AF65-F5344CB8AC3E}">
        <ns3:creationId val="1149490605"/>
      </p:ext>
    </p:extLst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ns2:creationId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한계와 다음 결정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05863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다음 두 가지를 확인하고 1단계로 갑니다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BA592693-157C-44B8-BF30-9AC19A1B7A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같이 보기  ·  둘이서 보러 갈 집 정하기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32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ns2:creationId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ns2:creationId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 이후, 둘이 함께 정하기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타원 9">
            <a:extLst>
              <a:ext uri="{FF2B5EF4-FFF2-40B4-BE49-F238E27FC236}">
                <ns2:creationId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ns2:creationId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ns2:creationId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ns2:creationId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540997"/>
            <a:ext cx="28531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AI는 설명만 · 보러 갈 집 2개는 사용자가 선택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ns2:creationId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미검증 · 한계</a:t>
            </a:r>
          </a:p>
        </p:txBody>
      </p:sp>
      <p:sp>
        <p:nvSpPr>
          <p:cNvPr id="16" name="타원 15">
            <a:extLst>
              <a:ext uri="{FF2B5EF4-FFF2-40B4-BE49-F238E27FC236}">
                <ns2:creationId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ns2:creationId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늦어지는 원인 — 직접 근거를 못 찾음</a:t>
            </a:r>
          </a:p>
        </p:txBody>
      </p:sp>
      <p:sp>
        <p:nvSpPr>
          <p:cNvPr id="18" name="타원 17">
            <a:extLst>
              <a:ext uri="{FF2B5EF4-FFF2-40B4-BE49-F238E27FC236}">
                <ns2:creationId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ns2:creationId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Zillow 자료는 미국 · 2020년 · 매매</a:t>
            </a:r>
          </a:p>
        </p:txBody>
      </p:sp>
      <p:sp>
        <p:nvSpPr>
          <p:cNvPr id="20" name="타원 19">
            <a:extLst>
              <a:ext uri="{FF2B5EF4-FFF2-40B4-BE49-F238E27FC236}">
                <ns2:creationId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ns2:creationId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국내 초대 수락·효과·내부 API 미확인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ns2:creationId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ns2:creationId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5" name="직사각형 24">
            <a:extLst>
              <a:ext uri="{FF2B5EF4-FFF2-40B4-BE49-F238E27FC236}">
                <ns2:creationId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1. 초대받은 사람이 오는지 측정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7" name="직사각형 26">
            <a:extLst>
              <a:ext uri="{FF2B5EF4-FFF2-40B4-BE49-F238E27FC236}">
                <ns2:creationId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2. 늦어진 원인을 가르는 인터뷰</a:t>
            </a:r>
          </a:p>
        </p:txBody>
      </p:sp>
      <p:sp>
        <p:nvSpPr>
          <p:cNvPr id="28" name="타원 27">
            <a:extLst>
              <a:ext uri="{FF2B5EF4-FFF2-40B4-BE49-F238E27FC236}">
                <ns2:creationId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ns2:creationId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3. 둘 다 통과하면 1단계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두 사람이 정말 함께 쓰는지, 조건 차이가 결정을 얼마나 늦추는지를 먼저 확인합니다. 확인되면 조건 차이를 설명하는 1단계로 갑니다.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2579C722-C80A-44EA-A9ED-533C98B62B4F}"/>
              </a:ext>
            </a:extLst>
          </p:cNvPr>
          <p:cNvSpPr>
            <a:spLocks noGrp="1"/>
          </p:cNvSpPr>
          <p:nvPr/>
        </p:nvSpPr>
        <p:spPr>
          <a:xfrm>
            <a:off x="1695450" y="58483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근거 문서 — 팀 브리프 · 가설 · 근거 로그 · 벤치마크 · 화면 설계 · 기획서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ns3:creationId val="3028045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5787</Words>
  <Application>Microsoft Office PowerPoint</Application>
  <DocSecurity>0</DocSecurity>
  <PresentationFormat>와이드스크린</PresentationFormat>
  <Paragraphs>959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16</cp:revision>
  <dcterms:created xsi:type="dcterms:W3CDTF">2026-08-20T07:13:26Z</dcterms:created>
  <dcterms:modified xsi:type="dcterms:W3CDTF">2026-08-20T08:56:35Z</dcterms:modified>
</cp:coreProperties>
</file>