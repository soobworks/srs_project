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8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54" autoAdjust="0"/>
  </p:normalViewPr>
  <p:slideViewPr>
    <p:cSldViewPr snapToGrid="0">
      <p:cViewPr varScale="1"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8" Type="http://schemas.openxmlformats.org/officeDocument/2006/relationships/slide" Target="slides/slide3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빈 박" userId="ce32221d53103a11" providerId="LiveId" clId="{02494E6E-0340-47F7-B897-6DA0D2D16AC8}"/>
    <pc:docChg chg="undo custSel modSld">
      <pc:chgData name="수빈 박" userId="ce32221d53103a11" providerId="LiveId" clId="{02494E6E-0340-47F7-B897-6DA0D2D16AC8}" dt="2026-08-20T08:56:29.394" v="65" actId="1036"/>
      <pc:docMkLst>
        <pc:docMk/>
      </pc:docMkLst>
      <pc:sldChg chg="modSp mod">
        <pc:chgData name="수빈 박" userId="ce32221d53103a11" providerId="LiveId" clId="{02494E6E-0340-47F7-B897-6DA0D2D16AC8}" dt="2026-08-20T08:34:48.295" v="15" actId="1036"/>
        <pc:sldMkLst>
          <pc:docMk/>
          <pc:sldMk cId="224337355" sldId="258"/>
        </pc:sldMkLst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8" creationId="{3A2372AE-E98A-4964-9688-4DA7526E0B83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1" creationId="{A025E531-00B4-4376-A2CF-AFF5FE32CD64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4" creationId="{FCF11419-E3A6-4B4A-B516-24C75B89F600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7" creationId="{C146F86A-DCF2-4BB8-9E04-193F6426C6DC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0" creationId="{9330B098-B7C1-4B8B-8CCE-CC02E11D631A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3" creationId="{325A13A4-10B2-476E-BB1D-C05F91DF4D55}"/>
          </ac:spMkLst>
        </pc:spChg>
        <pc:spChg chg="mod">
          <ac:chgData name="수빈 박" userId="ce32221d53103a11" providerId="LiveId" clId="{02494E6E-0340-47F7-B897-6DA0D2D16AC8}" dt="2026-08-20T08:34:48.295" v="15" actId="1036"/>
          <ac:spMkLst>
            <pc:docMk/>
            <pc:sldMk cId="224337355" sldId="258"/>
            <ac:spMk id="25" creationId="{C6EC3C2C-B938-4D24-868A-DDFBB140E100}"/>
          </ac:spMkLst>
        </pc:spChg>
        <pc:spChg chg="mod">
          <ac:chgData name="수빈 박" userId="ce32221d53103a11" providerId="LiveId" clId="{02494E6E-0340-47F7-B897-6DA0D2D16AC8}" dt="2026-08-20T08:34:40.918" v="14" actId="1036"/>
          <ac:spMkLst>
            <pc:docMk/>
            <pc:sldMk cId="224337355" sldId="258"/>
            <ac:spMk id="27" creationId="{DF51171B-86FD-425D-90EF-36A47DD3288E}"/>
          </ac:spMkLst>
        </pc:spChg>
        <pc:spChg chg="mod">
          <ac:chgData name="수빈 박" userId="ce32221d53103a11" providerId="LiveId" clId="{02494E6E-0340-47F7-B897-6DA0D2D16AC8}" dt="2026-08-20T08:34:20.402" v="10" actId="1036"/>
          <ac:spMkLst>
            <pc:docMk/>
            <pc:sldMk cId="224337355" sldId="258"/>
            <ac:spMk id="30" creationId="{C738C398-1948-43C7-AF09-674AF20048B4}"/>
          </ac:spMkLst>
        </pc:spChg>
        <pc:spChg chg="mod">
          <ac:chgData name="수빈 박" userId="ce32221d53103a11" providerId="LiveId" clId="{02494E6E-0340-47F7-B897-6DA0D2D16AC8}" dt="2026-08-20T08:34:36.168" v="13" actId="1036"/>
          <ac:spMkLst>
            <pc:docMk/>
            <pc:sldMk cId="224337355" sldId="258"/>
            <ac:spMk id="33" creationId="{2624091C-61F9-48A3-A5AC-D301280DD614}"/>
          </ac:spMkLst>
        </pc:spChg>
      </pc:sldChg>
      <pc:sldChg chg="modSp mod">
        <pc:chgData name="수빈 박" userId="ce32221d53103a11" providerId="LiveId" clId="{02494E6E-0340-47F7-B897-6DA0D2D16AC8}" dt="2026-08-20T08:56:29.394" v="65" actId="1036"/>
        <pc:sldMkLst>
          <pc:docMk/>
          <pc:sldMk cId="1495419320" sldId="260"/>
        </pc:sldMkLst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8" creationId="{0A92E8F6-8312-4E4A-AA0C-4A6402BC2494}"/>
          </ac:spMkLst>
        </pc:spChg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9" creationId="{604BD844-2C37-49F0-9A59-1ABF27B52676}"/>
          </ac:spMkLst>
        </pc:spChg>
      </pc:sldChg>
      <pc:sldChg chg="modSp mod">
        <pc:chgData name="수빈 박" userId="ce32221d53103a11" providerId="LiveId" clId="{02494E6E-0340-47F7-B897-6DA0D2D16AC8}" dt="2026-08-20T08:35:40.746" v="27" actId="1035"/>
        <pc:sldMkLst>
          <pc:docMk/>
          <pc:sldMk cId="1343870297" sldId="262"/>
        </pc:sldMkLst>
        <pc:spChg chg="mod">
          <ac:chgData name="수빈 박" userId="ce32221d53103a11" providerId="LiveId" clId="{02494E6E-0340-47F7-B897-6DA0D2D16AC8}" dt="2026-08-20T08:35:29.275" v="23" actId="1035"/>
          <ac:spMkLst>
            <pc:docMk/>
            <pc:sldMk cId="1343870297" sldId="262"/>
            <ac:spMk id="29" creationId="{D3CCCAEB-D118-4734-A444-B49ECD86085B}"/>
          </ac:spMkLst>
        </pc:spChg>
        <pc:spChg chg="mod">
          <ac:chgData name="수빈 박" userId="ce32221d53103a11" providerId="LiveId" clId="{02494E6E-0340-47F7-B897-6DA0D2D16AC8}" dt="2026-08-20T08:35:35.676" v="26" actId="1035"/>
          <ac:spMkLst>
            <pc:docMk/>
            <pc:sldMk cId="1343870297" sldId="262"/>
            <ac:spMk id="30" creationId="{3768235F-F969-4B42-BB35-2B0DAE6440E7}"/>
          </ac:spMkLst>
        </pc:spChg>
        <pc:spChg chg="mod">
          <ac:chgData name="수빈 박" userId="ce32221d53103a11" providerId="LiveId" clId="{02494E6E-0340-47F7-B897-6DA0D2D16AC8}" dt="2026-08-20T08:35:40.746" v="27" actId="1035"/>
          <ac:spMkLst>
            <pc:docMk/>
            <pc:sldMk cId="1343870297" sldId="262"/>
            <ac:spMk id="31" creationId="{03B6B004-4B2B-43DA-A6E7-2BA2FE5EB603}"/>
          </ac:spMkLst>
        </pc:spChg>
      </pc:sldChg>
      <pc:sldChg chg="modSp mod">
        <pc:chgData name="수빈 박" userId="ce32221d53103a11" providerId="LiveId" clId="{02494E6E-0340-47F7-B897-6DA0D2D16AC8}" dt="2026-08-20T08:37:06.641" v="44" actId="1035"/>
        <pc:sldMkLst>
          <pc:docMk/>
          <pc:sldMk cId="1081108234" sldId="268"/>
        </pc:sldMkLst>
        <pc:spChg chg="mod">
          <ac:chgData name="수빈 박" userId="ce32221d53103a11" providerId="LiveId" clId="{02494E6E-0340-47F7-B897-6DA0D2D16AC8}" dt="2026-08-20T08:37:01.374" v="40" actId="1035"/>
          <ac:spMkLst>
            <pc:docMk/>
            <pc:sldMk cId="1081108234" sldId="268"/>
            <ac:spMk id="16" creationId="{D1BA81A6-D5D2-4035-AC06-C7FE252D643D}"/>
          </ac:spMkLst>
        </pc:spChg>
        <pc:spChg chg="mod">
          <ac:chgData name="수빈 박" userId="ce32221d53103a11" providerId="LiveId" clId="{02494E6E-0340-47F7-B897-6DA0D2D16AC8}" dt="2026-08-20T08:36:58.344" v="38" actId="1035"/>
          <ac:spMkLst>
            <pc:docMk/>
            <pc:sldMk cId="1081108234" sldId="268"/>
            <ac:spMk id="18" creationId="{77207C8E-BF8D-42DC-8BC6-759FCCD6E045}"/>
          </ac:spMkLst>
        </pc:spChg>
        <pc:spChg chg="mod">
          <ac:chgData name="수빈 박" userId="ce32221d53103a11" providerId="LiveId" clId="{02494E6E-0340-47F7-B897-6DA0D2D16AC8}" dt="2026-08-20T08:37:06.641" v="44" actId="1035"/>
          <ac:spMkLst>
            <pc:docMk/>
            <pc:sldMk cId="1081108234" sldId="268"/>
            <ac:spMk id="19" creationId="{42049BD9-7B58-46C2-BA89-21A96590E0F3}"/>
          </ac:spMkLst>
        </pc:spChg>
        <pc:spChg chg="mod">
          <ac:chgData name="수빈 박" userId="ce32221d53103a11" providerId="LiveId" clId="{02494E6E-0340-47F7-B897-6DA0D2D16AC8}" dt="2026-08-20T08:36:34.625" v="28" actId="1036"/>
          <ac:spMkLst>
            <pc:docMk/>
            <pc:sldMk cId="1081108234" sldId="268"/>
            <ac:spMk id="23" creationId="{7E9E73DC-FC0A-43C5-8FA8-0FA2A0596B99}"/>
          </ac:spMkLst>
        </pc:spChg>
      </pc:sldChg>
      <pc:sldChg chg="modSp mod">
        <pc:chgData name="수빈 박" userId="ce32221d53103a11" providerId="LiveId" clId="{02494E6E-0340-47F7-B897-6DA0D2D16AC8}" dt="2026-08-20T08:37:22.259" v="45" actId="1036"/>
        <pc:sldMkLst>
          <pc:docMk/>
          <pc:sldMk cId="1709083599" sldId="270"/>
        </pc:sldMkLst>
        <pc:spChg chg="mod">
          <ac:chgData name="수빈 박" userId="ce32221d53103a11" providerId="LiveId" clId="{02494E6E-0340-47F7-B897-6DA0D2D16AC8}" dt="2026-08-20T08:37:22.259" v="45" actId="1036"/>
          <ac:spMkLst>
            <pc:docMk/>
            <pc:sldMk cId="1709083599" sldId="270"/>
            <ac:spMk id="44" creationId="{4F47EFA9-1743-45A0-86C2-FCBB1D5CA033}"/>
          </ac:spMkLst>
        </pc:spChg>
      </pc:sldChg>
      <pc:sldChg chg="modSp mod">
        <pc:chgData name="수빈 박" userId="ce32221d53103a11" providerId="LiveId" clId="{02494E6E-0340-47F7-B897-6DA0D2D16AC8}" dt="2026-08-20T08:38:09.262" v="53" actId="1036"/>
        <pc:sldMkLst>
          <pc:docMk/>
          <pc:sldMk cId="649107641" sldId="272"/>
        </pc:sldMkLst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0" creationId="{7238A72C-9D80-4501-B0D5-528AA2A6C0D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1" creationId="{E91216E0-8748-4017-8392-5ED4240BB015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2" creationId="{C78D979D-F7C4-48A1-AC7F-0959076083F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3" creationId="{DAC276E5-6F5F-416A-A228-07FE54DA411D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4" creationId="{CBFCAB63-F745-43FE-8905-C2925F139094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5" creationId="{91B4D608-5523-44A7-8E24-C4CBCBBA7CF2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6" creationId="{F5B051B7-448F-490A-BD1F-02E458E85A97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7" creationId="{09CBBE08-89B1-48FF-ADCF-39D022C401E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19" creationId="{B5034B31-ECDF-4E02-82B5-AA60FEEE8A6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0" creationId="{AF2B5541-04C2-4BA0-AF40-B95391240CC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1" creationId="{0B68262A-953E-4A40-98C7-B5E18E37BDE7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2" creationId="{BA2BDBC9-5729-471E-B202-75D1D60B566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3" creationId="{B70BE8F1-A706-42EC-930D-BB56CE651484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4" creationId="{3F3ED5CE-4210-4E40-B5C2-20B6FA8E40CC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5" creationId="{47D84580-4334-4766-A631-1676366036F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6" creationId="{A79D43E8-289A-4F85-946E-6627547C95F4}"/>
          </ac:spMkLst>
        </pc:spChg>
      </pc:sldChg>
      <pc:sldChg chg="modSp mod">
        <pc:chgData name="수빈 박" userId="ce32221d53103a11" providerId="LiveId" clId="{02494E6E-0340-47F7-B897-6DA0D2D16AC8}" dt="2026-08-20T08:40:05.963" v="60" actId="1036"/>
        <pc:sldMkLst>
          <pc:docMk/>
          <pc:sldMk cId="1384968217" sldId="278"/>
        </pc:sldMkLst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8" creationId="{709AAAEC-61DA-4E2A-865A-B5C68234F31F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9" creationId="{A58D63BD-C430-4E16-8AEF-D60D4FEBDAF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1" creationId="{BC88FF80-7FC5-4506-ACA5-6FF8536B7B9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2" creationId="{87016F0F-D393-42B5-98E6-B443A2EA510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4" creationId="{1DA0E42E-515D-4AAB-BFFD-BA0F42655690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5" creationId="{D2BB4B14-4A97-4B22-9480-3F0B454C17D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7" creationId="{1342A7FA-F153-4A62-ACC8-4339D4FE232B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8" creationId="{EB657D60-6650-4C7A-A75F-D15564F9100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0" creationId="{C07D9CBA-B18E-43CF-BF21-38CB8DEFA886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1" creationId="{8DB0F047-6DD5-46AC-AD78-BFAEF1590CC8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3" creationId="{DEF26A3B-A798-4B03-A041-6A78EA44B5A1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4" creationId="{89C80383-264C-4135-955E-CCA4E0FE08C2}"/>
          </ac:spMkLst>
        </pc:spChg>
        <pc:spChg chg="mod">
          <ac:chgData name="수빈 박" userId="ce32221d53103a11" providerId="LiveId" clId="{02494E6E-0340-47F7-B897-6DA0D2D16AC8}" dt="2026-08-20T08:39:32.142" v="58" actId="1036"/>
          <ac:spMkLst>
            <pc:docMk/>
            <pc:sldMk cId="1384968217" sldId="278"/>
            <ac:spMk id="31" creationId="{13981B6C-6AB1-495D-9857-1ACEAB78126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2" creationId="{00AA80DC-2951-4C4C-950F-2DF06CFB5E3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3" creationId="{374CAF5C-B78D-4801-A0D4-84A16EF708C4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5" creationId="{C1D0B3BD-1903-40F2-BDAC-E0B56AA8AD2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6" creationId="{3E09C0FA-9763-4A8A-93D5-3F507E993AEF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7" creationId="{6EC14EC8-BB5E-4A16-B182-AC8A5A59CD4B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9" creationId="{2BA088EC-0DBE-4919-A070-D2109B71D2AC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0" creationId="{2D76F29B-BC6A-4664-A6FB-A3DF4DD0E21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1" creationId="{82F5FFB8-62B7-4D44-9B65-9636FA41CE77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43" creationId="{7619066E-44EF-4D6E-9E95-E2802D72942B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4" creationId="{85802C9E-0667-44A2-813E-244A3E88AE32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5" creationId="{3DB9CFE8-A69A-4285-990B-1328F49DA020}"/>
          </ac:spMkLst>
        </pc:spChg>
      </pc:sldChg>
      <pc:sldChg chg="modSp mod">
        <pc:chgData name="수빈 박" userId="ce32221d53103a11" providerId="LiveId" clId="{02494E6E-0340-47F7-B897-6DA0D2D16AC8}" dt="2026-08-20T08:41:01.663" v="64" actId="1035"/>
        <pc:sldMkLst>
          <pc:docMk/>
          <pc:sldMk cId="1502171489" sldId="281"/>
        </pc:sldMkLst>
        <pc:spChg chg="mod">
          <ac:chgData name="수빈 박" userId="ce32221d53103a11" providerId="LiveId" clId="{02494E6E-0340-47F7-B897-6DA0D2D16AC8}" dt="2026-08-20T08:41:01.663" v="64" actId="1035"/>
          <ac:spMkLst>
            <pc:docMk/>
            <pc:sldMk cId="1502171489" sldId="281"/>
            <ac:spMk id="41" creationId="{5E4ADE47-B193-413F-ADB0-D994C66143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: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검색이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저장한</a:t>
            </a:r>
            <a:r>
              <a:rPr dirty="0"/>
              <a:t> </a:t>
            </a:r>
            <a:r>
              <a:rPr dirty="0" err="1"/>
              <a:t>관심매물이고</a:t>
            </a:r>
            <a:r>
              <a:rPr dirty="0"/>
              <a:t>,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1개가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둘이</a:t>
            </a:r>
            <a:r>
              <a:rPr dirty="0"/>
              <a:t> </a:t>
            </a:r>
            <a:r>
              <a:rPr dirty="0" err="1"/>
              <a:t>정한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2개다.</a:t>
            </a:r>
          </a:p>
          <a:p>
            <a:r>
              <a:rPr dirty="0" err="1"/>
              <a:t>과장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: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집을</a:t>
            </a:r>
            <a:r>
              <a:rPr dirty="0"/>
              <a:t> </a:t>
            </a:r>
            <a:r>
              <a:rPr dirty="0" err="1"/>
              <a:t>고른다거나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단축한다고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Handoff ZIP: docs/11-decision-status.md</a:t>
            </a:r>
          </a:p>
          <a:p>
            <a:r>
              <a:rPr dirty="0"/>
              <a:t>Local artifact: value-proposition_20260820.md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뒤의 28장이 이 다섯 문장의 근거와 한계를 차례로 해명한다.</a:t>
            </a:r>
          </a:p>
          <a:p>
            <a:r>
              <a:t>과장 금지: 시장성과 제품 효과가 이미 검증됐다고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주거 형태 무관은 제품 정의, 전·월세 2인은 초기 시장 범위다.</a:t>
            </a:r>
          </a:p>
          <a:p>
            <a:r>
              <a:t>과장 금지: 전체 부동산 거래 시장을 TAM으로 보거나 계약·대출까지 통합한다고 확장하지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경쟁자는 부동산 앱만이 아니라 이미 쓰는 카톡 공유 + 지도 확인 + 메모 비교다.</a:t>
            </a:r>
          </a:p>
          <a:p>
            <a:r>
              <a:t>과장 금지: 카톡보다 빠르다거나 반응 속도를 실측 결과처럼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docs/04-benchmarks.md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SAM은 전체 공동 주거 시장이 아니라 공개 통계로 계산 가능한 하한이며 SOM은 시나리오다.</a:t>
            </a:r>
          </a:p>
          <a:p>
            <a:r>
              <a:t>과장 금지: 54.6만 쌍이 실제 고객이거나 최소 20만 명을 확보할 수 있다고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docs/03-evidence-log.md F13~F17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기회는 네이버의 강점인 저장과 문의 사이에서 공동 비교·결정이 빠지는 구간이다.</a:t>
            </a:r>
          </a:p>
          <a:p>
            <a:r>
              <a:t>과장 금지: 관심매물 방치 비중이나 외부 도구 사용률을 확정 사실로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docs/07-cjm-opportunity-score.md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데이터가 충분해도 B가 들어오지 않으면 공동 의사결정 기능은 성립하지 않는다.</a:t>
            </a:r>
          </a:p>
          <a:p>
            <a:r>
              <a:t>과장 금지: 네이버이기 때문에 초대 수락률이 높을 것이라고 가정하지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예비부부·신혼부부는 제품 전체 정의가 아니라 가설을 선명하게 볼 첫 검증 집단이다.</a:t>
            </a:r>
          </a:p>
          <a:p>
            <a:r>
              <a:t>과장 금지: 주 고객이 신혼부부로 확정됐거나 룸메이트가 확장 시장이라고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 I12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비대칭은 진입 경로와 기기에만 있고 결정 권한에는 없어야 한다.</a:t>
            </a:r>
          </a:p>
          <a:p>
            <a:r>
              <a:t>과장 금지: 자료에 없는 나이·직업·소득을 인터뷰 페르소나처럼 만들지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핵심 Job은 매물을 더 모으는 것이 아니라 각 후보의 대가를 이해하고 방문 후보를 정하는 것이다.</a:t>
            </a:r>
          </a:p>
          <a:p>
            <a:r>
              <a:t>과장 금지: 모든 커플이 동일 여정을 겪거나 이 기능이 관계 갈등을 줄인다고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정성적으로 상대 우선순위는 세울 수 있지만 Opportunity Score 숫자는 지어내지 않는다.</a:t>
            </a:r>
          </a:p>
          <a:p>
            <a:r>
              <a:t>과장 금지: 의견 교환이 가장 불만족한 단계로 검증됐거나 OS가 특정 점수라고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Handoff ZIP: docs/01-team-brief.md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이 페이지는 문제를 약하게 만드는 것이 아니라 정확히 무엇을 검증해야 하는지 좁힌다.</a:t>
            </a:r>
          </a:p>
          <a:p>
            <a:r>
              <a:t>과장 금지: 77%를 결정 지연 비율로 바꾸거나 국내 전·월세에 그대로 일반화하지 않는다.</a:t>
            </a:r>
          </a:p>
          <a:p>
            <a:r>
              <a:t>[Sources]</a:t>
            </a:r>
          </a:p>
          <a:p>
            <a:r>
              <a:t>Handoff ZIP: docs/03-evidence-log.md F1</a:t>
            </a:r>
          </a:p>
          <a:p>
            <a:r>
              <a:t>Handoff ZIP: docs/03-evidence-log.md F26</a:t>
            </a:r>
          </a:p>
          <a:p>
            <a:r>
              <a:t>Handoff ZIP: docs/02-hypotheses.md H2-b-2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공유 폴더만 만들면 정보의 문제만 해결한다. 차별점은 사람 간 조건 차이를 합산 없이 드러내는 것이다.</a:t>
            </a:r>
          </a:p>
          <a:p>
            <a:r>
              <a:t>과장 금지: 조건 차이가 결정 지연의 원인으로 입증됐다고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Local artifact: prd_v0.1_20260820_with_AC.md §6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TwoKeys는 가장 가까운 선행 사례지만 선행 서비스의 존재가 우리 수요 증거는 아니다.</a:t>
            </a:r>
          </a:p>
          <a:p>
            <a:r>
              <a:t>과장 금지: TwoKeys 성공·세계 최초·국내 앱 전부 1인용이라고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docs/03-evidence-log.md F2</a:t>
            </a:r>
          </a:p>
          <a:p>
            <a:r>
              <a:t>Handoff ZIP: docs/03-evidence-log.md F27~F28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사례 나열이 아니라 초대·입력·비교·수렴의 작동 메커니즘을 분해한다.</a:t>
            </a:r>
          </a:p>
          <a:p>
            <a:r>
              <a:t>과장 금지: 결혼준비 앱에서 초대가 검증됐으니 우리도 작동한다고 결론 내리지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docs/02-hypotheses.md</a:t>
            </a:r>
          </a:p>
          <a:p>
            <a:r>
              <a:t>Handoff ZIP: docs/03-evidence-log.md F3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IPDAS는 제품 효과의 직접 근거가 아니라 균형 제시 설계의 참조 근거다.</a:t>
            </a:r>
          </a:p>
          <a:p>
            <a:r>
              <a:t>과장 금지: 의료에서의 균형 인식 수치를 주거 제품 효과로 그대로 전이하지 않는다.</a:t>
            </a:r>
          </a:p>
          <a:p>
            <a:r>
              <a:t>[Sources]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유지할 것은 낮은 참여 마찰과 균형 비교이며, 단일 최적해 구조는 두 사람의 선택으로 변형한다.</a:t>
            </a:r>
          </a:p>
          <a:p>
            <a:r>
              <a:t>과장 금지: 선행 사례가 있으므로 구현·사용성 리스크가 없다고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docs/05-tradeoff-patterns.md</a:t>
            </a:r>
          </a:p>
          <a:p>
            <a:r>
              <a:t>Handoff ZIP: decisions/0001-no-total-score.md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총점을 안 쓰는 것은 계산 능력이 부족해서가 아니라 제품의 질문이 최고가 아니라 납득이기 때문이다.</a:t>
            </a:r>
          </a:p>
          <a:p>
            <a:r>
              <a:t>과장 금지: 총점 방식이 항상 잘못됐거나 분할이 더 공정하다고 검증됐다고 말하지 않는다.</a:t>
            </a:r>
          </a:p>
          <a:p>
            <a:r>
              <a:t>[Sources]</a:t>
            </a:r>
          </a:p>
          <a:p>
            <a:r>
              <a:t>Handoff ZIP: decisions/0001-no-total-score.md</a:t>
            </a:r>
          </a:p>
          <a:p>
            <a:r>
              <a:t>Handoff ZIP: decisions/0004-agreement-by-split.md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동사는 추천한다가 아니라 확인하고 함께 결정하도록 돕는다다.</a:t>
            </a:r>
          </a:p>
          <a:p>
            <a:r>
              <a:t>과장 금지: 확정 VP에 더 빠르게·갈등 없이·최적이라는 미검증 효과를 추가하지 않는다.</a:t>
            </a:r>
          </a:p>
          <a:p>
            <a:r>
              <a:t>[Sources]</a:t>
            </a:r>
          </a:p>
          <a:p>
            <a:r>
              <a:t>Local artifact: value-proposition_20260820.md</a:t>
            </a:r>
          </a:p>
          <a:p>
            <a:r>
              <a:t>Local artifact: prd_v0.1_20260820_with_AC.md §7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조건 완화는 후보를 새로 추천하지 않고 현재 후보의 판정 변화를 미리 보는 기능이다.</a:t>
            </a:r>
          </a:p>
          <a:p>
            <a:r>
              <a:t>과장 금지: 두 라운드면 반드시 합의되거나 출근지가 모든 사용자에게 필수라고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docs/08-screen-design.md</a:t>
            </a:r>
          </a:p>
          <a:p>
            <a:r>
              <a:t>Handoff ZIP: decisions/0003-conditions-belong-to-people.md</a:t>
            </a:r>
          </a:p>
          <a:p>
            <a:r>
              <a:t>Handoff ZIP: decisions/0004-agreement-by-split.md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A와 B의 입력 순서는 같고, B는 입력 전에 후보와 초대 맥락을 먼저 본다.</a:t>
            </a:r>
          </a:p>
          <a:p>
            <a:r>
              <a:t>과장 금지: B가 비로그인으로 모든 기능을 쓸 수 있다고 확정하지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docs/10-data-integration.md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화면의 Hero는 누가 무엇을 얼마나 감수하는지 읽히는 문장이다.</a:t>
            </a:r>
          </a:p>
          <a:p>
            <a:r>
              <a:t>과장 금지: A-13b-2를 완성 화면처럼 제시하거나 사진을 핵심 판정 근거로 강조하지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docs/05-tradeoff-patterns.md</a:t>
            </a:r>
          </a:p>
          <a:p>
            <a:r>
              <a:t>Local artifact: prd_v0.1_20260820_with_AC.md §17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출근 안 함은 입력 누락·계산 실패가 아니라 정상 경로이며 비교표에서 통근 행을 뺀다.</a:t>
            </a:r>
          </a:p>
          <a:p>
            <a:r>
              <a:t>과장 금지: 확인 필요와 방문 후 체크리스트를 같은 상태로 설명하지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docs/09-edge-cases.md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별도 앱에서 링크를 파싱하거나 매물 DB를 만드는 안이 아니라 네이버 내부 기능이라는 전제다.</a:t>
            </a:r>
          </a:p>
          <a:p>
            <a:r>
              <a:t>과장 금지: 내부 API가 모두 있고 비용 계산이 실제 상환액을 정확히 예측한다고 말하지 않는다.</a:t>
            </a:r>
          </a:p>
          <a:p>
            <a:r>
              <a:t>[Sources]</a:t>
            </a:r>
          </a:p>
          <a:p>
            <a:r>
              <a:t>Handoff ZIP: docs/10-data-integration.md</a:t>
            </a:r>
          </a:p>
          <a:p>
            <a:r>
              <a:t>Handoff ZIP: docs/06-cost-model.md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단계 1은 핵심 가치와 급소 가설을 검증하고 단계 2는 방문 이후 기록까지 여정을 완성한다.</a:t>
            </a:r>
          </a:p>
          <a:p>
            <a:r>
              <a:t>과장 금지: 계약·대출까지 해결하거나 AI가 정답을 고른다고 범위를 확장하지 않는다.</a:t>
            </a:r>
          </a:p>
          <a:p>
            <a:r>
              <a:t>[Sources]</a:t>
            </a:r>
          </a:p>
          <a:p>
            <a:r>
              <a:t>Local artifact: prd_v0.1_20260820_with_AC.md §8</a:t>
            </a:r>
          </a:p>
          <a:p>
            <a:r>
              <a:t>Local artifact: prd_v0.1_20260820_with_AC.md §21~§22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FR은 화면 목록이 아니라 사용자 선택권을 보존하는 하나의 시나리오로 읽혀야 한다.</a:t>
            </a:r>
          </a:p>
          <a:p>
            <a:r>
              <a:t>과장 금지: AI가 공정한 타협안을 제안하거나 상대 조건을 자동 적용한다고 말하지 않는다.</a:t>
            </a:r>
          </a:p>
          <a:p>
            <a:r>
              <a:t>[Sources]</a:t>
            </a:r>
          </a:p>
          <a:p>
            <a:r>
              <a:t>Local artifact: prd_v0.1_20260820_with_AC.md §16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AC는 기능·정합성 최소 완료 조건이며 특히 입력 분기·총점 금지·분할·오류 구분을 추적한다.</a:t>
            </a:r>
          </a:p>
          <a:p>
            <a:r>
              <a:t>과장 금지: AC가 사용자 만족·갈등 감소·사업 성과를 보장한다고 말하지 않는다.</a:t>
            </a:r>
          </a:p>
          <a:p>
            <a:r>
              <a:t>[Sources]</a:t>
            </a:r>
          </a:p>
          <a:p>
            <a:r>
              <a:t>Local artifact: prd_v0.1_20260820_with_AC.md</a:t>
            </a:r>
          </a:p>
          <a:p>
            <a:r>
              <a:t>Local artifact: prd_v0.1_20260820_with_AC.md Acceptance Criteria Summary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H1과 H2-b-2가 무너지면 기능 개선보다 2인 전제나 Problem Statement를 재검토한다.</a:t>
            </a:r>
          </a:p>
          <a:p>
            <a:r>
              <a:t>과장 금지: 근거 없는 전환율 목표를 만들거나 North Star를 결정시간 단축률로 바꾸지 않는다.</a:t>
            </a:r>
          </a:p>
          <a:p>
            <a:r>
              <a:t>[Sources]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Local artifact: prd_v0.1_20260820_with_AC.md §23~§24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가장 먼저 줄여야 할 위험은 화면 완성도가 아니라 B 참여와 문제 인과다.</a:t>
            </a:r>
          </a:p>
          <a:p>
            <a:r>
              <a:t>과장 금지: 위험이 설계로 모두 해결됐거나 내부 API가 가능하다고 가정하지 않는다.</a:t>
            </a:r>
          </a:p>
          <a:p>
            <a:r>
              <a:t>[Sources]</a:t>
            </a:r>
          </a:p>
          <a:p>
            <a:r>
              <a:t>Local artifact: prd_v0.1_20260820_with_AC.md §25~§26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성과는 제품 성공 선언이 아니라 어디까지 만들 가치가 있는지 판정할 다음 실험이 명확해진 것이다.</a:t>
            </a:r>
          </a:p>
          <a:p>
            <a:r>
              <a:t>과장 금지: 시장 검증 완료·MVP 개발 확정·H2-b-2 정성 확인 완료라고 말하지 않는다.</a:t>
            </a:r>
          </a:p>
          <a:p>
            <a:r>
              <a:t>[Sources]</a:t>
            </a:r>
          </a:p>
          <a:p>
            <a:r>
              <a:t>Handoff ZIP: _00_READ_FIRST.md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ns2:creationId id="{83F6A77D-296A-4A64-82BA-F6CCBAB5F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ns2:creationId id="{E739E4D9-51E7-4CFB-A575-1D0F957C8A0B}"/>
              </a:ext>
            </a:extLst>
          </p:cNvPr>
          <p:cNvSpPr>
            <a:spLocks noGrp="1"/>
          </p:cNvSpPr>
          <p:nvPr/>
        </p:nvSpPr>
        <p:spPr>
          <a:xfrm>
            <a:off x="704850" y="4953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네이버 부동산 신규 기능 제안</a:t>
            </a:r>
          </a:p>
        </p:txBody>
      </p:sp>
      <p:sp>
        <p:nvSpPr>
          <p:cNvPr id="3" name="직사각형 2">
            <a:extLst>
              <a:ext uri="{FF2B5EF4-FFF2-40B4-BE49-F238E27FC236}">
                <ns2:creationId id="{28541FE7-2FAF-4FC2-AE33-32115BB3F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6810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매물</a:t>
            </a:r>
          </a:p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‘같이 보기’ 서비스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0E96319C-0F9F-4D1B-91C2-1F2293723A4C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관심매물 이후, 둘이 납득하는 결정까지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D3AA8F5-44C3-4F1C-ABCE-5042EC7262FD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각자의 조건과 양보 지점을 보고, 함께 보러 갈 집을 정합니다.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B5C81A5-C6D4-4E6C-AE7F-EDDF4A578AF9}"/>
              </a:ext>
            </a:extLst>
          </p:cNvPr>
          <p:cNvSpPr>
            <a:spLocks noGrp="1"/>
          </p:cNvSpPr>
          <p:nvPr/>
        </p:nvSpPr>
        <p:spPr>
          <a:xfrm>
            <a:off x="7667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2809EFB6-55A2-4CC3-8EC0-6131EA3C9B9A}"/>
              </a:ext>
            </a:extLst>
          </p:cNvPr>
          <p:cNvSpPr>
            <a:spLocks noGrp="1"/>
          </p:cNvSpPr>
          <p:nvPr/>
        </p:nvSpPr>
        <p:spPr>
          <a:xfrm>
            <a:off x="7743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206791F5-501B-4CDF-B989-7A52F82BEACF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ns2:creationId id="{25C5E4A2-6572-4815-A146-846993F87A5A}"/>
              </a:ext>
            </a:extLst>
          </p:cNvPr>
          <p:cNvSpPr>
            <a:spLocks noGrp="1"/>
          </p:cNvSpPr>
          <p:nvPr/>
        </p:nvSpPr>
        <p:spPr>
          <a:xfrm>
            <a:off x="7753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BD388B03-60D9-43CA-A8CA-9C5EA0BC4B49}"/>
              </a:ext>
            </a:extLst>
          </p:cNvPr>
          <p:cNvSpPr>
            <a:spLocks noGrp="1"/>
          </p:cNvSpPr>
          <p:nvPr/>
        </p:nvSpPr>
        <p:spPr>
          <a:xfrm>
            <a:off x="83343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9C175D35-6DEE-4B94-8C9A-9583FB1B2863}"/>
              </a:ext>
            </a:extLst>
          </p:cNvPr>
          <p:cNvSpPr>
            <a:spLocks noGrp="1"/>
          </p:cNvSpPr>
          <p:nvPr/>
        </p:nvSpPr>
        <p:spPr>
          <a:xfrm>
            <a:off x="84105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선 연결선 11">
            <a:extLst>
              <a:ext uri="{FF2B5EF4-FFF2-40B4-BE49-F238E27FC236}">
                <ns2:creationId id="{C1726EB4-B6FF-471C-98E0-B38BAA35AC0E}"/>
              </a:ext>
            </a:extLst>
          </p:cNvPr>
          <p:cNvSpPr>
            <a:spLocks noGrp="1"/>
          </p:cNvSpPr>
          <p:nvPr/>
        </p:nvSpPr>
        <p:spPr>
          <a:xfrm>
            <a:off x="84201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선 연결선 12">
            <a:extLst>
              <a:ext uri="{FF2B5EF4-FFF2-40B4-BE49-F238E27FC236}">
                <ns2:creationId id="{159F331D-634B-435F-8E22-510B47CD8FAA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ns2:creationId id="{5A377A34-BD35-4966-B03E-34F6906119FA}"/>
              </a:ext>
            </a:extLst>
          </p:cNvPr>
          <p:cNvSpPr>
            <a:spLocks noGrp="1"/>
          </p:cNvSpPr>
          <p:nvPr/>
        </p:nvSpPr>
        <p:spPr>
          <a:xfrm>
            <a:off x="90011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A3485D58-E804-47C3-AC5C-32F3FC8AD263}"/>
              </a:ext>
            </a:extLst>
          </p:cNvPr>
          <p:cNvSpPr>
            <a:spLocks noGrp="1"/>
          </p:cNvSpPr>
          <p:nvPr/>
        </p:nvSpPr>
        <p:spPr>
          <a:xfrm>
            <a:off x="90773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선 연결선 15">
            <a:extLst>
              <a:ext uri="{FF2B5EF4-FFF2-40B4-BE49-F238E27FC236}">
                <ns2:creationId id="{014BED4A-5A1E-4319-AEE6-9C46C4F5D2F2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ns2:creationId id="{DBB2B551-D794-4AFA-8F40-5C01ACFF9E95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4B6D71C7-F2DF-41F4-AE3F-6433B25E8E4A}"/>
              </a:ext>
            </a:extLst>
          </p:cNvPr>
          <p:cNvSpPr>
            <a:spLocks noGrp="1"/>
          </p:cNvSpPr>
          <p:nvPr/>
        </p:nvSpPr>
        <p:spPr>
          <a:xfrm>
            <a:off x="96678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050B5DA6-EA89-4999-8F38-28090CD81C6B}"/>
              </a:ext>
            </a:extLst>
          </p:cNvPr>
          <p:cNvSpPr>
            <a:spLocks noGrp="1"/>
          </p:cNvSpPr>
          <p:nvPr/>
        </p:nvSpPr>
        <p:spPr>
          <a:xfrm>
            <a:off x="97440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ns2:creationId id="{F867A908-BDD2-43CD-8FDC-56EB100BBE69}"/>
              </a:ext>
            </a:extLst>
          </p:cNvPr>
          <p:cNvSpPr>
            <a:spLocks noGrp="1"/>
          </p:cNvSpPr>
          <p:nvPr/>
        </p:nvSpPr>
        <p:spPr>
          <a:xfrm>
            <a:off x="97536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선 연결선 20">
            <a:extLst>
              <a:ext uri="{FF2B5EF4-FFF2-40B4-BE49-F238E27FC236}">
                <ns2:creationId id="{2FC604CD-3D02-406F-8CFF-397EF56C9CEF}"/>
              </a:ext>
            </a:extLst>
          </p:cNvPr>
          <p:cNvSpPr>
            <a:spLocks noGrp="1"/>
          </p:cNvSpPr>
          <p:nvPr/>
        </p:nvSpPr>
        <p:spPr>
          <a:xfrm>
            <a:off x="97536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7F0623F2-3493-4590-8F34-12A81869D2E7}"/>
              </a:ext>
            </a:extLst>
          </p:cNvPr>
          <p:cNvSpPr>
            <a:spLocks noGrp="1"/>
          </p:cNvSpPr>
          <p:nvPr/>
        </p:nvSpPr>
        <p:spPr>
          <a:xfrm>
            <a:off x="10334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B0488852-4AEB-45A8-AA4D-FE8DE92ACAC8}"/>
              </a:ext>
            </a:extLst>
          </p:cNvPr>
          <p:cNvSpPr>
            <a:spLocks noGrp="1"/>
          </p:cNvSpPr>
          <p:nvPr/>
        </p:nvSpPr>
        <p:spPr>
          <a:xfrm>
            <a:off x="10410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선 연결선 23">
            <a:extLst>
              <a:ext uri="{FF2B5EF4-FFF2-40B4-BE49-F238E27FC236}">
                <ns2:creationId id="{9F7E2790-628A-4A8C-A791-1AF5FF44450A}"/>
              </a:ext>
            </a:extLst>
          </p:cNvPr>
          <p:cNvSpPr>
            <a:spLocks noGrp="1"/>
          </p:cNvSpPr>
          <p:nvPr/>
        </p:nvSpPr>
        <p:spPr>
          <a:xfrm>
            <a:off x="10420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선 연결선 24">
            <a:extLst>
              <a:ext uri="{FF2B5EF4-FFF2-40B4-BE49-F238E27FC236}">
                <ns2:creationId id="{D3B6100B-DB99-4857-BA86-2165BBBAB171}"/>
              </a:ext>
            </a:extLst>
          </p:cNvPr>
          <p:cNvSpPr>
            <a:spLocks noGrp="1"/>
          </p:cNvSpPr>
          <p:nvPr/>
        </p:nvSpPr>
        <p:spPr>
          <a:xfrm>
            <a:off x="10420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화살표: 오른쪽 25">
            <a:extLst>
              <a:ext uri="{FF2B5EF4-FFF2-40B4-BE49-F238E27FC236}">
                <ns2:creationId id="{A7FD7666-DB52-464F-82D1-75609D24A3D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76DF76A8-A6B2-4A58-8A5A-42A12C31D593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2476500" cy="16764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사각형: 둥근 모서리 27">
            <a:extLst>
              <a:ext uri="{FF2B5EF4-FFF2-40B4-BE49-F238E27FC236}">
                <ns2:creationId id="{18882AFD-17A0-4F6B-BB96-EB6BAA7B566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00125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8262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E13924A0-9BC6-408C-B068-9683BB6B995E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FC51C4AD-8E4C-46E2-A289-22F5D45EE88F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86603C41-8ECC-4636-8FFD-B32678250269}"/>
              </a:ext>
            </a:extLst>
          </p:cNvPr>
          <p:cNvSpPr>
            <a:spLocks noGrp="1"/>
          </p:cNvSpPr>
          <p:nvPr/>
        </p:nvSpPr>
        <p:spPr>
          <a:xfrm>
            <a:off x="8334375" y="36957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A88D3FA9-29F8-4D0D-8BAB-83A2B8A7DEB8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33" name="직선 연결선 32">
            <a:extLst>
              <a:ext uri="{FF2B5EF4-FFF2-40B4-BE49-F238E27FC236}">
                <ns2:creationId id="{5C5139DB-BE76-45E1-8D71-2881D161FF2D}"/>
              </a:ext>
            </a:extLst>
          </p:cNvPr>
          <p:cNvSpPr>
            <a:spLocks noGrp="1"/>
          </p:cNvSpPr>
          <p:nvPr/>
        </p:nvSpPr>
        <p:spPr>
          <a:xfrm>
            <a:off x="8324850" y="4076700"/>
            <a:ext cx="2000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DF803D5D-4460-4A7E-8F74-98A75B8974BB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총점 없이 대가를 설명</a:t>
            </a:r>
          </a:p>
        </p:txBody>
      </p:sp>
      <p:sp>
        <p:nvSpPr>
          <p:cNvPr id="35" name="화살표: 오른쪽 34">
            <a:extLst>
              <a:ext uri="{FF2B5EF4-FFF2-40B4-BE49-F238E27FC236}">
                <ns2:creationId id="{DD401108-3D08-4F17-A8D2-5BDB6FF6617C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FFB23C1E-D159-4050-8CAB-87E6FE7DA13C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보러 갈 집 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8250F9AF-A051-4452-9074-0C361888A13E}"/>
              </a:ext>
            </a:extLst>
          </p:cNvPr>
          <p:cNvSpPr>
            <a:spLocks noGrp="1"/>
          </p:cNvSpPr>
          <p:nvPr/>
        </p:nvSpPr>
        <p:spPr>
          <a:xfrm>
            <a:off x="947737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보러 갈 집 2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666962A7-2A93-4791-86BB-E8C4BDB43CEF}"/>
              </a:ext>
            </a:extLst>
          </p:cNvPr>
          <p:cNvSpPr>
            <a:spLocks noGrp="1"/>
          </p:cNvSpPr>
          <p:nvPr/>
        </p:nvSpPr>
        <p:spPr>
          <a:xfrm>
            <a:off x="742950" y="61912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2026년 8월 · 4조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83429A3B-25DE-4CCB-8039-FE21BA4BA016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ns3:creationId val="625008486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ns2:creationId id="{0493CD62-5F46-4ECB-8E95-CECD1805C2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Executive Summary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0AD42D8-9B01-4E21-87B0-D1CA2A9DCCB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마음에 든 집을 저장한 다음, 둘이 정하는 구간을 맡습니다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B1EC0ED-D528-4477-84E4-ECE99BF04A4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390000"/>
            <a:ext cx="9858375" cy="4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핵심 지표 — 한 명이 상대를 초대한 것 중, 7일 안에 보러 갈 집 2개가 정해진 비율 (목표값은 처음 재본 뒤에 정합니다)</a:t>
            </a:r>
          </a:p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확인 = 공개 자료로 검증됨   ·   추론 = 팀의 해석, 아직 안 재봄   ·   가설 = 이번에 검증할 것   ·   미정 = 아직 안 정함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B2950A92-9BC2-45E1-8C65-BB10EB8D331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D3268CC6-8D4B-4785-ADAB-A1B6E03DD1B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A2803BAD-E41D-4A12-9B36-D40D592F5ECE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523EDD1E-B28E-4A42-9B6E-32FC43300B8F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</a:t>
            </a:r>
            <a:endParaRPr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F3DABB1F-CFD0-48B1-AA7F-D0A30B409451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매물 링크 공유가 진짜 경쟁자</a:t>
            </a:r>
          </a:p>
        </p:txBody>
      </p:sp>
      <p:sp>
        <p:nvSpPr>
          <p:cNvPr id="10" name="직선 연결선 9">
            <a:extLst>
              <a:ext uri="{FF2B5EF4-FFF2-40B4-BE49-F238E27FC236}">
                <ns2:creationId id="{14B3E253-76B8-4878-8900-B25A41FF7558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687A1420-5537-4405-9832-753859A38C41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기존 탐색 위에 붙습니다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ns2:creationId id="{238D50DC-F7D4-413E-88B4-1B79A0BB026C}"/>
              </a:ext>
            </a:extLst>
          </p:cNvPr>
          <p:cNvSpPr>
            <a:spLocks noGrp="1"/>
          </p:cNvSpPr>
          <p:nvPr/>
        </p:nvSpPr>
        <p:spPr>
          <a:xfrm>
            <a:off x="26384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675421B6-CBF4-443F-B123-8FFEC1D8670D}"/>
              </a:ext>
            </a:extLst>
          </p:cNvPr>
          <p:cNvSpPr>
            <a:spLocks noGrp="1"/>
          </p:cNvSpPr>
          <p:nvPr/>
        </p:nvSpPr>
        <p:spPr>
          <a:xfrm>
            <a:off x="28765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771E60E5-2575-46FC-BDCE-B3E948DBE6FF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CF311851-786A-4FB7-AEF0-580DD1BCF6B1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05E7583F-D1EB-4AB3-A79D-CA4200EAD7B0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고르는 2인</a:t>
            </a:r>
          </a:p>
        </p:txBody>
      </p:sp>
      <p:sp>
        <p:nvSpPr>
          <p:cNvPr id="17" name="직선 연결선 16">
            <a:extLst>
              <a:ext uri="{FF2B5EF4-FFF2-40B4-BE49-F238E27FC236}">
                <ns2:creationId id="{F7236D7C-35D5-4192-9955-3C0183963BDF}"/>
              </a:ext>
            </a:extLst>
          </p:cNvPr>
          <p:cNvSpPr>
            <a:spLocks noGrp="1"/>
          </p:cNvSpPr>
          <p:nvPr/>
        </p:nvSpPr>
        <p:spPr>
          <a:xfrm>
            <a:off x="30480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0A8CF824-72A0-418D-A063-40DEA214CAEF}"/>
              </a:ext>
            </a:extLst>
          </p:cNvPr>
          <p:cNvSpPr>
            <a:spLocks noGrp="1"/>
          </p:cNvSpPr>
          <p:nvPr/>
        </p:nvSpPr>
        <p:spPr>
          <a:xfrm>
            <a:off x="30480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조건과 우선순위가 다릅니다</a:t>
            </a:r>
          </a:p>
        </p:txBody>
      </p:sp>
      <p:sp>
        <p:nvSpPr>
          <p:cNvPr id="19" name="화살표: 오른쪽 18">
            <a:extLst>
              <a:ext uri="{FF2B5EF4-FFF2-40B4-BE49-F238E27FC236}">
                <ns2:creationId id="{8642B453-BED8-4FE6-8FEB-5D105FDDDD5D}"/>
              </a:ext>
            </a:extLst>
          </p:cNvPr>
          <p:cNvSpPr>
            <a:spLocks noGrp="1"/>
          </p:cNvSpPr>
          <p:nvPr/>
        </p:nvSpPr>
        <p:spPr>
          <a:xfrm>
            <a:off x="48291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7E2E45B1-C07C-435F-8B5F-3956C1965F3E}"/>
              </a:ext>
            </a:extLst>
          </p:cNvPr>
          <p:cNvSpPr>
            <a:spLocks noGrp="1"/>
          </p:cNvSpPr>
          <p:nvPr/>
        </p:nvSpPr>
        <p:spPr>
          <a:xfrm>
            <a:off x="50673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F458FA34-EAC4-4FD9-8177-73458D08003A}"/>
              </a:ext>
            </a:extLst>
          </p:cNvPr>
          <p:cNvSpPr>
            <a:spLocks noGrp="1"/>
          </p:cNvSpPr>
          <p:nvPr/>
        </p:nvSpPr>
        <p:spPr>
          <a:xfrm>
            <a:off x="52387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67060D50-D49A-45A8-A80D-757CE17E77BC}"/>
              </a:ext>
            </a:extLst>
          </p:cNvPr>
          <p:cNvSpPr>
            <a:spLocks noGrp="1"/>
          </p:cNvSpPr>
          <p:nvPr/>
        </p:nvSpPr>
        <p:spPr>
          <a:xfrm>
            <a:off x="52387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7C08AFDA-4FCA-40D3-837D-31712CDB51AF}"/>
              </a:ext>
            </a:extLst>
          </p:cNvPr>
          <p:cNvSpPr>
            <a:spLocks noGrp="1"/>
          </p:cNvSpPr>
          <p:nvPr/>
        </p:nvSpPr>
        <p:spPr>
          <a:xfrm>
            <a:off x="52387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충돌 확인 · 원인은 아직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888BDFDA-5CD4-4259-B202-BDA33CBCC6E9}"/>
              </a:ext>
            </a:extLst>
          </p:cNvPr>
          <p:cNvSpPr>
            <a:spLocks noGrp="1"/>
          </p:cNvSpPr>
          <p:nvPr/>
        </p:nvSpPr>
        <p:spPr>
          <a:xfrm>
            <a:off x="52387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0E6C80DE-E0ED-4A5A-9B72-F9283E44BFC5}"/>
              </a:ext>
            </a:extLst>
          </p:cNvPr>
          <p:cNvSpPr>
            <a:spLocks noGrp="1"/>
          </p:cNvSpPr>
          <p:nvPr/>
        </p:nvSpPr>
        <p:spPr>
          <a:xfrm>
            <a:off x="52387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원인 검증이 가장 중요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96F485E6-A1AB-4D5E-AB68-2C562CB9AE7B}"/>
              </a:ext>
            </a:extLst>
          </p:cNvPr>
          <p:cNvSpPr>
            <a:spLocks noGrp="1"/>
          </p:cNvSpPr>
          <p:nvPr/>
        </p:nvSpPr>
        <p:spPr>
          <a:xfrm>
            <a:off x="70199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3C857B7C-DDA4-4E49-8EAD-ABCD3D83AB86}"/>
              </a:ext>
            </a:extLst>
          </p:cNvPr>
          <p:cNvSpPr>
            <a:spLocks noGrp="1"/>
          </p:cNvSpPr>
          <p:nvPr/>
        </p:nvSpPr>
        <p:spPr>
          <a:xfrm>
            <a:off x="72580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5DE79971-5D67-49A5-B6CB-38D56AEF1E92}"/>
              </a:ext>
            </a:extLst>
          </p:cNvPr>
          <p:cNvSpPr>
            <a:spLocks noGrp="1"/>
          </p:cNvSpPr>
          <p:nvPr/>
        </p:nvSpPr>
        <p:spPr>
          <a:xfrm>
            <a:off x="74295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2158198B-C6A0-4D97-9BF4-C396ADBECF2E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해결 방식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5CD4509B-43BA-4143-A2E3-BDA447E246DB}"/>
              </a:ext>
            </a:extLst>
          </p:cNvPr>
          <p:cNvSpPr>
            <a:spLocks noGrp="1"/>
          </p:cNvSpPr>
          <p:nvPr/>
        </p:nvSpPr>
        <p:spPr>
          <a:xfrm>
            <a:off x="74295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충족·미달·양보를 병렬 설명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85CA3743-4E26-42BE-AC43-80F663A456A9}"/>
              </a:ext>
            </a:extLst>
          </p:cNvPr>
          <p:cNvSpPr>
            <a:spLocks noGrp="1"/>
          </p:cNvSpPr>
          <p:nvPr/>
        </p:nvSpPr>
        <p:spPr>
          <a:xfrm>
            <a:off x="74295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588A67F4-B0C4-418F-9DD9-7001B01337C3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총점·자동 추천 없음</a:t>
            </a:r>
          </a:p>
        </p:txBody>
      </p:sp>
      <p:sp>
        <p:nvSpPr>
          <p:cNvPr id="33" name="화살표: 오른쪽 32">
            <a:extLst>
              <a:ext uri="{FF2B5EF4-FFF2-40B4-BE49-F238E27FC236}">
                <ns2:creationId id="{B42B96DD-4519-40E4-A6B4-BE16060DB651}"/>
              </a:ext>
            </a:extLst>
          </p:cNvPr>
          <p:cNvSpPr>
            <a:spLocks noGrp="1"/>
          </p:cNvSpPr>
          <p:nvPr/>
        </p:nvSpPr>
        <p:spPr>
          <a:xfrm>
            <a:off x="92106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ns2:creationId id="{E5B351D4-0C07-4606-9305-4A76C326EF65}"/>
              </a:ext>
            </a:extLst>
          </p:cNvPr>
          <p:cNvSpPr>
            <a:spLocks noGrp="1"/>
          </p:cNvSpPr>
          <p:nvPr/>
        </p:nvSpPr>
        <p:spPr>
          <a:xfrm>
            <a:off x="9448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ns2:creationId id="{9A4A65B3-794B-49C2-8DFC-7301B9F02096}"/>
              </a:ext>
            </a:extLst>
          </p:cNvPr>
          <p:cNvSpPr>
            <a:spLocks noGrp="1"/>
          </p:cNvSpPr>
          <p:nvPr/>
        </p:nvSpPr>
        <p:spPr>
          <a:xfrm>
            <a:off x="9620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34118C2F-A97A-47EF-AF56-DD8AAF9C0A8C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끝나는 지점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A9FD6B20-84F8-4FC0-9A77-04F74739EC19}"/>
              </a:ext>
            </a:extLst>
          </p:cNvPr>
          <p:cNvSpPr>
            <a:spLocks noGrp="1"/>
          </p:cNvSpPr>
          <p:nvPr/>
        </p:nvSpPr>
        <p:spPr>
          <a:xfrm>
            <a:off x="9620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저장한 집 5개 → 보러 갈 집 2개</a:t>
            </a:r>
          </a:p>
        </p:txBody>
      </p:sp>
      <p:sp>
        <p:nvSpPr>
          <p:cNvPr id="38" name="직선 연결선 37">
            <a:extLst>
              <a:ext uri="{FF2B5EF4-FFF2-40B4-BE49-F238E27FC236}">
                <ns2:creationId id="{EE56DC4D-CEE0-4BF6-88D4-580B6C76C252}"/>
              </a:ext>
            </a:extLst>
          </p:cNvPr>
          <p:cNvSpPr>
            <a:spLocks noGrp="1"/>
          </p:cNvSpPr>
          <p:nvPr/>
        </p:nvSpPr>
        <p:spPr>
          <a:xfrm>
            <a:off x="9620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D89EC17B-613E-4250-8D23-368E0446894A}"/>
              </a:ext>
            </a:extLst>
          </p:cNvPr>
          <p:cNvSpPr>
            <a:spLocks noGrp="1"/>
          </p:cNvSpPr>
          <p:nvPr/>
        </p:nvSpPr>
        <p:spPr>
          <a:xfrm>
            <a:off x="9620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둘이 직접 선택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B1DDF86D-AC65-4388-ACE1-956DB3C7D56A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820400" cy="1352550"/>
          </a:xfrm>
          <a:prstGeom prst="roundRect">
            <a:avLst>
              <a:gd name="adj" fmla="val 985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EB9F3724-7C27-42B3-B1D8-C7F204D5DD81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검증 순서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F2B244E5-2C24-44E2-8689-9F4F8BB35A45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초대받은 사람이 오는가</a:t>
            </a:r>
          </a:p>
        </p:txBody>
      </p:sp>
      <p:sp>
        <p:nvSpPr>
          <p:cNvPr id="43" name="화살표: 오른쪽 42">
            <a:extLst>
              <a:ext uri="{FF2B5EF4-FFF2-40B4-BE49-F238E27FC236}">
                <ns2:creationId id="{0D64C369-0626-4163-A388-FBFFCB692232}"/>
              </a:ext>
            </a:extLst>
          </p:cNvPr>
          <p:cNvSpPr>
            <a:spLocks noGrp="1"/>
          </p:cNvSpPr>
          <p:nvPr/>
        </p:nvSpPr>
        <p:spPr>
          <a:xfrm>
            <a:off x="3239023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ns2:creationId id="{550D0B72-C7D7-4D87-AD38-B7F680383EE3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원인이 조건 충돌인지 인터뷰</a:t>
            </a:r>
          </a:p>
        </p:txBody>
      </p:sp>
      <p:sp>
        <p:nvSpPr>
          <p:cNvPr id="45" name="화살표: 오른쪽 44">
            <a:extLst>
              <a:ext uri="{FF2B5EF4-FFF2-40B4-BE49-F238E27FC236}">
                <ns2:creationId id="{6332FB74-1E59-4AA0-828F-2EFDD8169133}"/>
              </a:ext>
            </a:extLst>
          </p:cNvPr>
          <p:cNvSpPr>
            <a:spLocks noGrp="1"/>
          </p:cNvSpPr>
          <p:nvPr/>
        </p:nvSpPr>
        <p:spPr>
          <a:xfrm>
            <a:off x="6686550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직사각형 45">
            <a:extLst>
              <a:ext uri="{FF2B5EF4-FFF2-40B4-BE49-F238E27FC236}">
                <ns2:creationId id="{37C2A830-443C-4FD7-A731-CDF23A1DEFC0}"/>
              </a:ext>
            </a:extLst>
          </p:cNvPr>
          <p:cNvSpPr>
            <a:spLocks noGrp="1"/>
          </p:cNvSpPr>
          <p:nvPr/>
        </p:nvSpPr>
        <p:spPr>
          <a:xfrm>
            <a:off x="752475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통과하면 프로토타입</a:t>
            </a:r>
            <a:endParaRPr sz="16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ns2:creationId id="{A7D7F945-494B-4A26-9A13-5C609DA19414}"/>
              </a:ext>
            </a:extLst>
          </p:cNvPr>
          <p:cNvSpPr>
            <a:spLocks noGrp="1"/>
          </p:cNvSpPr>
          <p:nvPr/>
        </p:nvSpPr>
        <p:spPr>
          <a:xfrm>
            <a:off x="9620250" y="4665158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ns2:creationId id="{0CE4458D-BBAF-4EBA-BA2A-334A9B328A71}"/>
              </a:ext>
            </a:extLst>
          </p:cNvPr>
          <p:cNvSpPr>
            <a:spLocks noGrp="1"/>
          </p:cNvSpPr>
          <p:nvPr/>
        </p:nvSpPr>
        <p:spPr>
          <a:xfrm>
            <a:off x="10353675" y="4665158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ns2:creationId id="{A02EE706-F59A-4180-BBFB-A4D74A885A65}"/>
              </a:ext>
            </a:extLst>
          </p:cNvPr>
          <p:cNvSpPr>
            <a:spLocks noGrp="1"/>
          </p:cNvSpPr>
          <p:nvPr/>
        </p:nvSpPr>
        <p:spPr>
          <a:xfrm>
            <a:off x="9620250" y="5008058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ns2:creationId id="{C5AAB9E2-7518-4D7A-BD57-7DD5A0D76B78}"/>
              </a:ext>
            </a:extLst>
          </p:cNvPr>
          <p:cNvSpPr>
            <a:spLocks noGrp="1"/>
          </p:cNvSpPr>
          <p:nvPr/>
        </p:nvSpPr>
        <p:spPr>
          <a:xfrm>
            <a:off x="10687050" y="5008058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</p:spTree>
    <p:extLst>
      <p:ext uri="{BB962C8B-B14F-4D97-AF65-F5344CB8AC3E}">
        <ns3:creationId val="1300967679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ns2:creationId id="{5181D76A-DD87-4540-ACC7-10867A786ED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7C62626-E1F0-4588-8540-F5E6B8E2CB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공유 · 비교 · 결정 — 세 칸이 저희 자리입니다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67FCA43A-78D0-4CDF-B16C-F86D10FDE6AA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BB520A8-10BA-4A71-89B0-CB0D22B052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F3E2739-0255-4C1C-B338-D426A599401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667250" cy="323850"/>
          </a:xfrm>
          <a:prstGeom prst="roundRect">
            <a:avLst>
              <a:gd name="adj" fmla="val 4117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대한민국 온라인 주거용 부동산 탐색 · 비교 · 결정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ns2:creationId id="{66E962C8-7BAD-4CBC-BEF6-B468A666D5A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3F400E31-328B-46B9-8689-D282D37C0C37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72AB38DE-06E9-4F7F-A464-9025B6B4CBB6}"/>
              </a:ext>
            </a:extLst>
          </p:cNvPr>
          <p:cNvSpPr>
            <a:spLocks noGrp="1"/>
          </p:cNvSpPr>
          <p:nvPr/>
        </p:nvSpPr>
        <p:spPr>
          <a:xfrm>
            <a:off x="3914775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EC8CBAA8-8B22-4101-BB04-9DD8834CF07D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9526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65161C8F-D3FA-4C91-887D-E9EA06F7012E}"/>
              </a:ext>
            </a:extLst>
          </p:cNvPr>
          <p:cNvSpPr>
            <a:spLocks noGrp="1"/>
          </p:cNvSpPr>
          <p:nvPr/>
        </p:nvSpPr>
        <p:spPr>
          <a:xfrm>
            <a:off x="75533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4C35C62C-578C-43D2-86B1-156A20810AD6}"/>
              </a:ext>
            </a:extLst>
          </p:cNvPr>
          <p:cNvSpPr>
            <a:spLocks noGrp="1"/>
          </p:cNvSpPr>
          <p:nvPr/>
        </p:nvSpPr>
        <p:spPr>
          <a:xfrm>
            <a:off x="94202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17436D3D-7567-4B90-B77F-8013D92C6A1F}"/>
              </a:ext>
            </a:extLst>
          </p:cNvPr>
          <p:cNvSpPr>
            <a:spLocks noGrp="1"/>
          </p:cNvSpPr>
          <p:nvPr/>
        </p:nvSpPr>
        <p:spPr>
          <a:xfrm>
            <a:off x="2266950" y="3676650"/>
            <a:ext cx="6724650" cy="38100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C6EC3C2C-B938-4D24-868A-DDFBB140E100}"/>
              </a:ext>
            </a:extLst>
          </p:cNvPr>
          <p:cNvSpPr>
            <a:spLocks noGrp="1"/>
          </p:cNvSpPr>
          <p:nvPr/>
        </p:nvSpPr>
        <p:spPr>
          <a:xfrm>
            <a:off x="2419350" y="377063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시작 지점 · 이미 관심매물을 저장한 뒤 · 전·월세를 함께 구하는 2인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A38725C3-4908-4BF3-8770-04F88A393936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DF51171B-86FD-425D-90EF-36A47DD3288E}"/>
              </a:ext>
            </a:extLst>
          </p:cNvPr>
          <p:cNvSpPr>
            <a:spLocks noGrp="1"/>
          </p:cNvSpPr>
          <p:nvPr/>
        </p:nvSpPr>
        <p:spPr>
          <a:xfrm>
            <a:off x="895350" y="450977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정의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ns2:creationId id="{C42CB0CC-07E3-424B-8E13-CC7854B8764D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함께 살 집을 구하는 2인 · 주거 형태는 제한하지 않음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24758C85-C208-4374-82D7-95AAF40D1F1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C738C398-1948-43C7-AF09-674AF20048B4}"/>
              </a:ext>
            </a:extLst>
          </p:cNvPr>
          <p:cNvSpPr>
            <a:spLocks noGrp="1"/>
          </p:cNvSpPr>
          <p:nvPr/>
        </p:nvSpPr>
        <p:spPr>
          <a:xfrm>
            <a:off x="895350" y="503110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</a:t>
            </a:r>
            <a:endParaRPr sz="105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ns2:creationId id="{E64705AE-8114-46BE-A8B5-0E1EBA2885D2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별도 앱이 아니라 네이버 부동산 안의 기능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D30CD901-5339-41B5-A2C0-C81A8169B0FD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2624091C-61F9-48A3-A5AC-D301280DD614}"/>
              </a:ext>
            </a:extLst>
          </p:cNvPr>
          <p:cNvSpPr>
            <a:spLocks noGrp="1"/>
          </p:cNvSpPr>
          <p:nvPr/>
        </p:nvSpPr>
        <p:spPr>
          <a:xfrm>
            <a:off x="895350" y="555244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05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직사각형 33">
            <a:extLst>
              <a:ext uri="{FF2B5EF4-FFF2-40B4-BE49-F238E27FC236}">
                <ns2:creationId id="{222212E8-1CF4-4CED-B74B-275E41EB3E58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계약 · 등기 · 보증보험 · 대출 · 3인 이상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3A2372AE-E98A-4964-9688-4DA7526E0B83}"/>
              </a:ext>
            </a:extLst>
          </p:cNvPr>
          <p:cNvSpPr>
            <a:spLocks noGrp="1"/>
          </p:cNvSpPr>
          <p:nvPr/>
        </p:nvSpPr>
        <p:spPr>
          <a:xfrm>
            <a:off x="770554" y="2767013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화살표: 오른쪽 8">
            <a:extLst>
              <a:ext uri="{FF2B5EF4-FFF2-40B4-BE49-F238E27FC236}">
                <ns2:creationId id="{4B14F90D-6731-4E19-9AA2-201CAECEC922}"/>
              </a:ext>
            </a:extLst>
          </p:cNvPr>
          <p:cNvSpPr>
            <a:spLocks noGrp="1"/>
          </p:cNvSpPr>
          <p:nvPr/>
        </p:nvSpPr>
        <p:spPr>
          <a:xfrm>
            <a:off x="2239944" y="2833688"/>
            <a:ext cx="17145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ns2:creationId id="{A025E531-00B4-4376-A2CF-AFF5FE32CD64}"/>
              </a:ext>
            </a:extLst>
          </p:cNvPr>
          <p:cNvSpPr>
            <a:spLocks noGrp="1"/>
          </p:cNvSpPr>
          <p:nvPr/>
        </p:nvSpPr>
        <p:spPr>
          <a:xfrm>
            <a:off x="2446954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화살표: 오른쪽 11">
            <a:extLst>
              <a:ext uri="{FF2B5EF4-FFF2-40B4-BE49-F238E27FC236}">
                <ns2:creationId id="{34FAF76D-75D5-4DF4-B149-611A50F0296E}"/>
              </a:ext>
            </a:extLst>
          </p:cNvPr>
          <p:cNvSpPr>
            <a:spLocks noGrp="1"/>
          </p:cNvSpPr>
          <p:nvPr/>
        </p:nvSpPr>
        <p:spPr>
          <a:xfrm>
            <a:off x="377346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ns2:creationId id="{FCF11419-E3A6-4B4A-B516-24C75B89F600}"/>
              </a:ext>
            </a:extLst>
          </p:cNvPr>
          <p:cNvSpPr>
            <a:spLocks noGrp="1"/>
          </p:cNvSpPr>
          <p:nvPr/>
        </p:nvSpPr>
        <p:spPr>
          <a:xfrm>
            <a:off x="3980479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63D7566D-4744-47F6-9C08-36F9FD018506}"/>
              </a:ext>
            </a:extLst>
          </p:cNvPr>
          <p:cNvSpPr>
            <a:spLocks noGrp="1"/>
          </p:cNvSpPr>
          <p:nvPr/>
        </p:nvSpPr>
        <p:spPr>
          <a:xfrm>
            <a:off x="5306994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ns2:creationId id="{C146F86A-DCF2-4BB8-9E04-193F6426C6DC}"/>
              </a:ext>
            </a:extLst>
          </p:cNvPr>
          <p:cNvSpPr>
            <a:spLocks noGrp="1"/>
          </p:cNvSpPr>
          <p:nvPr/>
        </p:nvSpPr>
        <p:spPr>
          <a:xfrm>
            <a:off x="5514004" y="2767013"/>
            <a:ext cx="1800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화살표: 오른쪽 17">
            <a:extLst>
              <a:ext uri="{FF2B5EF4-FFF2-40B4-BE49-F238E27FC236}">
                <ns2:creationId id="{C8006415-1444-442C-92AE-E810861DFF6F}"/>
              </a:ext>
            </a:extLst>
          </p:cNvPr>
          <p:cNvSpPr>
            <a:spLocks noGrp="1"/>
          </p:cNvSpPr>
          <p:nvPr/>
        </p:nvSpPr>
        <p:spPr>
          <a:xfrm>
            <a:off x="74120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ns2:creationId id="{9330B098-B7C1-4B8B-8CCE-CC02E11D631A}"/>
              </a:ext>
            </a:extLst>
          </p:cNvPr>
          <p:cNvSpPr>
            <a:spLocks noGrp="1"/>
          </p:cNvSpPr>
          <p:nvPr/>
        </p:nvSpPr>
        <p:spPr>
          <a:xfrm>
            <a:off x="76190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화살표: 오른쪽 20">
            <a:extLst>
              <a:ext uri="{FF2B5EF4-FFF2-40B4-BE49-F238E27FC236}">
                <ns2:creationId id="{7BACCBAD-1E91-4D70-B800-D8DFB62255FC}"/>
              </a:ext>
            </a:extLst>
          </p:cNvPr>
          <p:cNvSpPr>
            <a:spLocks noGrp="1"/>
          </p:cNvSpPr>
          <p:nvPr/>
        </p:nvSpPr>
        <p:spPr>
          <a:xfrm>
            <a:off x="92789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ns2:creationId id="{325A13A4-10B2-476E-BB1D-C05F91DF4D55}"/>
              </a:ext>
            </a:extLst>
          </p:cNvPr>
          <p:cNvSpPr>
            <a:spLocks noGrp="1"/>
          </p:cNvSpPr>
          <p:nvPr/>
        </p:nvSpPr>
        <p:spPr>
          <a:xfrm>
            <a:off x="94859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</a:t>
            </a:r>
            <a:r>
              <a:rPr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224337355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ns2:creationId id="{F75B3769-8C31-42EE-88DA-BFE31C58415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 · Five Forces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4FAC4BF7-994B-4213-90FD-61D65EC796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진짜 경쟁자는 매물 링크 공유 버튼입니다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798455D6-AE7E-424E-A9C2-F63FB219C06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AA377837-9419-40F0-8AA2-1BA923FDC7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DF040BC6-08B2-46BA-A82A-1B9B6A68DD0E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ns2:creationId id="{FFCFB2B8-D824-4270-82A1-3A3D6958E2A9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56A81915-2DB5-4B8F-B79F-6F432222E47D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ns2:creationId id="{B750B21D-8FCB-42F4-A28E-E38F0C864445}"/>
              </a:ext>
            </a:extLst>
          </p:cNvPr>
          <p:cNvSpPr>
            <a:spLocks noGrp="1"/>
          </p:cNvSpPr>
          <p:nvPr/>
        </p:nvSpPr>
        <p:spPr>
          <a:xfrm>
            <a:off x="5953125" y="1600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AFEAD565-FE55-45A2-8751-3964BA29FC80}"/>
              </a:ext>
            </a:extLst>
          </p:cNvPr>
          <p:cNvSpPr>
            <a:spLocks noGrp="1"/>
          </p:cNvSpPr>
          <p:nvPr/>
        </p:nvSpPr>
        <p:spPr>
          <a:xfrm>
            <a:off x="7048500" y="1609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카톡·지도·엑셀·메모보다 시작이 번거로우면 안 씁니다</a:t>
            </a:r>
          </a:p>
        </p:txBody>
      </p:sp>
      <p:sp>
        <p:nvSpPr>
          <p:cNvPr id="11" name="직선 연결선 10">
            <a:extLst>
              <a:ext uri="{FF2B5EF4-FFF2-40B4-BE49-F238E27FC236}">
                <ns2:creationId id="{1D1E3584-1F37-4C57-9F4F-873D3AE29CE3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810AF67B-BA7E-400F-980D-A83D0A48BF0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1E45FA62-472E-4B71-BCFE-0E1C4C2ADCE2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ns2:creationId id="{C74C67FE-0BBC-4BA1-9BC7-BBB0438D861E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22D5EE25-C158-4352-BCBA-D9A91FDA9FEE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58BD4D12-BB31-4ADC-9255-D9BA36B00C4F}"/>
              </a:ext>
            </a:extLst>
          </p:cNvPr>
          <p:cNvSpPr>
            <a:spLocks noGrp="1"/>
          </p:cNvSpPr>
          <p:nvPr/>
        </p:nvSpPr>
        <p:spPr>
          <a:xfrm>
            <a:off x="7048500" y="2371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직선 연결선 16">
            <a:extLst>
              <a:ext uri="{FF2B5EF4-FFF2-40B4-BE49-F238E27FC236}">
                <ns2:creationId id="{CE70EBA8-AB48-4A53-9E2E-1941E47397C9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A8FE45C0-88A6-452B-B82F-134301D87B02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48A2FCE4-5D21-467C-AB83-DACE988528F5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72A8B666-E3BF-462E-A1BC-846DFE55B257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97B535D6-06BE-450E-AC93-923A766A70FD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D7D86384-D309-410D-A4B0-C9DB30000F78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가입·초대·조건 입력의 번거로움을 줄임</a:t>
            </a:r>
          </a:p>
        </p:txBody>
      </p:sp>
      <p:sp>
        <p:nvSpPr>
          <p:cNvPr id="23" name="직선 연결선 22">
            <a:extLst>
              <a:ext uri="{FF2B5EF4-FFF2-40B4-BE49-F238E27FC236}">
                <ns2:creationId id="{908E7A56-653D-4E9A-B2B5-7ABAD16DA039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ns2:creationId id="{2E6D00A6-EFAD-4076-853F-A763626520C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E1225B8A-C4F5-4787-AB26-0ECF2556078C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0581FEEF-C6E2-4C0F-B594-63211D30D565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226695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2DAE2066-C077-4130-9C67-B6F23BB42FAC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80AA2AAE-DC0A-4DEE-ADC5-1C7D0A1B38F4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기존 매물 데이터를 읽어 조건을 판정</a:t>
            </a:r>
          </a:p>
        </p:txBody>
      </p:sp>
      <p:sp>
        <p:nvSpPr>
          <p:cNvPr id="29" name="직선 연결선 28">
            <a:extLst>
              <a:ext uri="{FF2B5EF4-FFF2-40B4-BE49-F238E27FC236}">
                <ns2:creationId id="{567338C0-A87C-4855-A811-2949C6E00AA7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38D92E48-559D-4672-8608-0058019984F6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4B8CFB5E-B984-42D1-BEC6-4298FCC8DFCF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사각형: 둥근 모서리 31">
            <a:extLst>
              <a:ext uri="{FF2B5EF4-FFF2-40B4-BE49-F238E27FC236}">
                <ns2:creationId id="{1352CC32-6132-41CA-BAB6-19CE04C871AE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19431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53B321BC-9019-4B75-A9D4-E4734595D62D}"/>
              </a:ext>
            </a:extLst>
          </p:cNvPr>
          <p:cNvSpPr>
            <a:spLocks noGrp="1"/>
          </p:cNvSpPr>
          <p:nvPr/>
        </p:nvSpPr>
        <p:spPr>
          <a:xfrm>
            <a:off x="5953125" y="4648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B1BBFF16-E16C-437A-B769-536070C07681}"/>
              </a:ext>
            </a:extLst>
          </p:cNvPr>
          <p:cNvSpPr>
            <a:spLocks noGrp="1"/>
          </p:cNvSpPr>
          <p:nvPr/>
        </p:nvSpPr>
        <p:spPr>
          <a:xfrm>
            <a:off x="7048500" y="4657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직선 연결선 34">
            <a:extLst>
              <a:ext uri="{FF2B5EF4-FFF2-40B4-BE49-F238E27FC236}">
                <ns2:creationId id="{79D44D3A-D71E-47ED-AF4A-948558D552AD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62863AC8-BE14-4D35-9A9B-5DB9C7529D3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496550" cy="514350"/>
          </a:xfrm>
          <a:prstGeom prst="roundRect">
            <a:avLst>
              <a:gd name="adj" fmla="val 1851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E6EF3BAB-CE72-4894-9AD0-030E3D46CC0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결론</a:t>
            </a:r>
            <a:endParaRPr sz="105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ns2:creationId id="{24553BEF-E7AF-4137-92F1-93B3072C537F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매물을 더 잘 찾는 게 아닙니다. 이미 있는 탐색 위에 붙습니다.</a:t>
            </a:r>
          </a:p>
        </p:txBody>
      </p:sp>
    </p:spTree>
    <p:extLst>
      <p:ext uri="{BB962C8B-B14F-4D97-AF65-F5344CB8AC3E}">
        <ns3:creationId val="148099215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ns2:creationId id="{27366E91-3606-44FB-B6DB-C8E8E4D80DB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 · TAM-SAM-SOM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7021A16-EA69-49C0-9F22-D3A22FA295D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공개 통계로 계산 가능한 하한은 54.6만 쌍입니다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45252D8-BA4B-4AF5-8AB1-22CAE359F65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ns2:creationId id="{1659F18B-EE26-42CE-B8EB-F6F5742254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AA5A351-ED0E-4F48-876C-CEC73C91FE5A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8763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ns2:creationId id="{47574B72-F892-47CD-9F48-A4937FCF96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TAM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315CD523-36A9-4B84-8EAC-C9BD748D266E}"/>
              </a:ext>
            </a:extLst>
          </p:cNvPr>
          <p:cNvSpPr>
            <a:spLocks noGrp="1"/>
          </p:cNvSpPr>
          <p:nvPr/>
        </p:nvSpPr>
        <p:spPr>
          <a:xfrm>
            <a:off x="1943100" y="17430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6BC01E5E-9AAB-4B92-8052-55A54557AA4E}"/>
              </a:ext>
            </a:extLst>
          </p:cNvPr>
          <p:cNvSpPr>
            <a:spLocks noGrp="1"/>
          </p:cNvSpPr>
          <p:nvPr/>
        </p:nvSpPr>
        <p:spPr>
          <a:xfrm>
            <a:off x="1943100" y="2124337"/>
            <a:ext cx="733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부동산 앱을 쓰는 사람 전체</a:t>
            </a:r>
            <a:endParaRPr sz="10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13836644-6520-46F2-8579-13F9411B6397}"/>
              </a:ext>
            </a:extLst>
          </p:cNvPr>
          <p:cNvSpPr>
            <a:spLocks noGrp="1"/>
          </p:cNvSpPr>
          <p:nvPr/>
        </p:nvSpPr>
        <p:spPr>
          <a:xfrm>
            <a:off x="1943100" y="2295525"/>
            <a:ext cx="733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중간 · 앱끼리 중복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ED0CE835-95EB-47B0-BDD7-04182CFAC1D6}"/>
              </a:ext>
            </a:extLst>
          </p:cNvPr>
          <p:cNvSpPr>
            <a:spLocks noGrp="1"/>
          </p:cNvSpPr>
          <p:nvPr/>
        </p:nvSpPr>
        <p:spPr>
          <a:xfrm>
            <a:off x="1800225" y="2838450"/>
            <a:ext cx="6572250" cy="895350"/>
          </a:xfrm>
          <a:prstGeom prst="roundRect">
            <a:avLst>
              <a:gd name="adj" fmla="val 1276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5457392A-BCC7-4305-AFEE-70A97F6C7EBA}"/>
              </a:ext>
            </a:extLst>
          </p:cNvPr>
          <p:cNvSpPr>
            <a:spLocks noGrp="1"/>
          </p:cNvSpPr>
          <p:nvPr/>
        </p:nvSpPr>
        <p:spPr>
          <a:xfrm>
            <a:off x="1952625" y="29908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SAM 하한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CD06F913-D175-4394-9219-DFBBA39A7C65}"/>
              </a:ext>
            </a:extLst>
          </p:cNvPr>
          <p:cNvSpPr>
            <a:spLocks noGrp="1"/>
          </p:cNvSpPr>
          <p:nvPr/>
        </p:nvSpPr>
        <p:spPr>
          <a:xfrm>
            <a:off x="3038475" y="294322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55F56E36-0E4C-432C-9C51-C86E88C4867B}"/>
              </a:ext>
            </a:extLst>
          </p:cNvPr>
          <p:cNvSpPr>
            <a:spLocks noGrp="1"/>
          </p:cNvSpPr>
          <p:nvPr/>
        </p:nvSpPr>
        <p:spPr>
          <a:xfrm>
            <a:off x="3038475" y="3324487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95.2만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무주택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57.3%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7C9D440F-4362-463A-AAEA-86E6E8FEC3F5}"/>
              </a:ext>
            </a:extLst>
          </p:cNvPr>
          <p:cNvSpPr>
            <a:spLocks noGrp="1"/>
          </p:cNvSpPr>
          <p:nvPr/>
        </p:nvSpPr>
        <p:spPr>
          <a:xfrm>
            <a:off x="3038475" y="3495675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높음 · 신혼부부만 넣음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4DB45F67-C669-40EE-9440-78A25628DEE5}"/>
              </a:ext>
            </a:extLst>
          </p:cNvPr>
          <p:cNvSpPr>
            <a:spLocks noGrp="1"/>
          </p:cNvSpPr>
          <p:nvPr/>
        </p:nvSpPr>
        <p:spPr>
          <a:xfrm>
            <a:off x="3038475" y="4038600"/>
            <a:ext cx="4095750" cy="895350"/>
          </a:xfrm>
          <a:prstGeom prst="roundRect">
            <a:avLst>
              <a:gd name="adj" fmla="val 12766"/>
            </a:avLst>
          </a:prstGeom>
          <a:solidFill>
            <a:srgbClr val="FFF2D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사각형: 둥근 모서리 16">
            <a:extLst>
              <a:ext uri="{FF2B5EF4-FFF2-40B4-BE49-F238E27FC236}">
                <ns2:creationId id="{6317FCBE-EE9C-4C84-8DE8-1AA4AC30692E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SOM · 초기 목표</a:t>
            </a:r>
            <a:endParaRPr sz="10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ns2:creationId id="{8BED1C5F-895F-4A99-832C-394322A6F60C}"/>
              </a:ext>
            </a:extLst>
          </p:cNvPr>
          <p:cNvSpPr>
            <a:spLocks noGrp="1"/>
          </p:cNvSpPr>
          <p:nvPr/>
        </p:nvSpPr>
        <p:spPr>
          <a:xfrm>
            <a:off x="4424363" y="41433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62F9F48D-0CA5-4BC0-B3BE-F45EBE0EE0C4}"/>
              </a:ext>
            </a:extLst>
          </p:cNvPr>
          <p:cNvSpPr>
            <a:spLocks noGrp="1"/>
          </p:cNvSpPr>
          <p:nvPr/>
        </p:nvSpPr>
        <p:spPr>
          <a:xfrm>
            <a:off x="4424363" y="451584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월 이용자 134만 × 5/10/15%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FA31474F-5A32-48AB-8418-76053CC4D770}"/>
              </a:ext>
            </a:extLst>
          </p:cNvPr>
          <p:cNvSpPr>
            <a:spLocks noGrp="1"/>
          </p:cNvSpPr>
          <p:nvPr/>
        </p:nvSpPr>
        <p:spPr>
          <a:xfrm>
            <a:off x="4424363" y="46958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낮음 · 예측 아님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11B43737-9656-47AE-B868-778071602F2F}"/>
              </a:ext>
            </a:extLst>
          </p:cNvPr>
          <p:cNvSpPr>
            <a:spLocks noGrp="1"/>
          </p:cNvSpPr>
          <p:nvPr/>
        </p:nvSpPr>
        <p:spPr>
          <a:xfrm>
            <a:off x="9715500" y="1675719"/>
            <a:ext cx="1762125" cy="347730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4844AFB8-7FB5-4E0D-B39E-B8B3230C6039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2025 월 이용자 수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DC7A239A-B983-4DA3-8311-DF262E5537D9}"/>
              </a:ext>
            </a:extLst>
          </p:cNvPr>
          <p:cNvSpPr>
            <a:spLocks noGrp="1"/>
          </p:cNvSpPr>
          <p:nvPr/>
        </p:nvSpPr>
        <p:spPr>
          <a:xfrm>
            <a:off x="9886950" y="232342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FD127680-80D8-4FF9-8306-20601DA585B3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사각형: 둥근 모서리 24">
            <a:extLst>
              <a:ext uri="{FF2B5EF4-FFF2-40B4-BE49-F238E27FC236}">
                <ns2:creationId id="{5619F373-1EC6-4110-B310-21A55265CEDB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ns2:creationId id="{18A6AA65-75F7-44E3-85B7-43FDDE993CE9}"/>
              </a:ext>
            </a:extLst>
          </p:cNvPr>
          <p:cNvSpPr>
            <a:spLocks noGrp="1"/>
          </p:cNvSpPr>
          <p:nvPr/>
        </p:nvSpPr>
        <p:spPr>
          <a:xfrm>
            <a:off x="10763250" y="232342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CE083E81-2BD0-4552-8FED-8F915FBE44C1}"/>
              </a:ext>
            </a:extLst>
          </p:cNvPr>
          <p:cNvSpPr>
            <a:spLocks noGrp="1"/>
          </p:cNvSpPr>
          <p:nvPr/>
        </p:nvSpPr>
        <p:spPr>
          <a:xfrm>
            <a:off x="9886950" y="3027224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96D4E8DD-0657-467F-8346-8A3F69429E35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사각형: 둥근 모서리 28">
            <a:extLst>
              <a:ext uri="{FF2B5EF4-FFF2-40B4-BE49-F238E27FC236}">
                <ns2:creationId id="{9F6EAAF0-C8E3-4586-92AD-452EA7110A0D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027452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ns2:creationId id="{42B094F3-54CB-48CF-A17A-96A2BEC44629}"/>
              </a:ext>
            </a:extLst>
          </p:cNvPr>
          <p:cNvSpPr>
            <a:spLocks noGrp="1"/>
          </p:cNvSpPr>
          <p:nvPr/>
        </p:nvSpPr>
        <p:spPr>
          <a:xfrm>
            <a:off x="10763250" y="3027224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D6FF307A-1074-4750-8C67-CFC68A074527}"/>
              </a:ext>
            </a:extLst>
          </p:cNvPr>
          <p:cNvSpPr>
            <a:spLocks noGrp="1"/>
          </p:cNvSpPr>
          <p:nvPr/>
        </p:nvSpPr>
        <p:spPr>
          <a:xfrm>
            <a:off x="9886950" y="3731028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99CAEC81-91FA-435A-8548-5EF437D8C6F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사각형: 둥근 모서리 32">
            <a:extLst>
              <a:ext uri="{FF2B5EF4-FFF2-40B4-BE49-F238E27FC236}">
                <ns2:creationId id="{18BA99B0-760A-44BB-8CE0-92746FA5278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769154" cy="114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ns2:creationId id="{28A66C7C-7DCF-44A5-8E23-8B78594B8D91}"/>
              </a:ext>
            </a:extLst>
          </p:cNvPr>
          <p:cNvSpPr>
            <a:spLocks noGrp="1"/>
          </p:cNvSpPr>
          <p:nvPr/>
        </p:nvSpPr>
        <p:spPr>
          <a:xfrm>
            <a:off x="10763250" y="3731028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33CA58C8-C842-467C-871B-4A0857193891}"/>
              </a:ext>
            </a:extLst>
          </p:cNvPr>
          <p:cNvSpPr>
            <a:spLocks noGrp="1"/>
          </p:cNvSpPr>
          <p:nvPr/>
        </p:nvSpPr>
        <p:spPr>
          <a:xfrm>
            <a:off x="10228602" y="4437289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F8410DF-ADBA-467D-A042-C16936DDC83E}"/>
              </a:ext>
            </a:extLst>
          </p:cNvPr>
          <p:cNvSpPr>
            <a:spLocks noGrp="1"/>
          </p:cNvSpPr>
          <p:nvPr/>
        </p:nvSpPr>
        <p:spPr>
          <a:xfrm>
            <a:off x="9715500" y="4751614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SOM은 범위로만 해석합니다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A9D49CC3-E2D7-449D-9B0D-88BC0BA0E12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628650"/>
          </a:xfrm>
          <a:prstGeom prst="roundRect">
            <a:avLst>
              <a:gd name="adj" fmla="val 1515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8" name="직사각형 37">
            <a:extLst>
              <a:ext uri="{FF2B5EF4-FFF2-40B4-BE49-F238E27FC236}">
                <ns2:creationId id="{0A92E8F6-8312-4E4A-AA0C-4A6402BC2494}"/>
              </a:ext>
            </a:extLst>
          </p:cNvPr>
          <p:cNvSpPr>
            <a:spLocks noGrp="1"/>
          </p:cNvSpPr>
          <p:nvPr/>
        </p:nvSpPr>
        <p:spPr>
          <a:xfrm>
            <a:off x="876300" y="553593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결론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604BD844-2C37-49F0-9A59-1ABF27B52676}"/>
              </a:ext>
            </a:extLst>
          </p:cNvPr>
          <p:cNvSpPr>
            <a:spLocks noGrp="1"/>
          </p:cNvSpPr>
          <p:nvPr/>
        </p:nvSpPr>
        <p:spPr>
          <a:xfrm>
            <a:off x="1619250" y="5488305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네이버가 이미 가진 걸로, 아무도 안 하고 있는 자리를 합니다. 숫자마다 확실한 정도는 다릅니다.</a:t>
            </a:r>
          </a:p>
        </p:txBody>
      </p:sp>
    </p:spTree>
    <p:extLst>
      <p:ext uri="{BB962C8B-B14F-4D97-AF65-F5344CB8AC3E}">
        <ns3:creationId val="149541932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ns2:creationId id="{EB58634C-7915-47DE-89A9-25858811647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0480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네이버 · 가치사슬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9279769-552F-403B-90FE-A7E000FD68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네이버는 저장까지 있고, 그다음이 없습니다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0562F7FB-16A7-4C59-94D5-9D12FF19E98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AFD97EE-02C0-4810-93C6-BC87F241950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D123EA28-90F3-49E7-94AC-F4E1E71D9A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C13402AA-644F-4B67-A564-0536475C1D9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E4734EE4-DD14-4FB4-86E7-7E2B4D636CAC}"/>
              </a:ext>
            </a:extLst>
          </p:cNvPr>
          <p:cNvSpPr>
            <a:spLocks noGrp="1"/>
          </p:cNvSpPr>
          <p:nvPr/>
        </p:nvSpPr>
        <p:spPr>
          <a:xfrm>
            <a:off x="16764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4D0BD234-3207-494B-8E76-F7F52520E752}"/>
              </a:ext>
            </a:extLst>
          </p:cNvPr>
          <p:cNvSpPr>
            <a:spLocks noGrp="1"/>
          </p:cNvSpPr>
          <p:nvPr/>
        </p:nvSpPr>
        <p:spPr>
          <a:xfrm>
            <a:off x="1828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C6EB332B-6552-4648-87E6-395C98CBC128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데이터 정리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8A40CB4C-8683-4A8A-AF9B-1AFC9F80FEDA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71D9CFF-351E-4F3D-83C5-D2209BE1C1DE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E28E6DD5-A2C7-4053-A6DE-FA620CF5D62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2E3D0A70-9B36-4588-B768-C6316A56055D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7920923F-779A-437E-A220-70615F300C66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10F04346-FCB8-4CF3-AEDE-DF2840519D06}"/>
              </a:ext>
            </a:extLst>
          </p:cNvPr>
          <p:cNvSpPr>
            <a:spLocks noGrp="1"/>
          </p:cNvSpPr>
          <p:nvPr/>
        </p:nvSpPr>
        <p:spPr>
          <a:xfrm>
            <a:off x="4324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화살표: 오른쪽 16">
            <a:extLst>
              <a:ext uri="{FF2B5EF4-FFF2-40B4-BE49-F238E27FC236}">
                <ns2:creationId id="{97DA810D-6C67-4506-93E3-0E999DD904C5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CA75C9CC-384E-4A81-A3ED-9F1A5DCA58B0}"/>
              </a:ext>
            </a:extLst>
          </p:cNvPr>
          <p:cNvSpPr>
            <a:spLocks noGrp="1"/>
          </p:cNvSpPr>
          <p:nvPr/>
        </p:nvSpPr>
        <p:spPr>
          <a:xfrm>
            <a:off x="54864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935F12C0-6DB7-4139-B2CF-2D85B2464A41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C5EDC689-D6C4-469C-9147-C1C66A56AB77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138C70D-91CF-4C0F-A926-7084C117D752}"/>
              </a:ext>
            </a:extLst>
          </p:cNvPr>
          <p:cNvSpPr>
            <a:spLocks noGrp="1"/>
          </p:cNvSpPr>
          <p:nvPr/>
        </p:nvSpPr>
        <p:spPr>
          <a:xfrm>
            <a:off x="6705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79C7A395-AAB3-41FE-985C-EA6E12A92DB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화살표: 오른쪽 22">
            <a:extLst>
              <a:ext uri="{FF2B5EF4-FFF2-40B4-BE49-F238E27FC236}">
                <ns2:creationId id="{CB8611F1-71EA-40E7-9762-214A7F837962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사각형: 둥근 모서리 23">
            <a:extLst>
              <a:ext uri="{FF2B5EF4-FFF2-40B4-BE49-F238E27FC236}">
                <ns2:creationId id="{3C9F6621-8D78-4AFD-A307-4DB46D9CEAC3}"/>
              </a:ext>
            </a:extLst>
          </p:cNvPr>
          <p:cNvSpPr>
            <a:spLocks noGrp="1"/>
          </p:cNvSpPr>
          <p:nvPr/>
        </p:nvSpPr>
        <p:spPr>
          <a:xfrm>
            <a:off x="7924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A0057131-CC35-42C0-8EE6-AECC433E8F7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43C5AD66-666E-434D-90B6-D02D6DF7168A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사각형: 둥근 모서리 26">
            <a:extLst>
              <a:ext uri="{FF2B5EF4-FFF2-40B4-BE49-F238E27FC236}">
                <ns2:creationId id="{B91A16AD-915F-42D3-9D40-D9D9C8879527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44E4EB26-886A-485E-9F24-535D1C52B7C2}"/>
              </a:ext>
            </a:extLst>
          </p:cNvPr>
          <p:cNvSpPr>
            <a:spLocks noGrp="1"/>
          </p:cNvSpPr>
          <p:nvPr/>
        </p:nvSpPr>
        <p:spPr>
          <a:xfrm>
            <a:off x="9201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화살표: 오른쪽 28">
            <a:extLst>
              <a:ext uri="{FF2B5EF4-FFF2-40B4-BE49-F238E27FC236}">
                <ns2:creationId id="{99737D9F-EECF-4923-9A6E-E36199ADEBB8}"/>
              </a:ext>
            </a:extLst>
          </p:cNvPr>
          <p:cNvSpPr>
            <a:spLocks noGrp="1"/>
          </p:cNvSpPr>
          <p:nvPr/>
        </p:nvSpPr>
        <p:spPr>
          <a:xfrm>
            <a:off x="10210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0" name="사각형: 둥근 모서리 29">
            <a:extLst>
              <a:ext uri="{FF2B5EF4-FFF2-40B4-BE49-F238E27FC236}">
                <ns2:creationId id="{C5E7712F-923A-4489-8707-1CFD81E6EC12}"/>
              </a:ext>
            </a:extLst>
          </p:cNvPr>
          <p:cNvSpPr>
            <a:spLocks noGrp="1"/>
          </p:cNvSpPr>
          <p:nvPr/>
        </p:nvSpPr>
        <p:spPr>
          <a:xfrm>
            <a:off x="10363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F3DB473C-B3B0-424B-80B1-666004E172F3}"/>
              </a:ext>
            </a:extLst>
          </p:cNvPr>
          <p:cNvSpPr>
            <a:spLocks noGrp="1"/>
          </p:cNvSpPr>
          <p:nvPr/>
        </p:nvSpPr>
        <p:spPr>
          <a:xfrm>
            <a:off x="10420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0260C2D2-F9A6-478C-A51B-6AA8EFA7BE60}"/>
              </a:ext>
            </a:extLst>
          </p:cNvPr>
          <p:cNvSpPr>
            <a:spLocks noGrp="1"/>
          </p:cNvSpPr>
          <p:nvPr/>
        </p:nvSpPr>
        <p:spPr>
          <a:xfrm>
            <a:off x="6622490" y="1619250"/>
            <a:ext cx="2464360" cy="1581150"/>
          </a:xfrm>
          <a:prstGeom prst="roundRect">
            <a:avLst>
              <a:gd name="adj" fmla="val 8434"/>
            </a:avLst>
          </a:prstGeom>
          <a:noFill/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295DD627-483A-44C6-B2CB-87A09C4644C3}"/>
              </a:ext>
            </a:extLst>
          </p:cNvPr>
          <p:cNvSpPr>
            <a:spLocks noGrp="1"/>
          </p:cNvSpPr>
          <p:nvPr/>
        </p:nvSpPr>
        <p:spPr>
          <a:xfrm>
            <a:off x="7067550" y="174307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빈 자리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A8A158D4-5DFC-4BED-9DFE-D64011A809B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 이후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02A71B7B-6A63-49CA-900E-D78BC88EF0C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저장한 집은 네이버에 남지만, 둘이 의견을 맞추는 과정은 다른 앱에서 이뤄집니다</a:t>
            </a:r>
            <a:endParaRPr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ns2:creationId id="{84B92112-FC36-4D44-8E8E-9EA66736E008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7980D8B6-40AC-4E18-8F1A-1371790A06BB}"/>
              </a:ext>
            </a:extLst>
          </p:cNvPr>
          <p:cNvSpPr>
            <a:spLocks noGrp="1"/>
          </p:cNvSpPr>
          <p:nvPr/>
        </p:nvSpPr>
        <p:spPr>
          <a:xfrm>
            <a:off x="1676400" y="4867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 내부 데이터로 확인한 건 아닙니다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ns2:creationId id="{DACB67D7-85BF-419A-BCDE-469606DBB847}"/>
              </a:ext>
            </a:extLst>
          </p:cNvPr>
          <p:cNvSpPr>
            <a:spLocks noGrp="1"/>
          </p:cNvSpPr>
          <p:nvPr/>
        </p:nvSpPr>
        <p:spPr>
          <a:xfrm>
            <a:off x="8401050" y="3667125"/>
            <a:ext cx="3028950" cy="1619250"/>
          </a:xfrm>
          <a:prstGeom prst="roundRect">
            <a:avLst>
              <a:gd name="adj" fmla="val 8235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DEBAEF06-432A-4AC7-B664-182E23F1AA64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제품 범위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61E6F48D-2DA8-4C59-8EBC-D65F9E69C97F}"/>
              </a:ext>
            </a:extLst>
          </p:cNvPr>
          <p:cNvSpPr>
            <a:spLocks noGrp="1"/>
          </p:cNvSpPr>
          <p:nvPr/>
        </p:nvSpPr>
        <p:spPr>
          <a:xfrm>
            <a:off x="8629650" y="4162425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새 매물 DB·검색은 안 만듭니다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직사각형 40">
            <a:extLst>
              <a:ext uri="{FF2B5EF4-FFF2-40B4-BE49-F238E27FC236}">
                <ns2:creationId id="{5EB5480B-4603-4CF9-82DF-5E65F2007A83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5개에</a:t>
            </a:r>
          </a:p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 xml:space="preserve">사람별 조건을 적용합니다</a:t>
            </a:r>
            <a:endParaRPr sz="1200" b="0" dirty="0">
              <a:solidFill>
                <a:srgbClr val="C7D5CC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604713707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ns2:creationId id="{EAB50883-FB30-4CE3-8E4F-BD07E800C26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기업 · KSF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0918705-28B8-4533-B8D7-4D04850141F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성공은 두 번째 사람이 들어오느냐에 달려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F590BB0-3EBA-48EF-8841-19DC91F8CA0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E6A1E61C-67E4-45D9-8B6A-E1894F69BF4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카톡에 이렇게 뜹니다 —  “OO님이 같이 보기에 초대했어요”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8D297A4-3EF3-461F-A39E-B4D33DFDB73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51061F67-6A3D-41FC-AE6C-E47E0A3AD9B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네이버가 가진 것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37780406-ED5D-4512-B872-ED303A9DBD3F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이 기능의 성공 조건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ECC5BCCB-8D25-4825-B252-CCEE6FAF77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ns2:creationId id="{F520FF4D-E663-4683-B66D-80352A70CCB7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ns2:creationId id="{C788622F-3FF1-497F-91DD-64E0DA1AF10B}"/>
              </a:ext>
            </a:extLst>
          </p:cNvPr>
          <p:cNvSpPr>
            <a:spLocks noGrp="1"/>
          </p:cNvSpPr>
          <p:nvPr/>
        </p:nvSpPr>
        <p:spPr>
          <a:xfrm>
            <a:off x="5086350" y="21812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사각형: 둥근 모서리 10">
            <a:extLst>
              <a:ext uri="{FF2B5EF4-FFF2-40B4-BE49-F238E27FC236}">
                <ns2:creationId id="{BDB90FE9-E16F-4AA4-B316-9CEEB1041DC6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ns2:creationId id="{495556D4-2246-4AA4-86A2-A1E4FF74BDC4}"/>
              </a:ext>
            </a:extLst>
          </p:cNvPr>
          <p:cNvSpPr>
            <a:spLocks noGrp="1"/>
          </p:cNvSpPr>
          <p:nvPr/>
        </p:nvSpPr>
        <p:spPr>
          <a:xfrm>
            <a:off x="6438900" y="214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매물이 바뀌어도 조건이 남는 후보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10F4C28A-213C-489F-B648-82A3E98CF16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ns2:creationId id="{5262421B-FF17-444A-A896-9707D7A4BCB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DE90FC6D-0BB3-4429-8E4B-DAAD11739F31}"/>
              </a:ext>
            </a:extLst>
          </p:cNvPr>
          <p:cNvSpPr>
            <a:spLocks noGrp="1"/>
          </p:cNvSpPr>
          <p:nvPr/>
        </p:nvSpPr>
        <p:spPr>
          <a:xfrm>
            <a:off x="5086350" y="29622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F229EE3-3C98-45A3-9064-A0AF3B124792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ns2:creationId id="{064F1BB1-1950-4459-B459-DA617AB80180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링크 하나로 들어오고, 입력은 두 개만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CB919679-29CB-4957-92CF-780E0E28150E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ns2:creationId id="{7606D9C6-191A-48AD-8399-944901A3E90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8AD24D8C-08B4-408B-8114-832435E20A7E}"/>
              </a:ext>
            </a:extLst>
          </p:cNvPr>
          <p:cNvSpPr>
            <a:spLocks noGrp="1"/>
          </p:cNvSpPr>
          <p:nvPr/>
        </p:nvSpPr>
        <p:spPr>
          <a:xfrm>
            <a:off x="5086350" y="37433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1E315899-187F-4F25-9AC7-3253866DBC0A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0D438294-0380-46C0-8576-A683E3256E0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 조건을 같은 비중으로 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582B5B15-DE6F-4A95-8D6F-7697824C262F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ns2:creationId id="{35990895-357E-4CDA-B9A9-6A2B8020C2A9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화살표: 오른쪽 24">
            <a:extLst>
              <a:ext uri="{FF2B5EF4-FFF2-40B4-BE49-F238E27FC236}">
                <ns2:creationId id="{EB5E1206-08AF-4DBB-B02E-D146A409A8A3}"/>
              </a:ext>
            </a:extLst>
          </p:cNvPr>
          <p:cNvSpPr>
            <a:spLocks noGrp="1"/>
          </p:cNvSpPr>
          <p:nvPr/>
        </p:nvSpPr>
        <p:spPr>
          <a:xfrm>
            <a:off x="5086350" y="45243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사각형: 둥근 모서리 25">
            <a:extLst>
              <a:ext uri="{FF2B5EF4-FFF2-40B4-BE49-F238E27FC236}">
                <ns2:creationId id="{6891E6E3-C89C-4C52-9B4E-25ACDC19AED0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ns2:creationId id="{6150BAED-5487-4E74-9BB2-BA1C6831E085}"/>
              </a:ext>
            </a:extLst>
          </p:cNvPr>
          <p:cNvSpPr>
            <a:spLocks noGrp="1"/>
          </p:cNvSpPr>
          <p:nvPr/>
        </p:nvSpPr>
        <p:spPr>
          <a:xfrm>
            <a:off x="6438900" y="44862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정하고 나면 원래 하던 문의·방문으로 돌아감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E5B2A39-5556-4798-9313-E44EB5AD2CB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534650" cy="685800"/>
          </a:xfrm>
          <a:prstGeom prst="roundRect">
            <a:avLst>
              <a:gd name="adj" fmla="val 16667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D3CCCAEB-D118-4734-A444-B49ECD86085B}"/>
              </a:ext>
            </a:extLst>
          </p:cNvPr>
          <p:cNvSpPr>
            <a:spLocks noGrp="1"/>
          </p:cNvSpPr>
          <p:nvPr/>
        </p:nvSpPr>
        <p:spPr>
          <a:xfrm>
            <a:off x="895350" y="556387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여기가 급소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3768235F-F969-4B42-BB35-2B0DAE6440E7}"/>
              </a:ext>
            </a:extLst>
          </p:cNvPr>
          <p:cNvSpPr>
            <a:spLocks noGrp="1"/>
          </p:cNvSpPr>
          <p:nvPr/>
        </p:nvSpPr>
        <p:spPr>
          <a:xfrm>
            <a:off x="1981200" y="548830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초대받은 사람이 링크를 열고, 자기 조건까지 입력하는가?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03B6B004-4B2B-43DA-A6E7-2BA2FE5EB603}"/>
              </a:ext>
            </a:extLst>
          </p:cNvPr>
          <p:cNvSpPr>
            <a:spLocks noGrp="1"/>
          </p:cNvSpPr>
          <p:nvPr/>
        </p:nvSpPr>
        <p:spPr>
          <a:xfrm>
            <a:off x="8286750" y="549656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혼자서도 막히진 않게 했습니다. 다만 그걸 기본으로 삼진 않습니다.</a:t>
            </a:r>
          </a:p>
        </p:txBody>
      </p:sp>
    </p:spTree>
    <p:extLst>
      <p:ext uri="{BB962C8B-B14F-4D97-AF65-F5344CB8AC3E}">
        <ns3:creationId val="1343870297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ns2:creationId id="{1218B7D7-69FD-44D8-908A-F15F812AE29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세그먼트 맵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A245F55-AC11-4FEA-A2F1-F149A001F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처음 검증은 예비부부·신혼부부로 좁혔습니다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8582DED-50F9-410A-AA0D-5C5181CC3FAC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CC27DF6A-1D28-441F-BCFD-677C36A797B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390C326-0A4E-4121-936A-2F787F614C3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341A37CA-54A3-4960-B202-DB68FDD2BA59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13D88F36-E8D0-4E92-8AF8-27F585EA4DA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584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ns2:creationId id="{AC32D514-4943-47C7-BC7B-6108728D1AA6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8096250" cy="0"/>
          </a:xfrm>
          <a:prstGeom prst="line">
            <a:avLst/>
          </a:prstGeom>
          <a:noFill/>
          <a:ln w="476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타원 10">
            <a:extLst>
              <a:ext uri="{FF2B5EF4-FFF2-40B4-BE49-F238E27FC236}">
                <ns2:creationId id="{21DB47B1-B947-46ED-BA20-5D8893C87998}"/>
              </a:ext>
            </a:extLst>
          </p:cNvPr>
          <p:cNvSpPr>
            <a:spLocks noGrp="1"/>
          </p:cNvSpPr>
          <p:nvPr/>
        </p:nvSpPr>
        <p:spPr>
          <a:xfrm>
            <a:off x="1790700" y="2667000"/>
            <a:ext cx="266700" cy="2667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ns2:creationId id="{80794005-23DA-4E31-93DD-531165BB4AE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266700" cy="2667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EE86C17A-BB4A-4C37-B4B8-9DE7D1783972}"/>
              </a:ext>
            </a:extLst>
          </p:cNvPr>
          <p:cNvSpPr>
            <a:spLocks noGrp="1"/>
          </p:cNvSpPr>
          <p:nvPr/>
        </p:nvSpPr>
        <p:spPr>
          <a:xfrm>
            <a:off x="13811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공동 의지 높음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B73ED8C9-161D-4D9B-B293-2B8659A59155}"/>
              </a:ext>
            </a:extLst>
          </p:cNvPr>
          <p:cNvSpPr>
            <a:spLocks noGrp="1"/>
          </p:cNvSpPr>
          <p:nvPr/>
        </p:nvSpPr>
        <p:spPr>
          <a:xfrm>
            <a:off x="88106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공동 의지 낮음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8D240577-F6B4-4487-A016-88D3DFDAE15A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D862141E-18A8-4828-B91E-D1D18550CFB3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AA7B37E8-7E39-4343-B9E2-B82786752239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2AD94AB-9461-462D-AEDA-980FDB706852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8EE2709E-6588-4C54-8912-773C7D4249A9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ns2:creationId id="{B389AA4D-5EBF-4A9D-A38B-E1DE20943AB3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8730C855-CBA0-4507-ADD3-ACFC1224CFE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 공동 주거 탐색자 2인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ns2:creationId id="{EB6FB9CD-624E-46E1-BE42-1DCDB7527815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ns2:creationId id="{9A8AF525-BEB3-4233-AE04-F93699ED592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검증 대상 조건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203F2808-B111-4277-BFA2-C69E2699D08C}"/>
              </a:ext>
            </a:extLst>
          </p:cNvPr>
          <p:cNvSpPr>
            <a:spLocks noGrp="1"/>
          </p:cNvSpPr>
          <p:nvPr/>
        </p:nvSpPr>
        <p:spPr>
          <a:xfrm>
            <a:off x="2286000" y="4591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둘 다 실제로 각자 의견을 내는 관계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A3DBA85C-2CEB-4D7B-9478-FB88F647D788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ns2:creationId id="{86704E0F-E848-49C2-80FB-0E9FA45303C9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4761C859-F7A1-4C2B-9732-8A71F24EEE46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3인 이상 · 부모–자녀 · 한 사람이 정하고 다른 사람은 동의만 하는 관계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02F3F1D4-9510-44D3-B3FC-D9F7ECCF281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가상 페르소나는 만들지 않았습니다 — 나이·직업·소득을 조사한 적이 없어서, 지어내는 대신 관계 유형으로 나눴습니다</a:t>
            </a:r>
          </a:p>
        </p:txBody>
      </p:sp>
    </p:spTree>
    <p:extLst>
      <p:ext uri="{BB962C8B-B14F-4D97-AF65-F5344CB8AC3E}">
        <ns3:creationId val="888504193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ns2:creationId id="{A75354A4-2908-4C50-B14E-8E5D0FE415A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두 사람의 역할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D37357F-9B0C-490F-AD3D-ED14978D9F3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매물 비교 참여자는 둘이고, 결정 권한은 같습니다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A6FADEA-D8F8-40F5-BB53-2F236BAE25C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34A2F7FB-39B7-4B68-B497-26844A74F9A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A = 먼저 시작해 초대하는 사람      ·      B = 링크를 받고 들어오는 사람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E12EC3FD-5767-465E-82AB-5B6DDE92D0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B9C1C28-E766-4046-8D89-93BD704AAF1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C320F882-6C26-450D-B916-AD16B257AC32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2B7EC124-4E4D-4ECE-80E2-C53B9D690475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A · 초대하는 사람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C26E6F00-5BE9-4220-B21B-9EA078727B5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17526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B · 초대받은 사람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0082A878-8381-4210-B7D2-77623AA47A6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  <a:endParaRPr sz="14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ns2:creationId id="{264E4BA5-98CD-4237-B4E8-236CE2AE4CA4}"/>
              </a:ext>
            </a:extLst>
          </p:cNvPr>
          <p:cNvSpPr>
            <a:spLocks noGrp="1"/>
          </p:cNvSpPr>
          <p:nvPr/>
        </p:nvSpPr>
        <p:spPr>
          <a:xfrm>
            <a:off x="19050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탐색·저장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중</a:t>
            </a:r>
          </a:p>
        </p:txBody>
      </p:sp>
      <p:sp>
        <p:nvSpPr>
          <p:cNvPr id="12" name="직선 연결선 11">
            <a:extLst>
              <a:ext uri="{FF2B5EF4-FFF2-40B4-BE49-F238E27FC236}">
                <ns2:creationId id="{3096259B-2C26-4408-B41D-5D3E97BD24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DD7ED7CB-7093-4D88-BC16-B7BDBD6EB4D5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6C5AACA1-EB6A-49ED-9EF8-38AA295802D2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직선 연결선 14">
            <a:extLst>
              <a:ext uri="{FF2B5EF4-FFF2-40B4-BE49-F238E27FC236}">
                <ns2:creationId id="{D4AEDD30-9588-43D1-9815-6920AA416EAD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2A4A77D3-DFE4-4DE0-9FF6-72ACA60F4BF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EC7DF403-E853-48A5-B46F-81566677D4F1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EB458917-2FCC-425F-AC54-16A98370477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258466F7-DBD2-415F-9345-1CEFCE56C1C5}"/>
              </a:ext>
            </a:extLst>
          </p:cNvPr>
          <p:cNvSpPr>
            <a:spLocks noGrp="1"/>
          </p:cNvSpPr>
          <p:nvPr/>
        </p:nvSpPr>
        <p:spPr>
          <a:xfrm>
            <a:off x="93345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필요 이유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E3415486-C740-495C-A91B-ECE5E1234DCB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직선 연결선 20">
            <a:extLst>
              <a:ext uri="{FF2B5EF4-FFF2-40B4-BE49-F238E27FC236}">
                <ns2:creationId id="{5ED9BFAA-AD03-4A81-995A-F6DD3ED83F1D}"/>
              </a:ext>
            </a:extLst>
          </p:cNvPr>
          <p:cNvSpPr>
            <a:spLocks noGrp="1"/>
          </p:cNvSpPr>
          <p:nvPr/>
        </p:nvSpPr>
        <p:spPr>
          <a:xfrm>
            <a:off x="93345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E280EBF-5592-4789-B119-4B7CC9CC8174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15F2F0D6-C55C-4F75-811E-879DF9E0A1A7}"/>
              </a:ext>
            </a:extLst>
          </p:cNvPr>
          <p:cNvSpPr>
            <a:spLocks noGrp="1"/>
          </p:cNvSpPr>
          <p:nvPr/>
        </p:nvSpPr>
        <p:spPr>
          <a:xfrm>
            <a:off x="190500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BAAC8A43-DB2D-485A-B83A-6621F3F63DA4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74067A7E-0164-4FB8-8161-AFBCF73A78BD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6D005095-8C27-42E9-9DC7-05F7DDDBB3D4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카카오톡으로 받은 링크를 엶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6635DEB9-71D1-497A-A661-3909844F871E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8F21E0D9-1E50-4F0D-B12B-5CA3ED0352D9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D46AEB53-AF99-4D35-A5DE-9475CF52BD40}"/>
              </a:ext>
            </a:extLst>
          </p:cNvPr>
          <p:cNvSpPr>
            <a:spLocks noGrp="1"/>
          </p:cNvSpPr>
          <p:nvPr/>
        </p:nvSpPr>
        <p:spPr>
          <a:xfrm>
            <a:off x="760095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집들과 A의 조건을 먼저 확인</a:t>
            </a:r>
          </a:p>
        </p:txBody>
      </p:sp>
      <p:sp>
        <p:nvSpPr>
          <p:cNvPr id="30" name="직선 연결선 29">
            <a:extLst>
              <a:ext uri="{FF2B5EF4-FFF2-40B4-BE49-F238E27FC236}">
                <ns2:creationId id="{AB6179FF-E509-45D9-A181-282DD13B6113}"/>
              </a:ext>
            </a:extLst>
          </p:cNvPr>
          <p:cNvSpPr>
            <a:spLocks noGrp="1"/>
          </p:cNvSpPr>
          <p:nvPr/>
        </p:nvSpPr>
        <p:spPr>
          <a:xfrm>
            <a:off x="662940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33ACFFEC-E393-4E41-B9DC-C94FA06DAFD9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DD6AF3F7-B031-4FA4-9E96-C03F66B45A24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직선 연결선 32">
            <a:extLst>
              <a:ext uri="{FF2B5EF4-FFF2-40B4-BE49-F238E27FC236}">
                <ns2:creationId id="{6B596F6B-17F3-4989-82D9-B56D2A218EBF}"/>
              </a:ext>
            </a:extLst>
          </p:cNvPr>
          <p:cNvSpPr>
            <a:spLocks noGrp="1"/>
          </p:cNvSpPr>
          <p:nvPr/>
        </p:nvSpPr>
        <p:spPr>
          <a:xfrm>
            <a:off x="662940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9FF2132D-0137-401B-9EC9-357F5477E9B4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필요 이유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E6A21B01-14C5-407E-8073-B6B53E8E9BFE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왜 불렀는지 알고 조금만 입력</a:t>
            </a:r>
          </a:p>
        </p:txBody>
      </p:sp>
      <p:sp>
        <p:nvSpPr>
          <p:cNvPr id="36" name="직선 연결선 35">
            <a:extLst>
              <a:ext uri="{FF2B5EF4-FFF2-40B4-BE49-F238E27FC236}">
                <ns2:creationId id="{F06AAC49-7E5F-4ABA-941E-F706BA32C488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6A4B44A9-F092-4A3C-A210-75ED2E71AF89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C550EEA8-12B2-49BC-9F79-F43C6D99E3B9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직선 연결선 38">
            <a:extLst>
              <a:ext uri="{FF2B5EF4-FFF2-40B4-BE49-F238E27FC236}">
                <ns2:creationId id="{F5DB91F1-BE8B-4086-96AC-163D903F6709}"/>
              </a:ext>
            </a:extLst>
          </p:cNvPr>
          <p:cNvSpPr>
            <a:spLocks noGrp="1"/>
          </p:cNvSpPr>
          <p:nvPr/>
        </p:nvSpPr>
        <p:spPr>
          <a:xfrm>
            <a:off x="662940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화살표: 오른쪽 39">
            <a:extLst>
              <a:ext uri="{FF2B5EF4-FFF2-40B4-BE49-F238E27FC236}">
                <ns2:creationId id="{8109D5F3-3D5D-4DE8-B54D-CCE5C8AAB9E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5524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71D35E49-4DB5-4FE6-A51F-32BA08B5766D}"/>
              </a:ext>
            </a:extLst>
          </p:cNvPr>
          <p:cNvSpPr>
            <a:spLocks noGrp="1"/>
          </p:cNvSpPr>
          <p:nvPr/>
        </p:nvSpPr>
        <p:spPr>
          <a:xfrm>
            <a:off x="5734050" y="3676650"/>
            <a:ext cx="72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권한은 같습니다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ns2:creationId id="{060F216A-22FB-4450-8AEC-F0B4CA196576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CDF5640C-C078-42F3-9FDC-59F6D76BDC72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A가 B의 조건을 대신 바꾸지 않습니다 · 진입 맥락은 달라도 결정 비중은 같습니다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90836191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ns2:creationId id="{37E38600-8751-4065-A9F6-25C83D1285E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여정지도 · JTBD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A18E7FF-5341-49F6-9885-93DE8F470C6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6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지금은 앱을 여러 번 오가고, 그때마다 맥락이 끊깁니다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8FACDA7-F7D1-45DA-963F-172A03A60C5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FAF91A76-68C1-467A-AEB9-53B27E57A99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타원 5">
            <a:extLst>
              <a:ext uri="{FF2B5EF4-FFF2-40B4-BE49-F238E27FC236}">
                <ns2:creationId id="{26E29614-FB4D-4EA7-A115-491BA94EDB4E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선 연결선 6">
            <a:extLst>
              <a:ext uri="{FF2B5EF4-FFF2-40B4-BE49-F238E27FC236}">
                <ns2:creationId id="{AD9C33A4-FDE2-48DD-A108-EC7B542FD223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ns2:creationId id="{4648E4BA-894D-4959-8B14-AB134DA6A0C3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F590398E-EFE8-42CA-A3D4-96AA046D559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타원 9">
            <a:extLst>
              <a:ext uri="{FF2B5EF4-FFF2-40B4-BE49-F238E27FC236}">
                <ns2:creationId id="{E7E81449-8DDF-4A09-A283-CF5B3DA13D5A}"/>
              </a:ext>
            </a:extLst>
          </p:cNvPr>
          <p:cNvSpPr>
            <a:spLocks noGrp="1"/>
          </p:cNvSpPr>
          <p:nvPr/>
        </p:nvSpPr>
        <p:spPr>
          <a:xfrm>
            <a:off x="25146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879898E6-90CF-4A7D-9A25-BCF693488A88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7F6DB321-B83A-431D-8713-B2B733521921}"/>
              </a:ext>
            </a:extLst>
          </p:cNvPr>
          <p:cNvSpPr>
            <a:spLocks noGrp="1"/>
          </p:cNvSpPr>
          <p:nvPr/>
        </p:nvSpPr>
        <p:spPr>
          <a:xfrm>
            <a:off x="20193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99CBDC07-0D77-475F-8A95-F23D09288E53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타원 13">
            <a:extLst>
              <a:ext uri="{FF2B5EF4-FFF2-40B4-BE49-F238E27FC236}">
                <ns2:creationId id="{075B3FEA-19C4-4A1A-8DB6-0E639E6280AF}"/>
              </a:ext>
            </a:extLst>
          </p:cNvPr>
          <p:cNvSpPr>
            <a:spLocks noGrp="1"/>
          </p:cNvSpPr>
          <p:nvPr/>
        </p:nvSpPr>
        <p:spPr>
          <a:xfrm>
            <a:off x="39052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선 연결선 14">
            <a:extLst>
              <a:ext uri="{FF2B5EF4-FFF2-40B4-BE49-F238E27FC236}">
                <ns2:creationId id="{A2336E9A-78AB-48CF-BC7A-B07FB976CFAA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78A59A90-E3A2-4D56-9C37-8D279522E6BE}"/>
              </a:ext>
            </a:extLst>
          </p:cNvPr>
          <p:cNvSpPr>
            <a:spLocks noGrp="1"/>
          </p:cNvSpPr>
          <p:nvPr/>
        </p:nvSpPr>
        <p:spPr>
          <a:xfrm>
            <a:off x="34099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BACE9670-9F3D-45FC-B354-30B9F016B244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타원 17">
            <a:extLst>
              <a:ext uri="{FF2B5EF4-FFF2-40B4-BE49-F238E27FC236}">
                <ns2:creationId id="{EF43696C-97C6-4C9E-B834-9536A9ABDE3E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선 연결선 18">
            <a:extLst>
              <a:ext uri="{FF2B5EF4-FFF2-40B4-BE49-F238E27FC236}">
                <ns2:creationId id="{B89A3018-0723-4917-B0D4-E81BE819DB1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ns2:creationId id="{F4B7F701-0254-45D1-B3B3-6EF982550FC2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BAFE7820-F24F-4F6E-8893-F3373071674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타원 21">
            <a:extLst>
              <a:ext uri="{FF2B5EF4-FFF2-40B4-BE49-F238E27FC236}">
                <ns2:creationId id="{B1A8A2EA-E849-498B-B307-F32F4AEDC229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선 연결선 22">
            <a:extLst>
              <a:ext uri="{FF2B5EF4-FFF2-40B4-BE49-F238E27FC236}">
                <ns2:creationId id="{ABEA76D1-0D66-4DC4-9AD2-147E99AC7D7F}"/>
              </a:ext>
            </a:extLst>
          </p:cNvPr>
          <p:cNvSpPr>
            <a:spLocks noGrp="1"/>
          </p:cNvSpPr>
          <p:nvPr/>
        </p:nvSpPr>
        <p:spPr>
          <a:xfrm>
            <a:off x="68580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ns2:creationId id="{E707035A-5F54-452D-9982-368774F97B9C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DFCE27A8-70C0-4277-9189-BB6A6F7750B9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C9E51D01-5BC1-400A-9227-837C0AEA26A3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71450" cy="1714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선 연결선 26">
            <a:extLst>
              <a:ext uri="{FF2B5EF4-FFF2-40B4-BE49-F238E27FC236}">
                <ns2:creationId id="{711D748F-79F1-4197-9C4D-52DD9FF7BAFA}"/>
              </a:ext>
            </a:extLst>
          </p:cNvPr>
          <p:cNvSpPr>
            <a:spLocks noGrp="1"/>
          </p:cNvSpPr>
          <p:nvPr/>
        </p:nvSpPr>
        <p:spPr>
          <a:xfrm>
            <a:off x="8248650" y="2295525"/>
            <a:ext cx="1219200" cy="0"/>
          </a:xfrm>
          <a:prstGeom prst="line">
            <a:avLst/>
          </a:prstGeom>
          <a:noFill/>
          <a:ln w="19050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61B71336-248B-49E5-8668-2005812FE2D4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7D04D48-18E9-46F4-8E18-3FE31C87FD42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타원 29">
            <a:extLst>
              <a:ext uri="{FF2B5EF4-FFF2-40B4-BE49-F238E27FC236}">
                <ns2:creationId id="{4C8EFA0C-2595-4408-8A10-38A3A2122B77}"/>
              </a:ext>
            </a:extLst>
          </p:cNvPr>
          <p:cNvSpPr>
            <a:spLocks noGrp="1"/>
          </p:cNvSpPr>
          <p:nvPr/>
        </p:nvSpPr>
        <p:spPr>
          <a:xfrm>
            <a:off x="94678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선 연결선 30">
            <a:extLst>
              <a:ext uri="{FF2B5EF4-FFF2-40B4-BE49-F238E27FC236}">
                <ns2:creationId id="{1B6BB4C9-7B7F-47E3-AA87-B1BAAC54CD33}"/>
              </a:ext>
            </a:extLst>
          </p:cNvPr>
          <p:cNvSpPr>
            <a:spLocks noGrp="1"/>
          </p:cNvSpPr>
          <p:nvPr/>
        </p:nvSpPr>
        <p:spPr>
          <a:xfrm>
            <a:off x="96393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6E23B766-C64D-49CF-AB94-FBAFEE02E4D1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8E79551B-B2C7-4228-ADB7-D5E6BABB5CFE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타원 33">
            <a:extLst>
              <a:ext uri="{FF2B5EF4-FFF2-40B4-BE49-F238E27FC236}">
                <ns2:creationId id="{227D3852-8D5F-491E-9B35-1569156B2016}"/>
              </a:ext>
            </a:extLst>
          </p:cNvPr>
          <p:cNvSpPr>
            <a:spLocks noGrp="1"/>
          </p:cNvSpPr>
          <p:nvPr/>
        </p:nvSpPr>
        <p:spPr>
          <a:xfrm>
            <a:off x="108585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ns2:creationId id="{8488CCB6-6595-4248-967D-607455EFCB81}"/>
              </a:ext>
            </a:extLst>
          </p:cNvPr>
          <p:cNvSpPr>
            <a:spLocks noGrp="1"/>
          </p:cNvSpPr>
          <p:nvPr/>
        </p:nvSpPr>
        <p:spPr>
          <a:xfrm>
            <a:off x="103632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A8EE2DE1-298B-44CA-9D8D-2A65D78ADAF4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65423F00-3322-441A-A9E6-5FE5494F1BC7}"/>
              </a:ext>
            </a:extLst>
          </p:cNvPr>
          <p:cNvSpPr>
            <a:spLocks noGrp="1"/>
          </p:cNvSpPr>
          <p:nvPr/>
        </p:nvSpPr>
        <p:spPr>
          <a:xfrm>
            <a:off x="695325" y="31242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추론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3AB9D689-00FC-413C-A327-481F108E2AD2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초대받은 사람이 맥락을 모르는 것, 의견 기준이 정리 안 된 것 — 둘 다 아직 안 재봤습니다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1F085F63-6B75-472C-BE5D-D1B130872A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ns2:creationId id="{5B5FDC12-D162-4B90-90B6-D9DF3CD63E7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JTBD · 진짜 하려는 일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249E62A2-1E65-4794-B7D9-FCC7854C4F14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1036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이미 저장한 관심매물 중, 감수할 조건을 알고 이번에 보러 갈 집 두 곳을 정합니다.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5374DEE6-27D9-4E97-9793-7493BA31040D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결과</a:t>
            </a:r>
          </a:p>
        </p:txBody>
      </p:sp>
      <p:sp>
        <p:nvSpPr>
          <p:cNvPr id="43" name="직사각형 42">
            <a:extLst>
              <a:ext uri="{FF2B5EF4-FFF2-40B4-BE49-F238E27FC236}">
                <ns2:creationId id="{73A16659-A092-4359-B350-15BA23695BA1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보러 갈 집 2개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4EACD91D-C051-4D1A-BD7D-17E2F469BD2F}"/>
              </a:ext>
            </a:extLst>
          </p:cNvPr>
          <p:cNvSpPr>
            <a:spLocks noGrp="1"/>
          </p:cNvSpPr>
          <p:nvPr/>
        </p:nvSpPr>
        <p:spPr>
          <a:xfrm>
            <a:off x="4486275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판단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D5B8982E-0112-40F9-BD2F-692246BEAADE}"/>
              </a:ext>
            </a:extLst>
          </p:cNvPr>
          <p:cNvSpPr>
            <a:spLocks noGrp="1"/>
          </p:cNvSpPr>
          <p:nvPr/>
        </p:nvSpPr>
        <p:spPr>
          <a:xfrm>
            <a:off x="52959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얼마나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직사각형 45">
            <a:extLst>
              <a:ext uri="{FF2B5EF4-FFF2-40B4-BE49-F238E27FC236}">
                <ns2:creationId id="{3D6D6AAA-FBF9-44C2-8112-11BD7A38A277}"/>
              </a:ext>
            </a:extLst>
          </p:cNvPr>
          <p:cNvSpPr>
            <a:spLocks noGrp="1"/>
          </p:cNvSpPr>
          <p:nvPr/>
        </p:nvSpPr>
        <p:spPr>
          <a:xfrm>
            <a:off x="786765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관계</a:t>
            </a:r>
          </a:p>
        </p:txBody>
      </p:sp>
      <p:sp>
        <p:nvSpPr>
          <p:cNvPr id="47" name="직사각형 46">
            <a:extLst>
              <a:ext uri="{FF2B5EF4-FFF2-40B4-BE49-F238E27FC236}">
                <ns2:creationId id="{AB38E168-F31D-4772-8FF8-80885375E6FA}"/>
              </a:ext>
            </a:extLst>
          </p:cNvPr>
          <p:cNvSpPr>
            <a:spLocks noGrp="1"/>
          </p:cNvSpPr>
          <p:nvPr/>
        </p:nvSpPr>
        <p:spPr>
          <a:xfrm>
            <a:off x="885825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비중으로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ns2:creationId id="{3568D738-CDB4-4E11-8DC9-388182203C6E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ns3:creationId val="681026862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ns2:creationId id="{3CADC45C-7D01-4C0C-A216-E78AB2328BC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시장기회 · 기회점수(OS)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37BCF11-8D72-40C9-B73D-D38EE6CE268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기회는 의견 교환 단계에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7D621105-7920-4022-8A8D-E002C873CE4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E0F41C5D-0C8D-4182-9E20-8AD7CB8A2A2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5C20C2C-17EC-4AAA-B160-8AD7E08AA01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0DBEFD84-9416-49A3-9F6A-5FB2CDF00BB0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4FE85A80-9FB3-4B37-8925-EA0DB78DC452}"/>
              </a:ext>
            </a:extLst>
          </p:cNvPr>
          <p:cNvSpPr>
            <a:spLocks noGrp="1"/>
          </p:cNvSpPr>
          <p:nvPr/>
        </p:nvSpPr>
        <p:spPr>
          <a:xfrm>
            <a:off x="21907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6ED410A4-D931-47C8-B87B-6047708757ED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F753B334-19CF-43EF-9489-F783EA4C2F0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0456253D-8086-4DE7-8A3B-972F2083AC88}"/>
              </a:ext>
            </a:extLst>
          </p:cNvPr>
          <p:cNvSpPr>
            <a:spLocks noGrp="1"/>
          </p:cNvSpPr>
          <p:nvPr/>
        </p:nvSpPr>
        <p:spPr>
          <a:xfrm>
            <a:off x="39433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9F6964C-3090-4A6C-B921-DD23B24848A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85402601-639B-4698-B5B5-8A75CEBC695B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B1C17211-8981-453C-B460-FA25CC4DF463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CF7F9B26-DC61-4317-B1D1-8C9B1545B40D}"/>
              </a:ext>
            </a:extLst>
          </p:cNvPr>
          <p:cNvSpPr>
            <a:spLocks noGrp="1"/>
          </p:cNvSpPr>
          <p:nvPr/>
        </p:nvSpPr>
        <p:spPr>
          <a:xfrm>
            <a:off x="5981700" y="1724025"/>
            <a:ext cx="1466850" cy="914400"/>
          </a:xfrm>
          <a:prstGeom prst="roundRect">
            <a:avLst>
              <a:gd name="adj" fmla="val 1041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4A01EA35-A444-4FE1-8E0A-4409D4D6FA97}"/>
              </a:ext>
            </a:extLst>
          </p:cNvPr>
          <p:cNvSpPr>
            <a:spLocks noGrp="1"/>
          </p:cNvSpPr>
          <p:nvPr/>
        </p:nvSpPr>
        <p:spPr>
          <a:xfrm>
            <a:off x="6076950" y="2028825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교환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ns2:creationId id="{85319C83-D9FB-40C6-B5B2-6AF260586230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28575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E784010D-B677-4C7F-BF37-DBE6032AC700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C86D2297-BFCE-44D5-AB4D-C523F3BBC1DF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14CC79CE-B9F5-4FD1-B0A9-D3E2A4FE78C5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42CB275-99A3-4B6C-B90A-84C4DBC534AD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1EAEA88-7CBC-4B36-8E2A-04AF0DB8DE31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23" name="화살표: 오른쪽 22">
            <a:extLst>
              <a:ext uri="{FF2B5EF4-FFF2-40B4-BE49-F238E27FC236}">
                <ns2:creationId id="{1620480F-9B8B-49B4-B8C8-3705F7F0F34C}"/>
              </a:ext>
            </a:extLst>
          </p:cNvPr>
          <p:cNvSpPr>
            <a:spLocks noGrp="1"/>
          </p:cNvSpPr>
          <p:nvPr/>
        </p:nvSpPr>
        <p:spPr>
          <a:xfrm rot="5400000">
            <a:off x="6528916" y="2759634"/>
            <a:ext cx="372417" cy="671983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27C82907-29A7-4D14-B3F0-0271D2E40D26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5105400" cy="1790700"/>
          </a:xfrm>
          <a:prstGeom prst="roundRect">
            <a:avLst>
              <a:gd name="adj" fmla="val 85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58654E97-66DE-46B5-A7AE-15497382C052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왜 여기가 먼저인가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9B769384-F45A-4294-8ED9-10B7822E203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F46A7F42-4DFE-4B95-9B86-19C1238AE6EF}"/>
              </a:ext>
            </a:extLst>
          </p:cNvPr>
          <p:cNvSpPr>
            <a:spLocks noGrp="1"/>
          </p:cNvSpPr>
          <p:nvPr/>
        </p:nvSpPr>
        <p:spPr>
          <a:xfrm>
            <a:off x="4743450" y="399097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다른 도구로 대신할 수 없는, 사람 사이의 문제</a:t>
            </a:r>
            <a:endParaRPr sz="140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타원 27">
            <a:extLst>
              <a:ext uri="{FF2B5EF4-FFF2-40B4-BE49-F238E27FC236}">
                <ns2:creationId id="{FCCFB3F3-0DA7-40E5-BD70-8C8098E592CD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4CE8C50A-AB87-48E1-AD5B-452BF15C0A72}"/>
              </a:ext>
            </a:extLst>
          </p:cNvPr>
          <p:cNvSpPr>
            <a:spLocks noGrp="1"/>
          </p:cNvSpPr>
          <p:nvPr/>
        </p:nvSpPr>
        <p:spPr>
          <a:xfrm>
            <a:off x="4743450" y="43434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“그냥 별로”가 선택 근거로 이어지지 않습니다 [추론]</a:t>
            </a:r>
          </a:p>
        </p:txBody>
      </p:sp>
      <p:sp>
        <p:nvSpPr>
          <p:cNvPr id="30" name="타원 29">
            <a:extLst>
              <a:ext uri="{FF2B5EF4-FFF2-40B4-BE49-F238E27FC236}">
                <ns2:creationId id="{B4CC57B3-F37A-4C93-A7D7-E4147D6BF908}"/>
              </a:ext>
            </a:extLst>
          </p:cNvPr>
          <p:cNvSpPr>
            <a:spLocks noGrp="1"/>
          </p:cNvSpPr>
          <p:nvPr/>
        </p:nvSpPr>
        <p:spPr>
          <a:xfrm>
            <a:off x="4572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E7E525E2-70A7-48B4-B164-B43FB02A42AC}"/>
              </a:ext>
            </a:extLst>
          </p:cNvPr>
          <p:cNvSpPr>
            <a:spLocks noGrp="1"/>
          </p:cNvSpPr>
          <p:nvPr/>
        </p:nvSpPr>
        <p:spPr>
          <a:xfrm>
            <a:off x="4743450" y="469582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여기서 막히면 앞에서 비교한 게 다 무효가 됩니다 [추론]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317179AB-B886-44D6-AF87-6D6B578AF3D2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314325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F51AB8B2-204D-40D3-B67A-90D606C90F5B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기회점수(OS)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59EC0983-FE00-45C8-9BC3-47A8DAD36D29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중요도·만족도 원자료가</a:t>
            </a:r>
          </a:p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없어 계산하지 않았습니다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16390492-B588-46F1-A708-1A66B311E311}"/>
              </a:ext>
            </a:extLst>
          </p:cNvPr>
          <p:cNvSpPr>
            <a:spLocks noGrp="1"/>
          </p:cNvSpPr>
          <p:nvPr/>
        </p:nvSpPr>
        <p:spPr>
          <a:xfrm>
            <a:off x="933450" y="4777366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EABDD4A-D484-466F-B6DD-B391E43AB2F6}"/>
              </a:ext>
            </a:extLst>
          </p:cNvPr>
          <p:cNvSpPr>
            <a:spLocks noGrp="1"/>
          </p:cNvSpPr>
          <p:nvPr/>
        </p:nvSpPr>
        <p:spPr>
          <a:xfrm>
            <a:off x="1962150" y="4777366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원자료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없음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EA49020E-C890-4328-BDCB-86229642369B}"/>
              </a:ext>
            </a:extLst>
          </p:cNvPr>
          <p:cNvSpPr>
            <a:spLocks noGrp="1"/>
          </p:cNvSpPr>
          <p:nvPr/>
        </p:nvSpPr>
        <p:spPr>
          <a:xfrm>
            <a:off x="10001250" y="3619500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수치 미정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57BC2BF7-2965-4BE7-A672-6C6CE96F1AFD}"/>
              </a:ext>
            </a:extLst>
          </p:cNvPr>
          <p:cNvSpPr>
            <a:spLocks noGrp="1"/>
          </p:cNvSpPr>
          <p:nvPr/>
        </p:nvSpPr>
        <p:spPr>
          <a:xfrm>
            <a:off x="9582150" y="4057650"/>
            <a:ext cx="1771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조사한 뒤에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다시 판단합니다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885542310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ns2:creationId id="{249F2BA1-E2ED-4EF9-A5BE-AD7292B816D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근거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71E665E-3D10-47DB-A3DF-EFEA3E74990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충돌은 공개 자료로 확인됐습니다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B230C1C7-61BF-47BD-A13F-FD6032AA0A1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13DC004D-49ED-49B5-8464-8628DD1EC68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81BC484-4D12-4EDA-9E71-35A2DE7498E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ECCCE6F1-4AF2-4D8F-9F19-0F03F3DF7547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A6F03016-7662-45A8-BB87-E7733638AE4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F1B184BA-C584-49F8-8916-16E75851CC7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DF6C290F-20E5-435E-B864-D16812EC02C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직사각형 10">
            <a:extLst>
              <a:ext uri="{FF2B5EF4-FFF2-40B4-BE49-F238E27FC236}">
                <ns2:creationId id="{1078C864-CEDE-4B67-8E2C-6317DEDD9539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1E970D86-0F58-4878-BF77-54AF35AAAACF}"/>
              </a:ext>
            </a:extLst>
          </p:cNvPr>
          <p:cNvSpPr>
            <a:spLocks noGrp="1"/>
          </p:cNvSpPr>
          <p:nvPr/>
        </p:nvSpPr>
        <p:spPr>
          <a:xfrm>
            <a:off x="417195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47253DE6-1DD3-44E9-AF0C-E01A12DA109C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A51E919-25EC-490E-89DC-15626FE0E58D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B420C338-50DA-420C-83E3-F39F3F29CA62}"/>
              </a:ext>
            </a:extLst>
          </p:cNvPr>
          <p:cNvSpPr>
            <a:spLocks noGrp="1"/>
          </p:cNvSpPr>
          <p:nvPr/>
        </p:nvSpPr>
        <p:spPr>
          <a:xfrm>
            <a:off x="436245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8002B158-A303-4B4B-811D-A7F5A56E70CE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891E8991-D1E5-41E5-8B52-9CBBFD3379B1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2870DF56-D82A-4E1B-83FA-3E12808DE49C}"/>
              </a:ext>
            </a:extLst>
          </p:cNvPr>
          <p:cNvSpPr>
            <a:spLocks noGrp="1"/>
          </p:cNvSpPr>
          <p:nvPr/>
        </p:nvSpPr>
        <p:spPr>
          <a:xfrm>
            <a:off x="76581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D0499D17-48CD-46C3-979C-B9C149616270}"/>
              </a:ext>
            </a:extLst>
          </p:cNvPr>
          <p:cNvSpPr>
            <a:spLocks noGrp="1"/>
          </p:cNvSpPr>
          <p:nvPr/>
        </p:nvSpPr>
        <p:spPr>
          <a:xfrm>
            <a:off x="78486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형태만 확인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87659FAA-EB9A-40AB-8885-664079D00E85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함께 쓰는 도구가 있습니다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1AB4339B-9317-4A6F-B07B-E8F8212E190D}"/>
              </a:ext>
            </a:extLst>
          </p:cNvPr>
          <p:cNvSpPr>
            <a:spLocks noGrp="1"/>
          </p:cNvSpPr>
          <p:nvPr/>
        </p:nvSpPr>
        <p:spPr>
          <a:xfrm>
            <a:off x="7848599" y="2628900"/>
            <a:ext cx="310515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22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앱 3종 · </a:t>
            </a: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TwoKeys</a:t>
            </a:r>
            <a:endParaRPr sz="220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ns2:creationId id="{3B600220-F145-46B4-94A1-4DCD20D53906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이런 형태가 있다는 것만 확인됨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573B8EB6-1C25-4BFE-910C-21B36DF91B79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8B504837-11DE-46B6-91CB-3B0F7A49013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4381500" cy="1123950"/>
          </a:xfrm>
          <a:prstGeom prst="roundRect">
            <a:avLst>
              <a:gd name="adj" fmla="val 1016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591CCC59-00BB-48A3-B83B-AE4A27F1310F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조건이 부딪힙니다</a:t>
            </a:r>
            <a:endParaRPr sz="2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ns2:creationId id="{92101A77-5286-4EFD-AB67-1BB43358BD97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[확인]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380D588E-9519-4F7F-AE69-5E12EB9B163C}"/>
              </a:ext>
            </a:extLst>
          </p:cNvPr>
          <p:cNvSpPr>
            <a:spLocks noGrp="1"/>
          </p:cNvSpPr>
          <p:nvPr/>
        </p:nvSpPr>
        <p:spPr>
          <a:xfrm>
            <a:off x="5219700" y="4886325"/>
            <a:ext cx="1657350" cy="0"/>
          </a:xfrm>
          <a:prstGeom prst="line">
            <a:avLst/>
          </a:prstGeom>
          <a:noFill/>
          <a:ln w="28575">
            <a:solidFill>
              <a:srgbClr val="C2415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6ED125D9-EB54-4C96-933A-4881D2F86C99}"/>
              </a:ext>
            </a:extLst>
          </p:cNvPr>
          <p:cNvSpPr>
            <a:spLocks noGrp="1"/>
          </p:cNvSpPr>
          <p:nvPr/>
        </p:nvSpPr>
        <p:spPr>
          <a:xfrm>
            <a:off x="5848350" y="456247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AD786A80-6BE8-418A-B2FA-79196E2F9102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EF7CF0F5-2567-45D7-A439-E00A87B0602B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미검증</a:t>
            </a:r>
            <a:endParaRPr sz="9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ns2:creationId id="{4ED2ACFA-651B-40B7-8255-60F9682558FA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그래서 결정이 늦어집니다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ns2:creationId id="{79DB5A3D-A42D-42EF-9F98-9FE812989453}"/>
              </a:ext>
            </a:extLst>
          </p:cNvPr>
          <p:cNvSpPr>
            <a:spLocks noGrp="1"/>
          </p:cNvSpPr>
          <p:nvPr/>
        </p:nvSpPr>
        <p:spPr>
          <a:xfrm>
            <a:off x="7239000" y="5105400"/>
            <a:ext cx="396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직접 근거를 못 찾음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D1C29985-4B43-46A1-B635-59D676FEE19C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반대 신호 — Zillow 응답자의 60%는 “결국 별문제 아니었다”고 답했습니다</a:t>
            </a:r>
          </a:p>
        </p:txBody>
      </p:sp>
    </p:spTree>
    <p:extLst>
      <p:ext uri="{BB962C8B-B14F-4D97-AF65-F5344CB8AC3E}">
        <ns3:creationId val="903037401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ns2:creationId id="{1B89F2A5-5212-4C5B-811A-9AEFFA169B6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Problem Statement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2E00254-6B31-4916-9E61-0F98CC4D9F41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21940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6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정보를 모으는 문제가 아니라, 둘의 기준이 다른 문제입니다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98948CF-E560-4B28-B899-D364CD9AB13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E7F0A061-BC14-48F9-8ADB-E87000A76AA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D79B808-EDE4-4F64-A34E-F2A732060AB6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7EE7456-B018-4427-BB04-404215B395F9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66EA0599-4728-4184-AFB3-A48C7F21E74D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정보 분산 → 수동 비교 → 의사결정 비용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967623F9-A8C6-4092-A875-D99901FB2AD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혼자 구해도 생김 · 기록·공유 도구가 일부 해결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D9831E42-6BF9-4BAD-B84C-8A6443B17EB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F1A83332-02D2-4EE7-9FB5-E19D3A6C6CD8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C7D2986-BF62-4D41-ADF5-F64852256DA9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감수하는지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불명확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ns2:creationId id="{6E7ECF58-81EA-40C6-B9FA-9546FF3C9FD7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둘이 함께 정할 때만 생기는 문제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51F006E3-3031-4DFA-891C-E5F8104E9BFE}"/>
              </a:ext>
            </a:extLst>
          </p:cNvPr>
          <p:cNvSpPr>
            <a:spLocks noGrp="1"/>
          </p:cNvSpPr>
          <p:nvPr/>
        </p:nvSpPr>
        <p:spPr>
          <a:xfrm>
            <a:off x="5029200" y="2447925"/>
            <a:ext cx="819150" cy="2095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화살표: 오른쪽 14">
            <a:extLst>
              <a:ext uri="{FF2B5EF4-FFF2-40B4-BE49-F238E27FC236}">
                <ns2:creationId id="{25D7BE29-1B6A-4D12-B020-BE0CC56C8BD9}"/>
              </a:ext>
            </a:extLst>
          </p:cNvPr>
          <p:cNvSpPr>
            <a:spLocks noGrp="1"/>
          </p:cNvSpPr>
          <p:nvPr/>
        </p:nvSpPr>
        <p:spPr>
          <a:xfrm>
            <a:off x="5029200" y="4219575"/>
            <a:ext cx="8191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D1BA81A6-D5D2-4035-AC06-C7FE252D643D}"/>
              </a:ext>
            </a:extLst>
          </p:cNvPr>
          <p:cNvSpPr>
            <a:spLocks noGrp="1"/>
          </p:cNvSpPr>
          <p:nvPr/>
        </p:nvSpPr>
        <p:spPr>
          <a:xfrm>
            <a:off x="6115050" y="2124075"/>
            <a:ext cx="5181600" cy="2552700"/>
          </a:xfrm>
          <a:prstGeom prst="roundRect">
            <a:avLst>
              <a:gd name="adj" fmla="val 597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AB59B0D8-D2C2-482F-97C2-EF4FF1B388AB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추론 · 가설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7207C8E-BF8D-42DC-8BC6-759FCCD6E045}"/>
              </a:ext>
            </a:extLst>
          </p:cNvPr>
          <p:cNvSpPr>
            <a:spLocks noGrp="1"/>
          </p:cNvSpPr>
          <p:nvPr/>
        </p:nvSpPr>
        <p:spPr>
          <a:xfrm>
            <a:off x="6343650" y="271208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두 갈래가 만나는 곳</a:t>
            </a:r>
            <a:endParaRPr sz="120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직사각형 18">
            <a:extLst>
              <a:ext uri="{FF2B5EF4-FFF2-40B4-BE49-F238E27FC236}">
                <ns2:creationId id="{42049BD9-7B58-46C2-BA89-21A96590E0F3}"/>
              </a:ext>
            </a:extLst>
          </p:cNvPr>
          <p:cNvSpPr>
            <a:spLocks noGrp="1"/>
          </p:cNvSpPr>
          <p:nvPr/>
        </p:nvSpPr>
        <p:spPr>
          <a:xfrm>
            <a:off x="6343650" y="3032125"/>
            <a:ext cx="4610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마지막 후보를 정할 때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드는 품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ns2:creationId id="{39119A2B-614B-45CB-9314-0E30177F6E69}"/>
              </a:ext>
            </a:extLst>
          </p:cNvPr>
          <p:cNvSpPr>
            <a:spLocks noGrp="1"/>
          </p:cNvSpPr>
          <p:nvPr/>
        </p:nvSpPr>
        <p:spPr>
          <a:xfrm>
            <a:off x="6438900" y="42195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반복 비교 [확인]  ·  조건 충돌 [확인]  ·  결정 지연 [미검증]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932AC9A9-C1C3-45D7-864A-5DFE6F6A82C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553700" cy="647700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8EAE0627-C8FE-4C4D-924C-9940C3AABAC8}"/>
              </a:ext>
            </a:extLst>
          </p:cNvPr>
          <p:cNvSpPr>
            <a:spLocks noGrp="1"/>
          </p:cNvSpPr>
          <p:nvPr/>
        </p:nvSpPr>
        <p:spPr>
          <a:xfrm>
            <a:off x="933450" y="558269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우리가 답할 질문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7E9E73DC-FC0A-43C5-8FA8-0FA2A0596B99}"/>
              </a:ext>
            </a:extLst>
          </p:cNvPr>
          <p:cNvSpPr>
            <a:spLocks noGrp="1"/>
          </p:cNvSpPr>
          <p:nvPr/>
        </p:nvSpPr>
        <p:spPr>
          <a:xfrm>
            <a:off x="2190750" y="5507131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“우리 둘에게 가장 좋은 집은?”이 아니라  “무엇을 감수하고도 납득할 수 있는 집은?”</a:t>
            </a:r>
          </a:p>
        </p:txBody>
      </p:sp>
    </p:spTree>
    <p:extLst>
      <p:ext uri="{BB962C8B-B14F-4D97-AF65-F5344CB8AC3E}">
        <ns3:creationId val="1081108234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ns2:creationId id="{3264D966-0F79-43E7-BC1C-E21E94DDD09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933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같은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7EA357A-E109-40F1-B0BB-A25459F576F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12896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저장도 평가도 있는데, 누가 양보하는지는 없습니다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BE43666B-0C8F-4227-B53E-752CD99F3CC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D805D20D-8B76-4C53-BF70-044369312EE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A358E84E-A0C4-482D-A2F1-3D5ECB3B4BC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타원 6">
            <a:extLst>
              <a:ext uri="{FF2B5EF4-FFF2-40B4-BE49-F238E27FC236}">
                <ns2:creationId id="{AA00DBD7-1315-4024-8347-F52F9E311D8C}"/>
              </a:ext>
            </a:extLst>
          </p:cNvPr>
          <p:cNvSpPr>
            <a:spLocks noGrp="1"/>
          </p:cNvSpPr>
          <p:nvPr/>
        </p:nvSpPr>
        <p:spPr>
          <a:xfrm>
            <a:off x="1762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D34E09C6-6E69-4889-A3B8-02DE3DC6D94A}"/>
              </a:ext>
            </a:extLst>
          </p:cNvPr>
          <p:cNvSpPr>
            <a:spLocks noGrp="1"/>
          </p:cNvSpPr>
          <p:nvPr/>
        </p:nvSpPr>
        <p:spPr>
          <a:xfrm>
            <a:off x="1943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C0EBEA48-11DE-40CF-BB2D-3E247D0FA176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타원 9">
            <a:extLst>
              <a:ext uri="{FF2B5EF4-FFF2-40B4-BE49-F238E27FC236}">
                <ns2:creationId id="{98A53298-5CAF-4437-BBA6-06EA53F51549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756070E2-CB40-4981-A892-ECAEAD786E00}"/>
              </a:ext>
            </a:extLst>
          </p:cNvPr>
          <p:cNvSpPr>
            <a:spLocks noGrp="1"/>
          </p:cNvSpPr>
          <p:nvPr/>
        </p:nvSpPr>
        <p:spPr>
          <a:xfrm>
            <a:off x="4610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495E11A7-DA69-45FC-994F-FAB541DB1187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타원 12">
            <a:extLst>
              <a:ext uri="{FF2B5EF4-FFF2-40B4-BE49-F238E27FC236}">
                <ns2:creationId id="{249EEC6E-C340-42C8-BEB4-9939AA4CFF4E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ns2:creationId id="{87EB3715-2BC2-47F1-90E9-9A9C227738A2}"/>
              </a:ext>
            </a:extLst>
          </p:cNvPr>
          <p:cNvSpPr>
            <a:spLocks noGrp="1"/>
          </p:cNvSpPr>
          <p:nvPr/>
        </p:nvSpPr>
        <p:spPr>
          <a:xfrm>
            <a:off x="7277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ns2:creationId id="{7486FD61-41E3-48B0-939E-B068DF93055E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양보 설명</a:t>
            </a:r>
          </a:p>
        </p:txBody>
      </p:sp>
      <p:sp>
        <p:nvSpPr>
          <p:cNvPr id="16" name="타원 15">
            <a:extLst>
              <a:ext uri="{FF2B5EF4-FFF2-40B4-BE49-F238E27FC236}">
                <ns2:creationId id="{96EA7456-5E3F-48ED-B49D-A429F56A3978}"/>
              </a:ext>
            </a:extLst>
          </p:cNvPr>
          <p:cNvSpPr>
            <a:spLocks noGrp="1"/>
          </p:cNvSpPr>
          <p:nvPr/>
        </p:nvSpPr>
        <p:spPr>
          <a:xfrm>
            <a:off x="9763125" y="2076450"/>
            <a:ext cx="190500" cy="1905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9B9AC300-FDD3-4AF5-A90F-1893569C7A1F}"/>
              </a:ext>
            </a:extLst>
          </p:cNvPr>
          <p:cNvSpPr>
            <a:spLocks noGrp="1"/>
          </p:cNvSpPr>
          <p:nvPr/>
        </p:nvSpPr>
        <p:spPr>
          <a:xfrm>
            <a:off x="8629650" y="1390650"/>
            <a:ext cx="2343150" cy="1257300"/>
          </a:xfrm>
          <a:prstGeom prst="roundRect">
            <a:avLst>
              <a:gd name="adj" fmla="val 1060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3E080688-30CD-4EA1-8934-E792B785A439}"/>
              </a:ext>
            </a:extLst>
          </p:cNvPr>
          <p:cNvSpPr>
            <a:spLocks noGrp="1"/>
          </p:cNvSpPr>
          <p:nvPr/>
        </p:nvSpPr>
        <p:spPr>
          <a:xfrm>
            <a:off x="8858250" y="15621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저희가 볼 자리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730616A7-BC6C-4674-98DF-BCA9DB738E37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점수로 합치지 않고</a:t>
            </a:r>
          </a:p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누가 양보하는지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7727CC82-4188-4470-B128-271D061CBCA4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사각형 20">
            <a:extLst>
              <a:ext uri="{FF2B5EF4-FFF2-40B4-BE49-F238E27FC236}">
                <ns2:creationId id="{1A681537-BA16-4884-809A-57E7549CCE4A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  <a:endParaRPr sz="11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ns2:creationId id="{8BB7902C-6283-4F7F-AD9F-8C4DF1935180}"/>
              </a:ext>
            </a:extLst>
          </p:cNvPr>
          <p:cNvSpPr>
            <a:spLocks noGrp="1"/>
          </p:cNvSpPr>
          <p:nvPr/>
        </p:nvSpPr>
        <p:spPr>
          <a:xfrm>
            <a:off x="5143500" y="30861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후보·데이터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10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ns2:creationId id="{1C9C26BE-97EF-4C97-B881-7383485015A7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함께 대조하는 건 비어 있음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001FDA89-363B-4929-B789-B6E3CF24B9F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6" name="직사각형 25">
            <a:extLst>
              <a:ext uri="{FF2B5EF4-FFF2-40B4-BE49-F238E27FC236}">
                <ns2:creationId id="{3D804CAB-E8AF-4587-94F6-10B55C2260E3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집노트 등 20개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86A37F60-B828-4C33-84E2-4ACF43651434}"/>
              </a:ext>
            </a:extLst>
          </p:cNvPr>
          <p:cNvSpPr>
            <a:spLocks noGrp="1"/>
          </p:cNvSpPr>
          <p:nvPr/>
        </p:nvSpPr>
        <p:spPr>
          <a:xfrm>
            <a:off x="2571750" y="37528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080A2F7-3C7C-479B-A381-F3EAB417B0D6}"/>
              </a:ext>
            </a:extLst>
          </p:cNvPr>
          <p:cNvSpPr>
            <a:spLocks noGrp="1"/>
          </p:cNvSpPr>
          <p:nvPr/>
        </p:nvSpPr>
        <p:spPr>
          <a:xfrm>
            <a:off x="5143500" y="37528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9ABB8D-F59E-43EB-BF46-AE50133EFFCD}"/>
              </a:ext>
            </a:extLst>
          </p:cNvPr>
          <p:cNvSpPr>
            <a:spLocks noGrp="1"/>
          </p:cNvSpPr>
          <p:nvPr/>
        </p:nvSpPr>
        <p:spPr>
          <a:xfrm>
            <a:off x="7524750" y="37528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거의 다 혼자 쓰고, 점수를 매기고, 한 방향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BE94AE97-5D13-4F71-95C5-1AF9A3706AF9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ns2:creationId id="{814F49D9-9CC8-48D7-B5C8-5627BAF8C007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6AFAD6E1-8047-4643-9E17-E90C5399F507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FB1195D2-CCAE-4D6F-A9D4-BF3963CA7E99}"/>
              </a:ext>
            </a:extLst>
          </p:cNvPr>
          <p:cNvSpPr>
            <a:spLocks noGrp="1"/>
          </p:cNvSpPr>
          <p:nvPr/>
        </p:nvSpPr>
        <p:spPr>
          <a:xfrm>
            <a:off x="5143500" y="44196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C8221F92-58F7-4C21-8B1E-6153B86290F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7" name="직선 연결선 36">
            <a:extLst>
              <a:ext uri="{FF2B5EF4-FFF2-40B4-BE49-F238E27FC236}">
                <ns2:creationId id="{1760CA7C-E9B6-4BD6-915E-4255DE6068E5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8" name="직사각형 37">
            <a:extLst>
              <a:ext uri="{FF2B5EF4-FFF2-40B4-BE49-F238E27FC236}">
                <ns2:creationId id="{983EAAF9-377A-43AB-8EDC-8FC22A1537D2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TwoKeys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86ADBAB6-5850-41F7-991C-8072EF89ECCD}"/>
              </a:ext>
            </a:extLst>
          </p:cNvPr>
          <p:cNvSpPr>
            <a:spLocks noGrp="1"/>
          </p:cNvSpPr>
          <p:nvPr/>
        </p:nvSpPr>
        <p:spPr>
          <a:xfrm>
            <a:off x="2571750" y="5086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사람이 평가 · 총점 매김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9F7802E4-363E-40B2-83FF-316FFD12B9C2}"/>
              </a:ext>
            </a:extLst>
          </p:cNvPr>
          <p:cNvSpPr>
            <a:spLocks noGrp="1"/>
          </p:cNvSpPr>
          <p:nvPr/>
        </p:nvSpPr>
        <p:spPr>
          <a:xfrm>
            <a:off x="5143500" y="50863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함께 평가하는 형태는 있음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916F7E0A-6A5E-4C89-9E01-8D6203FF46C5}"/>
              </a:ext>
            </a:extLst>
          </p:cNvPr>
          <p:cNvSpPr>
            <a:spLocks noGrp="1"/>
          </p:cNvSpPr>
          <p:nvPr/>
        </p:nvSpPr>
        <p:spPr>
          <a:xfrm>
            <a:off x="7524750" y="50863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조건을 매물에 저장하고 합산</a:t>
            </a:r>
          </a:p>
        </p:txBody>
      </p:sp>
      <p:sp>
        <p:nvSpPr>
          <p:cNvPr id="43" name="직선 연결선 42">
            <a:extLst>
              <a:ext uri="{FF2B5EF4-FFF2-40B4-BE49-F238E27FC236}">
                <ns2:creationId id="{D658D4B3-F68A-47C3-BD75-6E853C131F7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사각형: 둥근 모서리 43">
            <a:extLst>
              <a:ext uri="{FF2B5EF4-FFF2-40B4-BE49-F238E27FC236}">
                <ns2:creationId id="{446F06CE-971E-4F00-B034-8C1D5431AB0F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형태만 확인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71CD5D55-7A8F-4FC2-8298-5F8191C506F5}"/>
              </a:ext>
            </a:extLst>
          </p:cNvPr>
          <p:cNvSpPr>
            <a:spLocks noGrp="1"/>
          </p:cNvSpPr>
          <p:nvPr/>
        </p:nvSpPr>
        <p:spPr>
          <a:xfrm>
            <a:off x="4953000" y="5638800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비슷한 게 있다는 것과, 국내에서 쓰인다는 건 다릅니다</a:t>
            </a:r>
          </a:p>
        </p:txBody>
      </p:sp>
    </p:spTree>
    <p:extLst>
      <p:ext uri="{BB962C8B-B14F-4D97-AF65-F5344CB8AC3E}">
        <ns3:creationId val="1307932784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ns2:creationId id="{3AC950D5-4862-4A85-80FF-1251CE7BDF3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인접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9362F7C-24B1-4CA0-9EF3-27A484FB8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 · 입력 · 비교 · 수렴, 네 군데를 뜯어봤습니다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6D105013-172E-4E2C-AB5F-181D799F46D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1D20A284-4D6F-4B29-9E4D-42EF89B2172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4660776-CD11-44E9-B1C8-CF83CCA2286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7" name="직사각형 6">
            <a:extLst>
              <a:ext uri="{FF2B5EF4-FFF2-40B4-BE49-F238E27FC236}">
                <ns2:creationId id="{3D92F28F-9A4E-4967-8471-7304E49DA6DC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B9FE41F2-04DB-45DC-88AC-AAE56AF704C7}"/>
              </a:ext>
            </a:extLst>
          </p:cNvPr>
          <p:cNvSpPr>
            <a:spLocks noGrp="1"/>
          </p:cNvSpPr>
          <p:nvPr/>
        </p:nvSpPr>
        <p:spPr>
          <a:xfrm>
            <a:off x="3143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8795F28B-5E5C-4632-9FD9-07F2F88C1C8D}"/>
              </a:ext>
            </a:extLst>
          </p:cNvPr>
          <p:cNvSpPr>
            <a:spLocks noGrp="1"/>
          </p:cNvSpPr>
          <p:nvPr/>
        </p:nvSpPr>
        <p:spPr>
          <a:xfrm>
            <a:off x="3486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0" name="직사각형 9">
            <a:extLst>
              <a:ext uri="{FF2B5EF4-FFF2-40B4-BE49-F238E27FC236}">
                <ns2:creationId id="{A326CB0D-F3C3-4F35-A468-E54FAD535A7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91180C53-95B8-43D5-9FA4-E8091EFBC873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77A598BC-FFC8-4AB0-8771-0F2AE5A245B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3" name="직사각형 12">
            <a:extLst>
              <a:ext uri="{FF2B5EF4-FFF2-40B4-BE49-F238E27FC236}">
                <ns2:creationId id="{AD155B35-B3DC-47BB-A7FA-D2C475E2141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4136A93D-545A-4B77-B473-C538D0466497}"/>
              </a:ext>
            </a:extLst>
          </p:cNvPr>
          <p:cNvSpPr>
            <a:spLocks noGrp="1"/>
          </p:cNvSpPr>
          <p:nvPr/>
        </p:nvSpPr>
        <p:spPr>
          <a:xfrm>
            <a:off x="8477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9D3B34E5-B273-4E44-BB18-2787A70A516E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6" name="직사각형 15">
            <a:extLst>
              <a:ext uri="{FF2B5EF4-FFF2-40B4-BE49-F238E27FC236}">
                <ns2:creationId id="{3BB56602-ACEB-43B9-914D-ABB7CB1571F3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E66B82E6-3B8C-4E61-86BA-D5A3B245D655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특별시·웨딩노트·MarryNote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A831A1A0-2B12-4922-9CB8-7B580717DEC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5701AB80-81B5-4A07-887A-61C2A570C57B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2인 초대가 있다는 것만 확인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95B78AEA-84DB-401D-9816-1436292FD02C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직선 연결선 20">
            <a:extLst>
              <a:ext uri="{FF2B5EF4-FFF2-40B4-BE49-F238E27FC236}">
                <ns2:creationId id="{B8654C60-3372-4E95-9579-394B969F0B2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2" name="직사각형 21">
            <a:extLst>
              <a:ext uri="{FF2B5EF4-FFF2-40B4-BE49-F238E27FC236}">
                <ns2:creationId id="{EFAAAA7B-1489-47A7-9DFC-CB0C3AAAFD9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위밋플레이스·모이삼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400D5D88-2308-4B86-A75D-F172E4F464B7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B0A1B91C-309D-4E0A-9AB5-3810F174EB96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맥락 먼저, 입력은 조금만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872F9FBA-06CC-4913-BC93-A2F297EAA015}"/>
              </a:ext>
            </a:extLst>
          </p:cNvPr>
          <p:cNvSpPr>
            <a:spLocks noGrp="1"/>
          </p:cNvSpPr>
          <p:nvPr/>
        </p:nvSpPr>
        <p:spPr>
          <a:xfrm>
            <a:off x="874395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직선 연결선 25">
            <a:extLst>
              <a:ext uri="{FF2B5EF4-FFF2-40B4-BE49-F238E27FC236}">
                <ns2:creationId id="{21C08FE6-DD53-4A4E-AA5C-19873828827B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7" name="직사각형 26">
            <a:extLst>
              <a:ext uri="{FF2B5EF4-FFF2-40B4-BE49-F238E27FC236}">
                <ns2:creationId id="{1D35661C-F174-4830-B667-38C8E86813D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Cozymate·한집친구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CA1325D-BA00-408A-947A-CD6672ED38AB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룸메이트 조건 · 성향 입력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8BAB8013-2666-4970-9CFB-12524789CD99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조건 입력 부담을 참고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3327188D-8D6C-4A14-890B-0D9D36C0B28A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우리 대조 조건과는 다름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AE5A6BC5-C473-42BE-BBD3-2DD8B322ED86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ns2:creationId id="{E04C65D2-5FFC-4B28-AED4-0917672466A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바로계산·EZB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0D7AEE07-2763-4615-8DCC-314D89618EC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D1B3F430-7BA5-4756-8A42-279300828977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7E878635-FC3F-42DC-9FCB-E8B330F8F67B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직선 연결선 35">
            <a:extLst>
              <a:ext uri="{FF2B5EF4-FFF2-40B4-BE49-F238E27FC236}">
                <ns2:creationId id="{BDCDA3F9-9111-427C-AB06-3CF7779F00DB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7" name="직사각형 36">
            <a:extLst>
              <a:ext uri="{FF2B5EF4-FFF2-40B4-BE49-F238E27FC236}">
                <ns2:creationId id="{DBC954AA-E002-4DF2-A2F6-7E61CEFBD3BF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Airbnb·Doodle·Wanderlog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979EC1E7-7425-425B-BE23-2A5A3B6C7908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453399ED-EE8B-44F4-88E5-2C9AE464855C}"/>
              </a:ext>
            </a:extLst>
          </p:cNvPr>
          <p:cNvSpPr>
            <a:spLocks noGrp="1"/>
          </p:cNvSpPr>
          <p:nvPr/>
        </p:nvSpPr>
        <p:spPr>
          <a:xfrm>
            <a:off x="6248400" y="48958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AFE226E7-FFD4-4694-A8FA-8FE27C4D5180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투표·순위는 그대로 못 가져옴</a:t>
            </a:r>
          </a:p>
        </p:txBody>
      </p:sp>
      <p:sp>
        <p:nvSpPr>
          <p:cNvPr id="41" name="직선 연결선 40">
            <a:extLst>
              <a:ext uri="{FF2B5EF4-FFF2-40B4-BE49-F238E27FC236}">
                <ns2:creationId id="{D98A07A6-7051-402D-8B20-5BD51E351496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42" name="사각형: 둥근 모서리 41">
            <a:extLst>
              <a:ext uri="{FF2B5EF4-FFF2-40B4-BE49-F238E27FC236}">
                <ns2:creationId id="{491B35D0-9E61-49DA-8340-315B705AC8BC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10401300" cy="438150"/>
          </a:xfrm>
          <a:prstGeom prst="roundRect">
            <a:avLst>
              <a:gd name="adj" fmla="val 19565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26087569-5FB5-46BB-9021-EC9A0B900D1F}"/>
              </a:ext>
            </a:extLst>
          </p:cNvPr>
          <p:cNvSpPr>
            <a:spLocks noGrp="1"/>
          </p:cNvSpPr>
          <p:nvPr/>
        </p:nvSpPr>
        <p:spPr>
          <a:xfrm>
            <a:off x="971550" y="5772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전이 기준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4F47EFA9-1743-45A0-86C2-FCBB1D5CA033}"/>
              </a:ext>
            </a:extLst>
          </p:cNvPr>
          <p:cNvSpPr>
            <a:spLocks noGrp="1"/>
          </p:cNvSpPr>
          <p:nvPr/>
        </p:nvSpPr>
        <p:spPr>
          <a:xfrm>
            <a:off x="1905000" y="574421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무엇이 번거로웠고 어떻게 줄였는지만 봤습니다. 답을 하나로 좁히는 방식은 안 가져옵니다.</a:t>
            </a:r>
          </a:p>
        </p:txBody>
      </p:sp>
    </p:spTree>
    <p:extLst>
      <p:ext uri="{BB962C8B-B14F-4D97-AF65-F5344CB8AC3E}">
        <ns3:creationId val="1709083599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ns2:creationId id="{AB7D0965-B0A8-4551-9CF9-61F2D8E3B76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276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다른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99C8668-E38E-413E-973A-EBC79840411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형식은 의료 분야에서 가져왔습니다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BF04EE8-5635-4659-A660-53930035124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5519A93-F89C-46E4-89AA-C2A48724C5D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B2F94E8-D327-441E-85E4-697B54075251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3F723E66-8315-4B09-A455-E5D487D9C2D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Option Grid · 의료 의사결정 비교표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A4C17635-C43F-4259-B34E-6C324E19A1D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열 = 선택지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5D5F2483-95D2-4C90-A3F5-2ED1BF4708CB}"/>
              </a:ext>
            </a:extLst>
          </p:cNvPr>
          <p:cNvSpPr>
            <a:spLocks noGrp="1"/>
          </p:cNvSpPr>
          <p:nvPr/>
        </p:nvSpPr>
        <p:spPr>
          <a:xfrm>
            <a:off x="22098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0" name="직사각형 9">
            <a:extLst>
              <a:ext uri="{FF2B5EF4-FFF2-40B4-BE49-F238E27FC236}">
                <ns2:creationId id="{B307C5DB-C1A2-4B1B-A60F-EA5424CBE0B9}"/>
              </a:ext>
            </a:extLst>
          </p:cNvPr>
          <p:cNvSpPr>
            <a:spLocks noGrp="1"/>
          </p:cNvSpPr>
          <p:nvPr/>
        </p:nvSpPr>
        <p:spPr>
          <a:xfrm>
            <a:off x="22098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선택지 A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96F44210-6422-46D4-BCD7-916CC55F8298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2" name="직사각형 11">
            <a:extLst>
              <a:ext uri="{FF2B5EF4-FFF2-40B4-BE49-F238E27FC236}">
                <ns2:creationId id="{837B6166-1C60-46A6-AD4D-3688A2D6DBE2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선택지 B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EC134320-9D4D-4E1F-B035-0571F57CA666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ns2:creationId id="{CEADF759-A8D6-4827-AD8C-34252D5198E3}"/>
              </a:ext>
            </a:extLst>
          </p:cNvPr>
          <p:cNvSpPr>
            <a:spLocks noGrp="1"/>
          </p:cNvSpPr>
          <p:nvPr/>
        </p:nvSpPr>
        <p:spPr>
          <a:xfrm>
            <a:off x="22098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98B0EBE8-1711-4B1F-96CE-82CE4C9B3073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6" name="직사각형 15">
            <a:extLst>
              <a:ext uri="{FF2B5EF4-FFF2-40B4-BE49-F238E27FC236}">
                <ns2:creationId id="{1ECB1553-EDA1-44B0-867F-8DFB0928A91C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BC06C898-3506-4393-9356-690969ED454D}"/>
              </a:ext>
            </a:extLst>
          </p:cNvPr>
          <p:cNvSpPr>
            <a:spLocks noGrp="1"/>
          </p:cNvSpPr>
          <p:nvPr/>
        </p:nvSpPr>
        <p:spPr>
          <a:xfrm>
            <a:off x="22098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390D2A3C-852B-46AF-90B5-46E65DE2261F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9" name="직사각형 18">
            <a:extLst>
              <a:ext uri="{FF2B5EF4-FFF2-40B4-BE49-F238E27FC236}">
                <ns2:creationId id="{4D967B31-7D86-4741-8C82-5FBB2DB9CC1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19D9F34A-D9AF-4BA8-9DF2-08D4140A847C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61BD5D76-AD19-41D9-9E76-442E7B626DF2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2" name="직사각형 21">
            <a:extLst>
              <a:ext uri="{FF2B5EF4-FFF2-40B4-BE49-F238E27FC236}">
                <ns2:creationId id="{D799169C-5319-4C5B-968E-95D6147262BF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5F8BC1DE-D4DA-4E15-9FF5-FD3EF1119E61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ADC2837E-65D7-4B91-A03F-17149B22F0F2}"/>
              </a:ext>
            </a:extLst>
          </p:cNvPr>
          <p:cNvSpPr>
            <a:spLocks noGrp="1"/>
          </p:cNvSpPr>
          <p:nvPr/>
        </p:nvSpPr>
        <p:spPr>
          <a:xfrm>
            <a:off x="35623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DF48B2E9-FC95-497D-8F19-89886AA7C17D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관련 연구 40건 중 28건이 나란히 놓는 방식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9C11A011-988F-45D8-BC59-9DF8398A16B9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70~96%가 균형 있다고 답함 · 부동산 전이는 추측</a:t>
            </a:r>
          </a:p>
        </p:txBody>
      </p:sp>
      <p:sp>
        <p:nvSpPr>
          <p:cNvPr id="27" name="화살표: 오른쪽 26">
            <a:extLst>
              <a:ext uri="{FF2B5EF4-FFF2-40B4-BE49-F238E27FC236}">
                <ns2:creationId id="{D44F7507-7B0C-493D-9A97-F8F2CCFD89D7}"/>
              </a:ext>
            </a:extLst>
          </p:cNvPr>
          <p:cNvSpPr>
            <a:spLocks noGrp="1"/>
          </p:cNvSpPr>
          <p:nvPr/>
        </p:nvSpPr>
        <p:spPr>
          <a:xfrm>
            <a:off x="5753100" y="3286125"/>
            <a:ext cx="68580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8849B4C3-758D-42A3-A286-A0B3A2BAE178}"/>
              </a:ext>
            </a:extLst>
          </p:cNvPr>
          <p:cNvSpPr>
            <a:spLocks noGrp="1"/>
          </p:cNvSpPr>
          <p:nvPr/>
        </p:nvSpPr>
        <p:spPr>
          <a:xfrm>
            <a:off x="5715000" y="3667125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형식과 균형</a:t>
            </a:r>
          </a:p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원칙만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0C3EB5B-03E7-4A36-9D7C-2E20C5E76038}"/>
              </a:ext>
            </a:extLst>
          </p:cNvPr>
          <p:cNvSpPr>
            <a:spLocks noGrp="1"/>
          </p:cNvSpPr>
          <p:nvPr/>
        </p:nvSpPr>
        <p:spPr>
          <a:xfrm>
            <a:off x="66294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39143198-6194-4B8C-ADD6-E1C66ACCF3B2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우리가 바꾼 것 · 같이 보기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DD7C1863-3CD1-4517-9283-728994F71D9C}"/>
              </a:ext>
            </a:extLst>
          </p:cNvPr>
          <p:cNvSpPr>
            <a:spLocks noGrp="1"/>
          </p:cNvSpPr>
          <p:nvPr/>
        </p:nvSpPr>
        <p:spPr>
          <a:xfrm>
            <a:off x="6838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8E78C86E-BE2E-4903-90D9-6AE4F77166E3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3" name="직사각형 32">
            <a:extLst>
              <a:ext uri="{FF2B5EF4-FFF2-40B4-BE49-F238E27FC236}">
                <ns2:creationId id="{4A18DC48-FC7B-404D-9612-58E3CA1B2F89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ns2:creationId id="{560B0D39-B34B-48E8-A894-1460A6E5C88F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5" name="직사각형 34">
            <a:extLst>
              <a:ext uri="{FF2B5EF4-FFF2-40B4-BE49-F238E27FC236}">
                <ns2:creationId id="{5A9AA262-66C9-45DB-998A-78D52BF7C88D}"/>
              </a:ext>
            </a:extLst>
          </p:cNvPr>
          <p:cNvSpPr>
            <a:spLocks noGrp="1"/>
          </p:cNvSpPr>
          <p:nvPr/>
        </p:nvSpPr>
        <p:spPr>
          <a:xfrm>
            <a:off x="94678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BE68378-416A-4733-A58E-19B93B1E0045}"/>
              </a:ext>
            </a:extLst>
          </p:cNvPr>
          <p:cNvSpPr>
            <a:spLocks noGrp="1"/>
          </p:cNvSpPr>
          <p:nvPr/>
        </p:nvSpPr>
        <p:spPr>
          <a:xfrm>
            <a:off x="69532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EA1240F8-4574-42C4-86D4-6C76F9918C7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8" name="직사각형 37">
            <a:extLst>
              <a:ext uri="{FF2B5EF4-FFF2-40B4-BE49-F238E27FC236}">
                <ns2:creationId id="{8BB3FF5B-6FCC-45C7-86A0-7A0F7723E2E7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672816E3-3873-4F52-8C0A-20C427208BAF}"/>
              </a:ext>
            </a:extLst>
          </p:cNvPr>
          <p:cNvSpPr>
            <a:spLocks noGrp="1"/>
          </p:cNvSpPr>
          <p:nvPr/>
        </p:nvSpPr>
        <p:spPr>
          <a:xfrm>
            <a:off x="94678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0" name="직사각형 39">
            <a:extLst>
              <a:ext uri="{FF2B5EF4-FFF2-40B4-BE49-F238E27FC236}">
                <ns2:creationId id="{212853B6-65B8-4E8D-BAB5-4457749A1FA1}"/>
              </a:ext>
            </a:extLst>
          </p:cNvPr>
          <p:cNvSpPr>
            <a:spLocks noGrp="1"/>
          </p:cNvSpPr>
          <p:nvPr/>
        </p:nvSpPr>
        <p:spPr>
          <a:xfrm>
            <a:off x="946785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063069CE-49CC-48E9-8871-E201F2BEC91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ns2:creationId id="{77453F12-1A16-48CF-92FF-23EE76741C80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3" name="직사각형 42">
            <a:extLst>
              <a:ext uri="{FF2B5EF4-FFF2-40B4-BE49-F238E27FC236}">
                <ns2:creationId id="{CECC5B92-77EF-43E6-9AAC-5012682834E2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+13분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ns2:creationId id="{306F9C2B-674C-4A0A-84D7-96DE5A953480}"/>
              </a:ext>
            </a:extLst>
          </p:cNvPr>
          <p:cNvSpPr>
            <a:spLocks noGrp="1"/>
          </p:cNvSpPr>
          <p:nvPr/>
        </p:nvSpPr>
        <p:spPr>
          <a:xfrm>
            <a:off x="94678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5" name="직사각형 44">
            <a:extLst>
              <a:ext uri="{FF2B5EF4-FFF2-40B4-BE49-F238E27FC236}">
                <ns2:creationId id="{ABA784B8-DF08-425A-BDA8-D5116389E285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6" name="직사각형 45">
            <a:extLst>
              <a:ext uri="{FF2B5EF4-FFF2-40B4-BE49-F238E27FC236}">
                <ns2:creationId id="{E5AA7305-D57D-45AE-8447-4F4CA0672BF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ns2:creationId id="{7B21EDAB-3E08-478D-9A17-3DA40E77F14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8" name="직사각형 47">
            <a:extLst>
              <a:ext uri="{FF2B5EF4-FFF2-40B4-BE49-F238E27FC236}">
                <ns2:creationId id="{A0E62D6B-B8C7-47C4-ACCA-B7AE927F86DB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ns2:creationId id="{054FE4BF-AE38-404E-98FA-DDA189CB40C8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0" name="직사각형 49">
            <a:extLst>
              <a:ext uri="{FF2B5EF4-FFF2-40B4-BE49-F238E27FC236}">
                <ns2:creationId id="{AFB8799C-4189-4047-9B78-88BFAA0AD63F}"/>
              </a:ext>
            </a:extLst>
          </p:cNvPr>
          <p:cNvSpPr>
            <a:spLocks noGrp="1"/>
          </p:cNvSpPr>
          <p:nvPr/>
        </p:nvSpPr>
        <p:spPr>
          <a:xfrm>
            <a:off x="946785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51" name="직사각형 50">
            <a:extLst>
              <a:ext uri="{FF2B5EF4-FFF2-40B4-BE49-F238E27FC236}">
                <ns2:creationId id="{3729BB87-4ED1-4C65-A36B-7911000862F1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ns2:creationId id="{BB64F5BB-1CC2-4D3B-9945-534950429555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3" name="직사각형 52">
            <a:extLst>
              <a:ext uri="{FF2B5EF4-FFF2-40B4-BE49-F238E27FC236}">
                <ns2:creationId id="{549D0DCD-704F-40D9-B139-13B6CB4A7125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ns2:creationId id="{B5B6DD12-BA35-4733-BC9D-288ACA853287}"/>
              </a:ext>
            </a:extLst>
          </p:cNvPr>
          <p:cNvSpPr>
            <a:spLocks noGrp="1"/>
          </p:cNvSpPr>
          <p:nvPr/>
        </p:nvSpPr>
        <p:spPr>
          <a:xfrm>
            <a:off x="94678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5" name="직사각형 54">
            <a:extLst>
              <a:ext uri="{FF2B5EF4-FFF2-40B4-BE49-F238E27FC236}">
                <ns2:creationId id="{FEB2D0D8-9C2D-42B6-A2E6-CA2567151E3E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ns2:creationId id="{E738F044-29DE-4375-B298-39C1922AD907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ns2:creationId id="{3AB9ED2B-2265-4DD4-85D2-DBED3F154FEE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총점으로 합치지 않고, 한쪽만 충족을 설명 대상으로 유지합니다.</a:t>
            </a:r>
          </a:p>
        </p:txBody>
      </p:sp>
    </p:spTree>
    <p:extLst>
      <p:ext uri="{BB962C8B-B14F-4D97-AF65-F5344CB8AC3E}">
        <ns3:creationId val="843526194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ns2:creationId id="{6E19AD0F-07DE-48E6-9104-40E7CD3B7C0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전이 가능성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4E11769-BB9B-4171-86DB-CCA54A34F1DB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9882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18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가져온 것 셋, 바꾼 것 셋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B7EF3BDB-1E38-4BC6-884F-3AB60C9D6BB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24AF509E-946F-428A-A2C7-3D4A773B3274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2B7D6DE0-843F-4A28-8653-37366E2E560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7D4B9E5D-E857-43A5-BDF3-6F25FB380526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EC7FA0F6-8CF7-47AE-87ED-9FC956865FBA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그대로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83B322D4-27AB-4A97-AC82-598593CC21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바꿈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7238A72C-9D80-4501-B0D5-528AA2A6C0D3}"/>
              </a:ext>
            </a:extLst>
          </p:cNvPr>
          <p:cNvSpPr>
            <a:spLocks noGrp="1"/>
          </p:cNvSpPr>
          <p:nvPr/>
        </p:nvSpPr>
        <p:spPr>
          <a:xfrm>
            <a:off x="9144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링크 기본·코드 보조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ns2:creationId id="{E91216E0-8748-4017-8392-5ED4240BB015}"/>
              </a:ext>
            </a:extLst>
          </p:cNvPr>
          <p:cNvSpPr>
            <a:spLocks noGrp="1"/>
          </p:cNvSpPr>
          <p:nvPr/>
        </p:nvSpPr>
        <p:spPr>
          <a:xfrm>
            <a:off x="2667000" y="242189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B는 모바일에서 집들을 먼저 봅니다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선 연결선 11">
            <a:extLst>
              <a:ext uri="{FF2B5EF4-FFF2-40B4-BE49-F238E27FC236}">
                <ns2:creationId id="{C78D979D-F7C4-48A1-AC7F-0959076083F3}"/>
              </a:ext>
            </a:extLst>
          </p:cNvPr>
          <p:cNvSpPr>
            <a:spLocks noGrp="1"/>
          </p:cNvSpPr>
          <p:nvPr/>
        </p:nvSpPr>
        <p:spPr>
          <a:xfrm>
            <a:off x="914400" y="30791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ns2:creationId id="{DAC276E5-6F5F-416A-A228-07FE54DA411D}"/>
              </a:ext>
            </a:extLst>
          </p:cNvPr>
          <p:cNvSpPr>
            <a:spLocks noGrp="1"/>
          </p:cNvSpPr>
          <p:nvPr/>
        </p:nvSpPr>
        <p:spPr>
          <a:xfrm>
            <a:off x="9144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나란히 놓기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CBFCAB63-F745-43FE-8905-C2925F139094}"/>
              </a:ext>
            </a:extLst>
          </p:cNvPr>
          <p:cNvSpPr>
            <a:spLocks noGrp="1"/>
          </p:cNvSpPr>
          <p:nvPr/>
        </p:nvSpPr>
        <p:spPr>
          <a:xfrm>
            <a:off x="2667000" y="32600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 칸의 크기와 순서를 똑같이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선 연결선 14">
            <a:extLst>
              <a:ext uri="{FF2B5EF4-FFF2-40B4-BE49-F238E27FC236}">
                <ns2:creationId id="{91B4D608-5523-44A7-8E24-C4CBCBBA7CF2}"/>
              </a:ext>
            </a:extLst>
          </p:cNvPr>
          <p:cNvSpPr>
            <a:spLocks noGrp="1"/>
          </p:cNvSpPr>
          <p:nvPr/>
        </p:nvSpPr>
        <p:spPr>
          <a:xfrm>
            <a:off x="914400" y="40316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직사각형 15">
            <a:extLst>
              <a:ext uri="{FF2B5EF4-FFF2-40B4-BE49-F238E27FC236}">
                <ns2:creationId id="{F5B051B7-448F-490A-BD1F-02E458E85A97}"/>
              </a:ext>
            </a:extLst>
          </p:cNvPr>
          <p:cNvSpPr>
            <a:spLocks noGrp="1"/>
          </p:cNvSpPr>
          <p:nvPr/>
        </p:nvSpPr>
        <p:spPr>
          <a:xfrm>
            <a:off x="9144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물어보는 순서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ns2:creationId id="{09CBBE08-89B1-48FF-ADCF-39D022C401E2}"/>
              </a:ext>
            </a:extLst>
          </p:cNvPr>
          <p:cNvSpPr>
            <a:spLocks noGrp="1"/>
          </p:cNvSpPr>
          <p:nvPr/>
        </p:nvSpPr>
        <p:spPr>
          <a:xfrm>
            <a:off x="2667000" y="42125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예산 → 통근 → 꼭 지킬 조건 → 확인 순서 고정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492E8102-5A45-4A9D-B6D7-72893C141004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ns2:creationId id="{B5034B31-ECDF-4E02-82B5-AA60FEEE8A6E}"/>
              </a:ext>
            </a:extLst>
          </p:cNvPr>
          <p:cNvSpPr>
            <a:spLocks noGrp="1"/>
          </p:cNvSpPr>
          <p:nvPr/>
        </p:nvSpPr>
        <p:spPr>
          <a:xfrm>
            <a:off x="65151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선택지 열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AF2B5541-04C2-4BA0-AF40-B95391240CCE}"/>
              </a:ext>
            </a:extLst>
          </p:cNvPr>
          <p:cNvSpPr>
            <a:spLocks noGrp="1"/>
          </p:cNvSpPr>
          <p:nvPr/>
        </p:nvSpPr>
        <p:spPr>
          <a:xfrm>
            <a:off x="7706139" y="2421890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열은 사람, 행은 조건으로 바꿔 집 하나의 대가를 비교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선 연결선 20">
            <a:extLst>
              <a:ext uri="{FF2B5EF4-FFF2-40B4-BE49-F238E27FC236}">
                <ns2:creationId id="{0B68262A-953E-4A40-98C7-B5E18E37BDE7}"/>
              </a:ext>
            </a:extLst>
          </p:cNvPr>
          <p:cNvSpPr>
            <a:spLocks noGrp="1"/>
          </p:cNvSpPr>
          <p:nvPr/>
        </p:nvSpPr>
        <p:spPr>
          <a:xfrm>
            <a:off x="6515100" y="30791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BA2BDBC9-5729-471E-B202-75D1D60B5662}"/>
              </a:ext>
            </a:extLst>
          </p:cNvPr>
          <p:cNvSpPr>
            <a:spLocks noGrp="1"/>
          </p:cNvSpPr>
          <p:nvPr/>
        </p:nvSpPr>
        <p:spPr>
          <a:xfrm>
            <a:off x="65151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답 하나로 좁히기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B70BE8F1-A706-42EC-930D-BB56CE651484}"/>
              </a:ext>
            </a:extLst>
          </p:cNvPr>
          <p:cNvSpPr>
            <a:spLocks noGrp="1"/>
          </p:cNvSpPr>
          <p:nvPr/>
        </p:nvSpPr>
        <p:spPr>
          <a:xfrm>
            <a:off x="7706139" y="32600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상태만 설명하고, 보러 갈 집 2개는 사용자가 선택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3F3ED5CE-4210-4E40-B5C2-20B6FA8E40CC}"/>
              </a:ext>
            </a:extLst>
          </p:cNvPr>
          <p:cNvSpPr>
            <a:spLocks noGrp="1"/>
          </p:cNvSpPr>
          <p:nvPr/>
        </p:nvSpPr>
        <p:spPr>
          <a:xfrm>
            <a:off x="6515100" y="40316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ns2:creationId id="{47D84580-4334-4766-A631-1676366036F2}"/>
              </a:ext>
            </a:extLst>
          </p:cNvPr>
          <p:cNvSpPr>
            <a:spLocks noGrp="1"/>
          </p:cNvSpPr>
          <p:nvPr/>
        </p:nvSpPr>
        <p:spPr>
          <a:xfrm>
            <a:off x="65151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개인 점수 매기기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A79D43E8-289A-4F85-946E-6627547C95F4}"/>
              </a:ext>
            </a:extLst>
          </p:cNvPr>
          <p:cNvSpPr>
            <a:spLocks noGrp="1"/>
          </p:cNvSpPr>
          <p:nvPr/>
        </p:nvSpPr>
        <p:spPr>
          <a:xfrm>
            <a:off x="7706139" y="42125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조건을 사람에게 저장해 새 매물에도 다시 적용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C38A8F6B-FD79-4EA1-9470-867A6C9BFD76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8" name="사각형: 둥근 모서리 27">
            <a:extLst>
              <a:ext uri="{FF2B5EF4-FFF2-40B4-BE49-F238E27FC236}">
                <ns2:creationId id="{908D178F-D910-4283-8057-CDA57FAD4242}"/>
              </a:ext>
            </a:extLst>
          </p:cNvPr>
          <p:cNvSpPr>
            <a:spLocks noGrp="1"/>
          </p:cNvSpPr>
          <p:nvPr/>
        </p:nvSpPr>
        <p:spPr>
          <a:xfrm>
            <a:off x="2971800" y="5886450"/>
            <a:ext cx="62484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77B524BC-9D12-4388-9641-803D43896CFA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화면을 베끼는 게 아니라, 원리를 우리 상황에 맞게 고칩니다</a:t>
            </a:r>
          </a:p>
        </p:txBody>
      </p:sp>
    </p:spTree>
    <p:extLst>
      <p:ext uri="{BB962C8B-B14F-4D97-AF65-F5344CB8AC3E}">
        <ns3:creationId val="649107641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ns2:creationId id="{71B007EA-28CD-416C-9D7C-CB867C4EA8D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전이 · 제외 판단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EB7EE99-0446-4E7A-B927-62CF28C788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총점 · 순위 · AI 추천, 셋 다 뺐습니다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FF180D27-C58A-4CBB-A2C7-BB90EBDD73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0A0428E-7450-4F1B-9EF8-0517F8B0FE9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018A29A7-0C61-4010-9678-E49DC65592F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C3A7A279-D27F-4EC4-8B5C-BF1B79545693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직선 연결선 7">
            <a:extLst>
              <a:ext uri="{FF2B5EF4-FFF2-40B4-BE49-F238E27FC236}">
                <ns2:creationId id="{E9874F14-F3B8-4807-8611-A583786D4A98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1F866260-68BC-4A54-A786-5BAB20DFC2E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적합도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8F657A74-05EC-496C-9779-675B617BA09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누가 양보했는지 사라짐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C6AEC967-EC70-4653-80BF-CAED27413B65}"/>
              </a:ext>
            </a:extLst>
          </p:cNvPr>
          <p:cNvSpPr>
            <a:spLocks noGrp="1"/>
          </p:cNvSpPr>
          <p:nvPr/>
        </p:nvSpPr>
        <p:spPr>
          <a:xfrm>
            <a:off x="29908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1AF157C6-E20A-452B-94E6-CAB5C511BFC9}"/>
              </a:ext>
            </a:extLst>
          </p:cNvPr>
          <p:cNvSpPr>
            <a:spLocks noGrp="1"/>
          </p:cNvSpPr>
          <p:nvPr/>
        </p:nvSpPr>
        <p:spPr>
          <a:xfrm>
            <a:off x="31623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직선 연결선 12">
            <a:extLst>
              <a:ext uri="{FF2B5EF4-FFF2-40B4-BE49-F238E27FC236}">
                <ns2:creationId id="{4CA7BA45-AE5E-4C92-9579-3D52E878B56D}"/>
              </a:ext>
            </a:extLst>
          </p:cNvPr>
          <p:cNvSpPr>
            <a:spLocks noGrp="1"/>
          </p:cNvSpPr>
          <p:nvPr/>
        </p:nvSpPr>
        <p:spPr>
          <a:xfrm>
            <a:off x="32575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879DF851-85EA-4FFE-AE3E-E92EEE88C45E}"/>
              </a:ext>
            </a:extLst>
          </p:cNvPr>
          <p:cNvSpPr>
            <a:spLocks noGrp="1"/>
          </p:cNvSpPr>
          <p:nvPr/>
        </p:nvSpPr>
        <p:spPr>
          <a:xfrm>
            <a:off x="31623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순위를 합산하는 방식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FAAC49D4-8302-43F6-A384-416B844F36EE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이기고 지는 구도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AB03BB6B-6F84-425C-A382-788E1B90909A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89E6AB50-3C60-4ADA-8683-94166C3A19C5}"/>
              </a:ext>
            </a:extLst>
          </p:cNvPr>
          <p:cNvSpPr>
            <a:spLocks noGrp="1"/>
          </p:cNvSpPr>
          <p:nvPr/>
        </p:nvSpPr>
        <p:spPr>
          <a:xfrm>
            <a:off x="54102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87333624-E072-491D-840E-32DE105D6820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2B17E916-0B57-4B16-BC73-6B2D2B034654}"/>
              </a:ext>
            </a:extLst>
          </p:cNvPr>
          <p:cNvSpPr>
            <a:spLocks noGrp="1"/>
          </p:cNvSpPr>
          <p:nvPr/>
        </p:nvSpPr>
        <p:spPr>
          <a:xfrm>
            <a:off x="54102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B0F1144F-DCF6-4AA1-826C-79A997D98A55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대신 판단해 버림</a:t>
            </a:r>
          </a:p>
        </p:txBody>
      </p:sp>
      <p:sp>
        <p:nvSpPr>
          <p:cNvPr id="21" name="화살표: 오른쪽 20">
            <a:extLst>
              <a:ext uri="{FF2B5EF4-FFF2-40B4-BE49-F238E27FC236}">
                <ns2:creationId id="{32001A19-A74F-4E94-B22E-0C4F0DBE2CD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74295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D76EBD74-1F2A-478F-A1E0-BC943BD22FFD}"/>
              </a:ext>
            </a:extLst>
          </p:cNvPr>
          <p:cNvSpPr>
            <a:spLocks noGrp="1"/>
          </p:cNvSpPr>
          <p:nvPr/>
        </p:nvSpPr>
        <p:spPr>
          <a:xfrm>
            <a:off x="8515350" y="1581150"/>
            <a:ext cx="2971800" cy="1714500"/>
          </a:xfrm>
          <a:prstGeom prst="roundRect">
            <a:avLst>
              <a:gd name="adj" fmla="val 888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9E046364-A653-43A9-A98E-FC98C51EEFD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대신 이렇게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5BB13BB2-26D0-41C6-BD7C-182522281533}"/>
              </a:ext>
            </a:extLst>
          </p:cNvPr>
          <p:cNvSpPr>
            <a:spLocks noGrp="1"/>
          </p:cNvSpPr>
          <p:nvPr/>
        </p:nvSpPr>
        <p:spPr>
          <a:xfrm>
            <a:off x="8743950" y="20859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EE7E65D5-B908-4EF8-A707-A5240A815411}"/>
              </a:ext>
            </a:extLst>
          </p:cNvPr>
          <p:cNvSpPr>
            <a:spLocks noGrp="1"/>
          </p:cNvSpPr>
          <p:nvPr/>
        </p:nvSpPr>
        <p:spPr>
          <a:xfrm>
            <a:off x="8743950" y="24860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ns2:creationId id="{CA889928-9A58-44BB-90FE-73B0B16BDA8D}"/>
              </a:ext>
            </a:extLst>
          </p:cNvPr>
          <p:cNvSpPr>
            <a:spLocks noGrp="1"/>
          </p:cNvSpPr>
          <p:nvPr/>
        </p:nvSpPr>
        <p:spPr>
          <a:xfrm>
            <a:off x="8743950" y="28670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실제값 · 기준값 · 미달량</a:t>
            </a:r>
            <a:endParaRPr sz="105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직사각형 26">
            <a:extLst>
              <a:ext uri="{FF2B5EF4-FFF2-40B4-BE49-F238E27FC236}">
                <ns2:creationId id="{A96AFC29-7C52-4813-9B08-09890E4AC40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최소 만족 기준 탈락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C3407ED3-AC99-4A95-975C-99352A9D212E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한쪽만 충족한 집도 설명 대상으로 유지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선 연결선 28">
            <a:extLst>
              <a:ext uri="{FF2B5EF4-FFF2-40B4-BE49-F238E27FC236}">
                <ns2:creationId id="{BF778DCE-5D2E-4FB3-8E6C-2F27A05C095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2AFD9441-F9AE-474C-917D-F4CE5A7AF94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13B6456D-C7EF-4B87-8B12-D71AD4588955}"/>
              </a:ext>
            </a:extLst>
          </p:cNvPr>
          <p:cNvSpPr>
            <a:spLocks noGrp="1"/>
          </p:cNvSpPr>
          <p:nvPr/>
        </p:nvSpPr>
        <p:spPr>
          <a:xfrm>
            <a:off x="3543300" y="42291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각자 2개 선택 → 겹치면 확정, 아니면 각자 하나씩</a:t>
            </a:r>
          </a:p>
        </p:txBody>
      </p:sp>
      <p:sp>
        <p:nvSpPr>
          <p:cNvPr id="32" name="직선 연결선 31">
            <a:extLst>
              <a:ext uri="{FF2B5EF4-FFF2-40B4-BE49-F238E27FC236}">
                <ns2:creationId id="{617FD7EB-3351-4443-9DDC-DFE1F3ACF01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6FED440D-3739-41C6-936A-627BB74945B3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통근 시간대로 지도에서 집을 찾아주는 것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E21B4C9A-A2F9-485A-8829-CF5DAB172817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출근지는 대조 조건 중 하나일 뿐</a:t>
            </a:r>
          </a:p>
        </p:txBody>
      </p:sp>
      <p:sp>
        <p:nvSpPr>
          <p:cNvPr id="35" name="직선 연결선 34">
            <a:extLst>
              <a:ext uri="{FF2B5EF4-FFF2-40B4-BE49-F238E27FC236}">
                <ns2:creationId id="{B7BD78D2-DF5D-4445-BC00-6713B2C28EA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E055EAA1-C43B-4A30-96C1-B4E62CDA642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사진을 평가 근거로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AA851AF8-E902-4DFA-9C0B-A67BF6A51110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어떤 집인지 알아볼 정도만 · 범위는 미정</a:t>
            </a:r>
          </a:p>
        </p:txBody>
      </p:sp>
      <p:sp>
        <p:nvSpPr>
          <p:cNvPr id="38" name="직선 연결선 37">
            <a:extLst>
              <a:ext uri="{FF2B5EF4-FFF2-40B4-BE49-F238E27FC236}">
                <ns2:creationId id="{E829EE85-B58B-4CD5-9EEF-55AE0A18D12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사각형: 둥근 모서리 38">
            <a:extLst>
              <a:ext uri="{FF2B5EF4-FFF2-40B4-BE49-F238E27FC236}">
                <ns2:creationId id="{D198C816-9E32-48FE-9E76-BB2B61E037AA}"/>
              </a:ext>
            </a:extLst>
          </p:cNvPr>
          <p:cNvSpPr>
            <a:spLocks noGrp="1"/>
          </p:cNvSpPr>
          <p:nvPr/>
        </p:nvSpPr>
        <p:spPr>
          <a:xfrm>
            <a:off x="9906000" y="540067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사진 미정</a:t>
            </a:r>
          </a:p>
        </p:txBody>
      </p:sp>
    </p:spTree>
    <p:extLst>
      <p:ext uri="{BB962C8B-B14F-4D97-AF65-F5344CB8AC3E}">
        <ns3:creationId val="1764460282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ns2:creationId id="{5BC34129-8F5F-4BC5-865C-827F0753429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294338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Value Proposition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2113F86-1F38-435F-B164-00B7EBF08B5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한 문장으로 하면</a:t>
            </a:r>
            <a:endParaRPr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F3F4D29D-F984-4B21-842D-0F4F4A99906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0FB79C0-205B-471E-8B57-B054FD9070A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E666C5CF-3C89-4DED-941D-C836A552904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AAB6747F-92D2-4D6A-A0DE-2A8A13FC3A40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9105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살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구하는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두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사람이</a:t>
            </a:r>
            <a:endParaRPr sz="25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한눈에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확인하고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서로 납득할 방문 후보를 정하도록 돕는 네이버 기능.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B2EB63D4-F630-4FD3-A1EE-DBACE766357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E12F3016-C615-4064-A23A-42E730D6E6A1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충돌</a:t>
            </a:r>
            <a:endParaRPr sz="1425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83784A18-E9EA-4B5B-9B66-6F77D7C0A3E6}"/>
              </a:ext>
            </a:extLst>
          </p:cNvPr>
          <p:cNvSpPr>
            <a:spLocks noGrp="1"/>
          </p:cNvSpPr>
          <p:nvPr/>
        </p:nvSpPr>
        <p:spPr>
          <a:xfrm>
            <a:off x="13525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누구의 무엇이 어긋나는가</a:t>
            </a:r>
            <a:endParaRPr sz="1050" b="0" dirty="0">
              <a:solidFill>
                <a:srgbClr val="CFDB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ns2:creationId id="{0E1C3901-70CD-41F1-8729-C194E4B82BC3}"/>
              </a:ext>
            </a:extLst>
          </p:cNvPr>
          <p:cNvSpPr>
            <a:spLocks noGrp="1"/>
          </p:cNvSpPr>
          <p:nvPr/>
        </p:nvSpPr>
        <p:spPr>
          <a:xfrm>
            <a:off x="41338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122C740E-E3B2-4EEE-8652-335BCBF15B0B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94338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CCEB390D-B3A0-4328-9262-4AC9FF980A94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0FFD1A8E-3080-4194-8362-FF4E1D855EBC}"/>
              </a:ext>
            </a:extLst>
          </p:cNvPr>
          <p:cNvSpPr>
            <a:spLocks noGrp="1"/>
          </p:cNvSpPr>
          <p:nvPr/>
        </p:nvSpPr>
        <p:spPr>
          <a:xfrm>
            <a:off x="47434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무엇을 얼마나 감수하는가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303C873A-9EEE-4F7C-84C8-FB7720083913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BDBA7C2-72F1-4E38-B4F3-FBAE876A5D94}"/>
              </a:ext>
            </a:extLst>
          </p:cNvPr>
          <p:cNvSpPr>
            <a:spLocks noGrp="1"/>
          </p:cNvSpPr>
          <p:nvPr/>
        </p:nvSpPr>
        <p:spPr>
          <a:xfrm>
            <a:off x="79629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736D5711-6C55-4E84-BFBA-6CE19785E095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보러 갈 집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BAA3ADE-641B-4B9C-96BD-BEF2FC9A3BB9}"/>
              </a:ext>
            </a:extLst>
          </p:cNvPr>
          <p:cNvSpPr>
            <a:spLocks noGrp="1"/>
          </p:cNvSpPr>
          <p:nvPr/>
        </p:nvSpPr>
        <p:spPr>
          <a:xfrm>
            <a:off x="81343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알고도 둘이 선택하는가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A21D2C0A-A37D-404F-A670-8B8B2D8ADFAA}"/>
              </a:ext>
            </a:extLst>
          </p:cNvPr>
          <p:cNvSpPr>
            <a:spLocks noGrp="1"/>
          </p:cNvSpPr>
          <p:nvPr/>
        </p:nvSpPr>
        <p:spPr>
          <a:xfrm>
            <a:off x="1809750" y="5715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한 줄로 하면 — 각자의 조건과 양보 지점을 보고, 함께 보러 갈 집을 정합니다.</a:t>
            </a:r>
          </a:p>
        </p:txBody>
      </p:sp>
    </p:spTree>
    <p:extLst>
      <p:ext uri="{BB962C8B-B14F-4D97-AF65-F5344CB8AC3E}">
        <ns3:creationId val="1389870649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ns2:creationId id="{A5F2CBAF-5011-477A-AF63-593373D6A7B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Concept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054A5A5-520E-4A0C-97F4-F493ADB611D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저장한 5개가 보러 갈 2개가 됩니다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BB58036A-7342-40C9-962A-BDAD8486C16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D8324768-9C87-4C97-A96C-6B254CECABD3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40F8310D-530E-4C41-A9A4-6A3FBD42491D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3A80ED5D-C8E6-46E7-9281-E8C8472F252B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7DB27A30-B8A2-47A8-849F-FD3F7CAA2552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ns2:creationId id="{D464C9C8-60AD-43BD-B173-7B1A71D9D045}"/>
              </a:ext>
            </a:extLst>
          </p:cNvPr>
          <p:cNvSpPr>
            <a:spLocks noGrp="1"/>
          </p:cNvSpPr>
          <p:nvPr/>
        </p:nvSpPr>
        <p:spPr>
          <a:xfrm>
            <a:off x="14097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0C03F084-DCDE-42CF-B0D9-C96CED17442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D8CE6A05-F0EF-4350-8597-D4EA7F4C3507}"/>
              </a:ext>
            </a:extLst>
          </p:cNvPr>
          <p:cNvSpPr>
            <a:spLocks noGrp="1"/>
          </p:cNvSpPr>
          <p:nvPr/>
        </p:nvSpPr>
        <p:spPr>
          <a:xfrm>
            <a:off x="14954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867626CD-402D-4609-A1BA-523F238676C5}"/>
              </a:ext>
            </a:extLst>
          </p:cNvPr>
          <p:cNvSpPr>
            <a:spLocks noGrp="1"/>
          </p:cNvSpPr>
          <p:nvPr/>
        </p:nvSpPr>
        <p:spPr>
          <a:xfrm>
            <a:off x="20764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01D3D4ED-0794-4A68-BF15-5D105D50E334}"/>
              </a:ext>
            </a:extLst>
          </p:cNvPr>
          <p:cNvSpPr>
            <a:spLocks noGrp="1"/>
          </p:cNvSpPr>
          <p:nvPr/>
        </p:nvSpPr>
        <p:spPr>
          <a:xfrm>
            <a:off x="21526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ns2:creationId id="{2F34851A-2562-4853-A007-75E2012856A0}"/>
              </a:ext>
            </a:extLst>
          </p:cNvPr>
          <p:cNvSpPr>
            <a:spLocks noGrp="1"/>
          </p:cNvSpPr>
          <p:nvPr/>
        </p:nvSpPr>
        <p:spPr>
          <a:xfrm>
            <a:off x="21621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CCCE234F-BA68-4660-8C3F-CD3743FFF47C}"/>
              </a:ext>
            </a:extLst>
          </p:cNvPr>
          <p:cNvSpPr>
            <a:spLocks noGrp="1"/>
          </p:cNvSpPr>
          <p:nvPr/>
        </p:nvSpPr>
        <p:spPr>
          <a:xfrm>
            <a:off x="27432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A3E45693-7654-42E0-A91A-09C44C013E08}"/>
              </a:ext>
            </a:extLst>
          </p:cNvPr>
          <p:cNvSpPr>
            <a:spLocks noGrp="1"/>
          </p:cNvSpPr>
          <p:nvPr/>
        </p:nvSpPr>
        <p:spPr>
          <a:xfrm>
            <a:off x="28194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ns2:creationId id="{C1F939EB-6F05-4E08-BCFB-8266B4814553}"/>
              </a:ext>
            </a:extLst>
          </p:cNvPr>
          <p:cNvSpPr>
            <a:spLocks noGrp="1"/>
          </p:cNvSpPr>
          <p:nvPr/>
        </p:nvSpPr>
        <p:spPr>
          <a:xfrm>
            <a:off x="28289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F131BF5C-26B7-4E87-84FD-B26D6873145C}"/>
              </a:ext>
            </a:extLst>
          </p:cNvPr>
          <p:cNvSpPr>
            <a:spLocks noGrp="1"/>
          </p:cNvSpPr>
          <p:nvPr/>
        </p:nvSpPr>
        <p:spPr>
          <a:xfrm>
            <a:off x="3409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E0522D17-D2B6-44EE-95C4-AC21256A3854}"/>
              </a:ext>
            </a:extLst>
          </p:cNvPr>
          <p:cNvSpPr>
            <a:spLocks noGrp="1"/>
          </p:cNvSpPr>
          <p:nvPr/>
        </p:nvSpPr>
        <p:spPr>
          <a:xfrm>
            <a:off x="3486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ns2:creationId id="{2233F965-041F-44E2-8696-AD6394AE93E1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9AC56D8C-FFB0-4BF2-BF5A-CDF4F42A04B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화살표: 오른쪽 21">
            <a:extLst>
              <a:ext uri="{FF2B5EF4-FFF2-40B4-BE49-F238E27FC236}">
                <ns2:creationId id="{C9FBDDB7-08BA-4D51-95BF-D0C0EA518169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3E1B299C-F435-4FD1-B6AF-F5C806C8EE2C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31980CC2-9B4A-468E-9DBA-5575250B54B0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8BEBD065-C339-4F61-B176-FADE54F5CA6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6E2F9930-385B-4759-9540-1A5F75D38449}"/>
              </a:ext>
            </a:extLst>
          </p:cNvPr>
          <p:cNvSpPr>
            <a:spLocks noGrp="1"/>
          </p:cNvSpPr>
          <p:nvPr/>
        </p:nvSpPr>
        <p:spPr>
          <a:xfrm>
            <a:off x="58483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B515B6E7-9E92-4ADF-BEB7-BDA062FBC611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여부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ns2:creationId id="{8054E363-FEBC-4A99-A529-D2EBF30C9C21}"/>
              </a:ext>
            </a:extLst>
          </p:cNvPr>
          <p:cNvSpPr>
            <a:spLocks noGrp="1"/>
          </p:cNvSpPr>
          <p:nvPr/>
        </p:nvSpPr>
        <p:spPr>
          <a:xfrm>
            <a:off x="72199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FC0DAF73-7AFB-4B7F-B185-2F57C7109A69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97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1"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출근하면 출근지·이동수단</a:t>
            </a:r>
            <a:endParaRPr sz="12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선 연결선 29">
            <a:extLst>
              <a:ext uri="{FF2B5EF4-FFF2-40B4-BE49-F238E27FC236}">
                <ns2:creationId id="{8DEF7177-9B3B-4ED6-8CE9-52052CD4BFF3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33909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7DDC76E4-EBC7-4AF0-92F3-68FCC5D7E845}"/>
              </a:ext>
            </a:extLst>
          </p:cNvPr>
          <p:cNvSpPr>
            <a:spLocks noGrp="1"/>
          </p:cNvSpPr>
          <p:nvPr/>
        </p:nvSpPr>
        <p:spPr>
          <a:xfrm>
            <a:off x="5276850" y="2876550"/>
            <a:ext cx="3390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첫 결과 후 · 꼭 지킬 조건 0~4개 · 선호는 개수 제한 없음 · 확인 필요</a:t>
            </a:r>
            <a:endParaRPr sz="12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ns2:creationId id="{575A28F3-A422-4EC0-8B95-8AFDE0B5AB27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EB0B8F83-D385-4B2D-84B2-4A628C33B468}"/>
              </a:ext>
            </a:extLst>
          </p:cNvPr>
          <p:cNvSpPr>
            <a:spLocks noGrp="1"/>
          </p:cNvSpPr>
          <p:nvPr/>
        </p:nvSpPr>
        <p:spPr>
          <a:xfrm>
            <a:off x="998220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90AE8B61-E233-4419-90EC-1264FDBCBA14}"/>
              </a:ext>
            </a:extLst>
          </p:cNvPr>
          <p:cNvSpPr>
            <a:spLocks noGrp="1"/>
          </p:cNvSpPr>
          <p:nvPr/>
        </p:nvSpPr>
        <p:spPr>
          <a:xfrm>
            <a:off x="1007745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방문</a:t>
            </a:r>
          </a:p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 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F07C3DF7-8F95-4A9D-A467-0FF6C4A700B7}"/>
              </a:ext>
            </a:extLst>
          </p:cNvPr>
          <p:cNvSpPr>
            <a:spLocks noGrp="1"/>
          </p:cNvSpPr>
          <p:nvPr/>
        </p:nvSpPr>
        <p:spPr>
          <a:xfrm>
            <a:off x="1102995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6291C9E8-D615-40B1-9F13-1FFD0F782938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방문</a:t>
            </a:r>
          </a:p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2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7636243F-C9A7-40F0-982C-2DC24F9E6DEE}"/>
              </a:ext>
            </a:extLst>
          </p:cNvPr>
          <p:cNvSpPr>
            <a:spLocks noGrp="1"/>
          </p:cNvSpPr>
          <p:nvPr/>
        </p:nvSpPr>
        <p:spPr>
          <a:xfrm>
            <a:off x="831710" y="3905251"/>
            <a:ext cx="10744200" cy="1409700"/>
          </a:xfrm>
          <a:prstGeom prst="roundRect">
            <a:avLst>
              <a:gd name="adj" fmla="val 108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타원 37">
            <a:extLst>
              <a:ext uri="{FF2B5EF4-FFF2-40B4-BE49-F238E27FC236}">
                <ns2:creationId id="{9B62FCFD-800A-4D7C-AFF6-1A93511A356B}"/>
              </a:ext>
            </a:extLst>
          </p:cNvPr>
          <p:cNvSpPr>
            <a:spLocks noGrp="1"/>
          </p:cNvSpPr>
          <p:nvPr/>
        </p:nvSpPr>
        <p:spPr>
          <a:xfrm>
            <a:off x="12954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5AA373F4-1832-45AA-ABF7-74DCB5E35035}"/>
              </a:ext>
            </a:extLst>
          </p:cNvPr>
          <p:cNvSpPr>
            <a:spLocks noGrp="1"/>
          </p:cNvSpPr>
          <p:nvPr/>
        </p:nvSpPr>
        <p:spPr>
          <a:xfrm>
            <a:off x="12954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25E77D76-FE09-4A6B-8767-715D900EF36D}"/>
              </a:ext>
            </a:extLst>
          </p:cNvPr>
          <p:cNvSpPr>
            <a:spLocks noGrp="1"/>
          </p:cNvSpPr>
          <p:nvPr/>
        </p:nvSpPr>
        <p:spPr>
          <a:xfrm>
            <a:off x="17526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각자 2개 선택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ns2:creationId id="{E582A662-9310-4A9C-9771-BE02917A3D69}"/>
              </a:ext>
            </a:extLst>
          </p:cNvPr>
          <p:cNvSpPr>
            <a:spLocks noGrp="1"/>
          </p:cNvSpPr>
          <p:nvPr/>
        </p:nvSpPr>
        <p:spPr>
          <a:xfrm>
            <a:off x="291465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타원 41">
            <a:extLst>
              <a:ext uri="{FF2B5EF4-FFF2-40B4-BE49-F238E27FC236}">
                <ns2:creationId id="{639C79BB-46C7-46E5-A4A4-D516164799CC}"/>
              </a:ext>
            </a:extLst>
          </p:cNvPr>
          <p:cNvSpPr>
            <a:spLocks noGrp="1"/>
          </p:cNvSpPr>
          <p:nvPr/>
        </p:nvSpPr>
        <p:spPr>
          <a:xfrm>
            <a:off x="34671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09BE76DD-7C93-4052-BCBA-D43C73E78A9D}"/>
              </a:ext>
            </a:extLst>
          </p:cNvPr>
          <p:cNvSpPr>
            <a:spLocks noGrp="1"/>
          </p:cNvSpPr>
          <p:nvPr/>
        </p:nvSpPr>
        <p:spPr>
          <a:xfrm>
            <a:off x="34671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9BB43626-96A1-4FE7-BBAD-3539BEE5C47D}"/>
              </a:ext>
            </a:extLst>
          </p:cNvPr>
          <p:cNvSpPr>
            <a:spLocks noGrp="1"/>
          </p:cNvSpPr>
          <p:nvPr/>
        </p:nvSpPr>
        <p:spPr>
          <a:xfrm>
            <a:off x="39243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겹치면 확정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ns2:creationId id="{D468452B-1BDF-49F0-97DC-A01A62A6230A}"/>
              </a:ext>
            </a:extLst>
          </p:cNvPr>
          <p:cNvSpPr>
            <a:spLocks noGrp="1"/>
          </p:cNvSpPr>
          <p:nvPr/>
        </p:nvSpPr>
        <p:spPr>
          <a:xfrm>
            <a:off x="518160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타원 45">
            <a:extLst>
              <a:ext uri="{FF2B5EF4-FFF2-40B4-BE49-F238E27FC236}">
                <ns2:creationId id="{DFC8448E-62BF-467B-A51E-64B5C6E8E421}"/>
              </a:ext>
            </a:extLst>
          </p:cNvPr>
          <p:cNvSpPr>
            <a:spLocks noGrp="1"/>
          </p:cNvSpPr>
          <p:nvPr/>
        </p:nvSpPr>
        <p:spPr>
          <a:xfrm>
            <a:off x="5743575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ns2:creationId id="{7A9F910E-75D9-45AF-BC62-884182202634}"/>
              </a:ext>
            </a:extLst>
          </p:cNvPr>
          <p:cNvSpPr>
            <a:spLocks noGrp="1"/>
          </p:cNvSpPr>
          <p:nvPr/>
        </p:nvSpPr>
        <p:spPr>
          <a:xfrm>
            <a:off x="57435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ns2:creationId id="{743A0826-12A2-4848-BF9C-304351AE7FB8}"/>
              </a:ext>
            </a:extLst>
          </p:cNvPr>
          <p:cNvSpPr>
            <a:spLocks noGrp="1"/>
          </p:cNvSpPr>
          <p:nvPr/>
        </p:nvSpPr>
        <p:spPr>
          <a:xfrm>
            <a:off x="6200775" y="4258722"/>
            <a:ext cx="215893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1개만 겹치면 다시 비교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화살표: 오른쪽 48">
            <a:extLst>
              <a:ext uri="{FF2B5EF4-FFF2-40B4-BE49-F238E27FC236}">
                <ns2:creationId id="{F77EE6CF-5D8C-4584-B426-FED7896AD885}"/>
              </a:ext>
            </a:extLst>
          </p:cNvPr>
          <p:cNvSpPr>
            <a:spLocks noGrp="1"/>
          </p:cNvSpPr>
          <p:nvPr/>
        </p:nvSpPr>
        <p:spPr>
          <a:xfrm>
            <a:off x="852163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타원 49">
            <a:extLst>
              <a:ext uri="{FF2B5EF4-FFF2-40B4-BE49-F238E27FC236}">
                <ns2:creationId id="{F8EB09C9-B68D-4D58-BC1F-2BD1C265691E}"/>
              </a:ext>
            </a:extLst>
          </p:cNvPr>
          <p:cNvSpPr>
            <a:spLocks noGrp="1"/>
          </p:cNvSpPr>
          <p:nvPr/>
        </p:nvSpPr>
        <p:spPr>
          <a:xfrm>
            <a:off x="9134475" y="4306347"/>
            <a:ext cx="323850" cy="3238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ns2:creationId id="{BBED9417-7E6C-44F6-8A0D-808B3F846EA1}"/>
              </a:ext>
            </a:extLst>
          </p:cNvPr>
          <p:cNvSpPr>
            <a:spLocks noGrp="1"/>
          </p:cNvSpPr>
          <p:nvPr/>
        </p:nvSpPr>
        <p:spPr>
          <a:xfrm>
            <a:off x="91344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직사각형 51">
            <a:extLst>
              <a:ext uri="{FF2B5EF4-FFF2-40B4-BE49-F238E27FC236}">
                <ns2:creationId id="{69355B82-69CD-4B0E-8CE9-623DB5192B3E}"/>
              </a:ext>
            </a:extLst>
          </p:cNvPr>
          <p:cNvSpPr>
            <a:spLocks noGrp="1"/>
          </p:cNvSpPr>
          <p:nvPr/>
        </p:nvSpPr>
        <p:spPr>
          <a:xfrm>
            <a:off x="962025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2번 후 각자 하나씩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직사각형 52">
            <a:extLst>
              <a:ext uri="{FF2B5EF4-FFF2-40B4-BE49-F238E27FC236}">
                <ns2:creationId id="{2F5CA12D-913D-405E-AA58-5F8C6570AD43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 xml:space="preserve">2단계 · 방문 전에 물어볼 것 정리 → 방문 전 체크리스트 → 다녀와서 유지·보류·제외</a:t>
            </a:r>
            <a:endParaRPr sz="12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ns2:creationId id="{2DF7E342-ABD4-4906-B875-DC91F340D85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확정된 정책</a:t>
            </a:r>
          </a:p>
        </p:txBody>
      </p:sp>
      <p:sp>
        <p:nvSpPr>
          <p:cNvPr id="55" name="직사각형 54">
            <a:extLst>
              <a:ext uri="{FF2B5EF4-FFF2-40B4-BE49-F238E27FC236}">
                <ns2:creationId id="{C8E76D0A-C643-409D-B03D-6E13F96D1706}"/>
              </a:ext>
            </a:extLst>
          </p:cNvPr>
          <p:cNvSpPr>
            <a:spLocks noGrp="1"/>
          </p:cNvSpPr>
          <p:nvPr/>
        </p:nvSpPr>
        <p:spPr>
          <a:xfrm>
            <a:off x="1828800" y="55911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 안 함 = 통근·교통비를 재지 않음 · 비교표에서 그 줄을 뺌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직사각형 55">
            <a:extLst>
              <a:ext uri="{FF2B5EF4-FFF2-40B4-BE49-F238E27FC236}">
                <ns2:creationId id="{E532BEF3-5BDD-44C8-8224-2960618C37A3}"/>
              </a:ext>
            </a:extLst>
          </p:cNvPr>
          <p:cNvSpPr>
            <a:spLocks noGrp="1"/>
          </p:cNvSpPr>
          <p:nvPr/>
        </p:nvSpPr>
        <p:spPr>
          <a:xfrm>
            <a:off x="8229600" y="55911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 완화는 자동 타협이 아니라 상태 변화 미리보기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803721632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ns2:creationId id="{C82CC129-302C-40D5-B8F1-C4CADE9956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· 사용자 흐름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589FFA2-0C1A-42FD-B8F5-71D38213628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 · 시스템 · B, 세 줄로 본 전체 흐름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2B91336-7C9F-413F-96DF-A63EA688DD5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83C0496-5B48-4944-95AA-88F281227C3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AE757D15-7DF6-41A5-A612-03E545ADDE5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F87D0350-4B83-4ED0-892F-6F617A76EF4C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8F94F802-59EB-4566-8628-74FF26CDBF51}"/>
              </a:ext>
            </a:extLst>
          </p:cNvPr>
          <p:cNvSpPr>
            <a:spLocks noGrp="1"/>
          </p:cNvSpPr>
          <p:nvPr/>
        </p:nvSpPr>
        <p:spPr>
          <a:xfrm>
            <a:off x="428625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E0DC97CA-3679-4A37-B4B8-A2AE07338639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0E013BB5-A194-4B3C-B1E4-128D3218E3C9}"/>
              </a:ext>
            </a:extLst>
          </p:cNvPr>
          <p:cNvSpPr>
            <a:spLocks noGrp="1"/>
          </p:cNvSpPr>
          <p:nvPr/>
        </p:nvSpPr>
        <p:spPr>
          <a:xfrm>
            <a:off x="78486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3A0F172E-1598-4E8E-9F51-04575FED0D5B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6F309659-0169-43F4-8CC9-5CB876135CF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0A0ED9D0-469E-4EBD-8234-6D4D73CF7A5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1757B12B-CE24-4286-A556-EA090D0A0BFD}"/>
              </a:ext>
            </a:extLst>
          </p:cNvPr>
          <p:cNvSpPr>
            <a:spLocks noGrp="1"/>
          </p:cNvSpPr>
          <p:nvPr/>
        </p:nvSpPr>
        <p:spPr>
          <a:xfrm>
            <a:off x="19431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AD9D8F6E-1A2D-4C9E-B8A1-66743FE4272F}"/>
              </a:ext>
            </a:extLst>
          </p:cNvPr>
          <p:cNvSpPr>
            <a:spLocks noGrp="1"/>
          </p:cNvSpPr>
          <p:nvPr/>
        </p:nvSpPr>
        <p:spPr>
          <a:xfrm>
            <a:off x="19431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DE790010-0B7D-4B5B-A07B-07D1308C1474}"/>
              </a:ext>
            </a:extLst>
          </p:cNvPr>
          <p:cNvSpPr>
            <a:spLocks noGrp="1"/>
          </p:cNvSpPr>
          <p:nvPr/>
        </p:nvSpPr>
        <p:spPr>
          <a:xfrm>
            <a:off x="1943100" y="28098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추가 조건과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CA58D8CC-84BC-4EDD-9373-04547EC03DB1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9BB4F59D-07D7-4C17-94E6-40D5205BDD1E}"/>
              </a:ext>
            </a:extLst>
          </p:cNvPr>
          <p:cNvSpPr>
            <a:spLocks noGrp="1"/>
          </p:cNvSpPr>
          <p:nvPr/>
        </p:nvSpPr>
        <p:spPr>
          <a:xfrm>
            <a:off x="550545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6C8C645A-8564-4DFE-BCFB-7FFEBB5C4F3C}"/>
              </a:ext>
            </a:extLst>
          </p:cNvPr>
          <p:cNvSpPr>
            <a:spLocks noGrp="1"/>
          </p:cNvSpPr>
          <p:nvPr/>
        </p:nvSpPr>
        <p:spPr>
          <a:xfrm>
            <a:off x="55054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 풀어보기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005F7BA-FCBD-463C-B454-2C9BDA1F4252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9789A731-8DBF-4AF9-B66D-C2CBF70AFA6D}"/>
              </a:ext>
            </a:extLst>
          </p:cNvPr>
          <p:cNvSpPr>
            <a:spLocks noGrp="1"/>
          </p:cNvSpPr>
          <p:nvPr/>
        </p:nvSpPr>
        <p:spPr>
          <a:xfrm>
            <a:off x="90678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2개 선택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BB8DE01B-A3D1-4C4C-BBC4-EB458D40A875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다녀와서 기록</a:t>
            </a:r>
          </a:p>
        </p:txBody>
      </p:sp>
      <p:sp>
        <p:nvSpPr>
          <p:cNvPr id="23" name="직선 연결선 22">
            <a:extLst>
              <a:ext uri="{FF2B5EF4-FFF2-40B4-BE49-F238E27FC236}">
                <ns2:creationId id="{72A23BBF-59B2-463F-9FC1-A3B8DDE4600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1F7A3724-E237-46E2-BD06-DBDE6A98D1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시스템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4A385F02-2F84-41F5-AAA7-70266D9132D5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ns2:creationId id="{E07E81CC-C65F-4539-B85E-63A88A289BA8}"/>
              </a:ext>
            </a:extLst>
          </p:cNvPr>
          <p:cNvSpPr>
            <a:spLocks noGrp="1"/>
          </p:cNvSpPr>
          <p:nvPr/>
        </p:nvSpPr>
        <p:spPr>
          <a:xfrm>
            <a:off x="19431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공유 페이지 생성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6E4D49B7-F3F9-4C66-9E16-2BBD6458DC32}"/>
              </a:ext>
            </a:extLst>
          </p:cNvPr>
          <p:cNvSpPr>
            <a:spLocks noGrp="1"/>
          </p:cNvSpPr>
          <p:nvPr/>
        </p:nvSpPr>
        <p:spPr>
          <a:xfrm>
            <a:off x="19431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A 조건 저장 · 첫 결과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E240C76-EECB-4C01-ADA1-BBC6B27072C7}"/>
              </a:ext>
            </a:extLst>
          </p:cNvPr>
          <p:cNvSpPr>
            <a:spLocks noGrp="1"/>
          </p:cNvSpPr>
          <p:nvPr/>
        </p:nvSpPr>
        <p:spPr>
          <a:xfrm>
            <a:off x="535305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40F07C33-07F3-4FFC-B525-16D9CEA61D82}"/>
              </a:ext>
            </a:extLst>
          </p:cNvPr>
          <p:cNvSpPr>
            <a:spLocks noGrp="1"/>
          </p:cNvSpPr>
          <p:nvPr/>
        </p:nvSpPr>
        <p:spPr>
          <a:xfrm>
            <a:off x="550545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A/B 조건별 판정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BFA114E6-EBFC-4EC4-9530-06290B725775}"/>
              </a:ext>
            </a:extLst>
          </p:cNvPr>
          <p:cNvSpPr>
            <a:spLocks noGrp="1"/>
          </p:cNvSpPr>
          <p:nvPr/>
        </p:nvSpPr>
        <p:spPr>
          <a:xfrm>
            <a:off x="550545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양보 문장 · 0개일 때 처리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D4075B82-A06F-413E-AB7E-D351CDB19ED2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1CF0C4B5-EC6B-401C-B26A-929F92A25B65}"/>
              </a:ext>
            </a:extLst>
          </p:cNvPr>
          <p:cNvSpPr>
            <a:spLocks noGrp="1"/>
          </p:cNvSpPr>
          <p:nvPr/>
        </p:nvSpPr>
        <p:spPr>
          <a:xfrm>
            <a:off x="90678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겹치는지 확인 · 최대 2번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43BD7769-35C5-41C5-893B-D8297602221B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유지 · 보류 · 제외 저장</a:t>
            </a:r>
          </a:p>
        </p:txBody>
      </p:sp>
      <p:sp>
        <p:nvSpPr>
          <p:cNvPr id="34" name="직선 연결선 33">
            <a:extLst>
              <a:ext uri="{FF2B5EF4-FFF2-40B4-BE49-F238E27FC236}">
                <ns2:creationId id="{35B7CB45-6FD4-41FD-920B-2103746777F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77E701CC-3061-45FD-9B4C-CFB97AB750D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493644A4-4C1D-4779-A424-645212F45731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E28E38BA-9497-4876-B6BA-E4BC6CEDAC03}"/>
              </a:ext>
            </a:extLst>
          </p:cNvPr>
          <p:cNvSpPr>
            <a:spLocks noGrp="1"/>
          </p:cNvSpPr>
          <p:nvPr/>
        </p:nvSpPr>
        <p:spPr>
          <a:xfrm>
            <a:off x="19431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5개와 A의 조건 먼저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F43507B2-8DAE-40AF-A796-DAB9829658DE}"/>
              </a:ext>
            </a:extLst>
          </p:cNvPr>
          <p:cNvSpPr>
            <a:spLocks noGrp="1"/>
          </p:cNvSpPr>
          <p:nvPr/>
        </p:nvSpPr>
        <p:spPr>
          <a:xfrm>
            <a:off x="19431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D34E2870-EBF9-4922-9F0B-9BA7D7176823}"/>
              </a:ext>
            </a:extLst>
          </p:cNvPr>
          <p:cNvSpPr>
            <a:spLocks noGrp="1"/>
          </p:cNvSpPr>
          <p:nvPr/>
        </p:nvSpPr>
        <p:spPr>
          <a:xfrm>
            <a:off x="1943100" y="5286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첫 결과 후 로그인 안내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F1D1D53F-1589-4FC7-A0A5-7480C40478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4605FDBA-A3E7-4B35-8C91-9EA258B2D1AC}"/>
              </a:ext>
            </a:extLst>
          </p:cNvPr>
          <p:cNvSpPr>
            <a:spLocks noGrp="1"/>
          </p:cNvSpPr>
          <p:nvPr/>
        </p:nvSpPr>
        <p:spPr>
          <a:xfrm>
            <a:off x="550545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조건으로 대조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ADDF0986-7957-4AA3-B95D-4C16113FEDCE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물어볼 것 검토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ns2:creationId id="{CDAA42B5-09D5-4F80-B75E-C9E8100BD5EC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ns2:creationId id="{08A24D1E-E3DA-4F7A-87CF-5A73D3CBBD4A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2개 선택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EB9467F4-A501-458C-ABA0-1DAA6F6B28ED}"/>
              </a:ext>
            </a:extLst>
          </p:cNvPr>
          <p:cNvSpPr>
            <a:spLocks noGrp="1"/>
          </p:cNvSpPr>
          <p:nvPr/>
        </p:nvSpPr>
        <p:spPr>
          <a:xfrm>
            <a:off x="90678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질문과 체크 기록</a:t>
            </a:r>
          </a:p>
        </p:txBody>
      </p:sp>
      <p:sp>
        <p:nvSpPr>
          <p:cNvPr id="46" name="직선 연결선 45">
            <a:extLst>
              <a:ext uri="{FF2B5EF4-FFF2-40B4-BE49-F238E27FC236}">
                <ns2:creationId id="{A4DE0D60-90B8-4CDD-9547-7D7DE0F15CA5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화살표: 오른쪽 46">
            <a:extLst>
              <a:ext uri="{FF2B5EF4-FFF2-40B4-BE49-F238E27FC236}">
                <ns2:creationId id="{19821FF3-DEB8-4C33-9B34-2DF96200635A}"/>
              </a:ext>
            </a:extLst>
          </p:cNvPr>
          <p:cNvSpPr>
            <a:spLocks noGrp="1"/>
          </p:cNvSpPr>
          <p:nvPr/>
        </p:nvSpPr>
        <p:spPr>
          <a:xfrm>
            <a:off x="4457909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화살표: 오른쪽 47">
            <a:extLst>
              <a:ext uri="{FF2B5EF4-FFF2-40B4-BE49-F238E27FC236}">
                <ns2:creationId id="{9FF933C2-76E9-4B0A-ADAB-81E7FF1FCE87}"/>
              </a:ext>
            </a:extLst>
          </p:cNvPr>
          <p:cNvSpPr>
            <a:spLocks noGrp="1"/>
          </p:cNvSpPr>
          <p:nvPr/>
        </p:nvSpPr>
        <p:spPr>
          <a:xfrm>
            <a:off x="4457909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화살표: 오른쪽 48">
            <a:extLst>
              <a:ext uri="{FF2B5EF4-FFF2-40B4-BE49-F238E27FC236}">
                <ns2:creationId id="{A9B33553-761F-4B92-BD9C-8BD3432CBC95}"/>
              </a:ext>
            </a:extLst>
          </p:cNvPr>
          <p:cNvSpPr>
            <a:spLocks noGrp="1"/>
          </p:cNvSpPr>
          <p:nvPr/>
        </p:nvSpPr>
        <p:spPr>
          <a:xfrm>
            <a:off x="4457909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화살표: 오른쪽 49">
            <a:extLst>
              <a:ext uri="{FF2B5EF4-FFF2-40B4-BE49-F238E27FC236}">
                <ns2:creationId id="{DAA75654-C3AA-426C-8F37-8949DF255283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화살표: 오른쪽 50">
            <a:extLst>
              <a:ext uri="{FF2B5EF4-FFF2-40B4-BE49-F238E27FC236}">
                <ns2:creationId id="{1EF15A9E-016F-412B-842F-2297D890B0D0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화살표: 오른쪽 51">
            <a:extLst>
              <a:ext uri="{FF2B5EF4-FFF2-40B4-BE49-F238E27FC236}">
                <ns2:creationId id="{3FB23210-040E-46AF-939D-0AD7A169FA22}"/>
              </a:ext>
            </a:extLst>
          </p:cNvPr>
          <p:cNvSpPr>
            <a:spLocks noGrp="1"/>
          </p:cNvSpPr>
          <p:nvPr/>
        </p:nvSpPr>
        <p:spPr>
          <a:xfrm>
            <a:off x="8039100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사각형: 둥근 모서리 52">
            <a:extLst>
              <a:ext uri="{FF2B5EF4-FFF2-40B4-BE49-F238E27FC236}">
                <ns2:creationId id="{14E00CAF-038B-4361-83D4-A9898A9B2DF7}"/>
              </a:ext>
            </a:extLst>
          </p:cNvPr>
          <p:cNvSpPr>
            <a:spLocks noGrp="1"/>
          </p:cNvSpPr>
          <p:nvPr/>
        </p:nvSpPr>
        <p:spPr>
          <a:xfrm>
            <a:off x="7018565" y="5842173"/>
            <a:ext cx="15049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로그인 정책 미정</a:t>
            </a:r>
          </a:p>
        </p:txBody>
      </p:sp>
      <p:sp>
        <p:nvSpPr>
          <p:cNvPr id="54" name="직사각형 53">
            <a:extLst>
              <a:ext uri="{FF2B5EF4-FFF2-40B4-BE49-F238E27FC236}">
                <ns2:creationId id="{D9A41ECF-3C43-42F6-9ECF-E008936E4DD2}"/>
              </a:ext>
            </a:extLst>
          </p:cNvPr>
          <p:cNvSpPr>
            <a:spLocks noGrp="1"/>
          </p:cNvSpPr>
          <p:nvPr/>
        </p:nvSpPr>
        <p:spPr>
          <a:xfrm>
            <a:off x="723900" y="5859131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B는 조건 입력 전에 후보와 초대 맥락을 봅니다.</a:t>
            </a:r>
          </a:p>
        </p:txBody>
      </p:sp>
      <p:sp>
        <p:nvSpPr>
          <p:cNvPr id="55" name="직사각형 54">
            <a:extLst>
              <a:ext uri="{FF2B5EF4-FFF2-40B4-BE49-F238E27FC236}">
                <ns2:creationId id="{C4AF5948-4737-4A3D-A5D0-1BB2B9481629}"/>
              </a:ext>
            </a:extLst>
          </p:cNvPr>
          <p:cNvSpPr>
            <a:spLocks noGrp="1"/>
          </p:cNvSpPr>
          <p:nvPr/>
        </p:nvSpPr>
        <p:spPr>
          <a:xfrm>
            <a:off x="8523515" y="5861223"/>
            <a:ext cx="26207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모든 기능을 로그인 없이 쓸 수 있다고 정하진 않았습니다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184455167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ns2:creationId id="{E2AD2FEE-BFF0-4D86-AB4F-76DF778D8B5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· 핵심 화면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F37BFAE-7E28-4FEC-8EC2-8F600B28947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만든 화면 세 장면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782990D-B5CC-4BB2-BFEE-C0C6A0CAB8C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E37F1C8-59C2-4037-AB7E-C86FF31C56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B9784B3-58C2-40B0-8F3E-E2141C8CDC65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6F11153-FD37-4C9A-9D81-18C7FC87C72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8D031EF5-45A3-41E5-B7AF-E192731BF491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26EFDF3F-CFE9-4183-B5F2-41B0E2F2C885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3F14153C-2DDA-42D4-A1CC-00F888D56B02}"/>
              </a:ext>
            </a:extLst>
          </p:cNvPr>
          <p:cNvSpPr>
            <a:spLocks noGrp="1"/>
          </p:cNvSpPr>
          <p:nvPr/>
        </p:nvSpPr>
        <p:spPr>
          <a:xfrm>
            <a:off x="11811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3FA3F3FE-E07C-4010-80E1-69A24D649504}"/>
              </a:ext>
            </a:extLst>
          </p:cNvPr>
          <p:cNvSpPr>
            <a:spLocks noGrp="1"/>
          </p:cNvSpPr>
          <p:nvPr/>
        </p:nvSpPr>
        <p:spPr>
          <a:xfrm>
            <a:off x="1466850" y="2819400"/>
            <a:ext cx="17335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0083C11B-92AC-4D1E-AFD1-A33EB2765799}"/>
              </a:ext>
            </a:extLst>
          </p:cNvPr>
          <p:cNvSpPr>
            <a:spLocks noGrp="1"/>
          </p:cNvSpPr>
          <p:nvPr/>
        </p:nvSpPr>
        <p:spPr>
          <a:xfrm>
            <a:off x="1562100" y="2914650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5개 + A의 조건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91EA8FA2-B0B3-49BE-B3EF-AF7BAE087651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7239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 필수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ns2:creationId id="{32EC2019-20C2-4F9F-89F4-ADD6F673820E}"/>
              </a:ext>
            </a:extLst>
          </p:cNvPr>
          <p:cNvSpPr>
            <a:spLocks noGrp="1"/>
          </p:cNvSpPr>
          <p:nvPr/>
        </p:nvSpPr>
        <p:spPr>
          <a:xfrm>
            <a:off x="2324100" y="333375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B2AFF756-606C-4815-AF28-4838CFCF7E1B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출근하는 경우만 출근지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6494C938-3B9C-4F17-BBBA-590BF86CC011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집들과 A가 중요하게 보는 것을 먼저 보고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57ADD4AB-4BCB-4AA3-ADF9-BD943942FAC7}"/>
              </a:ext>
            </a:extLst>
          </p:cNvPr>
          <p:cNvSpPr>
            <a:spLocks noGrp="1"/>
          </p:cNvSpPr>
          <p:nvPr/>
        </p:nvSpPr>
        <p:spPr>
          <a:xfrm>
            <a:off x="430530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AE5A76E6-CE41-4DFF-BCDC-21507822BC2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DABA3EEB-6160-4413-8EF4-766067E5BE5E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이해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ns2:creationId id="{11A3F3E9-DE22-402A-9A7C-0FFA19F16E81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A30D019C-A1BD-43E3-87FD-B12BBB491CE2}"/>
              </a:ext>
            </a:extLst>
          </p:cNvPr>
          <p:cNvSpPr>
            <a:spLocks noGrp="1"/>
          </p:cNvSpPr>
          <p:nvPr/>
        </p:nvSpPr>
        <p:spPr>
          <a:xfrm>
            <a:off x="478155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9C7B118-6DE2-48DE-936B-5D1505ECC65B}"/>
              </a:ext>
            </a:extLst>
          </p:cNvPr>
          <p:cNvSpPr>
            <a:spLocks noGrp="1"/>
          </p:cNvSpPr>
          <p:nvPr/>
        </p:nvSpPr>
        <p:spPr>
          <a:xfrm>
            <a:off x="4991100" y="28384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4BC5C1BD-1248-4F55-962F-E4B088F04D6A}"/>
              </a:ext>
            </a:extLst>
          </p:cNvPr>
          <p:cNvSpPr>
            <a:spLocks noGrp="1"/>
          </p:cNvSpPr>
          <p:nvPr/>
        </p:nvSpPr>
        <p:spPr>
          <a:xfrm>
            <a:off x="5353050" y="283845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B1924E56-AED0-4D2B-9AC3-8DC78DBC3931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A0BB5DB3-39E8-4B7B-8184-3E3FB1E986AC}"/>
              </a:ext>
            </a:extLst>
          </p:cNvPr>
          <p:cNvSpPr>
            <a:spLocks noGrp="1"/>
          </p:cNvSpPr>
          <p:nvPr/>
        </p:nvSpPr>
        <p:spPr>
          <a:xfrm>
            <a:off x="5353050" y="32385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26" name="직선 연결선 25">
            <a:extLst>
              <a:ext uri="{FF2B5EF4-FFF2-40B4-BE49-F238E27FC236}">
                <ns2:creationId id="{116CD6C7-EEFB-4447-8632-C3A8EDA1F7F7}"/>
              </a:ext>
            </a:extLst>
          </p:cNvPr>
          <p:cNvSpPr>
            <a:spLocks noGrp="1"/>
          </p:cNvSpPr>
          <p:nvPr/>
        </p:nvSpPr>
        <p:spPr>
          <a:xfrm>
            <a:off x="5029200" y="3638550"/>
            <a:ext cx="1809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9058EDF4-D504-4DC0-B418-146860E8B0EF}"/>
              </a:ext>
            </a:extLst>
          </p:cNvPr>
          <p:cNvSpPr>
            <a:spLocks noGrp="1"/>
          </p:cNvSpPr>
          <p:nvPr/>
        </p:nvSpPr>
        <p:spPr>
          <a:xfrm>
            <a:off x="5067300" y="37909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통근 13분을 감수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A92E269B-F727-4928-BE9E-7FEB1A6A6E82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실제값 &gt; 기준값 · 미달량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1F2AE18-F974-4DDD-8164-4A9C90BB3B8B}"/>
              </a:ext>
            </a:extLst>
          </p:cNvPr>
          <p:cNvSpPr>
            <a:spLocks noGrp="1"/>
          </p:cNvSpPr>
          <p:nvPr/>
        </p:nvSpPr>
        <p:spPr>
          <a:xfrm>
            <a:off x="79057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3E3B9864-F743-49E4-92A6-BEC622ECE92B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9827D421-118E-4BBA-9957-9EFB2899EB66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97FEB8C5-0CC3-4256-BCB1-117D6F10517B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A3CC4B17-2C8E-4C41-9E8E-238B5EE80E8E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ns2:creationId id="{48ED7C68-7B58-451E-9AFC-4853B972EDB7}"/>
              </a:ext>
            </a:extLst>
          </p:cNvPr>
          <p:cNvSpPr>
            <a:spLocks noGrp="1"/>
          </p:cNvSpPr>
          <p:nvPr/>
        </p:nvSpPr>
        <p:spPr>
          <a:xfrm>
            <a:off x="859155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B522B501-76E0-4316-9939-8BD40709F739}"/>
              </a:ext>
            </a:extLst>
          </p:cNvPr>
          <p:cNvSpPr>
            <a:spLocks noGrp="1"/>
          </p:cNvSpPr>
          <p:nvPr/>
        </p:nvSpPr>
        <p:spPr>
          <a:xfrm>
            <a:off x="963930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BAB4C4CB-4E23-491C-AD27-126A0B621A9F}"/>
              </a:ext>
            </a:extLst>
          </p:cNvPr>
          <p:cNvSpPr>
            <a:spLocks noGrp="1"/>
          </p:cNvSpPr>
          <p:nvPr/>
        </p:nvSpPr>
        <p:spPr>
          <a:xfrm>
            <a:off x="868680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A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DC30D494-296A-4402-BC77-B67CFCD241F1}"/>
              </a:ext>
            </a:extLst>
          </p:cNvPr>
          <p:cNvSpPr>
            <a:spLocks noGrp="1"/>
          </p:cNvSpPr>
          <p:nvPr/>
        </p:nvSpPr>
        <p:spPr>
          <a:xfrm>
            <a:off x="973455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B</a:t>
            </a:r>
          </a:p>
        </p:txBody>
      </p:sp>
      <p:sp>
        <p:nvSpPr>
          <p:cNvPr id="38" name="직선 연결선 37">
            <a:extLst>
              <a:ext uri="{FF2B5EF4-FFF2-40B4-BE49-F238E27FC236}">
                <ns2:creationId id="{4C3C9859-8165-4061-B388-194051B29B33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선 연결선 38">
            <a:extLst>
              <a:ext uri="{FF2B5EF4-FFF2-40B4-BE49-F238E27FC236}">
                <ns2:creationId id="{154C21D8-8F6E-4639-8CFC-0AF6DB00EC1F}"/>
              </a:ext>
            </a:extLst>
          </p:cNvPr>
          <p:cNvSpPr>
            <a:spLocks noGrp="1"/>
          </p:cNvSpPr>
          <p:nvPr/>
        </p:nvSpPr>
        <p:spPr>
          <a:xfrm>
            <a:off x="9734550" y="3352800"/>
            <a:ext cx="647700" cy="0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선 연결선 39">
            <a:extLst>
              <a:ext uri="{FF2B5EF4-FFF2-40B4-BE49-F238E27FC236}">
                <ns2:creationId id="{1293C584-EE03-45CE-B358-795784813995}"/>
              </a:ext>
            </a:extLst>
          </p:cNvPr>
          <p:cNvSpPr>
            <a:spLocks noGrp="1"/>
          </p:cNvSpPr>
          <p:nvPr/>
        </p:nvSpPr>
        <p:spPr>
          <a:xfrm>
            <a:off x="8686800" y="3505200"/>
            <a:ext cx="6477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선 연결선 40">
            <a:extLst>
              <a:ext uri="{FF2B5EF4-FFF2-40B4-BE49-F238E27FC236}">
                <ns2:creationId id="{A73E53A0-94FF-42DB-A991-A9354FD18C83}"/>
              </a:ext>
            </a:extLst>
          </p:cNvPr>
          <p:cNvSpPr>
            <a:spLocks noGrp="1"/>
          </p:cNvSpPr>
          <p:nvPr/>
        </p:nvSpPr>
        <p:spPr>
          <a:xfrm>
            <a:off x="9734550" y="35052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직선 연결선 41">
            <a:extLst>
              <a:ext uri="{FF2B5EF4-FFF2-40B4-BE49-F238E27FC236}">
                <ns2:creationId id="{8E1A8C56-C290-40BF-938A-C7F05C0D6EE4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선 연결선 42">
            <a:extLst>
              <a:ext uri="{FF2B5EF4-FFF2-40B4-BE49-F238E27FC236}">
                <ns2:creationId id="{95E84E66-BC7F-4B2E-A3E4-6AC8025260CB}"/>
              </a:ext>
            </a:extLst>
          </p:cNvPr>
          <p:cNvSpPr>
            <a:spLocks noGrp="1"/>
          </p:cNvSpPr>
          <p:nvPr/>
        </p:nvSpPr>
        <p:spPr>
          <a:xfrm>
            <a:off x="973455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ns2:creationId id="{7C031B67-3B6C-4C9F-ABE3-C2A60E725E25}"/>
              </a:ext>
            </a:extLst>
          </p:cNvPr>
          <p:cNvSpPr>
            <a:spLocks noGrp="1"/>
          </p:cNvSpPr>
          <p:nvPr/>
        </p:nvSpPr>
        <p:spPr>
          <a:xfrm>
            <a:off x="8705850" y="39433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총점 행 없음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C162A201-7353-4521-8431-68F6271A6732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이미 겹친 1개는 그대로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총점 없는 Option Grid로 재선택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ns2:creationId id="{4F17D0A7-B6E2-45EC-A100-0FCAC1D26EF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재탐색 화면 미설계</a:t>
            </a:r>
          </a:p>
        </p:txBody>
      </p:sp>
      <p:sp>
        <p:nvSpPr>
          <p:cNvPr id="47" name="직사각형 46">
            <a:extLst>
              <a:ext uri="{FF2B5EF4-FFF2-40B4-BE49-F238E27FC236}">
                <ns2:creationId id="{ED6F0DF6-3EDB-4A70-824F-F7FADE2E38F0}"/>
              </a:ext>
            </a:extLst>
          </p:cNvPr>
          <p:cNvSpPr>
            <a:spLocks noGrp="1"/>
          </p:cNvSpPr>
          <p:nvPr/>
        </p:nvSpPr>
        <p:spPr>
          <a:xfrm>
            <a:off x="2324100" y="5619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조건에 맞는 집이 0개일 때 다시 찾아주는 화면은 아직 안 그렸습니다</a:t>
            </a:r>
          </a:p>
        </p:txBody>
      </p:sp>
      <p:sp>
        <p:nvSpPr>
          <p:cNvPr id="48" name="직사각형 47">
            <a:extLst>
              <a:ext uri="{FF2B5EF4-FFF2-40B4-BE49-F238E27FC236}">
                <ns2:creationId id="{FE002E9E-0ACC-4796-A65C-02FE60D610F4}"/>
              </a:ext>
            </a:extLst>
          </p:cNvPr>
          <p:cNvSpPr>
            <a:spLocks noGrp="1"/>
          </p:cNvSpPr>
          <p:nvPr/>
        </p:nvSpPr>
        <p:spPr>
          <a:xfrm>
            <a:off x="8239648" y="5581650"/>
            <a:ext cx="29998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사진이나 추천 배지보다 양보 문장이 먼저입니다</a:t>
            </a:r>
          </a:p>
        </p:txBody>
      </p:sp>
    </p:spTree>
    <p:extLst>
      <p:ext uri="{BB962C8B-B14F-4D97-AF65-F5344CB8AC3E}">
        <ns3:creationId val="423235944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ns2:creationId id="{06BA915B-95A0-4E0C-8013-57C47FD283B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데이터 · 조건 구조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F66AA46-CE74-40C2-8C08-E099CBA133A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“안 맞음”에도 네 종류가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1E61ECE8-99B7-49BE-A523-A23FE8DBDA1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3191D1DE-ACD7-453F-9127-009566CD83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F862303-006F-436F-A722-04CEE5525597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4A6F3927-8C01-4886-9357-A6CDBE0B718B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709AAAEC-61DA-4E2A-865A-B5C68234F31F}"/>
              </a:ext>
            </a:extLst>
          </p:cNvPr>
          <p:cNvSpPr>
            <a:spLocks noGrp="1"/>
          </p:cNvSpPr>
          <p:nvPr/>
        </p:nvSpPr>
        <p:spPr>
          <a:xfrm>
            <a:off x="933450" y="22491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A58D63BD-C430-4E16-8AEF-D60D4FEBDAF5}"/>
              </a:ext>
            </a:extLst>
          </p:cNvPr>
          <p:cNvSpPr>
            <a:spLocks noGrp="1"/>
          </p:cNvSpPr>
          <p:nvPr/>
        </p:nvSpPr>
        <p:spPr>
          <a:xfrm>
            <a:off x="2076450" y="22396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둘 다 필수 · 상한은 사람마다 다를 수 있음</a:t>
            </a:r>
          </a:p>
        </p:txBody>
      </p:sp>
      <p:sp>
        <p:nvSpPr>
          <p:cNvPr id="10" name="직선 연결선 9">
            <a:extLst>
              <a:ext uri="{FF2B5EF4-FFF2-40B4-BE49-F238E27FC236}">
                <ns2:creationId id="{9F87B0DE-5986-47B5-B393-D3F91DE568E9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BC88FF80-7FC5-4506-ACA5-6FF8536B7B95}"/>
              </a:ext>
            </a:extLst>
          </p:cNvPr>
          <p:cNvSpPr>
            <a:spLocks noGrp="1"/>
          </p:cNvSpPr>
          <p:nvPr/>
        </p:nvSpPr>
        <p:spPr>
          <a:xfrm>
            <a:off x="933450" y="27730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7016F0F-D393-42B5-98E6-B443A2EA5105}"/>
              </a:ext>
            </a:extLst>
          </p:cNvPr>
          <p:cNvSpPr>
            <a:spLocks noGrp="1"/>
          </p:cNvSpPr>
          <p:nvPr/>
        </p:nvSpPr>
        <p:spPr>
          <a:xfrm>
            <a:off x="2076450" y="27635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출근한다고 답한 사람만</a:t>
            </a:r>
          </a:p>
        </p:txBody>
      </p:sp>
      <p:sp>
        <p:nvSpPr>
          <p:cNvPr id="13" name="직선 연결선 12">
            <a:extLst>
              <a:ext uri="{FF2B5EF4-FFF2-40B4-BE49-F238E27FC236}">
                <ns2:creationId id="{72E942FE-55E1-49DB-B3FD-77590B9CEFA8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1DA0E42E-515D-4AAB-BFFD-BA0F42655690}"/>
              </a:ext>
            </a:extLst>
          </p:cNvPr>
          <p:cNvSpPr>
            <a:spLocks noGrp="1"/>
          </p:cNvSpPr>
          <p:nvPr/>
        </p:nvSpPr>
        <p:spPr>
          <a:xfrm>
            <a:off x="933450" y="329692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꼭 지킬 조건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D2BB4B14-4A97-4B22-9480-3F0B454C17D4}"/>
              </a:ext>
            </a:extLst>
          </p:cNvPr>
          <p:cNvSpPr>
            <a:spLocks noGrp="1"/>
          </p:cNvSpPr>
          <p:nvPr/>
        </p:nvSpPr>
        <p:spPr>
          <a:xfrm>
            <a:off x="2076450" y="328739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0~4개 · 본인이 고름</a:t>
            </a:r>
          </a:p>
        </p:txBody>
      </p:sp>
      <p:sp>
        <p:nvSpPr>
          <p:cNvPr id="16" name="직선 연결선 15">
            <a:extLst>
              <a:ext uri="{FF2B5EF4-FFF2-40B4-BE49-F238E27FC236}">
                <ns2:creationId id="{5D8ED991-16E5-44B8-A1AB-6ACEDF5615A9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1342A7FA-F153-4A62-ACC8-4339D4FE232B}"/>
              </a:ext>
            </a:extLst>
          </p:cNvPr>
          <p:cNvSpPr>
            <a:spLocks noGrp="1"/>
          </p:cNvSpPr>
          <p:nvPr/>
        </p:nvSpPr>
        <p:spPr>
          <a:xfrm>
            <a:off x="933450" y="38207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EB657D60-6650-4C7A-A75F-D15564F91004}"/>
              </a:ext>
            </a:extLst>
          </p:cNvPr>
          <p:cNvSpPr>
            <a:spLocks noGrp="1"/>
          </p:cNvSpPr>
          <p:nvPr/>
        </p:nvSpPr>
        <p:spPr>
          <a:xfrm>
            <a:off x="2076450" y="381127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자유 문장 · 개수 제한 없음 · 판정 안 함</a:t>
            </a:r>
          </a:p>
        </p:txBody>
      </p:sp>
      <p:sp>
        <p:nvSpPr>
          <p:cNvPr id="19" name="직선 연결선 18">
            <a:extLst>
              <a:ext uri="{FF2B5EF4-FFF2-40B4-BE49-F238E27FC236}">
                <ns2:creationId id="{6FB66794-E607-4910-9D2D-649E2B71B618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ns2:creationId id="{C07D9CBA-B18E-43CF-BF21-38CB8DEFA886}"/>
              </a:ext>
            </a:extLst>
          </p:cNvPr>
          <p:cNvSpPr>
            <a:spLocks noGrp="1"/>
          </p:cNvSpPr>
          <p:nvPr/>
        </p:nvSpPr>
        <p:spPr>
          <a:xfrm>
            <a:off x="933450" y="43446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확인 필요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8DB0F047-6DD5-46AC-AD78-BFAEF1590CC8}"/>
              </a:ext>
            </a:extLst>
          </p:cNvPr>
          <p:cNvSpPr>
            <a:spLocks noGrp="1"/>
          </p:cNvSpPr>
          <p:nvPr/>
        </p:nvSpPr>
        <p:spPr>
          <a:xfrm>
            <a:off x="2076450" y="43351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중개사에게 물어볼 것 · 개수 제한 없음</a:t>
            </a:r>
          </a:p>
        </p:txBody>
      </p:sp>
      <p:sp>
        <p:nvSpPr>
          <p:cNvPr id="22" name="직선 연결선 21">
            <a:extLst>
              <a:ext uri="{FF2B5EF4-FFF2-40B4-BE49-F238E27FC236}">
                <ns2:creationId id="{5F88A8D3-C817-4868-8D0E-ECB1152CEEC8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DEF26A3B-A798-4B03-A041-6A78EA44B5A1}"/>
              </a:ext>
            </a:extLst>
          </p:cNvPr>
          <p:cNvSpPr>
            <a:spLocks noGrp="1"/>
          </p:cNvSpPr>
          <p:nvPr/>
        </p:nvSpPr>
        <p:spPr>
          <a:xfrm>
            <a:off x="933450" y="48685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89C80383-264C-4135-955E-CCA4E0FE08C2}"/>
              </a:ext>
            </a:extLst>
          </p:cNvPr>
          <p:cNvSpPr>
            <a:spLocks noGrp="1"/>
          </p:cNvSpPr>
          <p:nvPr/>
        </p:nvSpPr>
        <p:spPr>
          <a:xfrm>
            <a:off x="2076450" y="48590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받는 공통 목록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52024981-9BE2-42BC-87D3-8743CE83D9AB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D59FEF68-58EA-4FE1-A259-DB823B4B9D63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판정 가능한 6개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F71B3D4F-558D-421E-A890-BFE411F200F9}"/>
              </a:ext>
            </a:extLst>
          </p:cNvPr>
          <p:cNvSpPr>
            <a:spLocks noGrp="1"/>
          </p:cNvSpPr>
          <p:nvPr/>
        </p:nvSpPr>
        <p:spPr>
          <a:xfrm>
            <a:off x="2343150" y="538162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예산 · 통근시간 · 역 도보 · 전용면적 · 주차 · 매물 유형</a:t>
            </a:r>
            <a:endParaRPr sz="11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ns2:creationId id="{8B7E1D45-2694-429F-A3F6-E3F27A127D07}"/>
              </a:ext>
            </a:extLst>
          </p:cNvPr>
          <p:cNvSpPr>
            <a:spLocks noGrp="1"/>
          </p:cNvSpPr>
          <p:nvPr/>
        </p:nvSpPr>
        <p:spPr>
          <a:xfrm>
            <a:off x="62674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C61D58E2-5F31-4500-A643-1B3247816F81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의미가 서로 다릅니다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ECFD1156-8D5B-4B8D-A694-81AF2D320C2B}"/>
              </a:ext>
            </a:extLst>
          </p:cNvPr>
          <p:cNvSpPr>
            <a:spLocks noGrp="1"/>
          </p:cNvSpPr>
          <p:nvPr/>
        </p:nvSpPr>
        <p:spPr>
          <a:xfrm>
            <a:off x="6496050" y="22479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1" name="직사각형 30">
            <a:extLst>
              <a:ext uri="{FF2B5EF4-FFF2-40B4-BE49-F238E27FC236}">
                <ns2:creationId id="{13981B6C-6AB1-495D-9857-1ACEAB781263}"/>
              </a:ext>
            </a:extLst>
          </p:cNvPr>
          <p:cNvSpPr>
            <a:spLocks noGrp="1"/>
          </p:cNvSpPr>
          <p:nvPr/>
        </p:nvSpPr>
        <p:spPr>
          <a:xfrm>
            <a:off x="6629400" y="24343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 xml:space="preserve">미충족</a:t>
            </a:r>
            <a:endParaRPr sz="1100" b="1" dirty="0">
              <a:solidFill>
                <a:srgbClr val="D9770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ns2:creationId id="{00AA80DC-2951-4C4C-950F-2DF06CFB5E3A}"/>
              </a:ext>
            </a:extLst>
          </p:cNvPr>
          <p:cNvSpPr>
            <a:spLocks noGrp="1"/>
          </p:cNvSpPr>
          <p:nvPr/>
        </p:nvSpPr>
        <p:spPr>
          <a:xfrm>
            <a:off x="7696200" y="24355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재봤는데 기준에 안 맞음</a:t>
            </a:r>
            <a:endParaRPr sz="11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사각형 32">
            <a:extLst>
              <a:ext uri="{FF2B5EF4-FFF2-40B4-BE49-F238E27FC236}">
                <ns2:creationId id="{374CAF5C-B78D-4801-A0D4-84A16EF708C4}"/>
              </a:ext>
            </a:extLst>
          </p:cNvPr>
          <p:cNvSpPr>
            <a:spLocks noGrp="1"/>
          </p:cNvSpPr>
          <p:nvPr/>
        </p:nvSpPr>
        <p:spPr>
          <a:xfrm>
            <a:off x="9429750" y="23641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실제값·기준값·미달량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ns2:creationId id="{C8286FAA-5500-4266-9DF6-B65BF11059FC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BE8E8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5" name="직사각형 34">
            <a:extLst>
              <a:ext uri="{FF2B5EF4-FFF2-40B4-BE49-F238E27FC236}">
                <ns2:creationId id="{C1D0B3BD-1903-40F2-BDAC-E0B56AA8AD2A}"/>
              </a:ext>
            </a:extLst>
          </p:cNvPr>
          <p:cNvSpPr>
            <a:spLocks noGrp="1"/>
          </p:cNvSpPr>
          <p:nvPr/>
        </p:nvSpPr>
        <p:spPr>
          <a:xfrm>
            <a:off x="6629400" y="31772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 xml:space="preserve">계산 불가</a:t>
            </a:r>
            <a:endParaRPr sz="1100" b="1" dirty="0">
              <a:solidFill>
                <a:srgbClr val="B43C3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직사각형 35">
            <a:extLst>
              <a:ext uri="{FF2B5EF4-FFF2-40B4-BE49-F238E27FC236}">
                <ns2:creationId id="{3E09C0FA-9763-4A8A-93D5-3F507E993AEF}"/>
              </a:ext>
            </a:extLst>
          </p:cNvPr>
          <p:cNvSpPr>
            <a:spLocks noGrp="1"/>
          </p:cNvSpPr>
          <p:nvPr/>
        </p:nvSpPr>
        <p:spPr>
          <a:xfrm>
            <a:off x="7696200" y="31784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시스템이 계산에 실패함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6EC14EC8-BB5E-4A16-B182-AC8A5A59CD4B}"/>
              </a:ext>
            </a:extLst>
          </p:cNvPr>
          <p:cNvSpPr>
            <a:spLocks noGrp="1"/>
          </p:cNvSpPr>
          <p:nvPr/>
        </p:nvSpPr>
        <p:spPr>
          <a:xfrm>
            <a:off x="9429750" y="31070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오류지, 조건 미달이 아님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ns2:creationId id="{6098AE77-45AA-40B6-A4A9-914D547C449E}"/>
              </a:ext>
            </a:extLst>
          </p:cNvPr>
          <p:cNvSpPr>
            <a:spLocks noGrp="1"/>
          </p:cNvSpPr>
          <p:nvPr/>
        </p:nvSpPr>
        <p:spPr>
          <a:xfrm>
            <a:off x="6496050" y="37338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9" name="직사각형 38">
            <a:extLst>
              <a:ext uri="{FF2B5EF4-FFF2-40B4-BE49-F238E27FC236}">
                <ns2:creationId id="{2BA088EC-0DBE-4919-A070-D2109B71D2AC}"/>
              </a:ext>
            </a:extLst>
          </p:cNvPr>
          <p:cNvSpPr>
            <a:spLocks noGrp="1"/>
          </p:cNvSpPr>
          <p:nvPr/>
        </p:nvSpPr>
        <p:spPr>
          <a:xfrm>
            <a:off x="6629400" y="39202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확인 필요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2D76F29B-BC6A-4664-A6FB-A3DF4DD0E213}"/>
              </a:ext>
            </a:extLst>
          </p:cNvPr>
          <p:cNvSpPr>
            <a:spLocks noGrp="1"/>
          </p:cNvSpPr>
          <p:nvPr/>
        </p:nvSpPr>
        <p:spPr>
          <a:xfrm>
            <a:off x="7696200" y="39214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데이터로는 알 수 없음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82F5FFB8-62B7-4D44-9B65-9636FA41CE77}"/>
              </a:ext>
            </a:extLst>
          </p:cNvPr>
          <p:cNvSpPr>
            <a:spLocks noGrp="1"/>
          </p:cNvSpPr>
          <p:nvPr/>
        </p:nvSpPr>
        <p:spPr>
          <a:xfrm>
            <a:off x="9429750" y="38500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방문 전 질문 목록으로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ns2:creationId id="{01818214-1B73-4DD9-AF91-3394E267A2A3}"/>
              </a:ext>
            </a:extLst>
          </p:cNvPr>
          <p:cNvSpPr>
            <a:spLocks noGrp="1"/>
          </p:cNvSpPr>
          <p:nvPr/>
        </p:nvSpPr>
        <p:spPr>
          <a:xfrm>
            <a:off x="6496050" y="44767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43" name="직사각형 42">
            <a:extLst>
              <a:ext uri="{FF2B5EF4-FFF2-40B4-BE49-F238E27FC236}">
                <ns2:creationId id="{7619066E-44EF-4D6E-9E95-E2802D72942B}"/>
              </a:ext>
            </a:extLst>
          </p:cNvPr>
          <p:cNvSpPr>
            <a:spLocks noGrp="1"/>
          </p:cNvSpPr>
          <p:nvPr/>
        </p:nvSpPr>
        <p:spPr>
          <a:xfrm>
            <a:off x="6629400" y="46631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해당 없음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85802C9E-0667-44A2-813E-244A3E88AE32}"/>
              </a:ext>
            </a:extLst>
          </p:cNvPr>
          <p:cNvSpPr>
            <a:spLocks noGrp="1"/>
          </p:cNvSpPr>
          <p:nvPr/>
        </p:nvSpPr>
        <p:spPr>
          <a:xfrm>
            <a:off x="7696200" y="46643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잴 게 아예 없음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3DB9CFE8-A69A-4285-990B-1328F49DA020}"/>
              </a:ext>
            </a:extLst>
          </p:cNvPr>
          <p:cNvSpPr>
            <a:spLocks noGrp="1"/>
          </p:cNvSpPr>
          <p:nvPr/>
        </p:nvSpPr>
        <p:spPr>
          <a:xfrm>
            <a:off x="9429750" y="45929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그 줄을 뺌 · 출근 안 함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ns2:creationId id="{1CE4D8EE-8ABC-4207-9001-95E0A670096D}"/>
              </a:ext>
            </a:extLst>
          </p:cNvPr>
          <p:cNvSpPr>
            <a:spLocks noGrp="1"/>
          </p:cNvSpPr>
          <p:nvPr/>
        </p:nvSpPr>
        <p:spPr>
          <a:xfrm>
            <a:off x="6496050" y="5353050"/>
            <a:ext cx="4762500" cy="266700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ns2:creationId id="{F66B3CDE-1AC8-4343-8110-864AB6851188}"/>
              </a:ext>
            </a:extLst>
          </p:cNvPr>
          <p:cNvSpPr>
            <a:spLocks noGrp="1"/>
          </p:cNvSpPr>
          <p:nvPr/>
        </p:nvSpPr>
        <p:spPr>
          <a:xfrm>
            <a:off x="6629400" y="5400675"/>
            <a:ext cx="449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 안 함은 정상입니다 · 통근·교통비를 재지 않습니다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384968217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ns2:creationId id="{03BFF83D-D231-432A-B2F3-CB7330C5C81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데이터 · 시스템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D4F6DD1-0161-428A-8EB2-D25C864B054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읽고, 판정하고, 네이버로 돌려보냅니다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D15EA59-CA07-4B6C-9E9F-BC3818B6FE4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6A8E9E4-9807-4279-A6BE-55C04451386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632BB86-EEA5-417D-A013-3E6A6AE6DE45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C48F359E-AE4A-4FBE-8420-4B15F7236C5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읽고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28E27F35-F4EB-4586-B222-3D15DC72764E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2012023E-0622-4E73-AC04-06753B5E202E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매물 ID·좌표·가격·면적·유형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주차와 역 도보, 거래 상태</a:t>
            </a:r>
          </a:p>
        </p:txBody>
      </p:sp>
      <p:sp>
        <p:nvSpPr>
          <p:cNvPr id="10" name="화살표: 오른쪽 9">
            <a:extLst>
              <a:ext uri="{FF2B5EF4-FFF2-40B4-BE49-F238E27FC236}">
                <ns2:creationId id="{3A85E9D6-7298-4C2A-ADED-C39004B72FA2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99F67BD8-974E-4280-9C9E-9E3D5CF857BE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84624095-CC6B-4E66-B22C-C17392869A65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판정하고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1A7405F7-AE9A-4BFC-BE8C-F23330904436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같이 보기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CCACA61-AD01-4050-BC9E-23B40B5BF225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사람별 조건 · 후보 묶음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조건별 판정 · 미달량 · 양보 문장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BA7E3ED9-61E2-45DF-99DD-869E85500943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8B682AD8-2801-4ECE-A752-1A4CEB0F38CB}"/>
              </a:ext>
            </a:extLst>
          </p:cNvPr>
          <p:cNvSpPr>
            <a:spLocks noGrp="1"/>
          </p:cNvSpPr>
          <p:nvPr/>
        </p:nvSpPr>
        <p:spPr>
          <a:xfrm>
            <a:off x="80010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6A155980-FB2B-4C74-9142-19A162EEE73C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돌려보내고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14959AC-BAD7-40D6-A4CE-9A3ADF4086CA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검색 · 방문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F433AFA-BE91-4390-B932-6752631D6A9C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사용자가 필터를 눌러 다시 검색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방문 · 문의로 돌아감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843298BD-9E2D-4A95-8405-CC345D967FD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비로그인 조건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AC8424A5-7702-4767-B473-597D512099F7}"/>
              </a:ext>
            </a:extLst>
          </p:cNvPr>
          <p:cNvSpPr>
            <a:spLocks noGrp="1"/>
          </p:cNvSpPr>
          <p:nvPr/>
        </p:nvSpPr>
        <p:spPr>
          <a:xfrm>
            <a:off x="2533650" y="41719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초대 코드로 연결 · 마지막으로 연 날부터 30일 뒤 삭제 · 로그인하면 계정으로 옮김</a:t>
            </a:r>
          </a:p>
        </p:txBody>
      </p:sp>
      <p:sp>
        <p:nvSpPr>
          <p:cNvPr id="22" name="직선 연결선 21">
            <a:extLst>
              <a:ext uri="{FF2B5EF4-FFF2-40B4-BE49-F238E27FC236}">
                <ns2:creationId id="{A993480A-4A6E-44F5-A52D-F334B156719E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82E6E59B-B522-4E31-AADD-AAB4787FCBC1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2EF3A201-96A9-4239-9EFA-89C1F36517ED}"/>
              </a:ext>
            </a:extLst>
          </p:cNvPr>
          <p:cNvSpPr>
            <a:spLocks noGrp="1"/>
          </p:cNvSpPr>
          <p:nvPr/>
        </p:nvSpPr>
        <p:spPr>
          <a:xfrm>
            <a:off x="2533650" y="4695825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출근지 · 매물 좌표 · 이동수단을 저장해 재사용 · 출근 안 하면 계산 안 함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2C3A248A-5D48-4075-8133-627DCBE90081}"/>
              </a:ext>
            </a:extLst>
          </p:cNvPr>
          <p:cNvSpPr>
            <a:spLocks noGrp="1"/>
          </p:cNvSpPr>
          <p:nvPr/>
        </p:nvSpPr>
        <p:spPr>
          <a:xfrm>
            <a:off x="800100" y="5095875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ns2:creationId id="{830FEACF-5A3C-4773-814F-3CEC7CA8CEC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E27AE8B8-BB91-4075-AF3B-BE8B68D221D3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기회비용 · 대출이자 · 월세 · 관리비 · 교통비 · 초기비용, 전제와 기준일을 함께</a:t>
            </a:r>
          </a:p>
        </p:txBody>
      </p:sp>
      <p:sp>
        <p:nvSpPr>
          <p:cNvPr id="28" name="직선 연결선 27">
            <a:extLst>
              <a:ext uri="{FF2B5EF4-FFF2-40B4-BE49-F238E27FC236}">
                <ns2:creationId id="{B0CA3EC6-31B9-4ABE-A209-5FB1426A2E18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5253DD6A-14E2-4F0E-A4E6-4B65186BF5B7}"/>
              </a:ext>
            </a:extLst>
          </p:cNvPr>
          <p:cNvSpPr>
            <a:spLocks noGrp="1"/>
          </p:cNvSpPr>
          <p:nvPr/>
        </p:nvSpPr>
        <p:spPr>
          <a:xfrm>
            <a:off x="9105900" y="3871913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내부 확인 필요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7513D017-C59B-440E-9A96-A85A76FB1978}"/>
              </a:ext>
            </a:extLst>
          </p:cNvPr>
          <p:cNvSpPr>
            <a:spLocks noGrp="1"/>
          </p:cNvSpPr>
          <p:nvPr/>
        </p:nvSpPr>
        <p:spPr>
          <a:xfrm>
            <a:off x="8839200" y="4233863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관심매물 API · 비로그인 열람</a:t>
            </a:r>
          </a:p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검색 결과 수 · 필터 값 · 경로 계산 비용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90C7DC35-8DA7-4B63-B28B-8FECB24E720B}"/>
              </a:ext>
            </a:extLst>
          </p:cNvPr>
          <p:cNvSpPr>
            <a:spLocks noGrp="1"/>
          </p:cNvSpPr>
          <p:nvPr/>
        </p:nvSpPr>
        <p:spPr>
          <a:xfrm>
            <a:off x="1543050" y="584835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사진 · 설명 · 중개사 정보는 판정에 쓰지 않음 · 네이버 매물 데이터를 고치지 않음</a:t>
            </a:r>
          </a:p>
        </p:txBody>
      </p:sp>
    </p:spTree>
    <p:extLst>
      <p:ext uri="{BB962C8B-B14F-4D97-AF65-F5344CB8AC3E}">
        <ns3:creationId val="1473021752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ns2:creationId id="{2F2043CB-240E-4452-A1AB-BDE7235A457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7051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목적과 범위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0D95E5C-7780-45DF-8A13-7B5A31557B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할 것 일곱 가지, 안 할 것 여섯 가지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DDC5099A-B7A4-4542-97DF-B985A2E4B39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78483581-D515-42CB-A55C-549101FDA24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05ACB850-1BFA-46D5-9FE9-93037D21C4E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744200" cy="895350"/>
          </a:xfrm>
          <a:prstGeom prst="roundRect">
            <a:avLst>
              <a:gd name="adj" fmla="val 14894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70415A79-DADF-4BED-82F0-89402425393F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제품 목표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9EDC62E1-74F2-4B7B-8086-E7420CADDF08}"/>
              </a:ext>
            </a:extLst>
          </p:cNvPr>
          <p:cNvSpPr>
            <a:spLocks noGrp="1"/>
          </p:cNvSpPr>
          <p:nvPr/>
        </p:nvSpPr>
        <p:spPr>
          <a:xfrm>
            <a:off x="2724150" y="1797713"/>
            <a:ext cx="832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두 사람이 각 매물의 충족·미달·확인 사항을 이해하고, 자기 판단으로 보러 갈 집 2개를 정합니다.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CAE04E97-21C6-42BA-B9B9-CBE452278F47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6953250" cy="2590800"/>
          </a:xfrm>
          <a:prstGeom prst="roundRect">
            <a:avLst>
              <a:gd name="adj" fmla="val 58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DA813C50-24A7-4839-9BE0-2642BC94A293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1단계 · 먼저 검증할 핵심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AE66A917-AE4B-4409-A968-E307197B4F46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5DD021E-B66A-4AF4-89E6-DBA535196924}"/>
              </a:ext>
            </a:extLst>
          </p:cNvPr>
          <p:cNvSpPr>
            <a:spLocks noGrp="1"/>
          </p:cNvSpPr>
          <p:nvPr/>
        </p:nvSpPr>
        <p:spPr>
          <a:xfrm>
            <a:off x="154305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최대 5개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E525903B-6DD2-4DEA-A4D5-FAE3A6AB7205}"/>
              </a:ext>
            </a:extLst>
          </p:cNvPr>
          <p:cNvSpPr>
            <a:spLocks noGrp="1"/>
          </p:cNvSpPr>
          <p:nvPr/>
        </p:nvSpPr>
        <p:spPr>
          <a:xfrm>
            <a:off x="417195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DDC3DDDF-832D-4CCA-BC1C-A5658558A02C}"/>
              </a:ext>
            </a:extLst>
          </p:cNvPr>
          <p:cNvSpPr>
            <a:spLocks noGrp="1"/>
          </p:cNvSpPr>
          <p:nvPr/>
        </p:nvSpPr>
        <p:spPr>
          <a:xfrm>
            <a:off x="476250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예산 필수 + 출근하는지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FA016BA5-2564-46AF-ABC1-B117173A2180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8453A4B5-9F68-4921-B05C-4A56D8D911E5}"/>
              </a:ext>
            </a:extLst>
          </p:cNvPr>
          <p:cNvSpPr>
            <a:spLocks noGrp="1"/>
          </p:cNvSpPr>
          <p:nvPr/>
        </p:nvSpPr>
        <p:spPr>
          <a:xfrm>
            <a:off x="154305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링크와 코드로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36313032-F669-4347-B2E8-8173F6DE3A4D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01940250-7065-468A-882F-562708254F07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자동 판정 · 비용 · 통근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A15D0855-4450-4261-9836-357F46312E2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EC4797AE-538E-4CAB-A216-81AC27F374D3}"/>
              </a:ext>
            </a:extLst>
          </p:cNvPr>
          <p:cNvSpPr>
            <a:spLocks noGrp="1"/>
          </p:cNvSpPr>
          <p:nvPr/>
        </p:nvSpPr>
        <p:spPr>
          <a:xfrm>
            <a:off x="154305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0387F469-9E53-4535-ADF7-0D10AC8E4A50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487D30F8-6C6C-487F-9AB6-0EC2B47C49F1}"/>
              </a:ext>
            </a:extLst>
          </p:cNvPr>
          <p:cNvSpPr>
            <a:spLocks noGrp="1"/>
          </p:cNvSpPr>
          <p:nvPr/>
        </p:nvSpPr>
        <p:spPr>
          <a:xfrm>
            <a:off x="476250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완화 · 후보 0개일 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16520017-B4FE-4795-8C35-B92D6C616E3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18D153B7-0EF1-4E64-B881-8FEFEE0D1466}"/>
              </a:ext>
            </a:extLst>
          </p:cNvPr>
          <p:cNvSpPr>
            <a:spLocks noGrp="1"/>
          </p:cNvSpPr>
          <p:nvPr/>
        </p:nvSpPr>
        <p:spPr>
          <a:xfrm>
            <a:off x="1543050" y="48291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보러 갈 집 2개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096EF3EC-1FE9-44BF-A366-45ED7AEC9D1E}"/>
              </a:ext>
            </a:extLst>
          </p:cNvPr>
          <p:cNvSpPr>
            <a:spLocks noGrp="1"/>
          </p:cNvSpPr>
          <p:nvPr/>
        </p:nvSpPr>
        <p:spPr>
          <a:xfrm>
            <a:off x="7981950" y="2819400"/>
            <a:ext cx="3486150" cy="123825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8079FE58-85B8-4760-AE15-31C885F6D0F4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2단계 · 끝까지 완성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786988FA-55B6-4A60-8861-4D649F6A16B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물어볼 것 정리</a:t>
            </a:r>
          </a:p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 체크리스트 · 유지/보류/제외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2D097F4-ABDD-4722-8F46-95F42549AFA8}"/>
              </a:ext>
            </a:extLst>
          </p:cNvPr>
          <p:cNvSpPr>
            <a:spLocks noGrp="1"/>
          </p:cNvSpPr>
          <p:nvPr/>
        </p:nvSpPr>
        <p:spPr>
          <a:xfrm>
            <a:off x="7981950" y="4248150"/>
            <a:ext cx="3486150" cy="1162050"/>
          </a:xfrm>
          <a:prstGeom prst="roundRect">
            <a:avLst>
              <a:gd name="adj" fmla="val 13115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8D48B7DE-38A2-4AA5-A380-29F1C189F94E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하지 않을 것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2BA4E946-16F9-4D0F-B213-492984D69C8A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새 매물 DB · 독립 검색 · 자동 추천</a:t>
            </a:r>
          </a:p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종합점수 · AI 최종 선택 · 계약과 대출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9B1D7D0A-28FB-4285-AB0E-AB129707ABD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7442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54A9726A-59B9-4BBC-900E-8502AEE0F99F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확정된 숫자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D5ED6AE8-42C7-487F-A836-635582D95F78}"/>
              </a:ext>
            </a:extLst>
          </p:cNvPr>
          <p:cNvSpPr>
            <a:spLocks noGrp="1"/>
          </p:cNvSpPr>
          <p:nvPr/>
        </p:nvSpPr>
        <p:spPr>
          <a:xfrm>
            <a:off x="1828800" y="5705475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2인 · 집 최대 5개 · 꼭 지킬 조건 0~4개 · 결과 2개 · 최대 2번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2240E2E9-1F70-43BF-B5C4-426103E9322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우선순위 — 1단계를 먼저 만들어 검증하고, 통과한 뒤에 2단계로 갑니다</a:t>
            </a:r>
          </a:p>
        </p:txBody>
      </p:sp>
    </p:spTree>
    <p:extLst>
      <p:ext uri="{BB962C8B-B14F-4D97-AF65-F5344CB8AC3E}">
        <ns3:creationId val="1050571895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ns2:creationId id="{DFC67B58-D530-453F-9D93-79615202F19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619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요구사항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E9B40AD-BC6F-48A1-B2AA-F23C80E1701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2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기능 25가지를 여섯 묶음으로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CD4BAED-9A4D-47B9-9BA6-94440FDDB2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900BF635-04B6-49B4-B7E0-8EEC01D1750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50657C4E-CD04-4F0C-B16E-D1CA6DCDE18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681BB264-1C68-4997-90FC-1E361347A426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365E1A-15B4-4058-8503-2BC7FCF6345E}"/>
              </a:ext>
            </a:extLst>
          </p:cNvPr>
          <p:cNvSpPr>
            <a:spLocks noGrp="1"/>
          </p:cNvSpPr>
          <p:nvPr/>
        </p:nvSpPr>
        <p:spPr>
          <a:xfrm>
            <a:off x="13906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78A3DBDC-1163-4CDB-86D4-107AE2532FFE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19680852-299C-4931-94CE-FD8C3384FFF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관심매물 1~5개 · 링크와 코드 · 초대 맥락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17F0EA27-6AA7-4022-9E74-3994C6443920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79551EBA-6961-4B2B-850B-1C812EBB1916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11ECD588-13EA-412E-A3E0-9A99C942264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40E900EA-32BE-4882-94FD-A169CF7AF606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28380338-1885-41A9-8B52-218EDB998AF9}"/>
              </a:ext>
            </a:extLst>
          </p:cNvPr>
          <p:cNvSpPr>
            <a:spLocks noGrp="1"/>
          </p:cNvSpPr>
          <p:nvPr/>
        </p:nvSpPr>
        <p:spPr>
          <a:xfrm>
            <a:off x="451485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A1524334-6DFF-4492-9CE2-BBF68D18E1C9}"/>
              </a:ext>
            </a:extLst>
          </p:cNvPr>
          <p:cNvSpPr>
            <a:spLocks noGrp="1"/>
          </p:cNvSpPr>
          <p:nvPr/>
        </p:nvSpPr>
        <p:spPr>
          <a:xfrm>
            <a:off x="451485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예산 필수 · 출근하는지 · 고르는 조건</a:t>
            </a:r>
          </a:p>
        </p:txBody>
      </p:sp>
      <p:sp>
        <p:nvSpPr>
          <p:cNvPr id="17" name="화살표: 오른쪽 16">
            <a:extLst>
              <a:ext uri="{FF2B5EF4-FFF2-40B4-BE49-F238E27FC236}">
                <ns2:creationId id="{BDA39A4D-C188-443D-8DA9-2B57DCCBFFFD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25533EBC-67DC-4BA0-B72A-1EBF7E548787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A448DCA0-BD51-4B60-99DE-B6D7CD1BEFB7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F3C82D6F-D47F-4A59-A454-88E5151FE072}"/>
              </a:ext>
            </a:extLst>
          </p:cNvPr>
          <p:cNvSpPr>
            <a:spLocks noGrp="1"/>
          </p:cNvSpPr>
          <p:nvPr/>
        </p:nvSpPr>
        <p:spPr>
          <a:xfrm>
            <a:off x="86677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판정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3AA18C61-63F5-4B32-941A-9912BC53E3A9}"/>
              </a:ext>
            </a:extLst>
          </p:cNvPr>
          <p:cNvSpPr>
            <a:spLocks noGrp="1"/>
          </p:cNvSpPr>
          <p:nvPr/>
        </p:nvSpPr>
        <p:spPr>
          <a:xfrm>
            <a:off x="81534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6E6EAA0B-447A-4CD4-AB2E-761B0ED59DF8}"/>
              </a:ext>
            </a:extLst>
          </p:cNvPr>
          <p:cNvSpPr>
            <a:spLocks noGrp="1"/>
          </p:cNvSpPr>
          <p:nvPr/>
        </p:nvSpPr>
        <p:spPr>
          <a:xfrm>
            <a:off x="81534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사람별 충족/미달/확인 · 오류 분리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3470BB91-4DB0-4D70-A0DD-D4E3514A93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87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9763166B-055D-4121-BD10-03C10CED1CC9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E6083C62-3FC3-43EB-BDA0-7C386AE68138}"/>
              </a:ext>
            </a:extLst>
          </p:cNvPr>
          <p:cNvSpPr>
            <a:spLocks noGrp="1"/>
          </p:cNvSpPr>
          <p:nvPr/>
        </p:nvSpPr>
        <p:spPr>
          <a:xfrm>
            <a:off x="13906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trade-off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7E0D4E9E-DDFD-4BD2-A8BB-7EBF0AF9B9E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AB37FAB4-288C-4B6A-A189-CFC9270A504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양보 주체 · 미달량 · A/B 균형</a:t>
            </a:r>
          </a:p>
        </p:txBody>
      </p:sp>
      <p:sp>
        <p:nvSpPr>
          <p:cNvPr id="28" name="화살표: 오른쪽 27">
            <a:extLst>
              <a:ext uri="{FF2B5EF4-FFF2-40B4-BE49-F238E27FC236}">
                <ns2:creationId id="{301B8C70-7E2B-44FE-89DF-476E2323FC21}"/>
              </a:ext>
            </a:extLst>
          </p:cNvPr>
          <p:cNvSpPr>
            <a:spLocks noGrp="1"/>
          </p:cNvSpPr>
          <p:nvPr/>
        </p:nvSpPr>
        <p:spPr>
          <a:xfrm>
            <a:off x="401955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08AA28A8-402C-4A15-BF21-44163498752E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9452D7C0-607F-4C3E-A187-BC34946C3396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C5AC898C-A232-4C94-8CD0-BDE04AB34B6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막다른 길과 결정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5AD817EB-9643-4F7F-9558-49A5C4BE45FC}"/>
              </a:ext>
            </a:extLst>
          </p:cNvPr>
          <p:cNvSpPr>
            <a:spLocks noGrp="1"/>
          </p:cNvSpPr>
          <p:nvPr/>
        </p:nvSpPr>
        <p:spPr>
          <a:xfrm>
            <a:off x="451485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F5DA8347-B7E1-4EEB-A532-1733E25AE7B9}"/>
              </a:ext>
            </a:extLst>
          </p:cNvPr>
          <p:cNvSpPr>
            <a:spLocks noGrp="1"/>
          </p:cNvSpPr>
          <p:nvPr/>
        </p:nvSpPr>
        <p:spPr>
          <a:xfrm>
            <a:off x="451485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0개일 때 · 각자 2개 · 최대 2번</a:t>
            </a:r>
          </a:p>
        </p:txBody>
      </p:sp>
      <p:sp>
        <p:nvSpPr>
          <p:cNvPr id="34" name="화살표: 오른쪽 33">
            <a:extLst>
              <a:ext uri="{FF2B5EF4-FFF2-40B4-BE49-F238E27FC236}">
                <ns2:creationId id="{0FA1BE66-3DEB-4B0B-8CA0-849CC63D4998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B5E0B4D2-274C-4E29-AD1B-96DEB9473F6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63C61351-6972-4F37-A5A0-17EAF969D106}"/>
              </a:ext>
            </a:extLst>
          </p:cNvPr>
          <p:cNvSpPr>
            <a:spLocks noGrp="1"/>
          </p:cNvSpPr>
          <p:nvPr/>
        </p:nvSpPr>
        <p:spPr>
          <a:xfrm>
            <a:off x="81343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786B8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8F3E45E8-B161-45A0-8297-74EBAC6D6891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반복과 마무리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D84F2886-1467-4D8B-9F55-2FCC4610C2E0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A9E9CED9-EB3F-4A97-9FE7-2FDFB7A27EA7}"/>
              </a:ext>
            </a:extLst>
          </p:cNvPr>
          <p:cNvSpPr>
            <a:spLocks noGrp="1"/>
          </p:cNvSpPr>
          <p:nvPr/>
        </p:nvSpPr>
        <p:spPr>
          <a:xfrm>
            <a:off x="81534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조건이 남음 · 집이 나감 · 질문과 방문 기록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46A4BA78-6BE7-465D-92B2-360A533A3C4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10850" cy="381000"/>
          </a:xfrm>
          <a:prstGeom prst="roundRect">
            <a:avLst>
              <a:gd name="adj" fmla="val 20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5E4ADE47-B193-413F-ADB0-D994C661434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15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AI는 비교하고 설명합니다 · 최종 후보, 순위, 타협, 상대 조건 변경은 사용자가 합니다</a:t>
            </a:r>
            <a:endParaRPr sz="1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ns2:creationId id="{2E329975-3C0C-497E-8C22-24DF7176989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여섯 묶음은 그대로 사용자 시나리오 순서입니다 — 초대받고 → 조건 넣고 → 판정되고 → 양보를 이해하고 → 정하고 → 다시 돌아옵니다</a:t>
            </a:r>
          </a:p>
        </p:txBody>
      </p:sp>
    </p:spTree>
    <p:extLst>
      <p:ext uri="{BB962C8B-B14F-4D97-AF65-F5344CB8AC3E}">
        <ns3:creationId val="1502171489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ns2:creationId id="{42A743E6-7E34-40A4-B717-BF828506F52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Acceptance Criteria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B26C01A-58D0-4E7B-98BF-C0167FC377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검사 기준은 “판단을 흐리지 않는가”입니다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35DF753-3219-4ED3-9DEE-C6E2B71C19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F36A7510-F416-45CE-8632-E8A04B8EA35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86FD8AE-A28F-4E67-B646-0660229C943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5EEF1E73-A55F-40F2-AD2E-EDE5AFB39741}"/>
              </a:ext>
            </a:extLst>
          </p:cNvPr>
          <p:cNvSpPr>
            <a:spLocks noGrp="1"/>
          </p:cNvSpPr>
          <p:nvPr/>
        </p:nvSpPr>
        <p:spPr>
          <a:xfrm>
            <a:off x="9906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5D249A-FE31-41FB-8C55-FED491D7B2C0}"/>
              </a:ext>
            </a:extLst>
          </p:cNvPr>
          <p:cNvSpPr>
            <a:spLocks noGrp="1"/>
          </p:cNvSpPr>
          <p:nvPr/>
        </p:nvSpPr>
        <p:spPr>
          <a:xfrm>
            <a:off x="15240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만들 기능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4AAB1CD2-57CB-4150-A72E-21F39C11EF33}"/>
              </a:ext>
            </a:extLst>
          </p:cNvPr>
          <p:cNvSpPr>
            <a:spLocks noGrp="1"/>
          </p:cNvSpPr>
          <p:nvPr/>
        </p:nvSpPr>
        <p:spPr>
          <a:xfrm>
            <a:off x="25336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BB40AF9B-122D-4A2D-976B-772220545F94}"/>
              </a:ext>
            </a:extLst>
          </p:cNvPr>
          <p:cNvSpPr>
            <a:spLocks noGrp="1"/>
          </p:cNvSpPr>
          <p:nvPr/>
        </p:nvSpPr>
        <p:spPr>
          <a:xfrm>
            <a:off x="26670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직사각형 10">
            <a:extLst>
              <a:ext uri="{FF2B5EF4-FFF2-40B4-BE49-F238E27FC236}">
                <ns2:creationId id="{3A1A8A37-3E30-44BC-A856-F7DD81E395A4}"/>
              </a:ext>
            </a:extLst>
          </p:cNvPr>
          <p:cNvSpPr>
            <a:spLocks noGrp="1"/>
          </p:cNvSpPr>
          <p:nvPr/>
        </p:nvSpPr>
        <p:spPr>
          <a:xfrm>
            <a:off x="33337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검사 항목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2DC1B13D-F426-4BE6-BA42-B61400012C2B}"/>
              </a:ext>
            </a:extLst>
          </p:cNvPr>
          <p:cNvSpPr>
            <a:spLocks noGrp="1"/>
          </p:cNvSpPr>
          <p:nvPr/>
        </p:nvSpPr>
        <p:spPr>
          <a:xfrm>
            <a:off x="43434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F6D3FDC1-9726-4A68-B951-F0F7C2E151B1}"/>
              </a:ext>
            </a:extLst>
          </p:cNvPr>
          <p:cNvSpPr>
            <a:spLocks noGrp="1"/>
          </p:cNvSpPr>
          <p:nvPr/>
        </p:nvSpPr>
        <p:spPr>
          <a:xfrm>
            <a:off x="447675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E98741BC-C243-45DE-9630-3CBAA055F43B}"/>
              </a:ext>
            </a:extLst>
          </p:cNvPr>
          <p:cNvSpPr>
            <a:spLocks noGrp="1"/>
          </p:cNvSpPr>
          <p:nvPr/>
        </p:nvSpPr>
        <p:spPr>
          <a:xfrm>
            <a:off x="51435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다 정해진 기능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D45C2E13-95D6-454D-B631-E9DBB208B717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0ECF4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AEE85169-E6E1-4C80-BF24-F80BF06B2156}"/>
              </a:ext>
            </a:extLst>
          </p:cNvPr>
          <p:cNvSpPr>
            <a:spLocks noGrp="1"/>
          </p:cNvSpPr>
          <p:nvPr/>
        </p:nvSpPr>
        <p:spPr>
          <a:xfrm>
            <a:off x="62865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95F27CB3-5D91-44A1-9C66-C12724E088ED}"/>
              </a:ext>
            </a:extLst>
          </p:cNvPr>
          <p:cNvSpPr>
            <a:spLocks noGrp="1"/>
          </p:cNvSpPr>
          <p:nvPr/>
        </p:nvSpPr>
        <p:spPr>
          <a:xfrm>
            <a:off x="69532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일부 미정인 기능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A0A74275-889C-479C-8FCD-DB9AB7A064AA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일부 미정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7A068D4A-6EFC-4B93-91C1-C8A17B70FBA0}"/>
              </a:ext>
            </a:extLst>
          </p:cNvPr>
          <p:cNvSpPr>
            <a:spLocks noGrp="1"/>
          </p:cNvSpPr>
          <p:nvPr/>
        </p:nvSpPr>
        <p:spPr>
          <a:xfrm>
            <a:off x="9163050" y="1752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028BA19A-E4E7-4D8E-9DC3-0FBD429C784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C67EC7D2-1EBA-4691-BCA8-1019B6FB024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참여 /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ns2:creationId id="{7089F8D7-E684-4294-8DA4-C7F3330DEBE2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B03E228B-47C4-4C35-BFCE-5AB865F108C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집 고르기·초대·조건·로그인·혼자일 때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C5EB3DBF-AC5E-4563-858F-C662B88BB7F9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B6DEF0BB-13BA-40D5-BD59-FDFF5050E37F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판정 / trade-off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DF53F816-3EA5-416A-AABA-A7FC9599AC09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5E681100-2058-4EDA-A3A0-9E66EBF73DE9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조건별 판정 · 양보 · 완화 · 후보 0개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D72E4184-E233-4F52-89DC-77B8AFB89C11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C7B05465-AD8F-465C-B3FB-32006A2FF5E9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결정 / 운영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39D5B6E6-186C-487C-B879-46FD4E2C5CD4}"/>
              </a:ext>
            </a:extLst>
          </p:cNvPr>
          <p:cNvSpPr>
            <a:spLocks noGrp="1"/>
          </p:cNvSpPr>
          <p:nvPr/>
        </p:nvSpPr>
        <p:spPr>
          <a:xfrm>
            <a:off x="101536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EB80ABEE-D7BA-4FC4-BC3C-877CECE00548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보러 갈 2개 · 조건 유지 · 넘지 않을 선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F45E7844-7B7A-48E4-974C-35C74B1C2B0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넘지 않을 선 5개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DFBF9463-DBD9-4DE5-ADE3-72E514F20B4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C2B14999-A245-4429-BE44-4BD85EA11064}"/>
              </a:ext>
            </a:extLst>
          </p:cNvPr>
          <p:cNvSpPr>
            <a:spLocks noGrp="1"/>
          </p:cNvSpPr>
          <p:nvPr/>
        </p:nvSpPr>
        <p:spPr>
          <a:xfrm>
            <a:off x="1847850" y="44672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 안 함 → 출근지·이동수단을 안 물음 · 통근을 재지 않음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5BC43665-923B-4159-B472-4FEF730846C3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E1E1F699-9D7B-44F5-A5CE-AFC882C08010}"/>
              </a:ext>
            </a:extLst>
          </p:cNvPr>
          <p:cNvSpPr>
            <a:spLocks noGrp="1"/>
          </p:cNvSpPr>
          <p:nvPr/>
        </p:nvSpPr>
        <p:spPr>
          <a:xfrm>
            <a:off x="1847850" y="478155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사람별·조건별 판정 · 공동 총점 미생성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9435098C-D66F-4C66-A5D3-99A10B3337CD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5E772714-805A-4E75-8023-052C16BD74AE}"/>
              </a:ext>
            </a:extLst>
          </p:cNvPr>
          <p:cNvSpPr>
            <a:spLocks noGrp="1"/>
          </p:cNvSpPr>
          <p:nvPr/>
        </p:nvSpPr>
        <p:spPr>
          <a:xfrm>
            <a:off x="1847850" y="509587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0개이거나 2번까지 안 맞으면 → 각자 하나씩 · 투표와 자동선택 안 함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9813C7F4-86D9-4798-ADE4-8F650EAA20AE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D260634A-2B91-47AA-9F06-5B7D2B864B0F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 안 함 → 해당 없음 · 비교표에서 통근 줄을 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ns2:creationId id="{9E225189-B983-4BDE-A497-9224144ADEEC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A4983D95-6D97-48B5-AB40-C2706AFC4BB6}"/>
              </a:ext>
            </a:extLst>
          </p:cNvPr>
          <p:cNvSpPr>
            <a:spLocks noGrp="1"/>
          </p:cNvSpPr>
          <p:nvPr/>
        </p:nvSpPr>
        <p:spPr>
          <a:xfrm>
            <a:off x="1847850" y="57245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공동 적합도 · 추천 배지 · AI가 고른 집을 띄우지 않음</a:t>
            </a:r>
          </a:p>
        </p:txBody>
      </p:sp>
    </p:spTree>
    <p:extLst>
      <p:ext uri="{BB962C8B-B14F-4D97-AF65-F5344CB8AC3E}">
        <ns3:creationId val="2093500726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ns2:creationId id="{5B57E146-8EAF-4F37-87E5-CCED95C9197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505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KPI · Guardrail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0103EA5-3CF4-45DC-9847-F03350FB614E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3853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21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성공 지표는 하나만 세웠습니다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C84A1887-C5E4-4E38-87E8-89A6695ADDB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57C4558C-24E4-4663-9EBD-86F4F5B20F0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9D6E05D7-2109-49C9-870A-6A5DDB01C9F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838200"/>
          </a:xfrm>
          <a:prstGeom prst="roundRect">
            <a:avLst>
              <a:gd name="adj" fmla="val 1590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BF15830B-1A39-4349-A825-D198C951F6DD}"/>
              </a:ext>
            </a:extLst>
          </p:cNvPr>
          <p:cNvSpPr>
            <a:spLocks noGrp="1"/>
          </p:cNvSpPr>
          <p:nvPr/>
        </p:nvSpPr>
        <p:spPr>
          <a:xfrm>
            <a:off x="933450" y="1881187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North Star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1E8E4BF1-F1EE-43BF-8242-E42BA321F9D9}"/>
              </a:ext>
            </a:extLst>
          </p:cNvPr>
          <p:cNvSpPr>
            <a:spLocks noGrp="1"/>
          </p:cNvSpPr>
          <p:nvPr/>
        </p:nvSpPr>
        <p:spPr>
          <a:xfrm>
            <a:off x="2476500" y="1804987"/>
            <a:ext cx="699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초대를 보낸 것 중, 7일 안에 보러 갈 집 2개가 정해진 비율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ns2:creationId id="{967D72E3-769B-404A-9F10-C095D1353866}"/>
              </a:ext>
            </a:extLst>
          </p:cNvPr>
          <p:cNvSpPr>
            <a:spLocks noGrp="1"/>
          </p:cNvSpPr>
          <p:nvPr/>
        </p:nvSpPr>
        <p:spPr>
          <a:xfrm>
            <a:off x="9715500" y="18859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목표값 미정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B6723069-61C6-4ECF-9192-FDB92A16CDD9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 xml:space="preserve">7일이 맞는지도 처음 재본 뒤에 조정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D6C30E94-B077-40AD-83DE-3121D2AFC5D8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4801B2B-CEF1-4CD0-BCCB-3D8BEADC412D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급소 가설 ①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D038670C-6E78-467E-901A-8EFB66937E03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 열기 → 조건 입력 → 로그인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4283342F-8970-43BC-8E70-69432EA2A6E1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먼저 잰다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6AE8769C-13DC-43F3-B1D8-92F097C06A05}"/>
              </a:ext>
            </a:extLst>
          </p:cNvPr>
          <p:cNvSpPr>
            <a:spLocks noGrp="1"/>
          </p:cNvSpPr>
          <p:nvPr/>
        </p:nvSpPr>
        <p:spPr>
          <a:xfrm>
            <a:off x="31051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0A5F9C6-4EEB-45B3-8F24-FCAD5E3E3A5A}"/>
              </a:ext>
            </a:extLst>
          </p:cNvPr>
          <p:cNvSpPr>
            <a:spLocks noGrp="1"/>
          </p:cNvSpPr>
          <p:nvPr/>
        </p:nvSpPr>
        <p:spPr>
          <a:xfrm>
            <a:off x="33909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E0A54170-3795-476A-BE1E-8E5027EA542D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급소 가설 ②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CBCC89E6-5C48-4B36-93CD-4BF816FB3FEA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늦어진 경험 + 원인 인터뷰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E180276A-EE3D-4169-AB91-EE3242F71119}"/>
              </a:ext>
            </a:extLst>
          </p:cNvPr>
          <p:cNvSpPr>
            <a:spLocks noGrp="1"/>
          </p:cNvSpPr>
          <p:nvPr/>
        </p:nvSpPr>
        <p:spPr>
          <a:xfrm>
            <a:off x="35623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가장 중요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ADFD5EB8-6AEA-4EDA-92AB-B49CD0D6B6F8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A860368-4C39-4728-B67D-A883CD43A6D9}"/>
              </a:ext>
            </a:extLst>
          </p:cNvPr>
          <p:cNvSpPr>
            <a:spLocks noGrp="1"/>
          </p:cNvSpPr>
          <p:nvPr/>
        </p:nvSpPr>
        <p:spPr>
          <a:xfrm>
            <a:off x="60769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21260B92-ACF5-4F01-8DF4-2153EB92306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프로토타입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C5FF11AF-8761-46A5-9B8A-4AE0A2C691B2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1단계 핵심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81DC2F92-E8F6-404A-A123-51895864FA8C}"/>
              </a:ext>
            </a:extLst>
          </p:cNvPr>
          <p:cNvSpPr>
            <a:spLocks noGrp="1"/>
          </p:cNvSpPr>
          <p:nvPr/>
        </p:nvSpPr>
        <p:spPr>
          <a:xfrm>
            <a:off x="62484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앞의 둘을 통과하면</a:t>
            </a:r>
          </a:p>
        </p:txBody>
      </p:sp>
      <p:sp>
        <p:nvSpPr>
          <p:cNvPr id="25" name="화살표: 오른쪽 24">
            <a:extLst>
              <a:ext uri="{FF2B5EF4-FFF2-40B4-BE49-F238E27FC236}">
                <ns2:creationId id="{88D44209-BD64-401D-81E9-7EB8F3D4A65E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F870F2F7-AEB7-48D8-AF54-D55E842D06D4}"/>
              </a:ext>
            </a:extLst>
          </p:cNvPr>
          <p:cNvSpPr>
            <a:spLocks noGrp="1"/>
          </p:cNvSpPr>
          <p:nvPr/>
        </p:nvSpPr>
        <p:spPr>
          <a:xfrm>
            <a:off x="87630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E1DCD59D-AE11-4EBA-A904-EDE5DDFE7287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조건 입력·비용 신뢰·매물 지속성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92048AC-FDB7-41CB-A050-661F8A878D03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입력 · 신뢰 · 지속성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6704EF31-A41C-4871-A4CF-E2BCF24974DC}"/>
              </a:ext>
            </a:extLst>
          </p:cNvPr>
          <p:cNvSpPr>
            <a:spLocks noGrp="1"/>
          </p:cNvSpPr>
          <p:nvPr/>
        </p:nvSpPr>
        <p:spPr>
          <a:xfrm>
            <a:off x="89344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D1A03639-3074-47E8-AF85-02E867476A61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0744200" cy="99060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0DF9932C-D413-48F1-B498-7B4309FDE30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Guardrail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F5FD32C4-C824-4313-B5CF-397FFFA09EDB}"/>
              </a:ext>
            </a:extLst>
          </p:cNvPr>
          <p:cNvSpPr>
            <a:spLocks noGrp="1"/>
          </p:cNvSpPr>
          <p:nvPr/>
        </p:nvSpPr>
        <p:spPr>
          <a:xfrm>
            <a:off x="23241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E27A1340-95B3-43B3-BC4F-88D6CF113C1C}"/>
              </a:ext>
            </a:extLst>
          </p:cNvPr>
          <p:cNvSpPr>
            <a:spLocks noGrp="1"/>
          </p:cNvSpPr>
          <p:nvPr/>
        </p:nvSpPr>
        <p:spPr>
          <a:xfrm>
            <a:off x="40195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ns2:creationId id="{490A39B2-5668-40DE-BCCE-FE566349B86D}"/>
              </a:ext>
            </a:extLst>
          </p:cNvPr>
          <p:cNvSpPr>
            <a:spLocks noGrp="1"/>
          </p:cNvSpPr>
          <p:nvPr/>
        </p:nvSpPr>
        <p:spPr>
          <a:xfrm>
            <a:off x="57150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두 사람 같은 비중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0A1FCB03-6A17-44D5-A405-AF28DB8AB2A4}"/>
              </a:ext>
            </a:extLst>
          </p:cNvPr>
          <p:cNvSpPr>
            <a:spLocks noGrp="1"/>
          </p:cNvSpPr>
          <p:nvPr/>
        </p:nvSpPr>
        <p:spPr>
          <a:xfrm>
            <a:off x="74104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오류 ≠ 미충족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1584FAE0-7E96-4066-AF6A-AD4CA5CA9F33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동의 없이 조건 안 바꿈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D29A233F-735B-4040-8F3D-586E8F419838}"/>
              </a:ext>
            </a:extLst>
          </p:cNvPr>
          <p:cNvSpPr>
            <a:spLocks noGrp="1"/>
          </p:cNvSpPr>
          <p:nvPr/>
        </p:nvSpPr>
        <p:spPr>
          <a:xfrm>
            <a:off x="1619250" y="59245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이건 성공 지표로 쓰지 않습니다 — 결정 시간 단축 · 갈등 감소 · 계약 전환 상승 · 탐색 기간 감소</a:t>
            </a:r>
          </a:p>
        </p:txBody>
      </p:sp>
    </p:spTree>
    <p:extLst>
      <p:ext uri="{BB962C8B-B14F-4D97-AF65-F5344CB8AC3E}">
        <ns3:creationId val="1862840467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ns2:creationId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위험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제일 큰 위험 둘은 기능 문제가 아닙니다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초대받은 사람이 안 들어옴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먼저 잰다 · 혼자일 때 경로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충돌이 늦어짐의 주원인이 아님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원인을 가르는 인터뷰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입력 부담 · 비용 계산 신뢰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한 번에 다 안 묻고 나눠서 · 숫자 옆에 항상 전제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내부 데이터를 못 쓰게 될 수 있음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 내부 확인이 필요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집이 나감 · 각자 하나씩 · 관계 데이터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조건이 남음 · 쓰기 편한지 검증 · 출시 전 정책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화면을 더 다듬는 것보다, 전제가 맞는지가 더 급합니다</a:t>
            </a:r>
          </a:p>
        </p:txBody>
      </p:sp>
    </p:spTree>
    <p:extLst>
      <p:ext uri="{BB962C8B-B14F-4D97-AF65-F5344CB8AC3E}">
        <ns3:creationId val="1149490605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ns2:creationId id="{DBE289BC-9286-4090-8A16-16777AAF37C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한계와 다음 결정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7677300-5EC8-4461-BC15-E594D1AA44F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05863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다음 두 가지를 확인하고 1단계로 갑니다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6A552DE8-E7C8-4946-8E00-6F115D2A2D8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BA592693-157C-44B8-BF30-9AC19A1B7A9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같이 보기  ·  둘이서 보러 갈 집 정하기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9FFD680-860D-480E-B171-7326167BE8F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31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7D63869-B747-492B-AC55-4A810AD428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A2CE159-DA3A-474A-9922-C2DF0F24598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타원 7">
            <a:extLst>
              <a:ext uri="{FF2B5EF4-FFF2-40B4-BE49-F238E27FC236}">
                <ns2:creationId id="{B12CEB59-7FDD-4C59-8F88-2233B664B65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9" name="직사각형 8">
            <a:extLst>
              <a:ext uri="{FF2B5EF4-FFF2-40B4-BE49-F238E27FC236}">
                <ns2:creationId id="{BA0DC018-4A61-4D01-B0C5-8E15BB50DD46}"/>
              </a:ext>
            </a:extLst>
          </p:cNvPr>
          <p:cNvSpPr>
            <a:spLocks noGrp="1"/>
          </p:cNvSpPr>
          <p:nvPr/>
        </p:nvSpPr>
        <p:spPr>
          <a:xfrm>
            <a:off x="10858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 이후, 둘이 함께 정하기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타원 9">
            <a:extLst>
              <a:ext uri="{FF2B5EF4-FFF2-40B4-BE49-F238E27FC236}">
                <ns2:creationId id="{0A7A8325-E247-42F7-A8EF-B909FABF0420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ns2:creationId id="{A435D6CD-6D99-4474-927C-A7CBD9008CCF}"/>
              </a:ext>
            </a:extLst>
          </p:cNvPr>
          <p:cNvSpPr>
            <a:spLocks noGrp="1"/>
          </p:cNvSpPr>
          <p:nvPr/>
        </p:nvSpPr>
        <p:spPr>
          <a:xfrm>
            <a:off x="10858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조건은 사람에게 저장 · 합산 없음</a:t>
            </a:r>
          </a:p>
        </p:txBody>
      </p:sp>
      <p:sp>
        <p:nvSpPr>
          <p:cNvPr id="12" name="타원 11">
            <a:extLst>
              <a:ext uri="{FF2B5EF4-FFF2-40B4-BE49-F238E27FC236}">
                <ns2:creationId id="{E3DA6C13-6E07-46A6-94C5-7FBEEE0215EE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ns2:creationId id="{AD62C683-CF68-40D5-99FD-8F6053D5CC41}"/>
              </a:ext>
            </a:extLst>
          </p:cNvPr>
          <p:cNvSpPr>
            <a:spLocks noGrp="1"/>
          </p:cNvSpPr>
          <p:nvPr/>
        </p:nvSpPr>
        <p:spPr>
          <a:xfrm>
            <a:off x="1085850" y="3540997"/>
            <a:ext cx="28531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AI는 설명만 · 보러 갈 집 2개는 사용자가 선택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ns2:creationId id="{12824E06-56E1-4AA1-B2B8-1C693F53A4B9}"/>
              </a:ext>
            </a:extLst>
          </p:cNvPr>
          <p:cNvSpPr>
            <a:spLocks noGrp="1"/>
          </p:cNvSpPr>
          <p:nvPr/>
        </p:nvSpPr>
        <p:spPr>
          <a:xfrm>
            <a:off x="432435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E3D350E3-9502-40D3-91DB-FFF6CF53FAC7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1104900" cy="2667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미검증 · 한계</a:t>
            </a:r>
          </a:p>
        </p:txBody>
      </p:sp>
      <p:sp>
        <p:nvSpPr>
          <p:cNvPr id="16" name="타원 15">
            <a:extLst>
              <a:ext uri="{FF2B5EF4-FFF2-40B4-BE49-F238E27FC236}">
                <ns2:creationId id="{96C6C57D-FBBD-4F8E-B1F0-733BD6FBD7C5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7" name="직사각형 16">
            <a:extLst>
              <a:ext uri="{FF2B5EF4-FFF2-40B4-BE49-F238E27FC236}">
                <ns2:creationId id="{CFCDE737-D159-4550-B4F6-DE842179A292}"/>
              </a:ext>
            </a:extLst>
          </p:cNvPr>
          <p:cNvSpPr>
            <a:spLocks noGrp="1"/>
          </p:cNvSpPr>
          <p:nvPr/>
        </p:nvSpPr>
        <p:spPr>
          <a:xfrm>
            <a:off x="472440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늦어지는 원인 — 직접 근거를 못 찾음</a:t>
            </a:r>
          </a:p>
        </p:txBody>
      </p:sp>
      <p:sp>
        <p:nvSpPr>
          <p:cNvPr id="18" name="타원 17">
            <a:extLst>
              <a:ext uri="{FF2B5EF4-FFF2-40B4-BE49-F238E27FC236}">
                <ns2:creationId id="{1CFFA7CF-E07C-4380-8253-E271690836AA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9" name="직사각형 18">
            <a:extLst>
              <a:ext uri="{FF2B5EF4-FFF2-40B4-BE49-F238E27FC236}">
                <ns2:creationId id="{BB917510-2092-469B-BF4C-8398F3823FDD}"/>
              </a:ext>
            </a:extLst>
          </p:cNvPr>
          <p:cNvSpPr>
            <a:spLocks noGrp="1"/>
          </p:cNvSpPr>
          <p:nvPr/>
        </p:nvSpPr>
        <p:spPr>
          <a:xfrm>
            <a:off x="472440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Zillow 자료는 미국 · 2020년 · 매매</a:t>
            </a:r>
          </a:p>
        </p:txBody>
      </p:sp>
      <p:sp>
        <p:nvSpPr>
          <p:cNvPr id="20" name="타원 19">
            <a:extLst>
              <a:ext uri="{FF2B5EF4-FFF2-40B4-BE49-F238E27FC236}">
                <ns2:creationId id="{A4205068-8E38-4220-AF61-B3BE8E76BA1B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1" name="직사각형 20">
            <a:extLst>
              <a:ext uri="{FF2B5EF4-FFF2-40B4-BE49-F238E27FC236}">
                <ns2:creationId id="{6ED69704-EC0C-4101-B074-6BCD3DF82CF5}"/>
              </a:ext>
            </a:extLst>
          </p:cNvPr>
          <p:cNvSpPr>
            <a:spLocks noGrp="1"/>
          </p:cNvSpPr>
          <p:nvPr/>
        </p:nvSpPr>
        <p:spPr>
          <a:xfrm>
            <a:off x="472440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국내 초대 수락·효과·내부 API 미확인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ns2:creationId id="{811B3EA4-260B-4B37-AD4F-F65AC10B7C99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57CB167D-291A-4B2E-936E-9893BB3CAAE5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타원 23">
            <a:extLst>
              <a:ext uri="{FF2B5EF4-FFF2-40B4-BE49-F238E27FC236}">
                <ns2:creationId id="{4CD11817-0B57-4CE4-97CC-97FA486E1DC9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5" name="직사각형 24">
            <a:extLst>
              <a:ext uri="{FF2B5EF4-FFF2-40B4-BE49-F238E27FC236}">
                <ns2:creationId id="{540E9BDC-AB54-460B-A8AF-034EDD28A465}"/>
              </a:ext>
            </a:extLst>
          </p:cNvPr>
          <p:cNvSpPr>
            <a:spLocks noGrp="1"/>
          </p:cNvSpPr>
          <p:nvPr/>
        </p:nvSpPr>
        <p:spPr>
          <a:xfrm>
            <a:off x="83629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1. 초대받은 사람이 오는지 측정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528A94A6-BBE8-466C-ADFC-F03A093ECE5B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7" name="직사각형 26">
            <a:extLst>
              <a:ext uri="{FF2B5EF4-FFF2-40B4-BE49-F238E27FC236}">
                <ns2:creationId id="{921B83B9-51EC-4CC2-AC79-413265BC2914}"/>
              </a:ext>
            </a:extLst>
          </p:cNvPr>
          <p:cNvSpPr>
            <a:spLocks noGrp="1"/>
          </p:cNvSpPr>
          <p:nvPr/>
        </p:nvSpPr>
        <p:spPr>
          <a:xfrm>
            <a:off x="83629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2. 늦어진 원인을 가르는 인터뷰</a:t>
            </a:r>
          </a:p>
        </p:txBody>
      </p:sp>
      <p:sp>
        <p:nvSpPr>
          <p:cNvPr id="28" name="타원 27">
            <a:extLst>
              <a:ext uri="{FF2B5EF4-FFF2-40B4-BE49-F238E27FC236}">
                <ns2:creationId id="{62110148-CF72-4DE8-BE85-56134A38D3F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9" name="직사각형 28">
            <a:extLst>
              <a:ext uri="{FF2B5EF4-FFF2-40B4-BE49-F238E27FC236}">
                <ns2:creationId id="{C54E9A13-4AC6-465A-8DE8-E8D52F3C18DE}"/>
              </a:ext>
            </a:extLst>
          </p:cNvPr>
          <p:cNvSpPr>
            <a:spLocks noGrp="1"/>
          </p:cNvSpPr>
          <p:nvPr/>
        </p:nvSpPr>
        <p:spPr>
          <a:xfrm>
            <a:off x="836295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3. 둘 다 통과하면 1단계 프로토타입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E3443E5D-B9CA-4E22-95D1-89FFCCF31CC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10850" cy="666750"/>
          </a:xfrm>
          <a:prstGeom prst="roundRect">
            <a:avLst>
              <a:gd name="adj" fmla="val 17143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B52231F9-FA65-4CEE-BFB2-7F86CE1DE9C1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003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두 사람이 정말 함께 쓰는지, 조건 차이가 결정을 얼마나 늦추는지를 먼저 확인합니다. 확인되면 조건 차이를 설명하는 1단계로 갑니다.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76481BD0-0670-409A-8E1E-7E440CFA2A7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원본 링크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E774F57C-06B0-42B0-AB02-EB5DC7CC475D}"/>
              </a:ext>
            </a:extLst>
          </p:cNvPr>
          <p:cNvSpPr>
            <a:spLocks noGrp="1"/>
          </p:cNvSpPr>
          <p:nvPr/>
        </p:nvSpPr>
        <p:spPr>
          <a:xfrm>
            <a:off x="1695450" y="55435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941C8FA8-0F90-4501-8629-00F679E4D29F}"/>
              </a:ext>
            </a:extLst>
          </p:cNvPr>
          <p:cNvSpPr>
            <a:spLocks noGrp="1"/>
          </p:cNvSpPr>
          <p:nvPr/>
        </p:nvSpPr>
        <p:spPr>
          <a:xfrm>
            <a:off x="6724650" y="55435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2579C722-C80A-44EA-A9ED-533C98B62B4F}"/>
              </a:ext>
            </a:extLst>
          </p:cNvPr>
          <p:cNvSpPr>
            <a:spLocks noGrp="1"/>
          </p:cNvSpPr>
          <p:nvPr/>
        </p:nvSpPr>
        <p:spPr>
          <a:xfrm>
            <a:off x="1695450" y="58483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근거 문서 — 팀 브리프 · 가설 · 근거 로그 · 벤치마크 · 화면 설계 · 기획서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71B66189-77A8-4641-B577-3949157C58AD}"/>
              </a:ext>
            </a:extLst>
          </p:cNvPr>
          <p:cNvSpPr>
            <a:spLocks noGrp="1"/>
          </p:cNvSpPr>
          <p:nvPr/>
        </p:nvSpPr>
        <p:spPr>
          <a:xfrm>
            <a:off x="1905000" y="611505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ns3:creationId val="302804594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ns2:creationId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법·윤리·보안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사람의 예산과 직장 위치를 다룹니다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30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법적 필수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출근지·예산은 민감한 개인정보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꼭 필요한 것만 수집 · 목적 외 사용 안 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출시 전 필수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법적 필수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상대방에게 내 예산이 보이는가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서로 보이는 범위를 조건별로 정합니다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중개 행위가 아니다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정보 제공과 비교만 · 계약과 대출은 안 함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데이터를 언제 지우나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비로그인 30일 · 관계가 끝났을 때 규칙 필요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출시 전 필수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중간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비용 숫자가 금융 조언으로 읽힐 수 있음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전제와 기준일을 항상 같이 표시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규제 리스크는 기능이 아니라 데이터에서 옵니다 — 출근지와 예산은 직장과 소득을 추정할 수 있는 값입니다</a:t>
            </a:r>
          </a:p>
        </p:txBody>
      </p:sp>
    </p:spTree>
    <p:extLst>
      <p:ext uri="{BB962C8B-B14F-4D97-AF65-F5344CB8AC3E}">
        <ns3:creationId val="11494906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5787</Words>
  <Application>Microsoft Office PowerPoint</Application>
  <DocSecurity>0</DocSecurity>
  <PresentationFormat>와이드스크린</PresentationFormat>
  <Paragraphs>959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수빈 박</cp:lastModifiedBy>
  <cp:revision>16</cp:revision>
  <dcterms:created xsi:type="dcterms:W3CDTF">2026-08-20T07:13:26Z</dcterms:created>
  <dcterms:modified xsi:type="dcterms:W3CDTF">2026-08-20T08:56:35Z</dcterms:modified>
</cp:coreProperties>
</file>